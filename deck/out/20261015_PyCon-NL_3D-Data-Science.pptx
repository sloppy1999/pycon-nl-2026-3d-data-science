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0" embedTrueTypeFonts="1">
  <p:sldMasterIdLst>
    <p:sldMasterId id="2147483648" r:id="rId1"/>
  </p:sldMasterIdLst>
  <p:notesMasterIdLst>
    <p:notesMasterId r:id="rId2"/>
  </p:notesMasterIdLst>
  <p:sldIdLst>
    <p:sldId id="267" r:id="rId32"/>
    <p:sldId id="268" r:id="rId33"/>
    <p:sldId id="269" r:id="rId34"/>
    <p:sldId id="270" r:id="rId35"/>
    <p:sldId id="271" r:id="rId36"/>
    <p:sldId id="272" r:id="rId37"/>
    <p:sldId id="273" r:id="rId38"/>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 id="292" r:id="rId57"/>
    <p:sldId id="293" r:id="rId58"/>
    <p:sldId id="294" r:id="rId59"/>
    <p:sldId id="295" r:id="rId60"/>
    <p:sldId id="296" r:id="rId61"/>
    <p:sldId id="297" r:id="rId62"/>
    <p:sldId id="298" r:id="rId63"/>
    <p:sldId id="299" r:id="rId64"/>
    <p:sldId id="300" r:id="rId65"/>
    <p:sldId id="301" r:id="rId66"/>
    <p:sldId id="302" r:id="rId67"/>
  </p:sldIdLst>
  <p:sldSz cx="12192000" cy="6858000"/>
  <p:notesSz cx="6858000" cy="9144000"/>
  <p:defaultText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defaultTextStyle>
  <p:extLst>
    <p:ext uri="{521415D9-36F7-43E2-AB2F-B90AF26B5E84}">
      <p14:sectionLst xmlns:p14="http://schemas.microsoft.com/office/powerpoint/2010/main">
        <p14:section name="Hook" id="{42BA9F01-9AAF-523B-A1FF-D7CD8E092C9A}">
          <p14:sldIdLst>
            <p14:sldId id="267"/>
            <p14:sldId id="268"/>
            <p14:sldId id="269"/>
            <p14:sldId id="270"/>
            <p14:sldId id="271"/>
            <p14:sldId id="272"/>
          </p14:sldIdLst>
        </p14:section>
        <p14:section name="Landscape" id="{8732EF79-AE0B-58DF-972A-54AD5E8564E7}">
          <p14:sldIdLst>
            <p14:sldId id="273"/>
            <p14:sldId id="274"/>
            <p14:sldId id="275"/>
          </p14:sldIdLst>
        </p14:section>
        <p14:section name="Pipeline" id="{EC630927-BFAE-5D8A-B61A-65E18449044C}">
          <p14:sldIdLst>
            <p14:sldId id="276"/>
            <p14:sldId id="277"/>
            <p14:sldId id="278"/>
            <p14:sldId id="279"/>
            <p14:sldId id="280"/>
            <p14:sldId id="281"/>
            <p14:sldId id="282"/>
            <p14:sldId id="283"/>
            <p14:sldId id="284"/>
          </p14:sldIdLst>
        </p14:section>
        <p14:section name="Performance" id="{F91C7034-C18A-5F43-AD8B-059D4F0584F7}">
          <p14:sldIdLst>
            <p14:sldId id="285"/>
            <p14:sldId id="286"/>
            <p14:sldId id="287"/>
            <p14:sldId id="288"/>
            <p14:sldId id="289"/>
          </p14:sldIdLst>
        </p14:section>
        <p14:section name="RAM" id="{FC093E39-7134-57DE-B3D4-50466B1AA227}">
          <p14:sldIdLst>
            <p14:sldId id="290"/>
            <p14:sldId id="291"/>
            <p14:sldId id="292"/>
          </p14:sldIdLst>
        </p14:section>
        <p14:section name="Close" id="{135F424C-7FE6-5892-BFB5-AB3C758E24F6}">
          <p14:sldIdLst>
            <p14:sldId id="293"/>
            <p14:sldId id="294"/>
            <p14:sldId id="295"/>
          </p14:sldIdLst>
        </p14:section>
        <p14:section name="Appendix" id="{2B4E84C8-F2D2-5B60-9919-95FFB9414073}">
          <p14:sldIdLst>
            <p14:sldId id="296"/>
            <p14:sldId id="297"/>
            <p14:sldId id="298"/>
            <p14:sldId id="299"/>
            <p14:sldId id="300"/>
            <p14:sldId id="301"/>
            <p14:sldId id="302"/>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32" Type="http://schemas.openxmlformats.org/officeDocument/2006/relationships/slide" Target="slides/slide1.xml"/><Relationship Id="rId33" Type="http://schemas.openxmlformats.org/officeDocument/2006/relationships/slide" Target="slides/slide2.xml"/><Relationship Id="rId34" Type="http://schemas.openxmlformats.org/officeDocument/2006/relationships/slide" Target="slides/slide3.xml"/><Relationship Id="rId35" Type="http://schemas.openxmlformats.org/officeDocument/2006/relationships/slide" Target="slides/slide4.xml"/><Relationship Id="rId36" Type="http://schemas.openxmlformats.org/officeDocument/2006/relationships/slide" Target="slides/slide5.xml"/><Relationship Id="rId37" Type="http://schemas.openxmlformats.org/officeDocument/2006/relationships/slide" Target="slides/slide6.xml"/><Relationship Id="rId38" Type="http://schemas.openxmlformats.org/officeDocument/2006/relationships/slide" Target="slides/slide7.xml"/><Relationship Id="rId39" Type="http://schemas.openxmlformats.org/officeDocument/2006/relationships/slide" Target="slides/slide8.xml"/><Relationship Id="rId40" Type="http://schemas.openxmlformats.org/officeDocument/2006/relationships/slide" Target="slides/slide9.xml"/><Relationship Id="rId41" Type="http://schemas.openxmlformats.org/officeDocument/2006/relationships/slide" Target="slides/slide10.xml"/><Relationship Id="rId42" Type="http://schemas.openxmlformats.org/officeDocument/2006/relationships/slide" Target="slides/slide11.xml"/><Relationship Id="rId43" Type="http://schemas.openxmlformats.org/officeDocument/2006/relationships/slide" Target="slides/slide12.xml"/><Relationship Id="rId44" Type="http://schemas.openxmlformats.org/officeDocument/2006/relationships/slide" Target="slides/slide13.xml"/><Relationship Id="rId45" Type="http://schemas.openxmlformats.org/officeDocument/2006/relationships/slide" Target="slides/slide14.xml"/><Relationship Id="rId46" Type="http://schemas.openxmlformats.org/officeDocument/2006/relationships/slide" Target="slides/slide15.xml"/><Relationship Id="rId47" Type="http://schemas.openxmlformats.org/officeDocument/2006/relationships/slide" Target="slides/slide16.xml"/><Relationship Id="rId48" Type="http://schemas.openxmlformats.org/officeDocument/2006/relationships/slide" Target="slides/slide17.xml"/><Relationship Id="rId49" Type="http://schemas.openxmlformats.org/officeDocument/2006/relationships/slide" Target="slides/slide18.xml"/><Relationship Id="rId50" Type="http://schemas.openxmlformats.org/officeDocument/2006/relationships/slide" Target="slides/slide19.xml"/><Relationship Id="rId51" Type="http://schemas.openxmlformats.org/officeDocument/2006/relationships/slide" Target="slides/slide20.xml"/><Relationship Id="rId52" Type="http://schemas.openxmlformats.org/officeDocument/2006/relationships/slide" Target="slides/slide21.xml"/><Relationship Id="rId53" Type="http://schemas.openxmlformats.org/officeDocument/2006/relationships/slide" Target="slides/slide22.xml"/><Relationship Id="rId54" Type="http://schemas.openxmlformats.org/officeDocument/2006/relationships/slide" Target="slides/slide23.xml"/><Relationship Id="rId55" Type="http://schemas.openxmlformats.org/officeDocument/2006/relationships/slide" Target="slides/slide24.xml"/><Relationship Id="rId56" Type="http://schemas.openxmlformats.org/officeDocument/2006/relationships/slide" Target="slides/slide25.xml"/><Relationship Id="rId57" Type="http://schemas.openxmlformats.org/officeDocument/2006/relationships/slide" Target="slides/slide26.xml"/><Relationship Id="rId58" Type="http://schemas.openxmlformats.org/officeDocument/2006/relationships/slide" Target="slides/slide27.xml"/><Relationship Id="rId59" Type="http://schemas.openxmlformats.org/officeDocument/2006/relationships/slide" Target="slides/slide28.xml"/><Relationship Id="rId60" Type="http://schemas.openxmlformats.org/officeDocument/2006/relationships/slide" Target="slides/slide29.xml"/><Relationship Id="rId61" Type="http://schemas.openxmlformats.org/officeDocument/2006/relationships/slide" Target="slides/slide30.xml"/><Relationship Id="rId62" Type="http://schemas.openxmlformats.org/officeDocument/2006/relationships/slide" Target="slides/slide31.xml"/><Relationship Id="rId63" Type="http://schemas.openxmlformats.org/officeDocument/2006/relationships/slide" Target="slides/slide32.xml"/><Relationship Id="rId64" Type="http://schemas.openxmlformats.org/officeDocument/2006/relationships/slide" Target="slides/slide33.xml"/><Relationship Id="rId65" Type="http://schemas.openxmlformats.org/officeDocument/2006/relationships/slide" Target="slides/slide34.xml"/><Relationship Id="rId66" Type="http://schemas.openxmlformats.org/officeDocument/2006/relationships/slide" Target="slides/slide35.xml"/><Relationship Id="rId67" Type="http://schemas.openxmlformats.org/officeDocument/2006/relationships/slide" Target="slides/slide3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2B6797"/>
              </a:solidFill>
              <a:ln>
                <a:noFill/>
              </a:ln>
            </c:spPr>
          </c:dPt>
          <c:dPt>
            <c:idx val="1"/>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Sheet1!$A$2:$A$3</c:f>
              <c:strCache>
                <c:ptCount val="2"/>
                <c:pt idx="0">
                  <c:v>Loop over NumPy rows</c:v>
                </c:pt>
                <c:pt idx="1">
                  <c:v>One NumPy expression</c:v>
                </c:pt>
              </c:strCache>
            </c:strRef>
          </c:cat>
          <c:val>
            <c:numRef>
              <c:f>Sheet1!$B$2:$B$3</c:f>
              <c:numCache>
                <c:formatCode>0.000</c:formatCode>
                <c:ptCount val="2"/>
                <c:pt idx="0">
                  <c:v>317.0335899994825</c:v>
                </c:pt>
                <c:pt idx="1">
                  <c:v>2.440463002130855</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logBase val="10"/>
          <c:max val="1000.0"/>
          <c:min val="1.0"/>
        </c:scaling>
        <c:delete val="0"/>
        <c:axPos val="l"/>
        <c:title>
          <c:tx>
            <c:rich>
              <a:bodyPr/>
              <a:lstStyle/>
              <a:p>
                <a:r>
                  <a:rPr sz="2000" b="0" lang="en-GB">
                    <a:solidFill>
                      <a:srgbClr val="455A64"/>
                    </a:solidFill>
                    <a:latin typeface="Fira Sans"/>
                  </a:rPr>
                  <a:t>Median time per run, log scale</a:t>
                </a:r>
              </a:p>
            </c:rich>
          </c:tx>
          <c:layout/>
          <c:overlay val="0"/>
        </c:title>
        <c:numFmt formatCode="[&lt;1000]0&quot; ms&quot;;0,&quot; s&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9CA3AF"/>
              </a:solidFill>
              <a:ln>
                <a:noFill/>
              </a:ln>
            </c:spPr>
          </c:dPt>
          <c:dPt>
            <c:idx val="1"/>
            <c:spPr>
              <a:solidFill>
                <a:srgbClr val="2B6797"/>
              </a:solidFill>
              <a:ln>
                <a:noFill/>
              </a:ln>
            </c:spPr>
          </c:dPt>
          <c:dPt>
            <c:idx val="2"/>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Sheet1!$A$2:$A$4</c:f>
              <c:strCache>
                <c:ptCount val="3"/>
                <c:pt idx="0">
                  <c:v>Loop,
1 thread</c:v>
                </c:pt>
                <c:pt idx="1">
                  <c:v>Loop,
threads</c:v>
                </c:pt>
                <c:pt idx="2">
                  <c:v>NumPy,
1 call</c:v>
                </c:pt>
              </c:strCache>
            </c:strRef>
          </c:cat>
          <c:val>
            <c:numRef>
              <c:f>Sheet1!$B$2:$B$4</c:f>
              <c:numCache>
                <c:formatCode>0.000</c:formatCode>
                <c:ptCount val="3"/>
                <c:pt idx="0">
                  <c:v>335.80125799926464</c:v>
                </c:pt>
                <c:pt idx="1">
                  <c:v>61.14176099799806</c:v>
                </c:pt>
                <c:pt idx="2">
                  <c:v>2.2707629977958277</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logBase val="10"/>
          <c:max val="1000.0"/>
          <c:min val="1.0"/>
        </c:scaling>
        <c:delete val="0"/>
        <c:axPos val="l"/>
        <c:title>
          <c:tx>
            <c:rich>
              <a:bodyPr/>
              <a:lstStyle/>
              <a:p>
                <a:r>
                  <a:rPr sz="2000" b="0" lang="en-GB">
                    <a:solidFill>
                      <a:srgbClr val="455A64"/>
                    </a:solidFill>
                    <a:latin typeface="Fira Sans"/>
                  </a:rPr>
                  <a:t>Median time per run, log scale</a:t>
                </a:r>
              </a:p>
            </c:rich>
          </c:tx>
          <c:layout/>
          <c:overlay val="0"/>
        </c:title>
        <c:numFmt formatCode="[&lt;1000]0&quot; ms&quot;;0,&quot; s&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layout>
        <c:manualLayout>
          <c:layoutTarget val="inner"/>
          <c:xMode val="edge"/>
          <c:yMode val="edge"/>
          <c:x val="0.3310"/>
          <c:y val="0.0200"/>
          <c:w val="0.6654"/>
          <c:h val="0.9600"/>
        </c:manualLayout>
      </c:layout>
      <c:barChart>
        <c:barDir val="bar"/>
        <c:grouping val="clustered"/>
        <c:varyColors val="0"/>
        <c:ser>
          <c:idx val="0"/>
          <c:order val="0"/>
          <c:tx>
            <c:strRef>
              <c:f>Sheet1!$B$1</c:f>
              <c:strCache>
                <c:ptCount val="1"/>
                <c:pt idx="0">
                  <c:v>GB (2^30 bytes)</c:v>
                </c:pt>
              </c:strCache>
            </c:strRef>
          </c:tx>
          <c:invertIfNegative val="0"/>
          <c:dPt>
            <c:idx val="0"/>
            <c:spPr>
              <a:solidFill>
                <a:srgbClr val="1C325B"/>
              </a:solidFill>
              <a:ln>
                <a:noFill/>
              </a:ln>
            </c:spPr>
          </c:dPt>
          <c:dPt>
            <c:idx val="1"/>
            <c:spPr>
              <a:solidFill>
                <a:srgbClr val="1C325B"/>
              </a:solidFill>
              <a:ln>
                <a:noFill/>
              </a:ln>
            </c:spPr>
          </c:dPt>
          <c:dPt>
            <c:idx val="2"/>
            <c:spPr>
              <a:solidFill>
                <a:srgbClr val="9CA3AF"/>
              </a:solidFill>
              <a:ln>
                <a:noFill/>
              </a:ln>
            </c:spPr>
          </c:dPt>
          <c:dPt>
            <c:idx val="3"/>
            <c:spPr>
              <a:solidFill>
                <a:srgbClr val="9CA3AF"/>
              </a:solidFill>
              <a:ln>
                <a:noFill/>
              </a:ln>
            </c:spPr>
          </c:dPt>
          <c:dPt>
            <c:idx val="4"/>
            <c:spPr>
              <a:solidFill>
                <a:srgbClr val="2B6797"/>
              </a:solidFill>
              <a:ln>
                <a:noFill/>
              </a:ln>
            </c:spPr>
          </c:dPt>
          <c:dLbls>
            <c:dLbl>
              <c:idx val="0"/>
              <c:delete val="1"/>
            </c:dLbl>
            <c:dLbl>
              <c:idx val="1"/>
              <c:delete val="1"/>
            </c:dLbl>
            <c:numFmt formatCode="0.0&quot; GB&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Sheet1!$A$2:$A$6</c:f>
              <c:strCache>
                <c:ptCount val="5"/>
                <c:pt idx="0">
                  <c:v>16 GB RAM</c:v>
                </c:pt>
                <c:pt idx="1">
                  <c:v>32 GB RAM</c:v>
                </c:pt>
                <c:pt idx="2">
                  <c:v>LAS records
(computed)</c:v>
                </c:pt>
                <c:pt idx="3">
                  <c:v>+ float64 xyz
(computed)</c:v>
                </c:pt>
                <c:pt idx="4">
                  <c:v>Our pipeline
(computed)</c:v>
                </c:pt>
              </c:strCache>
            </c:strRef>
          </c:cat>
          <c:val>
            <c:numRef>
              <c:f>Sheet1!$B$2:$B$6</c:f>
              <c:numCache>
                <c:formatCode>0.0</c:formatCode>
                <c:ptCount val="5"/>
                <c:pt idx="0">
                  <c:v>16.0</c:v>
                </c:pt>
                <c:pt idx="1">
                  <c:v>32.0</c:v>
                </c:pt>
                <c:pt idx="2">
                  <c:v>25.877822320908308</c:v>
                </c:pt>
                <c:pt idx="3">
                  <c:v>46.580080177634954</c:v>
                </c:pt>
                <c:pt idx="4">
                  <c:v>74.24490390114173</c:v>
                </c:pt>
              </c:numCache>
            </c:numRef>
          </c:val>
        </c:ser>
        <c:gapWidth val="45"/>
        <c:axId val="-2068027336"/>
        <c:axId val="-2113994440"/>
      </c:barChart>
      <c:catAx>
        <c:axId val="-2068027336"/>
        <c:scaling>
          <c:orientation val="maxMin"/>
        </c:scaling>
        <c:delete val="0"/>
        <c:axPos val="l"/>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max val="120.0"/>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GB"/>
  <c:roundedCorners val="0"/>
  <c:chart>
    <c:autoTitleDeleted val="1"/>
    <c:plotArea>
      <c:layout>
        <c:manualLayout>
          <c:layoutTarget val="inner"/>
          <c:xMode val="edge"/>
          <c:yMode val="edge"/>
          <c:x val="0.0657"/>
          <c:y val="0.0138"/>
          <c:w val="0.9220"/>
          <c:h val="0.8486"/>
        </c:manualLayout>
      </c:layout>
      <c:scatterChart>
        <c:scatterStyle val="lineMarker"/>
        <c:varyColors val="0"/>
        <c:ser>
          <c:idx val="0"/>
          <c:order val="0"/>
          <c:tx>
            <c:strRef>
              <c:f>Sheet1!$B$1</c:f>
              <c:strCache>
                <c:ptCount val="1"/>
                <c:pt idx="0">
                  <c:v>load everything</c:v>
                </c:pt>
              </c:strCache>
            </c:strRef>
          </c:tx>
          <c:spPr>
            <a:ln w="28575">
              <a:solidFill>
                <a:srgbClr val="9CA3AF"/>
              </a:solidFill>
            </a:ln>
          </c:spPr>
          <c:marker>
            <c:symbol val="none"/>
          </c:marker>
          <c:xVal>
            <c:numRef>
              <c:f>Sheet1!$A$2:$A$101</c:f>
              <c:numCache>
                <c:formatCode>0.0</c:formatCode>
                <c:ptCount val="100"/>
                <c:pt idx="0">
                  <c:v>0.0</c:v>
                </c:pt>
                <c:pt idx="1">
                  <c:v>1.01</c:v>
                </c:pt>
                <c:pt idx="2">
                  <c:v>2.02</c:v>
                </c:pt>
                <c:pt idx="3">
                  <c:v>3.03</c:v>
                </c:pt>
                <c:pt idx="4">
                  <c:v>4.04</c:v>
                </c:pt>
                <c:pt idx="5">
                  <c:v>5.05</c:v>
                </c:pt>
                <c:pt idx="6">
                  <c:v>6.06</c:v>
                </c:pt>
                <c:pt idx="7">
                  <c:v>7.07</c:v>
                </c:pt>
                <c:pt idx="8">
                  <c:v>8.08</c:v>
                </c:pt>
                <c:pt idx="9">
                  <c:v>9.09</c:v>
                </c:pt>
                <c:pt idx="10">
                  <c:v>10.1</c:v>
                </c:pt>
                <c:pt idx="11">
                  <c:v>11.11</c:v>
                </c:pt>
                <c:pt idx="12">
                  <c:v>12.12</c:v>
                </c:pt>
                <c:pt idx="13">
                  <c:v>13.13</c:v>
                </c:pt>
                <c:pt idx="14">
                  <c:v>14.14</c:v>
                </c:pt>
                <c:pt idx="15">
                  <c:v>15.15</c:v>
                </c:pt>
                <c:pt idx="16">
                  <c:v>16.16</c:v>
                </c:pt>
                <c:pt idx="17">
                  <c:v>17.17</c:v>
                </c:pt>
                <c:pt idx="18">
                  <c:v>18.18</c:v>
                </c:pt>
                <c:pt idx="19">
                  <c:v>19.19</c:v>
                </c:pt>
                <c:pt idx="20">
                  <c:v>20.2</c:v>
                </c:pt>
                <c:pt idx="21">
                  <c:v>21.21</c:v>
                </c:pt>
                <c:pt idx="22">
                  <c:v>22.22</c:v>
                </c:pt>
                <c:pt idx="23">
                  <c:v>23.23</c:v>
                </c:pt>
                <c:pt idx="24">
                  <c:v>24.24</c:v>
                </c:pt>
                <c:pt idx="25">
                  <c:v>25.25</c:v>
                </c:pt>
                <c:pt idx="26">
                  <c:v>26.26</c:v>
                </c:pt>
                <c:pt idx="27">
                  <c:v>27.27</c:v>
                </c:pt>
                <c:pt idx="28">
                  <c:v>28.28</c:v>
                </c:pt>
                <c:pt idx="29">
                  <c:v>29.29</c:v>
                </c:pt>
                <c:pt idx="30">
                  <c:v>30.3</c:v>
                </c:pt>
                <c:pt idx="31">
                  <c:v>31.31</c:v>
                </c:pt>
                <c:pt idx="32">
                  <c:v>32.32</c:v>
                </c:pt>
                <c:pt idx="33">
                  <c:v>33.33</c:v>
                </c:pt>
                <c:pt idx="34">
                  <c:v>34.34</c:v>
                </c:pt>
                <c:pt idx="35">
                  <c:v>35.35</c:v>
                </c:pt>
                <c:pt idx="36">
                  <c:v>36.36</c:v>
                </c:pt>
                <c:pt idx="37">
                  <c:v>37.37</c:v>
                </c:pt>
                <c:pt idx="38">
                  <c:v>38.38</c:v>
                </c:pt>
                <c:pt idx="39">
                  <c:v>39.39</c:v>
                </c:pt>
                <c:pt idx="40">
                  <c:v>40.4</c:v>
                </c:pt>
                <c:pt idx="41">
                  <c:v>41.41</c:v>
                </c:pt>
                <c:pt idx="42">
                  <c:v>42.42</c:v>
                </c:pt>
                <c:pt idx="43">
                  <c:v>43.43</c:v>
                </c:pt>
                <c:pt idx="44">
                  <c:v>44.44</c:v>
                </c:pt>
                <c:pt idx="45">
                  <c:v>45.45</c:v>
                </c:pt>
                <c:pt idx="46">
                  <c:v>46.46</c:v>
                </c:pt>
                <c:pt idx="47">
                  <c:v>47.47</c:v>
                </c:pt>
                <c:pt idx="48">
                  <c:v>48.48</c:v>
                </c:pt>
                <c:pt idx="49">
                  <c:v>49.49</c:v>
                </c:pt>
                <c:pt idx="50">
                  <c:v>50.51</c:v>
                </c:pt>
                <c:pt idx="51">
                  <c:v>51.52</c:v>
                </c:pt>
                <c:pt idx="52">
                  <c:v>52.53</c:v>
                </c:pt>
                <c:pt idx="53">
                  <c:v>53.54</c:v>
                </c:pt>
                <c:pt idx="54">
                  <c:v>54.55</c:v>
                </c:pt>
                <c:pt idx="55">
                  <c:v>55.56</c:v>
                </c:pt>
                <c:pt idx="56">
                  <c:v>56.57</c:v>
                </c:pt>
                <c:pt idx="57">
                  <c:v>57.58</c:v>
                </c:pt>
                <c:pt idx="58">
                  <c:v>58.59</c:v>
                </c:pt>
                <c:pt idx="59">
                  <c:v>59.6</c:v>
                </c:pt>
                <c:pt idx="60">
                  <c:v>60.61</c:v>
                </c:pt>
                <c:pt idx="61">
                  <c:v>61.62</c:v>
                </c:pt>
                <c:pt idx="62">
                  <c:v>62.63</c:v>
                </c:pt>
                <c:pt idx="63">
                  <c:v>63.64</c:v>
                </c:pt>
                <c:pt idx="64">
                  <c:v>64.65</c:v>
                </c:pt>
                <c:pt idx="65">
                  <c:v>65.66</c:v>
                </c:pt>
                <c:pt idx="66">
                  <c:v>66.67</c:v>
                </c:pt>
                <c:pt idx="67">
                  <c:v>67.68</c:v>
                </c:pt>
                <c:pt idx="68">
                  <c:v>68.69</c:v>
                </c:pt>
                <c:pt idx="69">
                  <c:v>69.7</c:v>
                </c:pt>
                <c:pt idx="70">
                  <c:v>70.71</c:v>
                </c:pt>
                <c:pt idx="71">
                  <c:v>71.72</c:v>
                </c:pt>
                <c:pt idx="72">
                  <c:v>72.73</c:v>
                </c:pt>
                <c:pt idx="73">
                  <c:v>73.74</c:v>
                </c:pt>
                <c:pt idx="74">
                  <c:v>74.75</c:v>
                </c:pt>
                <c:pt idx="75">
                  <c:v>75.76</c:v>
                </c:pt>
                <c:pt idx="76">
                  <c:v>76.77</c:v>
                </c:pt>
                <c:pt idx="77">
                  <c:v>77.78</c:v>
                </c:pt>
                <c:pt idx="78">
                  <c:v>78.79</c:v>
                </c:pt>
                <c:pt idx="79">
                  <c:v>79.8</c:v>
                </c:pt>
                <c:pt idx="80">
                  <c:v>80.81</c:v>
                </c:pt>
                <c:pt idx="81">
                  <c:v>81.82</c:v>
                </c:pt>
                <c:pt idx="82">
                  <c:v>82.83</c:v>
                </c:pt>
                <c:pt idx="83">
                  <c:v>83.84</c:v>
                </c:pt>
                <c:pt idx="84">
                  <c:v>84.85</c:v>
                </c:pt>
                <c:pt idx="85">
                  <c:v>85.86</c:v>
                </c:pt>
                <c:pt idx="86">
                  <c:v>86.87</c:v>
                </c:pt>
                <c:pt idx="87">
                  <c:v>87.88</c:v>
                </c:pt>
                <c:pt idx="88">
                  <c:v>88.89</c:v>
                </c:pt>
                <c:pt idx="89">
                  <c:v>89.9</c:v>
                </c:pt>
                <c:pt idx="90">
                  <c:v>90.91</c:v>
                </c:pt>
                <c:pt idx="91">
                  <c:v>91.92</c:v>
                </c:pt>
                <c:pt idx="92">
                  <c:v>92.93</c:v>
                </c:pt>
                <c:pt idx="93">
                  <c:v>93.94</c:v>
                </c:pt>
                <c:pt idx="94">
                  <c:v>94.95</c:v>
                </c:pt>
                <c:pt idx="95">
                  <c:v>95.96</c:v>
                </c:pt>
                <c:pt idx="96">
                  <c:v>96.97</c:v>
                </c:pt>
                <c:pt idx="97">
                  <c:v>97.98</c:v>
                </c:pt>
                <c:pt idx="98">
                  <c:v>98.99</c:v>
                </c:pt>
                <c:pt idx="99">
                  <c:v>100.0</c:v>
                </c:pt>
              </c:numCache>
            </c:numRef>
          </c:xVal>
          <c:yVal>
            <c:numRef>
              <c:f>Sheet1!$B$2:$B$101</c:f>
              <c:numCache>
                <c:formatCode>0.0</c:formatCode>
                <c:ptCount val="100"/>
                <c:pt idx="0">
                  <c:v>0.01044921875</c:v>
                </c:pt>
                <c:pt idx="1">
                  <c:v>0.611328125</c:v>
                </c:pt>
                <c:pt idx="2">
                  <c:v>0.611328125</c:v>
                </c:pt>
                <c:pt idx="3">
                  <c:v>0.609375</c:v>
                </c:pt>
                <c:pt idx="4">
                  <c:v>0.60751953125</c:v>
                </c:pt>
                <c:pt idx="5">
                  <c:v>0.60654296875</c:v>
                </c:pt>
                <c:pt idx="6">
                  <c:v>0.6046875</c:v>
                </c:pt>
                <c:pt idx="7">
                  <c:v>0.6037109375</c:v>
                </c:pt>
                <c:pt idx="8">
                  <c:v>0.59921875</c:v>
                </c:pt>
                <c:pt idx="9">
                  <c:v>0.5984375</c:v>
                </c:pt>
                <c:pt idx="10">
                  <c:v>0.596484375</c:v>
                </c:pt>
                <c:pt idx="11">
                  <c:v>0.590625</c:v>
                </c:pt>
                <c:pt idx="12">
                  <c:v>0.58876953125</c:v>
                </c:pt>
                <c:pt idx="13">
                  <c:v>0.5859375</c:v>
                </c:pt>
                <c:pt idx="14">
                  <c:v>0.5849609375</c:v>
                </c:pt>
                <c:pt idx="15">
                  <c:v>0.583984375</c:v>
                </c:pt>
                <c:pt idx="16">
                  <c:v>0.583984375</c:v>
                </c:pt>
                <c:pt idx="17">
                  <c:v>0.58212890625</c:v>
                </c:pt>
                <c:pt idx="18">
                  <c:v>0.58115234375</c:v>
                </c:pt>
                <c:pt idx="19">
                  <c:v>0.57939453125</c:v>
                </c:pt>
                <c:pt idx="20">
                  <c:v>0.57939453125</c:v>
                </c:pt>
                <c:pt idx="21">
                  <c:v>0.57841796875</c:v>
                </c:pt>
                <c:pt idx="22">
                  <c:v>0.578515625</c:v>
                </c:pt>
                <c:pt idx="23">
                  <c:v>0.578515625</c:v>
                </c:pt>
                <c:pt idx="24">
                  <c:v>0.5765625</c:v>
                </c:pt>
                <c:pt idx="25">
                  <c:v>2.00107421875</c:v>
                </c:pt>
                <c:pt idx="26">
                  <c:v>2.02265625</c:v>
                </c:pt>
                <c:pt idx="27">
                  <c:v>2.051953125</c:v>
                </c:pt>
                <c:pt idx="28">
                  <c:v>2.0578125</c:v>
                </c:pt>
                <c:pt idx="29">
                  <c:v>2.07734375</c:v>
                </c:pt>
                <c:pt idx="30">
                  <c:v>2.13310546875</c:v>
                </c:pt>
                <c:pt idx="31">
                  <c:v>2.13798828125</c:v>
                </c:pt>
                <c:pt idx="32">
                  <c:v>2.15068359375</c:v>
                </c:pt>
                <c:pt idx="33">
                  <c:v>2.19462890625</c:v>
                </c:pt>
                <c:pt idx="34">
                  <c:v>2.20927734375</c:v>
                </c:pt>
                <c:pt idx="35">
                  <c:v>2.276953125</c:v>
                </c:pt>
                <c:pt idx="36">
                  <c:v>2.39609375</c:v>
                </c:pt>
                <c:pt idx="37">
                  <c:v>2.4400390625</c:v>
                </c:pt>
                <c:pt idx="38">
                  <c:v>2.4478515625</c:v>
                </c:pt>
                <c:pt idx="39">
                  <c:v>2.472265625</c:v>
                </c:pt>
                <c:pt idx="40">
                  <c:v>2.5015625</c:v>
                </c:pt>
                <c:pt idx="41">
                  <c:v>2.531640625</c:v>
                </c:pt>
                <c:pt idx="42">
                  <c:v>2.5541015625</c:v>
                </c:pt>
                <c:pt idx="43">
                  <c:v>2.558984375</c:v>
                </c:pt>
                <c:pt idx="44">
                  <c:v>2.609765625</c:v>
                </c:pt>
                <c:pt idx="45">
                  <c:v>2.625390625</c:v>
                </c:pt>
                <c:pt idx="46">
                  <c:v>2.6625</c:v>
                </c:pt>
                <c:pt idx="47">
                  <c:v>2.7318359375</c:v>
                </c:pt>
                <c:pt idx="48">
                  <c:v>2.7728515625</c:v>
                </c:pt>
                <c:pt idx="49">
                  <c:v>2.85390625</c:v>
                </c:pt>
                <c:pt idx="50">
                  <c:v>2.9056640625</c:v>
                </c:pt>
                <c:pt idx="51">
                  <c:v>2.9232421875</c:v>
                </c:pt>
                <c:pt idx="52">
                  <c:v>2.9271484375</c:v>
                </c:pt>
                <c:pt idx="53">
                  <c:v>2.975</c:v>
                </c:pt>
                <c:pt idx="54">
                  <c:v>3.0033203125</c:v>
                </c:pt>
                <c:pt idx="55">
                  <c:v>3.023828125</c:v>
                </c:pt>
                <c:pt idx="56">
                  <c:v>3.04140625</c:v>
                </c:pt>
                <c:pt idx="57">
                  <c:v>3.1169921875</c:v>
                </c:pt>
                <c:pt idx="58">
                  <c:v>3.153125</c:v>
                </c:pt>
                <c:pt idx="59">
                  <c:v>3.186328125</c:v>
                </c:pt>
                <c:pt idx="60">
                  <c:v>3.1921875</c:v>
                </c:pt>
                <c:pt idx="61">
                  <c:v>3.389453125</c:v>
                </c:pt>
                <c:pt idx="62">
                  <c:v>3.35625</c:v>
                </c:pt>
                <c:pt idx="63">
                  <c:v>3.350390625</c:v>
                </c:pt>
                <c:pt idx="64">
                  <c:v>3.3142578125</c:v>
                </c:pt>
                <c:pt idx="65">
                  <c:v>3.299609375</c:v>
                </c:pt>
                <c:pt idx="66">
                  <c:v>3.252734375</c:v>
                </c:pt>
                <c:pt idx="67">
                  <c:v>3.21171875</c:v>
                </c:pt>
                <c:pt idx="68">
                  <c:v>3.1501953125</c:v>
                </c:pt>
                <c:pt idx="69">
                  <c:v>3.1150390625</c:v>
                </c:pt>
                <c:pt idx="70">
                  <c:v>3.11015625</c:v>
                </c:pt>
                <c:pt idx="71">
                  <c:v>3.1072265625</c:v>
                </c:pt>
                <c:pt idx="72">
                  <c:v>3.075</c:v>
                </c:pt>
                <c:pt idx="73">
                  <c:v>2.979296875</c:v>
                </c:pt>
                <c:pt idx="74">
                  <c:v>2.9626953125</c:v>
                </c:pt>
                <c:pt idx="75">
                  <c:v>2.91875</c:v>
                </c:pt>
                <c:pt idx="76">
                  <c:v>2.916796875</c:v>
                </c:pt>
                <c:pt idx="77">
                  <c:v>2.8787109375</c:v>
                </c:pt>
                <c:pt idx="78">
                  <c:v>2.8748046875</c:v>
                </c:pt>
                <c:pt idx="79">
                  <c:v>2.8416015625</c:v>
                </c:pt>
                <c:pt idx="80">
                  <c:v>2.82109375</c:v>
                </c:pt>
                <c:pt idx="81">
                  <c:v>2.7576171875</c:v>
                </c:pt>
                <c:pt idx="82">
                  <c:v>2.7107421875</c:v>
                </c:pt>
                <c:pt idx="83">
                  <c:v>2.6990234375</c:v>
                </c:pt>
                <c:pt idx="84">
                  <c:v>2.684375</c:v>
                </c:pt>
                <c:pt idx="85">
                  <c:v>2.635546875</c:v>
                </c:pt>
                <c:pt idx="86">
                  <c:v>2.6033203125</c:v>
                </c:pt>
                <c:pt idx="87">
                  <c:v>2.4958984375</c:v>
                </c:pt>
                <c:pt idx="88">
                  <c:v>2.4890625</c:v>
                </c:pt>
                <c:pt idx="89">
                  <c:v>2.483203125</c:v>
                </c:pt>
                <c:pt idx="90">
                  <c:v>2.4666015625</c:v>
                </c:pt>
                <c:pt idx="91">
                  <c:v>2.4373046875</c:v>
                </c:pt>
                <c:pt idx="92">
                  <c:v>2.4236328125</c:v>
                </c:pt>
                <c:pt idx="93">
                  <c:v>2.4177734375</c:v>
                </c:pt>
                <c:pt idx="94">
                  <c:v>2.393359375</c:v>
                </c:pt>
                <c:pt idx="95">
                  <c:v>2.381640625</c:v>
                </c:pt>
                <c:pt idx="96">
                  <c:v>2.369921875</c:v>
                </c:pt>
                <c:pt idx="97">
                  <c:v>2.35234375</c:v>
                </c:pt>
                <c:pt idx="98">
                  <c:v>2.326953125</c:v>
                </c:pt>
                <c:pt idx="99">
                  <c:v>2.3123046875</c:v>
                </c:pt>
              </c:numCache>
            </c:numRef>
          </c:yVal>
          <c:smooth val="0"/>
        </c:ser>
        <c:ser>
          <c:idx val="1"/>
          <c:order val="1"/>
          <c:tx>
            <c:strRef>
              <c:f>Sheet1!$B$103</c:f>
              <c:strCache>
                <c:ptCount val="1"/>
                <c:pt idx="0">
                  <c:v>chunked</c:v>
                </c:pt>
              </c:strCache>
            </c:strRef>
          </c:tx>
          <c:spPr>
            <a:ln w="38100">
              <a:solidFill>
                <a:srgbClr val="2B6797"/>
              </a:solidFill>
            </a:ln>
          </c:spPr>
          <c:marker>
            <c:symbol val="none"/>
          </c:marker>
          <c:xVal>
            <c:numRef>
              <c:f>Sheet1!$A$104:$A$203</c:f>
              <c:numCache>
                <c:formatCode>0.0</c:formatCode>
                <c:ptCount val="100"/>
                <c:pt idx="0">
                  <c:v>0.0</c:v>
                </c:pt>
                <c:pt idx="1">
                  <c:v>1.01</c:v>
                </c:pt>
                <c:pt idx="2">
                  <c:v>2.02</c:v>
                </c:pt>
                <c:pt idx="3">
                  <c:v>3.03</c:v>
                </c:pt>
                <c:pt idx="4">
                  <c:v>4.04</c:v>
                </c:pt>
                <c:pt idx="5">
                  <c:v>5.05</c:v>
                </c:pt>
                <c:pt idx="6">
                  <c:v>6.06</c:v>
                </c:pt>
                <c:pt idx="7">
                  <c:v>7.07</c:v>
                </c:pt>
                <c:pt idx="8">
                  <c:v>8.08</c:v>
                </c:pt>
                <c:pt idx="9">
                  <c:v>9.09</c:v>
                </c:pt>
                <c:pt idx="10">
                  <c:v>10.1</c:v>
                </c:pt>
                <c:pt idx="11">
                  <c:v>11.11</c:v>
                </c:pt>
                <c:pt idx="12">
                  <c:v>12.12</c:v>
                </c:pt>
                <c:pt idx="13">
                  <c:v>13.13</c:v>
                </c:pt>
                <c:pt idx="14">
                  <c:v>14.14</c:v>
                </c:pt>
                <c:pt idx="15">
                  <c:v>15.15</c:v>
                </c:pt>
                <c:pt idx="16">
                  <c:v>16.16</c:v>
                </c:pt>
                <c:pt idx="17">
                  <c:v>17.17</c:v>
                </c:pt>
                <c:pt idx="18">
                  <c:v>18.18</c:v>
                </c:pt>
                <c:pt idx="19">
                  <c:v>19.19</c:v>
                </c:pt>
                <c:pt idx="20">
                  <c:v>20.2</c:v>
                </c:pt>
                <c:pt idx="21">
                  <c:v>21.21</c:v>
                </c:pt>
                <c:pt idx="22">
                  <c:v>22.22</c:v>
                </c:pt>
                <c:pt idx="23">
                  <c:v>23.23</c:v>
                </c:pt>
                <c:pt idx="24">
                  <c:v>24.24</c:v>
                </c:pt>
                <c:pt idx="25">
                  <c:v>25.25</c:v>
                </c:pt>
                <c:pt idx="26">
                  <c:v>26.26</c:v>
                </c:pt>
                <c:pt idx="27">
                  <c:v>27.27</c:v>
                </c:pt>
                <c:pt idx="28">
                  <c:v>28.28</c:v>
                </c:pt>
                <c:pt idx="29">
                  <c:v>29.29</c:v>
                </c:pt>
                <c:pt idx="30">
                  <c:v>30.3</c:v>
                </c:pt>
                <c:pt idx="31">
                  <c:v>31.31</c:v>
                </c:pt>
                <c:pt idx="32">
                  <c:v>32.32</c:v>
                </c:pt>
                <c:pt idx="33">
                  <c:v>33.33</c:v>
                </c:pt>
                <c:pt idx="34">
                  <c:v>34.34</c:v>
                </c:pt>
                <c:pt idx="35">
                  <c:v>35.35</c:v>
                </c:pt>
                <c:pt idx="36">
                  <c:v>36.36</c:v>
                </c:pt>
                <c:pt idx="37">
                  <c:v>37.37</c:v>
                </c:pt>
                <c:pt idx="38">
                  <c:v>38.38</c:v>
                </c:pt>
                <c:pt idx="39">
                  <c:v>39.39</c:v>
                </c:pt>
                <c:pt idx="40">
                  <c:v>40.4</c:v>
                </c:pt>
                <c:pt idx="41">
                  <c:v>41.41</c:v>
                </c:pt>
                <c:pt idx="42">
                  <c:v>42.42</c:v>
                </c:pt>
                <c:pt idx="43">
                  <c:v>43.43</c:v>
                </c:pt>
                <c:pt idx="44">
                  <c:v>44.44</c:v>
                </c:pt>
                <c:pt idx="45">
                  <c:v>45.45</c:v>
                </c:pt>
                <c:pt idx="46">
                  <c:v>46.46</c:v>
                </c:pt>
                <c:pt idx="47">
                  <c:v>47.47</c:v>
                </c:pt>
                <c:pt idx="48">
                  <c:v>48.48</c:v>
                </c:pt>
                <c:pt idx="49">
                  <c:v>49.49</c:v>
                </c:pt>
                <c:pt idx="50">
                  <c:v>50.51</c:v>
                </c:pt>
                <c:pt idx="51">
                  <c:v>51.52</c:v>
                </c:pt>
                <c:pt idx="52">
                  <c:v>52.53</c:v>
                </c:pt>
                <c:pt idx="53">
                  <c:v>53.54</c:v>
                </c:pt>
                <c:pt idx="54">
                  <c:v>54.55</c:v>
                </c:pt>
                <c:pt idx="55">
                  <c:v>55.56</c:v>
                </c:pt>
                <c:pt idx="56">
                  <c:v>56.57</c:v>
                </c:pt>
                <c:pt idx="57">
                  <c:v>57.58</c:v>
                </c:pt>
                <c:pt idx="58">
                  <c:v>58.59</c:v>
                </c:pt>
                <c:pt idx="59">
                  <c:v>59.6</c:v>
                </c:pt>
                <c:pt idx="60">
                  <c:v>60.61</c:v>
                </c:pt>
                <c:pt idx="61">
                  <c:v>61.62</c:v>
                </c:pt>
                <c:pt idx="62">
                  <c:v>62.63</c:v>
                </c:pt>
                <c:pt idx="63">
                  <c:v>63.64</c:v>
                </c:pt>
                <c:pt idx="64">
                  <c:v>64.65</c:v>
                </c:pt>
                <c:pt idx="65">
                  <c:v>65.66</c:v>
                </c:pt>
                <c:pt idx="66">
                  <c:v>66.67</c:v>
                </c:pt>
                <c:pt idx="67">
                  <c:v>67.68</c:v>
                </c:pt>
                <c:pt idx="68">
                  <c:v>68.69</c:v>
                </c:pt>
                <c:pt idx="69">
                  <c:v>69.7</c:v>
                </c:pt>
                <c:pt idx="70">
                  <c:v>70.71</c:v>
                </c:pt>
                <c:pt idx="71">
                  <c:v>71.72</c:v>
                </c:pt>
                <c:pt idx="72">
                  <c:v>72.73</c:v>
                </c:pt>
                <c:pt idx="73">
                  <c:v>73.74</c:v>
                </c:pt>
                <c:pt idx="74">
                  <c:v>74.75</c:v>
                </c:pt>
                <c:pt idx="75">
                  <c:v>75.76</c:v>
                </c:pt>
                <c:pt idx="76">
                  <c:v>76.77</c:v>
                </c:pt>
                <c:pt idx="77">
                  <c:v>77.78</c:v>
                </c:pt>
                <c:pt idx="78">
                  <c:v>78.79</c:v>
                </c:pt>
                <c:pt idx="79">
                  <c:v>79.8</c:v>
                </c:pt>
                <c:pt idx="80">
                  <c:v>80.81</c:v>
                </c:pt>
                <c:pt idx="81">
                  <c:v>81.82</c:v>
                </c:pt>
                <c:pt idx="82">
                  <c:v>82.83</c:v>
                </c:pt>
                <c:pt idx="83">
                  <c:v>83.84</c:v>
                </c:pt>
                <c:pt idx="84">
                  <c:v>84.85</c:v>
                </c:pt>
                <c:pt idx="85">
                  <c:v>85.86</c:v>
                </c:pt>
                <c:pt idx="86">
                  <c:v>86.87</c:v>
                </c:pt>
                <c:pt idx="87">
                  <c:v>87.88</c:v>
                </c:pt>
                <c:pt idx="88">
                  <c:v>88.89</c:v>
                </c:pt>
                <c:pt idx="89">
                  <c:v>89.9</c:v>
                </c:pt>
                <c:pt idx="90">
                  <c:v>90.91</c:v>
                </c:pt>
                <c:pt idx="91">
                  <c:v>91.92</c:v>
                </c:pt>
                <c:pt idx="92">
                  <c:v>92.93</c:v>
                </c:pt>
                <c:pt idx="93">
                  <c:v>93.94</c:v>
                </c:pt>
                <c:pt idx="94">
                  <c:v>94.95</c:v>
                </c:pt>
                <c:pt idx="95">
                  <c:v>95.96</c:v>
                </c:pt>
                <c:pt idx="96">
                  <c:v>96.97</c:v>
                </c:pt>
                <c:pt idx="97">
                  <c:v>97.98</c:v>
                </c:pt>
                <c:pt idx="98">
                  <c:v>98.99</c:v>
                </c:pt>
                <c:pt idx="99">
                  <c:v>100.0</c:v>
                </c:pt>
              </c:numCache>
            </c:numRef>
          </c:xVal>
          <c:yVal>
            <c:numRef>
              <c:f>Sheet1!$B$104:$B$203</c:f>
              <c:numCache>
                <c:formatCode>0.0</c:formatCode>
                <c:ptCount val="100"/>
                <c:pt idx="0">
                  <c:v>0.0009765625</c:v>
                </c:pt>
                <c:pt idx="1">
                  <c:v>0.0048828125</c:v>
                </c:pt>
                <c:pt idx="2">
                  <c:v>0.0126953125</c:v>
                </c:pt>
                <c:pt idx="3">
                  <c:v>0.0396484375</c:v>
                </c:pt>
                <c:pt idx="4">
                  <c:v>0.0396484375</c:v>
                </c:pt>
                <c:pt idx="5">
                  <c:v>0.038671875</c:v>
                </c:pt>
                <c:pt idx="6">
                  <c:v>0.038671875</c:v>
                </c:pt>
                <c:pt idx="7">
                  <c:v>0.038671875</c:v>
                </c:pt>
                <c:pt idx="8">
                  <c:v>0.038671875</c:v>
                </c:pt>
                <c:pt idx="9">
                  <c:v>0.038671875</c:v>
                </c:pt>
                <c:pt idx="10">
                  <c:v>0.06806640625</c:v>
                </c:pt>
                <c:pt idx="11">
                  <c:v>0.0904296875</c:v>
                </c:pt>
                <c:pt idx="12">
                  <c:v>0.11279296875</c:v>
                </c:pt>
                <c:pt idx="13">
                  <c:v>0.1798828125</c:v>
                </c:pt>
                <c:pt idx="14">
                  <c:v>0.21943359375</c:v>
                </c:pt>
                <c:pt idx="15">
                  <c:v>0.28984375</c:v>
                </c:pt>
                <c:pt idx="16">
                  <c:v>0.287890625</c:v>
                </c:pt>
                <c:pt idx="17">
                  <c:v>0.28798828125</c:v>
                </c:pt>
                <c:pt idx="18">
                  <c:v>0.2876953125</c:v>
                </c:pt>
                <c:pt idx="19">
                  <c:v>0.33232421875</c:v>
                </c:pt>
                <c:pt idx="20">
                  <c:v>0.3099609375</c:v>
                </c:pt>
                <c:pt idx="21">
                  <c:v>0.2951171875</c:v>
                </c:pt>
                <c:pt idx="22">
                  <c:v>0.35693359375</c:v>
                </c:pt>
                <c:pt idx="23">
                  <c:v>0.35615234375</c:v>
                </c:pt>
                <c:pt idx="24">
                  <c:v>0.4888671875</c:v>
                </c:pt>
                <c:pt idx="25">
                  <c:v>0.48583984375</c:v>
                </c:pt>
                <c:pt idx="26">
                  <c:v>0.4859375</c:v>
                </c:pt>
                <c:pt idx="27">
                  <c:v>0.603515625</c:v>
                </c:pt>
                <c:pt idx="28">
                  <c:v>0.6103515625</c:v>
                </c:pt>
                <c:pt idx="29">
                  <c:v>0.67197265625</c:v>
                </c:pt>
                <c:pt idx="30">
                  <c:v>0.67099609375</c:v>
                </c:pt>
                <c:pt idx="31">
                  <c:v>0.67099609375</c:v>
                </c:pt>
                <c:pt idx="32">
                  <c:v>0.71025390625</c:v>
                </c:pt>
                <c:pt idx="33">
                  <c:v>0.69912109375</c:v>
                </c:pt>
                <c:pt idx="34">
                  <c:v>0.7435546875</c:v>
                </c:pt>
                <c:pt idx="35">
                  <c:v>0.7447265625</c:v>
                </c:pt>
                <c:pt idx="36">
                  <c:v>0.8119140625</c:v>
                </c:pt>
                <c:pt idx="37">
                  <c:v>0.8693359375</c:v>
                </c:pt>
                <c:pt idx="38">
                  <c:v>0.86640625</c:v>
                </c:pt>
                <c:pt idx="39">
                  <c:v>0.88974609375</c:v>
                </c:pt>
                <c:pt idx="40">
                  <c:v>0.989453125</c:v>
                </c:pt>
                <c:pt idx="41">
                  <c:v>0.9884765625</c:v>
                </c:pt>
                <c:pt idx="42">
                  <c:v>1.011328125</c:v>
                </c:pt>
                <c:pt idx="43">
                  <c:v>1.10283203125</c:v>
                </c:pt>
                <c:pt idx="44">
                  <c:v>1.10283203125</c:v>
                </c:pt>
                <c:pt idx="45">
                  <c:v>1.10185546875</c:v>
                </c:pt>
                <c:pt idx="46">
                  <c:v>1.1828125</c:v>
                </c:pt>
                <c:pt idx="47">
                  <c:v>1.1916015625</c:v>
                </c:pt>
                <c:pt idx="48">
                  <c:v>1.2328125</c:v>
                </c:pt>
                <c:pt idx="49">
                  <c:v>1.2318359375</c:v>
                </c:pt>
                <c:pt idx="50">
                  <c:v>1.2318359375</c:v>
                </c:pt>
                <c:pt idx="51">
                  <c:v>1.23095703125</c:v>
                </c:pt>
                <c:pt idx="52">
                  <c:v>1.23193359375</c:v>
                </c:pt>
                <c:pt idx="53">
                  <c:v>1.21171875</c:v>
                </c:pt>
                <c:pt idx="54">
                  <c:v>1.08896484375</c:v>
                </c:pt>
                <c:pt idx="55">
                  <c:v>0.957421875</c:v>
                </c:pt>
                <c:pt idx="56">
                  <c:v>0.4458984375</c:v>
                </c:pt>
                <c:pt idx="57">
                  <c:v>0.31298828125</c:v>
                </c:pt>
                <c:pt idx="58">
                  <c:v>0.210546875</c:v>
                </c:pt>
                <c:pt idx="59">
                  <c:v>0.29248046875</c:v>
                </c:pt>
                <c:pt idx="60">
                  <c:v>0.302734375</c:v>
                </c:pt>
                <c:pt idx="61">
                  <c:v>0.32568359375</c:v>
                </c:pt>
                <c:pt idx="62">
                  <c:v>0.35546875</c:v>
                </c:pt>
                <c:pt idx="63">
                  <c:v>0.42939453125</c:v>
                </c:pt>
                <c:pt idx="64">
                  <c:v>0.42939453125</c:v>
                </c:pt>
                <c:pt idx="65">
                  <c:v>0.43037109375</c:v>
                </c:pt>
                <c:pt idx="66">
                  <c:v>0.43037109375</c:v>
                </c:pt>
                <c:pt idx="67">
                  <c:v>0.44326171875</c:v>
                </c:pt>
                <c:pt idx="68">
                  <c:v>0.54130859375</c:v>
                </c:pt>
                <c:pt idx="69">
                  <c:v>0.54130859375</c:v>
                </c:pt>
                <c:pt idx="70">
                  <c:v>0.56416015625</c:v>
                </c:pt>
                <c:pt idx="71">
                  <c:v>0.5939453125</c:v>
                </c:pt>
                <c:pt idx="72">
                  <c:v>0.61630859375</c:v>
                </c:pt>
                <c:pt idx="73">
                  <c:v>0.6087890625</c:v>
                </c:pt>
                <c:pt idx="74">
                  <c:v>0.661328125</c:v>
                </c:pt>
                <c:pt idx="75">
                  <c:v>0.669140625</c:v>
                </c:pt>
                <c:pt idx="76">
                  <c:v>0.69150390625</c:v>
                </c:pt>
                <c:pt idx="77">
                  <c:v>0.71376953125</c:v>
                </c:pt>
                <c:pt idx="78">
                  <c:v>0.75</c:v>
                </c:pt>
                <c:pt idx="79">
                  <c:v>0.78857421875</c:v>
                </c:pt>
                <c:pt idx="80">
                  <c:v>0.78955078125</c:v>
                </c:pt>
                <c:pt idx="81">
                  <c:v>0.78857421875</c:v>
                </c:pt>
                <c:pt idx="82">
                  <c:v>0.78857421875</c:v>
                </c:pt>
                <c:pt idx="83">
                  <c:v>0.81142578125</c:v>
                </c:pt>
                <c:pt idx="84">
                  <c:v>0.86728515625</c:v>
                </c:pt>
                <c:pt idx="85">
                  <c:v>0.915234375</c:v>
                </c:pt>
                <c:pt idx="86">
                  <c:v>0.91240234375</c:v>
                </c:pt>
                <c:pt idx="87">
                  <c:v>0.98818359375</c:v>
                </c:pt>
                <c:pt idx="88">
                  <c:v>1.03505859375</c:v>
                </c:pt>
                <c:pt idx="89">
                  <c:v>1.0736328125</c:v>
                </c:pt>
                <c:pt idx="90">
                  <c:v>1.03642578125</c:v>
                </c:pt>
                <c:pt idx="91">
                  <c:v>1.06767578125</c:v>
                </c:pt>
                <c:pt idx="92">
                  <c:v>1.088671875</c:v>
                </c:pt>
                <c:pt idx="93">
                  <c:v>1.55</c:v>
                </c:pt>
                <c:pt idx="94">
                  <c:v>1.5341796875</c:v>
                </c:pt>
                <c:pt idx="95">
                  <c:v>1.50361328125</c:v>
                </c:pt>
                <c:pt idx="96">
                  <c:v>1.30986328125</c:v>
                </c:pt>
                <c:pt idx="97">
                  <c:v>1.26708984375</c:v>
                </c:pt>
                <c:pt idx="98">
                  <c:v>1.16796875</c:v>
                </c:pt>
                <c:pt idx="99">
                  <c:v>1.02314453125</c:v>
                </c:pt>
              </c:numCache>
            </c:numRef>
          </c:yVal>
          <c:smooth val="0"/>
        </c:ser>
        <c:axId val="-2128940872"/>
        <c:axId val="-2129643912"/>
      </c:scatterChart>
      <c:valAx>
        <c:axId val="-2128940872"/>
        <c:scaling>
          <c:orientation val="minMax"/>
          <c:max val="100.0"/>
          <c:min val="0.0"/>
        </c:scaling>
        <c:delete val="0"/>
        <c:axPos val="b"/>
        <c:numFmt formatCode="0&quot;%&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129643912"/>
        <c:crosses val="autoZero"/>
        <c:crossBetween val="midCat"/>
        <c:majorUnit val="25.0"/>
      </c:valAx>
      <c:valAx>
        <c:axId val="-2129643912"/>
        <c:scaling>
          <c:orientation val="minMax"/>
          <c:max val="4.0"/>
          <c:min val="0.0"/>
        </c:scaling>
        <c:delete val="0"/>
        <c:axPos val="l"/>
        <c:numFmt formatCode="0&quot; GB&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128940872"/>
        <c:crosses val="autoZero"/>
        <c:crossBetween val="midCat"/>
        <c:majorUnit val="1.0"/>
      </c:valAx>
      <c:spPr>
        <a:noFill/>
        <a:ln>
          <a:noFill/>
        </a:ln>
      </c:spPr>
    </c:plotArea>
    <c:plotVisOnly val="1"/>
    <c:dispBlanksAs val="gap"/>
    <c:showDLblsOverMax val="0"/>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lide image"/>
          <p:cNvSpPr>
            <a:spLocks noGrp="1" noRot="1" noChangeAspect="1"/>
          </p:cNvSpPr>
          <p:nvPr>
            <p:ph type="sldImg" idx="2"/>
          </p:nvPr>
        </p:nvSpPr>
        <p:spPr>
          <a:xfrm>
            <a:off x="381000" y="685800"/>
            <a:ext cx="6096000" cy="3429000"/>
          </a:xfrm>
          <a:prstGeom prst="rect">
            <a:avLst/>
          </a:prstGeom>
          <a:noFill/>
          <a:ln w="12700">
            <a:solidFill>
              <a:schemeClr val="accent5"/>
            </a:solidFill>
          </a:ln>
        </p:spPr>
      </p:sp>
      <p:sp>
        <p:nvSpPr>
          <p:cNvPr id="3" name="Notes"/>
          <p:cNvSpPr>
            <a:spLocks noGrp="1"/>
          </p:cNvSpPr>
          <p:nvPr>
            <p:ph type="body" sz="quarter" idx="3"/>
          </p:nvPr>
        </p:nvSpPr>
        <p:spPr>
          <a:xfrm>
            <a:off x="685800" y="4343400"/>
            <a:ext cx="5486400" cy="4114800"/>
          </a:xfrm>
          <a:prstGeom prst="rect">
            <a:avLst/>
          </a:prstGeom>
        </p:spPr>
        <p:txBody>
          <a:bodyPr vert="horz" lIns="91440" tIns="45720" rIns="91440" bIns="45720" rtlCol="0"/>
          <a:lstStyle/>
          <a:p>
            <a:r>
              <a:rPr lang="en-GB" dirty="0"/>
              <a:t>Speaker notes: talk track, time, traceability</a:t>
            </a:r>
            <a:endParaRPr lang="en-GB" dirty="0"/>
          </a:p>
        </p:txBody>
      </p:sp>
      <p:sp>
        <p:nvSpPr>
          <p:cNvPr id="4" name="Slide number"/>
          <p:cNvSpPr>
            <a:spLocks noGrp="1"/>
          </p:cNvSpPr>
          <p:nvPr>
            <p:ph type="sldNum" sz="quarter" idx="5"/>
          </p:nvPr>
        </p:nvSpPr>
        <p:spPr>
          <a:xfrm>
            <a:off x="3884613" y="8685213"/>
            <a:ext cx="2971800" cy="458787"/>
          </a:xfrm>
          <a:prstGeom prst="rect">
            <a:avLst/>
          </a:prstGeom>
        </p:spPr>
        <p:txBody>
          <a:bodyPr vert="horz" lIns="91440" tIns="45720" rIns="91440" bIns="45720" rtlCol="0"/>
          <a:lstStyle/>
          <a:p>
            <a:pPr algn="r"/>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hf hdr="0" dt="0" ftr="0"/>
  <p:notesStyle>
    <a:lvl1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1pPr>
    <a:lvl2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2pPr>
    <a:lvl3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3pPr>
    <a:lvl4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4pPr>
    <a:lvl5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5pPr>
    <a:lvl6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6pPr>
    <a:lvl7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7pPr>
    <a:lvl8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8pPr>
    <a:lvl9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Quick show of hands: who has written this loop? Keep it up if it finished before your coffee went cold. In 30 minutes you get a pipeline you can copy and the gotchas that cost me weeks; first, a confession about C++.</a:t>
            </a:r>
          </a:p>
          <a:p/>
          <a:p>
            <a:r>
              <a:t>TIME: 20 s, ends at 0:20</a:t>
            </a:r>
          </a:p>
          <a:p/>
          <a:p>
            <a:r>
              <a:t>LIKELY QUESTION: Does that loop really take until tomorrow on 12 million points?</a:t>
            </a:r>
          </a:p>
          <a:p/>
          <a:p>
            <a:r>
              <a:t>ANSWER: The 12 million is the abstract's joke, not our data: this crop has 722 961 points and the 1 km AHN file 21 013 926. I haven't timed a 12 million point loop, so I don't quote a time; what I did measure is the cost per loop step, on slide 21.</a:t>
            </a:r>
          </a:p>
          <a:p/>
          <a:p>
            <a:r>
              <a:t>CHECK BEFORE THE TALK:</a:t>
            </a:r>
          </a:p>
          <a:p>
            <a:r>
              <a:t>• The code line is the abstract's joke word for word, as the speaker asked (it is a joke, not runnable: a loop body of only a comment would raise IndentationError). Fira Mono has no cup glyph: PowerPoint falls back to an emoji font; check the cup renders on the presenting laptop</a:t>
            </a:r>
          </a:p>
          <a:p/>
          <a:p>
            <a:r>
              <a:t>TRACE:</a:t>
            </a:r>
          </a:p>
          <a:p>
            <a:r>
              <a:t>• Code line: the talk abstract, with '...' as the loop body; shown, not run</a:t>
            </a:r>
          </a:p>
          <a:p>
            <a:r>
              <a:t>• results/pipeline.json: points_in</a:t>
            </a:r>
          </a:p>
          <a:p>
            <a:r>
              <a:t>• results/memory.json: tile_1km.points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For years, serious 3D work meant C++, like the greyed-out code on the left. Both programs on this slide are real: I compiled the PCL one and ran both on the same file from today's case, and the output under each is what they printed. Twelve lines of C++ against three of Python for the same job: load the cloud and keep one average point per half-metre voxel. The C++ is still there underneath; you just stopped writing it, and if that feels like flying, you're not the first.</a:t>
            </a:r>
          </a:p>
          <a:p/>
          <a:p>
            <a:r>
              <a:t>TIME: 35 s, ends at 0:55</a:t>
            </a:r>
          </a:p>
          <a:p/>
          <a:p>
            <a:r>
              <a:t>LIKELY QUESTION: Why do the two counts differ?</a:t>
            </a:r>
          </a:p>
          <a:p/>
          <a:p>
            <a:r>
              <a:t>ANSWER: Both average the points in each 0.5 m voxel, but the grids sit in different places: PCL anchors its voxels at multiples of the leaf size, Open3D at the minimum corner minus half a voxel. Redoing both rules in NumPy on the same file gives exactly the two counts on the slide. Neither is wrong; it's a reminder that 'voxel downsampling' is a family of algorithms.</a:t>
            </a:r>
          </a:p>
          <a:p/>
          <a:p>
            <a:r>
              <a:t>CHECK BEFORE THE TALK:</a:t>
            </a:r>
          </a:p>
          <a:p>
            <a:r>
              <a:t>• To rerun the C++ side: PCL_PREFIX=&lt;micromamba env&gt; uv run python snippets/run_all.py (docs/HOW_TO_UPDATE.md step 4); without PCL_PREFIX the .cpp is listed as NOT RUN and the left output box would still show the last recorded line</a:t>
            </a:r>
          </a:p>
          <a:p/>
          <a:p>
            <a:r>
              <a:t>TRACE:</a:t>
            </a:r>
          </a:p>
          <a:p>
            <a:r>
              <a:t>• snippets/s02_pcl.cpp: compiled and run on 2026-10-12, PCL 1.15.1 and g++ 15.3.0 from conda-forge in a user-space micromamba env; build: g++ -std=c++17 -O2 -Wall -Wextra s02_pcl.cpp $(pkg-config --cflags --libs pcl_io pcl_filters), no warnings</a:t>
            </a:r>
          </a:p>
          <a:p>
            <a:r>
              <a:t>• snippets/s02_python.py; both read the same crop.pcd, written by snippets/_setup.py write_crop_pcd (local coordinates, float32 in the file)</a:t>
            </a:r>
          </a:p>
          <a:p>
            <a:r>
              <a:t>• results/snippets.json: s02_pcl.cpp.output_line, s02_python.py.output_line (the two output boxes), compiler, pcl_version, build_cmd</a:t>
            </a:r>
          </a:p>
          <a:p>
            <a:r>
              <a:t>• Grid anchoring: PCL filters/impl/voxel_grid.hpp floor(p * inverse_leaf); Open3D PointCloud::VoxelDownSample, GetMinBound() - voxel_size / 2; both re-implemented in NumPy on crop.pcd give the same counts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Before the hall: the Python 3D ecosystem, one row per layer, and only what this talk uses or names. The five with a blue outline are today's pipeline: laspy, NumPy, SciPy, Open3D and PyVista. The rest come up later: PDAL and pyproj for AHN files and Dutch coordinates, Numba and Dask when NumPy or RAM runs out, trimesh for meshes, and scikit-learn and PyTorch when rules stop being enough. The repo lists every library I checked, with status and licence.</a:t>
            </a:r>
          </a:p>
          <a:p/>
          <a:p>
            <a:r>
              <a:t>TIME: 30 s, ends at 1:25</a:t>
            </a:r>
          </a:p>
          <a:p/>
          <a:p>
            <a:r>
              <a:t>LIKELY QUESTION: Why is my favourite library not on the wall?</a:t>
            </a:r>
          </a:p>
          <a:p/>
          <a:p>
            <a:r>
              <a:t>ANSWER: The wall is the selection this talk uses or mentions, from the 119 libraries and applications I checked. The full list is docs/ECOSYSTEM.md in the repo, with status, licence and release date per library. Open an issue or a pull request if one is missing.</a:t>
            </a:r>
          </a:p>
          <a:p/>
          <a:p>
            <a:r>
              <a:t>IF SKIPPED: Not on the skip list (30 s); if very late at the start, say 'photograph this' and click on to slide 4.</a:t>
            </a:r>
          </a:p>
          <a:p/>
          <a:p>
            <a:r>
              <a:t>CHECK BEFORE THE TALK:</a:t>
            </a:r>
          </a:p>
          <a:p>
            <a:r>
              <a:t>• Logo use: logos are shown to identify projects; brand policies per file in deck/assets/logos/SOURCES.md and docs/OPEN_ITEMS.md. No company logos are on the wall. If one is not acceptable, remove its id from the wall row in content.yaml; the row closes up</a:t>
            </a:r>
          </a:p>
          <a:p>
            <a:r>
              <a:t>• Logos are in their own colours (an exception to the palette, docs/DESIGN.md); the tiles are white or light grey so each logo stays legible</a:t>
            </a:r>
          </a:p>
          <a:p/>
          <a:p>
            <a:r>
              <a:t>TRACE:</a:t>
            </a:r>
          </a:p>
          <a:p>
            <a:r>
              <a:t>• deck/ecosystem/ecosystem.yaml (merged by deck/ecosystem/merge.py from part1 to part3; each entry's evidence list: PyPI JSON and GitHub API, 2026-10-11)</a:t>
            </a:r>
          </a:p>
          <a:p>
            <a:r>
              <a:t>• results/ecosystem.json: n_entries</a:t>
            </a:r>
          </a:p>
          <a:p>
            <a:r>
              <a:t>• docs/ECOSYSTEM.md (same data); logo sources and brand-policy notes: deck/assets/logos/SOURCES.md</a:t>
            </a:r>
          </a:p>
          <a:p>
            <a:r>
              <a:t>• Layers as the ecosystem map in Matthew Turk's SciPy 2016 talk on yt: research: reports/videos.md V4</a:t>
            </a:r>
          </a:p>
          <a:p/>
          <a:p>
            <a:r>
              <a:t>RELEVANCE:</a:t>
            </a:r>
          </a:p>
          <a:p>
            <a:r>
              <a:t>• Used in the pipeline (blue outline): laspy (load), NumPy (every step), SciPy (KDTree: height above ground, distances, paint-back), Open3D (voxels, RANSAC, DBSCAN), PyVista (renders)</a:t>
            </a:r>
          </a:p>
          <a:p>
            <a:r>
              <a:t>• VTK: PyVista's engine, drawn under it</a:t>
            </a:r>
          </a:p>
          <a:p>
            <a:r>
              <a:t>• PDAL: the standard LiDAR pipeline tool for AHN and COPC files (backup B2 territory); pyproj: RD New (EPSG:28992) to and from WGS84, slide 4; laspy's header.parse_crs() needs it</a:t>
            </a:r>
          </a:p>
          <a:p>
            <a:r>
              <a:t>• Numba (B1, the escape hatch for a kernel that has no batched call) and Dask (arrays bigger than RAM, slides 24 to 26)</a:t>
            </a:r>
          </a:p>
          <a:p>
            <a:r>
              <a:t>• trimesh and PyTorch3D: named on slide 7 as not in this pipeline; scikit-learn: the Random Forest of backup B5; PyTorch: backup B3</a:t>
            </a:r>
          </a:p>
          <a:p>
            <a:r>
              <a:t>• Dropped on 2026-10-12 as not relevant to this talk: Potree, CloudCompare and QGIS (not Python libraries), GDAL (rasters), OpenCV, COLMAP and nerfstudio (images and photogrammetry), Matplotlib (not used), PyG and Pointcept (deep learning on point clouds, not covered)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This is our case for the whole talk: a 200 by 200 metre square of Utrecht around the Jaarbeurs hall, the big flat roof under the arrow. The data set: 722 961 points, about 18 per square metre, from AHN5, the Dutch national elevation dataset, flown at night in April 2023 while the trees had no leaves. It's one 4.3 MB LAZ file in RD New coordinates with NAP heights, so everything is in metres, and it's CC BY 4.0, so you can use it too. AHN arrives already classified; I hid its labels, and the goal is to rebuild four classes, ground, buildings, vegetation and street furniture, and score ground and buildings against AHN's own. First: what is this thing, as data?</a:t>
            </a:r>
          </a:p>
          <a:p/>
          <a:p>
            <a:r>
              <a:t>TIME: 95 s, ends at 3:00</a:t>
            </a:r>
          </a:p>
          <a:p/>
          <a:p>
            <a:r>
              <a:t>LIKELY QUESTION: Why this square and not a whole AHN file?</a:t>
            </a:r>
          </a:p>
          <a:p/>
          <a:p>
            <a:r>
              <a:t>ANSWER: It's the venue, and it's small enough to run every step live in under a second, which is rule three, make it small first. The whole 1 km file has 21 million points; slides 24 to 26 show what happens to memory when you load it, and how to stream it instead.</a:t>
            </a:r>
          </a:p>
          <a:p/>
          <a:p>
            <a:r>
              <a:t>CHECK BEFORE THE TALK:</a:t>
            </a:r>
          </a:p>
          <a:p>
            <a:r>
              <a:t>• Confirm which Jaarbeurs building the talk room is in. If it is this one, say 'the building we're sitting in'; the name of the building (Beatrixgebouw?) is UNVERIFIED, so the talk says only 'the Jaarbeurs hall at Jaarbeursplein 6'</a:t>
            </a:r>
          </a:p>
          <a:p/>
          <a:p>
            <a:r>
              <a:t>TRACE:</a:t>
            </a:r>
          </a:p>
          <a:p>
            <a:r>
              <a:t>• renders/f1_load.png (left frame), renders/f6_final.png (right frame)</a:t>
            </a:r>
          </a:p>
          <a:p>
            <a:r>
              <a:t>• renders/render_spec.json</a:t>
            </a:r>
          </a:p>
          <a:p>
            <a:r>
              <a:t>• renders/labels.json: f6_final (label chips), f1_load.jaarbeurs_edge (edge arrow position)</a:t>
            </a:r>
          </a:p>
          <a:p>
            <a:r>
              <a:t>• results/pipeline.json: ground, buildings, crop.bbox_rd</a:t>
            </a:r>
          </a:p>
          <a:p>
            <a:r>
              <a:t>• data/utrecht_jaarbeurs_200m.laz (crop box: data/fetch_ahn5.py CROP_BBOX_RD, RD 135715, 455475 to 135915, 455675)</a:t>
            </a:r>
          </a:p>
          <a:p>
            <a:r>
              <a:t>• The hall: BAG pand 0344100000077882 (Jaarbeursplein 6, built 1970, use: bijeenkomstfunctie), footprint bbox RD 135747.7, 455512.5 to 135905.8, 455654.0, from the PDOK BAG WFS and locatieserver, checked 2026-10-11 (pipeline/render.py HALL_BBOX_RD)</a:t>
            </a:r>
          </a:p>
          <a:p>
            <a:r>
              <a:t>• Arrow on the roof: renders/labels.json f1_load.jaarbeurs_hall; evidence in renders/render_spec.json labels.detail.f1_load.jaarbeurs_hall_note</a:t>
            </a:r>
          </a:p>
          <a:p>
            <a:r>
              <a:t>• Class 1 definition ('overig'): AHN4 acquisition spec, research: reports/dataset.md</a:t>
            </a:r>
          </a:p>
          <a:p>
            <a:r>
              <a:t>• Venue: Jaarbeurs Utrecht is the PyCon NL 2026 venue, confirmed on pycon-nl.org (research: reports/dataset.md); which building the talk room is in is UNVERIFIED</a:t>
            </a:r>
          </a:p>
          <a:p>
            <a:r>
              <a:t>• Data set table: data/README.md (crop box, classes, flight time, file size), results/pipeline.json crop (points, classes); density computed from points and area</a:t>
            </a:r>
          </a:p>
          <a:p/>
          <a:p>
            <a:r>
              <a:t>DATA SET:</a:t>
            </a:r>
          </a:p>
          <a:p>
            <a:r>
              <a:t>• Area: RD New box x 135715 to 135915, y 455475 to 455675 (200 m by 200 m, 4 ha), cut from the 1 km AHN5 file 135000_455000 (21 013 926 points, 130 MB COPC LAZ)</a:t>
            </a:r>
          </a:p>
          <a:p>
            <a:r>
              <a:t>• Points: 722 961; density 722 961 / 40 000 m2 = 18.1 points per m2 (all returns)</a:t>
            </a:r>
          </a:p>
          <a:p>
            <a:r>
              <a:t>• Flown: one strip, GPS time about 23:51 UTC on 5 April 2023 (01:51 CEST on 6 April), leaf-off as AHN's spec asks</a:t>
            </a:r>
          </a:p>
          <a:p>
            <a:r>
              <a:t>• File: LAS 1.4, point format 6 (x, y, z, intensity, return number, number of returns, classification, scan angle, GPS time); no colour; 4 336 320 bytes</a:t>
            </a:r>
          </a:p>
          <a:p>
            <a:r>
              <a:t>• Coordinates: RD New (EPSG:28992), heights in m NAP; z from about -0.8 m to 101.6 m; the WKT record is in the file</a:t>
            </a:r>
          </a:p>
          <a:p>
            <a:r>
              <a:t>• AHN classes in the crop: 1 other 109 363, 2 ground 262 712, 6 building 338 943, 26 civil structure 11 943; hidden from the pipeline, used only to score</a:t>
            </a:r>
          </a:p>
          <a:p>
            <a:r>
              <a:t>• Licence: CC BY 4.0, Het Waterschapshuis; attribution on every slide that shows the data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Zoom in and the magic is gone: it's just points. In Python, a point cloud is an N by 3 array of x, y and z, here 722 961 rows, plus one column per attribute: intensity, return number, number of returns and a class code. There's no colour column, by the way: this AHN file has no RGB. If you know NumPy, you already know the data structure. Before the libraries, four rules of thumb I wish I'd had on day one.</a:t>
            </a:r>
          </a:p>
          <a:p/>
          <a:p>
            <a:r>
              <a:t>TIME: 80 s, ends at 4:20</a:t>
            </a:r>
          </a:p>
          <a:p/>
          <a:p>
            <a:r>
              <a:t>LIKELY QUESTION: What do the class codes in las.classification mean?</a:t>
            </a:r>
          </a:p>
          <a:p/>
          <a:p>
            <a:r>
              <a:t>ANSWER: They are the class codes in AHN's spec, mostly ASPRS LAS codes: 1 is overig, other (vegetation, street furniture, cars, people), 2 ground, 6 building, 9 water, and 26 civil structures, a code of AHN's own. This crop has 109 363 class 1, 262 712 class 2 and 338 943 class 6 points.</a:t>
            </a:r>
          </a:p>
          <a:p/>
          <a:p>
            <a:r>
              <a:t>TRACE:</a:t>
            </a:r>
          </a:p>
          <a:p>
            <a:r>
              <a:t>• snippets/s04_repl.py</a:t>
            </a:r>
          </a:p>
          <a:p>
            <a:r>
              <a:t>• results/snippets.json: s04_repl.py.ok</a:t>
            </a:r>
          </a:p>
          <a:p>
            <a:r>
              <a:t>• renders/closeup.png</a:t>
            </a:r>
          </a:p>
          <a:p>
            <a:r>
              <a:t>• renders/render_spec.json</a:t>
            </a:r>
          </a:p>
          <a:p>
            <a:r>
              <a:t>• results/pipeline.json: points_in, crop.ahn_classes</a:t>
            </a:r>
          </a:p>
          <a:p>
            <a:r>
              <a:t>• Point format 6, no RGB: crop header (research: review/honesty/inspect_crop.out, notes/verify_facts.json)</a:t>
            </a:r>
          </a:p>
          <a:p>
            <a:r>
              <a:t>• Class codes: AHN4 acquisition spec (research: reports/dataset.md); this crop has only classes 1, 2 and 6 (results/pipeline.json crop.ahn_classes). Code 26 is AHN's own: LAS 1.4 reserves codes 19 to 63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Four rules of thumb for 3D data; they're the mental model for the rest of the talk, and I'll bring them back at the end with numbers. One: think in arrays, not points: a point cloud is a table, so work on whole columns. Two: look before you compute: render it, check units, coordinates and classes, because most 3D bugs are silent. Three: make it small first: crop, tile and downsample until it's fast to try things, then scale up. Four: let compiled code do the loops: one call per array or per tile, never one per point. Now, which library does what?</a:t>
            </a:r>
          </a:p>
          <a:p/>
          <a:p>
            <a:r>
              <a:t>TIME: 45 s, ends at 5:05</a:t>
            </a:r>
          </a:p>
          <a:p/>
          <a:p>
            <a:r>
              <a:t>LIKELY QUESTION: Aren't these just general data science rules?</a:t>
            </a:r>
          </a:p>
          <a:p/>
          <a:p>
            <a:r>
              <a:t>ANSWER: Mostly, yes, and that's the point: 3D data is less exotic than it looks. What changes is the scale and the silence: a wrong coordinate system or float32 rounding doesn't raise an error, it just moves your points by centimetres, and a loop over points is a loop over millions.</a:t>
            </a:r>
          </a:p>
          <a:p/>
          <a:p>
            <a:r>
              <a:t>TRACE:</a:t>
            </a:r>
          </a:p>
          <a:p>
            <a:r>
              <a:t>• content.yaml slide 6 rules; the same four rules close the talk on slide 28 with their evidence</a:t>
            </a:r>
          </a:p>
          <a:p/>
          <a:p>
            <a:r>
              <a:t>WHERE IN THE TALK:</a:t>
            </a:r>
          </a:p>
          <a:p>
            <a:r>
              <a:t>• 1 Think in arrays: slides 5, 8 and 9 (N by 3 arrays, copy or view at every hand-off)</a:t>
            </a:r>
          </a:p>
          <a:p>
            <a:r>
              <a:t>• 2 Look before you compute: slides 4, 18 and 27 (AHN classes, street furniture against the BGT register, the gotchas)</a:t>
            </a:r>
          </a:p>
          <a:p>
            <a:r>
              <a:t>• 3 Make it small first: slides 12, 13 and 24 to 26 (voxels, tiles, streaming chunks)</a:t>
            </a:r>
          </a:p>
          <a:p>
            <a:r>
              <a:t>• 4 Let compiled code loop: slides 19 to 23 (the quiz, the toll, the profiler, free threads)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the landscape, mapped onto the six steps we're about to run, with NumPy carrying the arrays from step to step. laspy reads and writes LAS and LAZ, in chunks if you ask; Open3D does the heavy work: voxel downsampling, plane fitting and DBSCAN. SciPy's KDTree answers neighbour questions for all points in one call, and PyVista renders every image in this talk. trimesh and PyTorch3D sit apart: useful, just not in this pipeline. So which combinations are actually worth the trouble?</a:t>
            </a:r>
          </a:p>
          <a:p/>
          <a:p>
            <a:r>
              <a:t>TIME: 55 s, ends at 6:00</a:t>
            </a:r>
          </a:p>
          <a:p/>
          <a:p>
            <a:r>
              <a:t>LIKELY QUESTION: Why is PyTorch3D on the map if you don't use it?</a:t>
            </a:r>
          </a:p>
          <a:p/>
          <a:p>
            <a:r>
              <a:t>ANSWER: Because people ask about it, and it does have a job: differentiable 3D operations on GPU tensors for training. It just isn't a fit for a CPU pipeline on Python 3.13; the install status is on backup slide B3.</a:t>
            </a:r>
          </a:p>
          <a:p/>
          <a:p>
            <a:r>
              <a:t>TRACE:</a:t>
            </a:r>
          </a:p>
          <a:p>
            <a:r>
              <a:t>• research: reports/libraries.md section 1 (PyPI JSON fetched 2026-10-01, libraries/pypi/*.json)</a:t>
            </a:r>
          </a:p>
          <a:p>
            <a:r>
              <a:t>• pipeline/run.py, pipeline/steps.py (imports: no trimesh; per-cluster features use NumPy, pipeline/steps.py cluster_features)</a:t>
            </a:r>
          </a:p>
          <a:p>
            <a:r>
              <a:t>• results/pipeline.json: versions</a:t>
            </a:r>
          </a:p>
          <a:p>
            <a:r>
              <a:t>• trimesh convex_hull and bounding_box_oriented checked on one pole: research: reports/libraries.md section 2 (libraries/06_trimesh_interop.py)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combination that works, with what each library hands to the next. laspy reads the LAZ file: these are single points as they come out of it. NumPy holds them as one N by 3 float64 array, here the first rows in local metres. Open3D does the heavy lifting on that array, voxels, planes and clusters, and PyVista draws the result off-screen. Three things didn't earn a place: ask Open3D to read a .laz file and it politely hands you an empty point cloud, its GPU build gave DBSCAN no real speed-up, and PyTorch3D has no documented install for Python 3.13. So how do these libraries hand data to each other?</a:t>
            </a:r>
          </a:p>
          <a:p/>
          <a:p>
            <a:r>
              <a:t>TIME: 80 s, ends at 7:20</a:t>
            </a:r>
          </a:p>
          <a:p/>
          <a:p>
            <a:r>
              <a:t>LIKELY QUESTION: So is Open3D's GPU support useless?</a:t>
            </a:r>
          </a:p>
          <a:p/>
          <a:p>
            <a:r>
              <a:t>ANSWER: No. In single test runs on an RTX 3060, voxel downsampling on CUDA was faster than on the CPU, already on the first call and much more so on the second. Plane fitting and DBSCAN were barely faster, and their tensor docstrings say why: they wrap a CPU implementation and copy the data. Details on backup slide B3.</a:t>
            </a:r>
          </a:p>
          <a:p/>
          <a:p>
            <a:r>
              <a:t>TRACE:</a:t>
            </a:r>
          </a:p>
          <a:p>
            <a:r>
              <a:t>• research: reports/libraries.md (L/08_extra_checks.py: .laz read returns an empty cloud; L/03_open3d_tensor.py: CUDA vs CPU, single runs; PyTorch3D install status)</a:t>
            </a:r>
          </a:p>
          <a:p>
            <a:r>
              <a:t>• research: review/honesty/run_s02.out (0 points and a warning on the real crop)</a:t>
            </a:r>
          </a:p>
          <a:p>
            <a:r>
              <a:t>• research: notes/verify_facts.json (open3d_read_laz_points = 0 on Open3D 0.20.0)</a:t>
            </a:r>
          </a:p>
          <a:p/>
          <a:p>
            <a:r>
              <a:t>IMAGES:</a:t>
            </a:r>
          </a:p>
          <a:p>
            <a:r>
              <a:t>• laspy: renders/closeup.png, the slide 5 close-up: single points as laspy reads them</a:t>
            </a:r>
          </a:p>
          <a:p>
            <a:r>
              <a:t>• NumPy: the first three rows of xyz = las.xyz - las.header.mins on the crop, np.set_printoptions(precision=1); shape (722961, 3), float64 (checked 2026-10-12)</a:t>
            </a:r>
          </a:p>
          <a:p>
            <a:r>
              <a:t>• Open3D: renders/f4_clusters.png (slide 14), the clusters of DBSCAN on the voxels</a:t>
            </a:r>
          </a:p>
          <a:p>
            <a:r>
              <a:t>• PyVista: renders/f6_final.png (slides 16 and 17), the off-screen render of the labels</a:t>
            </a:r>
          </a:p>
          <a:p/>
          <a:p>
            <a:r>
              <a:t>WORTH IT:</a:t>
            </a:r>
          </a:p>
          <a:p>
            <a:r>
              <a:t>• SciPy KDTree for neighbours: height above ground, distances between clusters, paint-back; one batched query each</a:t>
            </a:r>
          </a:p>
          <a:p>
            <a:r>
              <a:t>• NumPy for per-cluster features: np.bincount over cluster ids, no loop over points</a:t>
            </a:r>
          </a:p>
          <a:p/>
          <a:p>
            <a:r>
              <a:t>NOT IN THIS PIPELINE:</a:t>
            </a:r>
          </a:p>
          <a:p>
            <a:r>
              <a:t>• Open3D reading LAZ: o3d.io.read_point_cloud('crop.laz') returns 0 points with only a warning; laspy loads</a:t>
            </a:r>
          </a:p>
          <a:p>
            <a:r>
              <a:t>• Open3D GPU for DBSCAN: barely faster than CPU in single test runs (backup B3)</a:t>
            </a:r>
          </a:p>
          <a:p>
            <a:r>
              <a:t>• PyTorch3D on Python 3.13: no documented install (backup B3)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chain works because Python passes whole arrays, not points, and every hand-off is either a copy or a view. The legend is the one idea: a copy is new memory, two names on two blocks, so it costs time and RAM, and changing one leaves the other alone. A view is two names on one block: free, but a write through one shows up in the other. las.xyz builds a brand-new array every time you touch it, so name it once. Vector3dVector always copies, and given float32 it takes a slow path, 39× slower. On the way back, np.asarray(pcd.points) is a writeable view, and PyVista's PolyData shares that same memory. Why it matters: every xyz copy is 24 bytes per point, half a gigabyte for one 1 km AHN file. Now, the six steps.</a:t>
            </a:r>
          </a:p>
          <a:p/>
          <a:p>
            <a:r>
              <a:t>TIME: 70 s, ends at 8:30</a:t>
            </a:r>
          </a:p>
          <a:p/>
          <a:p>
            <a:r>
              <a:t>LIKELY QUESTION: Why does Vector3dVector copy at all?</a:t>
            </a:r>
          </a:p>
          <a:p/>
          <a:p>
            <a:r>
              <a:t>ANSWER: Open3D keeps its points in its own C++ vector, which is what the name says, so it has to own that memory; np.asarray on the way back is a view into it, which is why writes reach the cloud. The fast way in is a C-ordered float64 array: 1.7 ms, against 8.2 ms for laspy's column-ordered one and 317 ms for float32.</a:t>
            </a:r>
          </a:p>
          <a:p/>
          <a:p>
            <a:r>
              <a:t>IF SKIPPED: Skip-first number 5 (decide at the end of slide 8). If skipped, say on slide 10: "between the libraries Python passes whole arrays; Vector3dVector copies, np.asarray gives you a view".</a:t>
            </a:r>
          </a:p>
          <a:p/>
          <a:p>
            <a:r>
              <a:t>TRACE:</a:t>
            </a:r>
          </a:p>
          <a:p>
            <a:r>
              <a:t>• bench/python_facts.py (copy or view: write to one side, read the other, and np.shares_memory; timings 1 warm-up and 7 runs, median and IQR, idle check)</a:t>
            </a:r>
          </a:p>
          <a:p>
            <a:r>
              <a:t>• results/python_facts.json: las_xyz.fresh_copy_each_access, las_xyz.f_contiguous, vector3dvector.copies, asarray_points.view, asarray_points.writeable, polydata.shares_memory_open3d_view, polydata.shares_memory_c_float64, timings.*, factor_v3d_float32_vs_float64_f, conditions</a:t>
            </a:r>
          </a:p>
          <a:p>
            <a:r>
              <a:t>• snippets/s06b_handoffs.py (the four calls on the crop, with asserts); results/snippets.json: s06b_handoffs.py.ok</a:t>
            </a:r>
          </a:p>
          <a:p>
            <a:r>
              <a:t>• pv.PolyData of laspy's F-ordered array does not share memory (results/python_facts.json polydata.shares_memory_f_float64); the slide's pts is Open3D's C-ordered view</a:t>
            </a:r>
          </a:p>
          <a:p>
            <a:r>
              <a:t>• Candidate gotchas 'las.xyz' and 'Vector3dVector(float32)' on slide 27 are measured here</a:t>
            </a:r>
          </a:p>
          <a:p/>
          <a:p>
            <a:r>
              <a:t>CONDITIONS IN FULL (the slide shows the short line): Conditions: Ryzen 7 5700X, 8 cores / 16 threads, 31.3 GiB RAM; Linux (Omarchy, kernel 7.2.5-3-omarchy); Python 3.13.15, NumPy 2.5.3, SciPy 1.18.1, Open3D 0.20.0, laspy 2.7.0, PyVista 0.49.0; N = 722 961 points, 7 runs after 1 warm-up, median and IQR of wall time over the timed runs; governor performance; boost on; measured 2026-10-11 20:06 UTC; data: the AHN5 crop of slide 4 (ahn.nl, Het Waterschapshuis, CC BY 4.0). Copy or view: checked by writing to one side and reading the other, and with np.shares_memory. float32: Vector3dVector of a float32 copy, 317 ms, against the float64 xyz of slide 11, 8.2 ms.</a:t>
            </a:r>
          </a:p>
          <a:p/>
          <a:p>
            <a:r>
              <a:t>WHY IT MATTERS:</a:t>
            </a:r>
          </a:p>
          <a:p>
            <a:r>
              <a:t>• Memory: one float64 xyz copy is 24 B per point (results/memory.json); 21 013 926 points × 24 B = 0.47 GB per copy of a 1 km AHN file, and the load-everything pipeline holds several (slide 24)</a:t>
            </a:r>
          </a:p>
          <a:p>
            <a:r>
              <a:t>• Time: copying the crop into Open3D takes 1.7 ms from a C-ordered float64 array, 8.2 ms from laspy's column-ordered one and 317 ms from float32; np.asarray(pcd.points) takes 15 µs, because it copies nothing</a:t>
            </a:r>
          </a:p>
          <a:p>
            <a:r>
              <a:t>• Correctness: a write through a view changes the point cloud behind it (np.asarray(pcd.points) -= origin moves Open3D's points); a write to a copy is silently lost (las.xyz[:] = 0 changes nothing in the file data)</a:t>
            </a:r>
          </a:p>
          <a:p>
            <a:r>
              <a:t>• Rule of thumb: name an array once, pass it on, and copy only on purpose (astype, np.ascontiguousarray)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Six steps turn this point cloud into labels: load, voxel downsampling, ground removal, clustering, labelling and visualisation. It's the same area and the same camera in every frame, so you can watch it change from slide to slide. Let's start with step one.</a:t>
            </a:r>
          </a:p>
          <a:p/>
          <a:p>
            <a:r>
              <a:t>TIME: 25 s, ends at 8:55</a:t>
            </a:r>
          </a:p>
          <a:p/>
          <a:p>
            <a:r>
              <a:t>LIKELY QUESTION: Why remove the ground before clustering?</a:t>
            </a:r>
          </a:p>
          <a:p/>
          <a:p>
            <a:r>
              <a:t>ANSWER: Because DBSCAN groups whatever touches, and the ground touches everything: left in, it would link the whole scene together through the road. That is reasoning; I didn't benchmark the other order.</a:t>
            </a:r>
          </a:p>
          <a:p/>
          <a:p>
            <a:r>
              <a:t>TRACE:</a:t>
            </a:r>
          </a:p>
          <a:p>
            <a:r>
              <a:t>• renders/f1_load.png, f2_voxel.png, f3_ground.png, f4_clusters.png, f5_labels.png, f6_final.png</a:t>
            </a:r>
          </a:p>
          <a:p>
            <a:r>
              <a:t>• renders/render_spec.json (one camera for all frames)</a:t>
            </a:r>
          </a:p>
          <a:p/>
          <a:p>
            <a:r>
              <a:t>WHY SEVERAL TOOLS IN ONE STEP:</a:t>
            </a:r>
          </a:p>
          <a:p>
            <a:r>
              <a:t>• No library has a fast, batched call for every part of a step, so each part goes to the library that has one; because they all take and give NumPy arrays (slide 9), mixing them costs at most one copy</a:t>
            </a:r>
          </a:p>
          <a:p>
            <a:r>
              <a:t>• Clustering, Open3D and SciPy: DBSCAN is Open3D's cluster_dbscan, but first SciPy's KDTree answers 'how high is each voxel above the ground?' (height_above, one query on all cores), so only voxels clearly above the ground go into DBSCAN; left in, the ground would link the whole scene into one cluster</a:t>
            </a:r>
          </a:p>
          <a:p>
            <a:r>
              <a:t>• Labelling, NumPy and SciPy: NumPy computes every cluster's features at once with np.bincount over the cluster ids (top height, footprint, share of multiple returns); SciPy's KDTree gives each cluster its distance to the nearest building and tree for rules 3 and 4 (facade, free-standing)</a:t>
            </a:r>
          </a:p>
          <a:p>
            <a:r>
              <a:t>• Visualisation, SciPy and PyVista: SciPy's KDTree paints the labels from the 232 180 voxels back onto all 722 961 points in one query; PyVista then renders them off-screen</a:t>
            </a:r>
          </a:p>
          <a:p>
            <a:r>
              <a:t>• Load and ground removal use one library each for the work (laspy, Open3D), with NumPy for the arithmetic around the calls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one: laspy reads the LAZ file and gives you plain NumPy arrays. The first thing I do is subtract a local origin, the minimum corner from the file header. Dutch RD coordinates run to hundreds of thousands of metres, and at that size float32 can only step 1.6 cm in x and 3.1 cm in y; Open3D's PointCloud.from_legacy, for one, converts to float32 by default. After that it's one copy into Open3D as float64, and we're ready to shrink it.</a:t>
            </a:r>
          </a:p>
          <a:p/>
          <a:p>
            <a:r>
              <a:t>TIME: 65 s, ends at 10:00</a:t>
            </a:r>
          </a:p>
          <a:p/>
          <a:p>
            <a:r>
              <a:t>LIKELY QUESTION: Why not keep RD coordinates and stay in float64 everywhere?</a:t>
            </a:r>
          </a:p>
          <a:p/>
          <a:p>
            <a:r>
              <a:t>ANSWER: You can, as long as nothing on the way casts to float32, and some tools do that quietly. Subtracting header.mins once makes it harmless, and fitted plane coefficients become readable numbers too.</a:t>
            </a:r>
          </a:p>
          <a:p/>
          <a:p>
            <a:r>
              <a:t>TRACE:</a:t>
            </a:r>
          </a:p>
          <a:p>
            <a:r>
              <a:t>• snippets/s08_load.py</a:t>
            </a:r>
          </a:p>
          <a:p>
            <a:r>
              <a:t>• results/snippets.json: s08_load.py.ok</a:t>
            </a:r>
          </a:p>
          <a:p>
            <a:r>
              <a:t>• renders/f1_load.png</a:t>
            </a:r>
          </a:p>
          <a:p>
            <a:r>
              <a:t>• renders/render_spec.json (local origin = header.mins)</a:t>
            </a:r>
          </a:p>
          <a:p>
            <a:r>
              <a:t>• data/utrecht_jaarbeurs_200m.laz</a:t>
            </a:r>
          </a:p>
          <a:p>
            <a:r>
              <a:t>• float32 steps: np.spacing(np.float32(v)) at the crop's RD origin, deterministic; run it to check (results/research_facts.json float32_step_m, written by docs/research/research_facts.py)</a:t>
            </a:r>
          </a:p>
          <a:p>
            <a:r>
              <a:t>• from_legacy defaults to float32 (dtype=Float32 in its signature; a tensor point cloud built from a float64 tensor stays float64): research: reports/libraries.md (03_open3d_tensor.py)</a:t>
            </a:r>
          </a:p>
          <a:p/>
          <a:p>
            <a:r>
              <a:t>LINE BY LINE:</a:t>
            </a:r>
          </a:p>
          <a:p>
            <a:r>
              <a:t>• import laspy / import open3d as o3d: the reader for LAS and LAZ, and the processing library</a:t>
            </a:r>
          </a:p>
          <a:p>
            <a:r>
              <a:t>• las = laspy.read("crop.laz"): decompresses the whole file (lazrs backend) into a LasData object; every dimension becomes a NumPy array</a:t>
            </a:r>
          </a:p>
          <a:p>
            <a:r>
              <a:t>• xyz = las.xyz - las.header.mins (key line): an N by 3 float64 array in metres, shifted so the minimum corner of the file is the origin; las.xyz is already a new array (slide 9), the subtraction makes one more</a:t>
            </a:r>
          </a:p>
          <a:p>
            <a:r>
              <a:t>• v = o3d.utility.Vector3dVector(xyz): copies the array into Open3D's own C++ vector of 3D points (float64, fastest from a C-ordered array)</a:t>
            </a:r>
          </a:p>
          <a:p>
            <a:r>
              <a:t>• pcd = o3d.geometry.PointCloud(v): the point cloud object every later Open3D call works on</a:t>
            </a:r>
          </a:p>
          <a:p/>
          <a:p>
            <a:r>
              <a:t>SKETCH: The first point's x in RD is 135914.6 m; float32 can only step 1.6 cm at that size. After subtracting header.mins it is 199.6 m, where float32 steps 15 micrometres (np.spacing). That is why the origin comes off first: some tools cast to float32 without telling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two: lay a grid of 0.5 m voxels over the crop and replace all the points inside each voxel with their average. That leaves 32.1 % as many points, and every step after this gets cheaper. One catch: the average is a new point, not one of yours, and LAS attributes such as returns and class are dropped unless you carry them along. I store the multiple-return flag as a colour, so each voxel keeps its share of multiple returns for step five. Next, the ground.</a:t>
            </a:r>
          </a:p>
          <a:p/>
          <a:p>
            <a:r>
              <a:t>TIME: 55 s, ends at 10:55</a:t>
            </a:r>
          </a:p>
          <a:p/>
          <a:p>
            <a:r>
              <a:t>LIKELY QUESTION: Why average? Why not keep one real point per voxel?</a:t>
            </a:r>
          </a:p>
          <a:p/>
          <a:p>
            <a:r>
              <a:t>ANSWER: You can, and on slide 25 I do exactly that, because it streams. Open3D's voxel_down_sample returns the centroid: I checked that it equals the per-voxel mean, on a grid anchored half a voxel below the minimum corner.</a:t>
            </a:r>
          </a:p>
          <a:p/>
          <a:p>
            <a:r>
              <a:t>TRACE:</a:t>
            </a:r>
          </a:p>
          <a:p>
            <a:r>
              <a:t>• snippets/s09_voxel.py</a:t>
            </a:r>
          </a:p>
          <a:p>
            <a:r>
              <a:t>• results/snippets.json: s09_voxel.py.ok</a:t>
            </a:r>
          </a:p>
          <a:p>
            <a:r>
              <a:t>• results/pipeline.json: points_in, points_after_voxel, kept_share, params.voxel</a:t>
            </a:r>
          </a:p>
          <a:p>
            <a:r>
              <a:t>• renders/f2_voxel.png</a:t>
            </a:r>
          </a:p>
          <a:p>
            <a:r>
              <a:t>• Centroid and grid anchor: research: reports/critic.md section 2, reports/review/honesty.md row 9, notes/verify_facts.json</a:t>
            </a:r>
          </a:p>
          <a:p>
            <a:r>
              <a:t>• Attributes dropped: research: reports/review/honesty.md rows 9 and 12</a:t>
            </a:r>
          </a:p>
          <a:p>
            <a:r>
              <a:t>• results/pipeline.json: params.rules.features.multi</a:t>
            </a:r>
          </a:p>
          <a:p>
            <a:r>
              <a:t>• Flag kept as colour: pipeline/steps.py to_open3d and multi_share; research: reports/review/honesty.md row 12 (review/honesty/run_extra.out)</a:t>
            </a:r>
          </a:p>
          <a:p/>
          <a:p>
            <a:r>
              <a:t>LINE BY LINE:</a:t>
            </a:r>
          </a:p>
          <a:p>
            <a:r>
              <a:t>• down = pcd.voxel_down_sample(0.5) (key line): lays a grid of 0.5 m cubes over the cloud (anchored at the minimum corner minus half a voxel) and replaces the points in each occupied cube by their average; colours, our multiple-return flag, are averaged too</a:t>
            </a:r>
          </a:p>
          <a:p>
            <a:r>
              <a:t>• P = np.asarray(down.points): a view of the 232 180 voxel points as an N by 3 NumPy array, no copy</a:t>
            </a:r>
          </a:p>
          <a:p>
            <a:r>
              <a:t>• print(len(xyz), "-&gt;", len(P)): 722 961 points in, 232 180 out, 32.1 % kept</a:t>
            </a:r>
          </a:p>
          <a:p/>
          <a:p>
            <a:r>
              <a:t>SKETCH: A grid of cells, the small white dots are original points, the large sage dot in each occupied cell is their average: one new point per voxel, and empty cells give nothing. Dense areas shrink most, which is why every later step gets cheaper.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three. Every Dutch person in this room will tell you Utrecht is flat, and around the Jaarbeurs they are right: one plane for this whole crop scores 94.6 % recall against AHN's ground, the tiles 94.3 %, a tie. On the street where I built this, one plane scored 82.7 % and the tiles 94.5 %, so the code fits one RANSAC plane per 25 m tile, and the last line gives no ground to the 20 tiles under a roof, where RANSAC fits the roof. Note `probability=1.0`: without it, two seeded runs differ. Or, as import this puts it: flat is better than nested. With the ground gone, let's group what's left.</a:t>
            </a:r>
          </a:p>
          <a:p/>
          <a:p>
            <a:r>
              <a:t>TIME: 75 s, ends at 12:10</a:t>
            </a:r>
          </a:p>
          <a:p/>
          <a:p>
            <a:r>
              <a:t>LIKELY QUESTION: Why RANSAC per tile and not a dedicated ground filter such as CSF or SMRF?</a:t>
            </a:r>
          </a:p>
          <a:p/>
          <a:p>
            <a:r>
              <a:t>ANSWER: I haven't benchmarked dedicated ground filters for this talk, so I won't claim they are better or worse. RANSAC per tile is one Open3D call you can read on a slide, and its inner test, distance to a plane, is exactly the benchmark in the next section.</a:t>
            </a:r>
          </a:p>
          <a:p/>
          <a:p>
            <a:r>
              <a:t>CHECK BEFORE THE TALK:</a:t>
            </a:r>
          </a:p>
          <a:p>
            <a:r>
              <a:t>• The slide 13 title no longer says 'Utrecht isn't flat': on the Jaarbeurs crop one plane ties with the tiles (results/pipeline.json single_plane); the joke now runs the other way</a:t>
            </a:r>
          </a:p>
          <a:p/>
          <a:p>
            <a:r>
              <a:t>TRACE:</a:t>
            </a:r>
          </a:p>
          <a:p>
            <a:r>
              <a:t>• snippets/s10_ground.py</a:t>
            </a:r>
          </a:p>
          <a:p>
            <a:r>
              <a:t>• results/snippets.json: s10_ground.py.ok</a:t>
            </a:r>
          </a:p>
          <a:p>
            <a:r>
              <a:t>• results/pipeline.json: ground.precision, ground.recall, n_tiles, params.tile, params.ransac_threshold, params.ransac_n, params.ransac_iterations, params.ransac_probability, params.seed</a:t>
            </a:r>
          </a:p>
          <a:p>
            <a:r>
              <a:t>• renders/f3_ground.png</a:t>
            </a:r>
          </a:p>
          <a:p>
            <a:r>
              <a:t>• results/pipeline.json: checks.ransac_default_probability (seeded runs identical at 1.0, different at the default)</a:t>
            </a:r>
          </a:p>
          <a:p>
            <a:r>
              <a:t>• results/pipeline.json: params_why.tile</a:t>
            </a:r>
          </a:p>
          <a:p>
            <a:r>
              <a:t>• results/bench_cliff.json: plane.plane_fit (one plane on the whole crop)</a:t>
            </a:r>
          </a:p>
          <a:p>
            <a:r>
              <a:t>• One plane against 25 m tiles, on this crop and on the first example street (data/previous/, Graadt van Roggenweg): results/pipeline.json single_plane, previous_street, params_why.tile; the roof tiles: tiles_flagged, snippets/s10_ground.py (z0 &lt; 5 rule = the plausibility check on every accepted tile)</a:t>
            </a:r>
          </a:p>
          <a:p>
            <a:r>
              <a:t>• Seeded runs differ without probability=1.0: research: review/honesty/snippets/s10_default_probability.py, reports/libraries.md FLAG 1</a:t>
            </a:r>
          </a:p>
          <a:p>
            <a:r>
              <a:t>• Callout: 'Flat is better than nested.' is line 7 of `python -c "import this"` (checked by snippets/s10b_zen.py; results/snippets.json: s10b_zen.py.ok)</a:t>
            </a:r>
          </a:p>
          <a:p/>
          <a:p>
            <a:r>
              <a:t>LINE BY LINE:</a:t>
            </a:r>
          </a:p>
          <a:p>
            <a:r>
              <a:t>• o3d.utility.random.seed(0): RANSAC draws random points; a fixed seed makes the planes reproducible (together with probability=1.0, see below)</a:t>
            </a:r>
          </a:p>
          <a:p>
            <a:r>
              <a:t>• ground = np.zeros(len(P), bool): one flag per voxel, nothing is ground yet</a:t>
            </a:r>
          </a:p>
          <a:p>
            <a:r>
              <a:t>• for i in tiles(P, 25) (key line): splits the voxels into 25 m squares in plan view and loops over the 64 tiles, never over points; i holds the indices of one tile</a:t>
            </a:r>
          </a:p>
          <a:p>
            <a:r>
              <a:t>• z0 = np.percentile(P[i, 2], 2): the tile's low height, the 2nd percentile, robust to a few points below the ground</a:t>
            </a:r>
          </a:p>
          <a:p>
            <a:r>
              <a:t>• low = i[P[i, 2] &lt; z0 + 1.5]: candidate ground, the voxels within 1.5 m of that low height (roofs and treetops are out before RANSAC starts)</a:t>
            </a:r>
          </a:p>
          <a:p>
            <a:r>
              <a:t>• t = down.select_by_index(low): the candidates as their own Open3D point cloud</a:t>
            </a:r>
          </a:p>
          <a:p>
            <a:r>
              <a:t>• _, inl = t.segment_plane(0.4, 3, 300, probability=1.0): RANSAC fits one plane: a voxel within 0.4 m of the plane is an inlier, each try uses 3 points, at most 300 tries; probability=1.0 turns off the early stop, without it two seeded runs differ</a:t>
            </a:r>
          </a:p>
          <a:p>
            <a:r>
              <a:t>• ground[low[inl]] = z0 &lt; 5: the inliers become ground, unless the tile's low point is more than 5 m up: then the tile is all roof and gets no ground (20 tiles)</a:t>
            </a:r>
          </a:p>
          <a:p/>
          <a:p>
            <a:r>
              <a:t>SKETCH: A side view of two tiles: sage ground points along a gentle slope, a building and a tree above them in white. Each tile fits its own straight plane through its ground points, so the line can bend at the tile edge where the street does.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four: DBSCAN chains together points that sit within 0.75 m of each other, so 'touches' really means 'closer than eps'. On the voxels that aren't ground and sit more than 0.3 m above it, I get 1 024 clusters, and 10 % of those voxels are noise that belong to no cluster. A cluster is just a blob, not yet a building or a tree. Naming the blobs is the next step.</a:t>
            </a:r>
          </a:p>
          <a:p/>
          <a:p>
            <a:r>
              <a:t>TIME: 55 s, ends at 13:05</a:t>
            </a:r>
          </a:p>
          <a:p/>
          <a:p>
            <a:r>
              <a:t>LIKELY QUESTION: How do you choose eps and min_points?</a:t>
            </a:r>
          </a:p>
          <a:p/>
          <a:p>
            <a:r>
              <a:t>ANSWER: By looking, plus one rule from testing: eps has to be clearly larger than the voxel size. Too small and most points become noise, too large and buildings fuse with their trees; prototype runs showed both. Here it is eps 0.75 m with min_points 6 on 0.5 m voxels.</a:t>
            </a:r>
          </a:p>
          <a:p/>
          <a:p>
            <a:r>
              <a:t>TRACE:</a:t>
            </a:r>
          </a:p>
          <a:p>
            <a:r>
              <a:t>• snippets/s11_cluster.py</a:t>
            </a:r>
          </a:p>
          <a:p>
            <a:r>
              <a:t>• results/snippets.json: s11_cluster.py.ok</a:t>
            </a:r>
          </a:p>
          <a:p>
            <a:r>
              <a:t>• results/pipeline.json: n_clusters, noise_share, params.eps, params.min_points, params.voxel</a:t>
            </a:r>
          </a:p>
          <a:p>
            <a:r>
              <a:t>• renders/f4_clusters.png</a:t>
            </a:r>
          </a:p>
          <a:p>
            <a:r>
              <a:t>• results/pipeline.json: params.cluster_min_height_m, noise_share_note, params_why.eps, params_why.min_points, param_choice</a:t>
            </a:r>
          </a:p>
          <a:p>
            <a:r>
              <a:t>• eps against voxel size: research: reports/review/honesty.md row 11, reports/review/feasibility.md section 2 (prototype runs)</a:t>
            </a:r>
          </a:p>
          <a:p/>
          <a:p>
            <a:r>
              <a:t>LINE BY LINE:</a:t>
            </a:r>
          </a:p>
          <a:p>
            <a:r>
              <a:t>• hag = height_above(P, ground): for every voxel, its height above the nearest ground voxel in plan view (one SciPy KDTree query on all cores)</a:t>
            </a:r>
          </a:p>
          <a:p>
            <a:r>
              <a:t>• up = ~ground &amp; (hag &gt; 0.3): the voxels that are not ground and stand more than 0.3 m above it, so kerbs and noise near the road stay out</a:t>
            </a:r>
          </a:p>
          <a:p>
            <a:r>
              <a:t>• rest = down.select_by_index(np.flatnonzero(up)): those voxels as their own point cloud</a:t>
            </a:r>
          </a:p>
          <a:p>
            <a:r>
              <a:t>• lab = rest.cluster_dbscan(eps=0.75, min_points=6) (key line): DBSCAN: a voxel with at least 6 neighbours within 0.75 m is a core point, clusters grow from core to core, and whatever no cluster reaches gets -1, noise</a:t>
            </a:r>
          </a:p>
          <a:p>
            <a:r>
              <a:t>• ids = np.asarray(lab): one cluster id per voxel, as NumPy</a:t>
            </a:r>
          </a:p>
          <a:p>
            <a:r>
              <a:t>• print(ids.max() + 1, "clusters"): ids start at 0, so the largest plus one is the count, 1 024</a:t>
            </a:r>
          </a:p>
          <a:p/>
          <a:p>
            <a:r>
              <a:t>SKETCH: Two groups of points, each a cluster because every point has neighbours within eps, the dashed circle; the lone grey point has none and is noise. DBSCAN needs no number of clusters, only how close is close.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five names the blobs with a few rules per cluster: how tall it is, how big its footprint is, and what share of its points had more than one return. That last one is the clue for trees: AHN's spec asks for a leaf-off flight, and this one was flown in early April, so pulses slip between bare branches and a tree echoes several times, while roads and roofs mostly echo once. Street furniture is the honest weak spot: from the air a lamp post is a few dozen points at most, and DBSCAN drops objects of fewer than 6 voxels as noise, so my rules find 3 objects, 53 points in all. Cars fail the street furniture rule because they are not twice as tall as they are wide, so they stay unlabelled. Then one last step paints these labels back onto every original point.</a:t>
            </a:r>
          </a:p>
          <a:p/>
          <a:p>
            <a:r>
              <a:t>TIME: 70 s, ends at 14:15</a:t>
            </a:r>
          </a:p>
          <a:p/>
          <a:p>
            <a:r>
              <a:t>LIKELY QUESTION: Why hand-written rules and not machine learning?</a:t>
            </a:r>
          </a:p>
          <a:p/>
          <a:p>
            <a:r>
              <a:t>ANSWER: Rules fit on a slide and you can debug them. Machine learning needs training labels, and for vegetation and street furniture AHN has none: they are all inside class 1. Buildings, which AHN does label, score 83 % precision and 99 % recall against class 6. I did try Florent Poux's PCA plus Random Forest idea on these clusters (backup B5): against AHN's building class it scores 81 % balanced accuracy, my rules 66 %. But AHN files facades under class 1 and my rules call them building, so part of that gap is the forest copying AHN's convention.</a:t>
            </a:r>
          </a:p>
          <a:p/>
          <a:p>
            <a:r>
              <a:t>TRACE:</a:t>
            </a:r>
          </a:p>
          <a:p>
            <a:r>
              <a:t>• snippets/s12_label.py</a:t>
            </a:r>
          </a:p>
          <a:p>
            <a:r>
              <a:t>• ML alternative: bench/eigen_features.py; results/eigen_features.json rules, forest_eigen_plus_rule_inputs (balanced accuracy weighted by points, spatial cross-validation); idea: research: reports/videos.md V3</a:t>
            </a:r>
          </a:p>
          <a:p>
            <a:r>
              <a:t>• results/snippets.json: s12_label.py.ok</a:t>
            </a:r>
          </a:p>
          <a:p>
            <a:r>
              <a:t>• results/pipeline.json: params.rules, n_objects, label_points, buildings.precision, buildings.recall</a:t>
            </a:r>
          </a:p>
          <a:p>
            <a:r>
              <a:t>• renders/f5_labels.png</a:t>
            </a:r>
          </a:p>
          <a:p>
            <a:r>
              <a:t>• renders/labels.json: f6_final (the same chip anchors as slides 16 and 17; checked on f5_labels.png)</a:t>
            </a:r>
          </a:p>
          <a:p>
            <a:r>
              <a:t>• Leaf-off flight: AHN5 acquisition spec not checked; the AHN4 spec requires a leaf-off flight ('bladloze seizoen'); this crop was flown in the night of 2023-04-05 to 2023-04-06, about 01:51 CEST, one strip (point source id 1110; GPS time of the crop's points, checked 2026-10-11; the first example street was about 01:35, research: reports/dataset.md)</a:t>
            </a:r>
          </a:p>
          <a:p>
            <a:r>
              <a:t>• Multiple-return share per AHN class on the crop: research: review/honesty/inspect_crop.out</a:t>
            </a:r>
          </a:p>
          <a:p>
            <a:r>
              <a:t>• Lamp posts as a few dozen points: research: reports/dataset.md (pole_analysis.json, measured on the first example street, not on this crop)</a:t>
            </a:r>
          </a:p>
          <a:p>
            <a:r>
              <a:t>• Cars fail rule 4: research: reports/build/pipeline.md; results/pipeline.json params.rules.slender (a car fails 'twice as tall as wide')</a:t>
            </a:r>
          </a:p>
          <a:p>
            <a:r>
              <a:t>• Objects below min_points dropped as noise: results/pipeline.json street_furniture_note, params.min_points</a:t>
            </a:r>
          </a:p>
          <a:p>
            <a:r>
              <a:t>• Street furniture drawn enlarged: renders/render_spec.json point_size_px</a:t>
            </a:r>
          </a:p>
          <a:p>
            <a:r>
              <a:t>• What the 3 objects (53 points) are on the ground is UNVERIFIED (results/pipeline.json street_furniture_note: no imagery checked); do not call it a lamp post</a:t>
            </a:r>
          </a:p>
          <a:p/>
          <a:p>
            <a:r>
              <a:t>LINE BY LINE:</a:t>
            </a:r>
          </a:p>
          <a:p>
            <a:r>
              <a:t>• def name(c): the rules, applied to one cluster c with its features (computed for all clusters at once with np.bincount); the first rule that fires wins</a:t>
            </a:r>
          </a:p>
          <a:p>
            <a:r>
              <a:t>• if c.multi &gt; 0.4 and c.top &gt; 1 (key line): more than 40 % of its points had several returns and its top is over 1 m: VEGETATION (leaf-off, the pulses pass between bare branches)</a:t>
            </a:r>
          </a:p>
          <a:p>
            <a:r>
              <a:t>• if c.foot &gt; 25 and c.top &gt; 2.5: footprint over 25 m2 and taller than 2.5 m: BUILDINGS (roofs)</a:t>
            </a:r>
          </a:p>
          <a:p>
            <a:r>
              <a:t>• if c.to_building &lt; 2: within 2 m of a building in plan view: BUILDINGS too (facade fragments that DBSCAN split off their roof)</a:t>
            </a:r>
          </a:p>
          <a:p>
            <a:r>
              <a:t>• if c.slender and c.free: at most 1.5 m wide, 1.5 to 15 m tall and at least twice as tall as wide, more than 2 m from buildings and 1 m from trees: STREET_FURNITURE</a:t>
            </a:r>
          </a:p>
          <a:p>
            <a:r>
              <a:t>• return UNLABELLED: everything else, cars included (not twice as tall as wide)</a:t>
            </a:r>
          </a:p>
          <a:p/>
          <a:p>
            <a:r>
              <a:t>SKETCH: Three cluster shapes and the class each one gets: a crown with many echoes becomes vegetation, a wide flat block a building, a thin pole street furniture. The rules only look at shape and echoes, never at AHN's labels.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six: the labels live on the 232 180 voxel points, so one KDTree query gives each of the 722 961 original points the label of its nearest voxel point. PyVista then renders off-screen with one fixed camera, one PNG per step, which is why every frame in this talk lines up. Let's put all six steps together.</a:t>
            </a:r>
          </a:p>
          <a:p/>
          <a:p>
            <a:r>
              <a:t>TIME: 40 s, ends at 14:55</a:t>
            </a:r>
          </a:p>
          <a:p/>
          <a:p>
            <a:r>
              <a:t>LIKELY QUESTION: Why not Open3D's own viewer?</a:t>
            </a:r>
          </a:p>
          <a:p/>
          <a:p>
            <a:r>
              <a:t>ANSWER: Open3D's draw_geometries opens a window and blocks until you close it. I needed identical frames from a script, without a window, and PyVista does that off-screen; in testing it also rendered headless, through EGL.</a:t>
            </a:r>
          </a:p>
          <a:p/>
          <a:p>
            <a:r>
              <a:t>IF SKIPPED: Skip-first number 4. If skipped, say on slide 17: "every render here is PyVista, off-screen, one fixed camera".</a:t>
            </a:r>
          </a:p>
          <a:p/>
          <a:p>
            <a:r>
              <a:t>TRACE:</a:t>
            </a:r>
          </a:p>
          <a:p>
            <a:r>
              <a:t>• snippets/s13_render.py</a:t>
            </a:r>
          </a:p>
          <a:p>
            <a:r>
              <a:t>• results/snippets.json: s13_render.py.ok</a:t>
            </a:r>
          </a:p>
          <a:p>
            <a:r>
              <a:t>• results/labels_crop.npz</a:t>
            </a:r>
          </a:p>
          <a:p>
            <a:r>
              <a:t>• results/pipeline.json: points_in, points_after_voxel</a:t>
            </a:r>
          </a:p>
          <a:p>
            <a:r>
              <a:t>• renders/f6_final.png</a:t>
            </a:r>
          </a:p>
          <a:p>
            <a:r>
              <a:t>• pipeline/render.py (makes the frame shown; draws the street furniture objects enlarged, renders/render_spec.json point_size_px)</a:t>
            </a:r>
          </a:p>
          <a:p>
            <a:r>
              <a:t>• renders/render_spec.json</a:t>
            </a:r>
          </a:p>
          <a:p>
            <a:r>
              <a:t>• renders/labels.json: f6_final</a:t>
            </a:r>
          </a:p>
          <a:p>
            <a:r>
              <a:t>• Headless PyVista: research: reports/libraries.md (04_pyvista_render.py); draw_geometries blocks: research: reports/book.md</a:t>
            </a:r>
          </a:p>
          <a:p/>
          <a:p>
            <a:r>
              <a:t>LINE BY LINE:</a:t>
            </a:r>
          </a:p>
          <a:p>
            <a:r>
              <a:t>• P = np.asarray(down.points): the voxel points, a view</a:t>
            </a:r>
          </a:p>
          <a:p>
            <a:r>
              <a:t>• _, j = KDTree(P).query(xyz, workers=-1): for each of the 722 961 original points, the index of its nearest voxel point; one query on all cores</a:t>
            </a:r>
          </a:p>
          <a:p>
            <a:r>
              <a:t>• pl = pv.Plotter(off_screen=True) (key line): a renderer without a window, so a script can make the images, also headless</a:t>
            </a:r>
          </a:p>
          <a:p>
            <a:r>
              <a:t>• pl.add_points(xyz, point_size=3, scalars=RGB[cls[j]], rgb=True): every original point coloured by the class of its nearest voxel; cls[j] is NumPy fancy indexing, one call</a:t>
            </a:r>
          </a:p>
          <a:p>
            <a:r>
              <a:t>• pl.camera_position = CAM: the one fixed camera (renders/render_spec.json), never reset_camera, so every frame lines up</a:t>
            </a:r>
          </a:p>
          <a:p>
            <a:r>
              <a:t>• pl.screenshot("f6_final.png"): writes the PNG you see on the right</a:t>
            </a:r>
          </a:p>
          <a:p/>
          <a:p>
            <a:r>
              <a:t>SKETCH: Three large voxel points with their class colours and many small original points; each small point takes the colour of its nearest voxel point, the grey lines. That is the paint-back: the labels were computed on 232 180 voxels and land on all 722 961 points.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what did the six steps do? laspy loaded 722 961 points, Open3D cut them to 232 180 voxels, fitted the ground at 98 % precision against AHN and found 1 024 clusters, NumPy's rules turned the clusters into four classes, and SciPy painted those back onto every point. From file to labels that's 0.6 seconds on this crop, one run, so take it as indicative, and not a single Python loop over points. First, a confession about street furniture.</a:t>
            </a:r>
          </a:p>
          <a:p/>
          <a:p>
            <a:r>
              <a:t>TIME: 75 s, ends at 16:10</a:t>
            </a:r>
          </a:p>
          <a:p/>
          <a:p>
            <a:r>
              <a:t>LIKELY QUESTION: Can I run this on my own AHN file?</a:t>
            </a:r>
          </a:p>
          <a:p/>
          <a:p>
            <a:r>
              <a:t>ANSWER: Yes, that's what the repo is for. For a whole 1 km AHN file or larger, start with the chunked read from slide 25, and expect to retune voxel size, tile size and eps for a different point density. Not in the Netherlands? Backup B6 lists other open sources.</a:t>
            </a:r>
          </a:p>
          <a:p/>
          <a:p>
            <a:r>
              <a:t>CHECKPOINT: Skip-first order: 23, 22, 24, 16, 9. Target: leave this slide by 16:10. Leaving after 17:10: skip 23 and 22. Leaving after 18:40: also skip 24, and tell only one story on 27. Further on: reach slide 24 by 23:30, otherwise skip it. To skip: one sentence, then click.</a:t>
            </a:r>
          </a:p>
          <a:p/>
          <a:p>
            <a:r>
              <a:t>CHECK BEFORE THE TALK:</a:t>
            </a:r>
          </a:p>
          <a:p>
            <a:r>
              <a:t>• Repo URL is still a placeholder (content.yaml)</a:t>
            </a:r>
          </a:p>
          <a:p>
            <a:r>
              <a:t>• Other open sources (B6): research: reports/videos.md V1</a:t>
            </a:r>
          </a:p>
          <a:p/>
          <a:p>
            <a:r>
              <a:t>TRACE:</a:t>
            </a:r>
          </a:p>
          <a:p>
            <a:r>
              <a:t>• snippets/s14_pipeline.py</a:t>
            </a:r>
          </a:p>
          <a:p>
            <a:r>
              <a:t>• pipeline/run.py</a:t>
            </a:r>
          </a:p>
          <a:p>
            <a:r>
              <a:t>• results/snippets.json: s14_pipeline.py.ok</a:t>
            </a:r>
          </a:p>
          <a:p>
            <a:r>
              <a:t>• results/pipeline.json: runtime_s (single run, indicative), versions</a:t>
            </a:r>
          </a:p>
          <a:p>
            <a:r>
              <a:t>• results/pipeline.json: runtime_note</a:t>
            </a:r>
          </a:p>
          <a:p>
            <a:r>
              <a:t>• No per-point Python loop: the loops in pipeline/steps.py run over tiles (remove_ground) and clusters (label)</a:t>
            </a:r>
          </a:p>
          <a:p>
            <a:r>
              <a:t>• renders/f6_final.png</a:t>
            </a:r>
          </a:p>
          <a:p>
            <a:r>
              <a:t>• renders/labels.json: f6_final</a:t>
            </a:r>
          </a:p>
          <a:p>
            <a:r>
              <a:t>• Table: results/pipeline.json points_in, points_after_voxel, ground.precision, n_clusters, timings_s; '4 classes' = ground, buildings, vegetation, street furniture</a:t>
            </a:r>
          </a:p>
          <a:p/>
          <a:p>
            <a:r>
              <a:t>THE SEVEN CALLS:</a:t>
            </a:r>
          </a:p>
          <a:p>
            <a:r>
              <a:t>• The whole pipeline is seven calls in the repo (snippets/s14_pipeline.py, pipeline/run.py):</a:t>
            </a:r>
          </a:p>
          <a:p>
            <a:r>
              <a:t>• las, xyz, _ = load("crop.laz") / multi = las.number_of_returns &gt; 1 / pcd = to_open3d(xyz, multi) / down = downsample(pcd, 0.5) / ground, _ = remove_ground(down, 25) / ids = cluster(down, ground, 0.75, 6) / cls, _ = label(down, ground, ids) / full = paint_back(xyz, down, cls)</a:t>
            </a:r>
          </a:p>
          <a:p>
            <a:r>
              <a:t>• Times per step (results/pipeline.json timings_s, one run): load 57 ms, copy into Open3D 16 ms, voxels 84 ms, ground 81 ms, clusters 137 ms, labels 151 ms, paint-back 99 ms; total 624 ms, renders not included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Expectation versus reality. The expectation isn't made up: the BGT, the Dutch large-scale topography register kept by the municipality, lists 61 poles inside this exact square, 51 lamp posts and 10 bollards, the small rings. Reality: my pipeline found 3 objects, the big rings, and two of them do stand on a registered lamp post. The data explains it: 42 of the 61 poles don't get a single LiDAR point more than 1.5 metres above the ground, and only 10 leave DBSCAN the six voxels it needs. Rule two in action: look at your data before you blame your algorithm. Now, one simple question about every point.</a:t>
            </a:r>
          </a:p>
          <a:p/>
          <a:p>
            <a:r>
              <a:t>TIME: 40 s, ends at 16:50</a:t>
            </a:r>
          </a:p>
          <a:p/>
          <a:p>
            <a:r>
              <a:t>LIKELY QUESTION: Isn't the register out of date, or the flight too old?</a:t>
            </a:r>
          </a:p>
          <a:p/>
          <a:p>
            <a:r>
              <a:t>ANSWER: Partly: 3 of the poles were first registered after the April 2023 flight, so they may not have existed yet. That doesn't change the picture: most poles that did exist are a few points or none from the air. The municipality's own 2021 street-light export disagrees with the BGT too, so registers aren't ground truth either.</a:t>
            </a:r>
          </a:p>
          <a:p/>
          <a:p>
            <a:r>
              <a:t>TRACE:</a:t>
            </a:r>
          </a:p>
          <a:p>
            <a:r>
              <a:t>• bench/bgt_street_furniture.py, results/bgt_street_furniture.json (label FINAL)</a:t>
            </a:r>
          </a:p>
          <a:p>
            <a:r>
              <a:t>• BGT licence: CC BY 4.0 per the national geo register record (attribution Kadaster, BGT), CC0 1.0 on the PDOK API landing page; the slide credits Kadaster, BGT</a:t>
            </a:r>
          </a:p>
          <a:p>
            <a:r>
              <a:t>• Rings: build_deck.py slide_expectation_map; poles projected with the stored camera (renders/render_spec.json), our objects at renders/render_spec.json frames[f6_final.png].street_furniture_visible patches</a:t>
            </a:r>
          </a:p>
          <a:p>
            <a:r>
              <a:t>• results/pipeline.json: n_objects.street_furniture, street_furniture_objects</a:t>
            </a:r>
          </a:p>
          <a:p/>
          <a:p>
            <a:r>
              <a:t>EVIDENCE:</a:t>
            </a:r>
          </a:p>
          <a:p>
            <a:r>
              <a:t>• BGT via PDOK OGC API Features, queried 2026-10-12 08:04 UTC: paal 61 (lichtmast 51, afsluitpaal 10), straatmeubilair 29 (26 benches, 3 play objects), kast 4; current versions only, strictly inside the crop box</a:t>
            </a:r>
          </a:p>
          <a:p>
            <a:r>
              <a:t>• Points within 0.6 m of each pole and more than 1.5 m above the local ground: 0 points 42, 1 to 5 4, 6 to 20 15, more than 20 none</a:t>
            </a:r>
          </a:p>
          <a:p>
            <a:r>
              <a:t>• Poles with at least 6 occupied 0.5 m voxels above 1.5 m: 10, all lamp posts; half of them sit under building or viaduct points</a:t>
            </a:r>
          </a:p>
          <a:p>
            <a:r>
              <a:t>• Our objects against the BGT: clusters 435 and 710 within 0.51 m and 0.49 m of a lamp post; cluster 719 is 4.97 m from the nearest one</a:t>
            </a:r>
          </a:p>
          <a:p>
            <a:r>
              <a:t>• Map: 60 of the 61 poles project inside the render (one falls just outside the frame)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Quiz time. Both blocks compute the same thing: the distance of all 722 961 points to the ground plane, and they give exactly the same numbers. A loops over the rows in Python; B is one NumPy expression on whole columns. Hands up if you think A is faster. And B? Now the real question: by how much, roughly 2, 10, 100 or 1000 times? Keep your answer in mind.</a:t>
            </a:r>
          </a:p>
          <a:p/>
          <a:p>
            <a:r>
              <a:t>TIME: 90 s, ends at 18:20</a:t>
            </a:r>
          </a:p>
          <a:p/>
          <a:p>
            <a:r>
              <a:t>LIKELY QUESTION: Why not P @ (a, b, c) + d? That's the idiomatic way.</a:t>
            </a:r>
          </a:p>
          <a:p/>
          <a:p>
            <a:r>
              <a:t>ANSWER: In real code, use it. In my final run it even matched the loop bit for bit, but I left it out of the comparison: in my pilot runs OpenBLAS ran it on several threads, while the element-wise form runs on 1 thread, so the factor would mix the boundary with parallelism.</a:t>
            </a:r>
          </a:p>
          <a:p/>
          <a:p>
            <a:r>
              <a:t>TRACE:</a:t>
            </a:r>
          </a:p>
          <a:p>
            <a:r>
              <a:t>• snippets/s16_loop.py</a:t>
            </a:r>
          </a:p>
          <a:p>
            <a:r>
              <a:t>• snippets/s16_vec.py</a:t>
            </a:r>
          </a:p>
          <a:p>
            <a:r>
              <a:t>• results/snippets.json: s16_loop.py.ok, s16_vec.py.ok</a:t>
            </a:r>
          </a:p>
          <a:p>
            <a:r>
              <a:t>• bench/bench_cliff.py</a:t>
            </a:r>
          </a:p>
          <a:p>
            <a:r>
              <a:t>• results/bench_cliff.json: plane.equal, plane.vectorised.threads</a:t>
            </a:r>
          </a:p>
          <a:p>
            <a:r>
              <a:t>• results/bench_cliff.json: plane.matmul_reference (expr, equal, max_abs_diff)</a:t>
            </a:r>
          </a:p>
          <a:p>
            <a:r>
              <a:t>• results/bench_cliff.json: plane.n, plane.array.how (P = las.xyz - las.header.mins, the full crop)</a:t>
            </a:r>
          </a:p>
          <a:p>
            <a:r>
              <a:t>• OpenBLAS threads for @ at 1M points (pilot only): research: reports/perf.md</a:t>
            </a:r>
          </a:p>
          <a:p/>
          <a:p>
            <a:r>
              <a:t>LINE BY LINE:</a:t>
            </a:r>
          </a:p>
          <a:p>
            <a:r>
              <a:t>• A: a, b, c, d = plane (the plane's coefficients from segment_plane); h = np.empty(len(P)) (one result per point); for i, p in enumerate(P) (key line: one Python iteration per point, each p is a row view); x, y, z = p[0], p[1], p[2] (three NumPy scalar lookups); h[i] = abs(a*x + b*y + c*z + d) (scalar arithmetic and one store)</a:t>
            </a:r>
          </a:p>
          <a:p>
            <a:r>
              <a:t>• B: x, y, z = P.T (three column views, no copy); h = np.abs(a*x + b*y + c*z + d) (key line: a handful of NumPy calls, each on all points)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answer: on 722 961 points the loop takes 317 ms and the single expression 2.4 ms: (click) that's 130×, so if you said 100, you win. The axis is logarithmic, otherwise the grey bar would barely show. Same data, same machine, same result; what changed most is how many times we call into compiled code, and memory layout does the rest. Even a loop over plain Python floats, which avoids NumPy scalars, takes 78 ms, plus 107 ms to build those lists with P.tolist(). So where does the time go?</a:t>
            </a:r>
          </a:p>
          <a:p/>
          <a:p>
            <a:r>
              <a:t>TIME: 105 s, ends at 20:05</a:t>
            </a:r>
          </a:p>
          <a:p/>
          <a:p>
            <a:r>
              <a:t>LIKELY QUESTION: The abstract promised two orders of magnitude. Is that what you measured?</a:t>
            </a:r>
          </a:p>
          <a:p/>
          <a:p>
            <a:r>
              <a:t>ANSWER: For this per-point arithmetic: 130×, with an IQR-bounded range of 128× to 131×. For KDTree queries the cliff is smaller, 6.2× on one thread, because each call does more real work; it grows to 58× once the single call uses all cores. More on slide 21 and B4. That is on the column-ordered array laspy gives you; on a row-ordered copy the expression slows to 3.6 ms and the factor drops to 88× (85× to 94×).</a:t>
            </a:r>
          </a:p>
          <a:p/>
          <a:p>
            <a:r>
              <a:t>CHECK BEFORE THE TALK:</a:t>
            </a:r>
          </a:p>
          <a:p>
            <a:r>
              <a:t>• Checked: bench.plane.factor.iqr_low = 128×, at least 100×, so 'two orders of magnitude' may be said, for this loop over NumPy rows only (it is not on the slide)</a:t>
            </a:r>
          </a:p>
          <a:p>
            <a:r>
              <a:t>• The 130× hero holds for laspy's column-ordered array (slide 11 code), not for a C-ordered copy</a:t>
            </a:r>
          </a:p>
          <a:p/>
          <a:p>
            <a:r>
              <a:t>TRACE:</a:t>
            </a:r>
          </a:p>
          <a:p>
            <a:r>
              <a:t>• bench/bench_cliff.py</a:t>
            </a:r>
          </a:p>
          <a:p>
            <a:r>
              <a:t>• results/bench_cliff.json: plane.n, plane.loop_numpy_rows, plane.vectorised, plane.loop_python_floats, plane.factor (median, iqr_low, iqr_high), knn.factor_loop_vs_1t, knn.factor_loop_vs_all, conditions (small print)</a:t>
            </a:r>
          </a:p>
          <a:p>
            <a:r>
              <a:t>• results/bench_cliff.json: plane.sensitivity (vectorised_c_contiguous, factor_c_contiguous, tolist), plane.array (how, dtype, layout: the conditions line)</a:t>
            </a:r>
          </a:p>
          <a:p>
            <a:r>
              <a:t>• Chart data embedded by deck/build_deck.py from these keys</a:t>
            </a:r>
          </a:p>
          <a:p/>
          <a:p>
            <a:r>
              <a:t>CONDITIONS IN FULL (the slide shows the short line): Conditions: Ryzen 7 5700X, 8 cores / 16 threads, 31.3 GiB RAM; Linux (Omarchy, kernel 7.2.5-3-omarchy); Python 3.13.15, NumPy 2.5.3, SciPy 1.18.1, Open3D 0.20.0, laspy 2.7.0; N = 722 961 points, 7 runs after 1 warm-up, median and IQR of wall time over the timed runs; plane loop and expression on 1 thread each (CPU/wall 1.0); governor performance; boost on; measured 2026-10-11 20:08 UTC; data: the AHN5 crop of slide 4 (ahn.nl, Het Waterschapshuis, CC BY 4.0). Array: las.xyz − las.header.mins, float64, column-ordered as laspy returns it; on a row-ordered copy the factor is 88×.</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where the time goes: Python above the line, compiled code below. Each loop step makes several small calls into NumPy, a row, three elements, a few scalar operations, and together they cost about 439 ns per point; the same loop on plain Python floats, one NumPy call per step, still costs 107 ns; the work itself costs 3.4 ns per point inside NumPy. It's like sending every point through the toll booth in its own car, when NumPy puts them all on one bus. C++ libraries are no exception: the KDTree query the loop uses costs 9.8 µs even when it finds nothing, against 2.1 µs per point inside one call, so the kNN loop is 6.2× slower than one call. So how do you find such a loop in your own code?</a:t>
            </a:r>
          </a:p>
          <a:p/>
          <a:p>
            <a:r>
              <a:t>TIME: 95 s, ends at 21:40</a:t>
            </a:r>
          </a:p>
          <a:p/>
          <a:p>
            <a:r>
              <a:t>LIKELY QUESTION: Why is the KDTree cliff so much smaller than the plane cliff?</a:t>
            </a:r>
          </a:p>
          <a:p/>
          <a:p>
            <a:r>
              <a:t>ANSWER: Because the factor is roughly toll plus work, divided by work. A KDTree query does microseconds of real work, so a toll of a few microseconds only multiplies the time a few times; plane distance does nanoseconds of work, so the toll dominates. In the synthetic pilot, queries with more neighbours had a smaller cliff.</a:t>
            </a:r>
          </a:p>
          <a:p/>
          <a:p>
            <a:r>
              <a:t>TRACE:</a:t>
            </a:r>
          </a:p>
          <a:p>
            <a:r>
              <a:t>• bench/bench_cliff.py</a:t>
            </a:r>
          </a:p>
          <a:p>
            <a:r>
              <a:t>• results/bench_cliff.json: plane.per_step_ns_loop, plane.per_step_ns_python_floats, plane.per_point_ns_vectorised, knn.k, knn.per_query_us_far_knn, knn.per_query_desc.per_query_us_far_knn (the call: query with k and distance_upper_bound), knn.per_point_us_one_call_1t, knn.factor_loop_vs_1t</a:t>
            </a:r>
          </a:p>
          <a:p>
            <a:r>
              <a:t>• Toll model and neighbour-count sweep: research: reports/perf.md (synthetic pilot)</a:t>
            </a:r>
          </a:p>
          <a:p>
            <a:r>
              <a:t>• Diagram drawn natively by deck/build_deck.py</a:t>
            </a:r>
          </a:p>
          <a:p/>
          <a:p>
            <a:r>
              <a:t>CONDITIONS IN FULL (the slide shows the short line): 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4 (ahn.nl, Het Waterschapshuis, CC BY 4.0). KDTree query: SciPy KDTree.query with k = 16 and distance_upper_bound, one query point far outside the cloud (no neighbour found), median of 7 timeit repeats of 20 000 calls.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You don't guess where the time goes; you ask a profiler. I used Scalene, a profiler for Python that shows time per line. One command, on the loop from the quiz. Each bar is one line of code, and its length is its share of the whole run: navy for time in the Python interpreter, blue for time in native code, here NumPy. The line that computes the distance takes 88 percent of the run, and almost all of it is NumPy, one value at a time. The same arithmetic as one expression takes 0.7 percent. So, could threads rescue the loop?</a:t>
            </a:r>
          </a:p>
          <a:p/>
          <a:p>
            <a:r>
              <a:t>TIME: 55 s, ends at 22:35</a:t>
            </a:r>
          </a:p>
          <a:p/>
          <a:p>
            <a:r>
              <a:t>LIKELY QUESTION: Why do the for line and the indexing line show 0 %?</a:t>
            </a:r>
          </a:p>
          <a:p/>
          <a:p>
            <a:r>
              <a:t>ANSWER: Scalene samples the program with a timer and bills each sample to the line the interpreter is executing when it gets to handle it. A long call into C, such as NumPy arithmetic on scalars, is handled once it returns, so the time of the whole loop turn lands on the last line, the one with abs(). The three lines are one loop turn; read the 0 % lines as part of the 88 %. For a cross-check I also ran cProfile (bench/profile_loop.py), which gives the loop function 66 % of its run and abs() called 722 961 times, once per point.</a:t>
            </a:r>
          </a:p>
          <a:p/>
          <a:p>
            <a:r>
              <a:t>IF SKIPPED: Skip-first number 2. If skipped, say on the next slide shown: "a profiler finds such loops: Scalene puts one line at 88 percent".</a:t>
            </a:r>
          </a:p>
          <a:p/>
          <a:p>
            <a:r>
              <a:t>TRACE:</a:t>
            </a:r>
          </a:p>
          <a:p>
            <a:r>
              <a:t>• bench/profile_loop_scalene.py (runs `scalene run --cpu-only --cpu-sampling-rate 0.001 bench/cpuprof/loop.py --- 30` three times and stores the run with the median loop-line share)</a:t>
            </a:r>
          </a:p>
          <a:p>
            <a:r>
              <a:t>• bench/cpuprof/loop.py (the slide lines of snippets/s16_loop.py and s16_vec.py as two functions, checked by the script itself; the plane from results/bench_cliff.json plane.coefficients; each function called 30 times so Scalene gets enough samples)</a:t>
            </a:r>
          </a:p>
          <a:p>
            <a:r>
              <a:t>• results/profile_scalene.json (label FINAL): lines.for, lines.unpack, lines.loop_body, lines.vectorised (python, native, system, total, samples), loop_native_fraction, factor_loop_vs_vectorised, rest_percent, conditions</a:t>
            </a:r>
          </a:p>
          <a:p>
            <a:r>
              <a:t>• Cross-check, not on the slide: cProfile, results/profile_loop.json and .txt (bench/profile_loop.py). The loop is 0.4 s of a 0.6 s run there; unprofiled, slide 20 gives the loop against the expression</a:t>
            </a:r>
          </a:p>
          <a:p/>
          <a:p>
            <a:r>
              <a:t>HOW TO READ IT:</a:t>
            </a:r>
          </a:p>
          <a:p>
            <a:r>
              <a:t>• Rows: the lines of the slide-19 loop (for, unpack, distance) and the one-expression version; bars: percent of the whole profiled run, 100 % being the full bar width</a:t>
            </a:r>
          </a:p>
          <a:p>
            <a:r>
              <a:t>• Colours: navy = time in the Python interpreter, blue = time in native code that the line calls (NumPy here), grey = system (waiting, I/O)</a:t>
            </a:r>
          </a:p>
          <a:p>
            <a:r>
              <a:t>• The distance line: 88 % of the run, of which 4.1 % Python, 82.3 % native, 1.7 % system. Native is NumPy arithmetic and abs on single np.float64 values: compiled code, but called 722 961 times, one point per call, which is the toll</a:t>
            </a:r>
          </a:p>
          <a:p>
            <a:r>
              <a:t>• The rest of the run (11.3 %) is imports and reading the LAZ file</a:t>
            </a:r>
          </a:p>
          <a:p>
            <a:r>
              <a:t>• The NumPy expression: 0.7 % of the run; Scalene says the loop line is 133 times the expression line, slide 20 measured 130×</a:t>
            </a:r>
          </a:p>
          <a:p>
            <a:r>
              <a:t>• Sampling: every 1.0 ms, 30 repeats of both functions; loop line shares of the three runs 87.9, 88.0 and 88.4 %</a:t>
            </a:r>
          </a:p>
          <a:p>
            <a:r>
              <a:t>• Run it: uv run --group profile scalene run --cpu-only -o out.json bench/cpuprof/loop.py, then scalene view out.json. Scalene skips any path with "scalene" in it; the directory is cpuprof for that reason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Python 3.14 ships a free-threaded build, so I split the same loop over threads. With the GIL, 8 threads gain nothing; on Python 3.14t, without the GIL, they make the loop 5.5× faster. One NumPy call on one thread is still 27× faster than that. Free threading spreads the toll over your cores; it doesn't remove it. Now the other way 3D data hurts: memory.</a:t>
            </a:r>
          </a:p>
          <a:p/>
          <a:p>
            <a:r>
              <a:t>TIME: 50 s, ends at 23:25</a:t>
            </a:r>
          </a:p>
          <a:p/>
          <a:p>
            <a:r>
              <a:t>LIKELY QUESTION: What about more threads, or multiprocessing?</a:t>
            </a:r>
          </a:p>
          <a:p/>
          <a:p>
            <a:r>
              <a:t>ANSWER: On this CPU with 8 cores, 8 threads were the fastest I measured, 61 ms; all 16 hardware threads took 75 ms. I didn't benchmark multiprocessing; it would also have to copy or share the array.</a:t>
            </a:r>
          </a:p>
          <a:p/>
          <a:p>
            <a:r>
              <a:t>IF SKIPPED: Skip-first number 1. If skipped, say on slide 24: 'free-threaded Python spreads the toll over your cores but doesn't remove it; now, memory'.</a:t>
            </a:r>
          </a:p>
          <a:p/>
          <a:p>
            <a:r>
              <a:t>CHECK BEFORE THE TALK:</a:t>
            </a:r>
          </a:p>
          <a:p>
            <a:r>
              <a:t>• Say 'free-threaded build' (3.14t). The default CPython build still has the GIL</a:t>
            </a:r>
          </a:p>
          <a:p/>
          <a:p>
            <a:r>
              <a:t>TRACE:</a:t>
            </a:r>
          </a:p>
          <a:p>
            <a:r>
              <a:t>• bench/bench_freethreaded.py (driver in the project venv; workers in two throw-away venvs: CPython 3.14.7 free-threaded and default build, numpy and laspy[lazrs] only)</a:t>
            </a:r>
          </a:p>
          <a:p>
            <a:r>
              <a:t>• results/bench_freethreaded.json: builds.free_threaded.timings (loop, threads_1 to threads_16, vectorised), builds.gil.timings, summary (best_threads_ft, ft_speedup_best_vs_loop, ft_vectorised_vs_best_threads, gil_speedup_vs_loop), builds.*.gil_enabled_at_end, builds.*.equal_to_vectorised, conditions</a:t>
            </a:r>
          </a:p>
          <a:p>
            <a:r>
              <a:t>• Loop: the slide region of snippets/s16_loop.py compiled verbatim; threads: the same body over contiguous slices of P, ThreadPoolExecutor; vectorised: snippets/s16_vec.py</a:t>
            </a:r>
          </a:p>
          <a:p>
            <a:r>
              <a:t>• 1 warm-up round and 7 timed rounds, variants in a seeded random order per round; load average below 1.0 before each build</a:t>
            </a:r>
          </a:p>
          <a:p/>
          <a:p>
            <a:r>
              <a:t>CONDITIONS IN FULL (the slide shows the short line): Conditions: Ryzen 7 5700X, 8 cores / 16 threads, 31.3 GiB RAM; Linux (Omarchy, kernel 7.2.5-3-omarchy); CPython 3.14.7 free-threaded build (sys._is_gil_enabled() returns False) and the default build 3.14.7, NumPy 2.5.4, laspy 2.7.0; N = 722 961 points, 7 runs after 1 warm-up, median and IQR of wall time over the timed runs; governor performance; boost on; measured 2026-10-11 20:07 UTC; data: the AHN5 crop of slide 4 (ahn.nl, Het Waterschapshuis, CC BY 4.0). Loop: the slide 19 loop. Threads: the same loop body over N slices of P, concurrent.futures.ThreadPoolExecutor. Default build with the GIL: loop 327 ms, 8 threads 347 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1 km AHN file has 21 013 926 points, but the full-size files are 5 by 6.25 km, and the one with this area, 2023_C_31HZ2, has 926 203 338. At the 86 bytes per point I measured for our pipeline, that's about 74.2 GB, against 25.9 GB for the LAS records alone; both computed, not run. It works on my machine, just not for this file. So how do we get through it anyway?</a:t>
            </a:r>
          </a:p>
          <a:p/>
          <a:p>
            <a:r>
              <a:t>TIME: 55 s, ends at 24:20</a:t>
            </a:r>
          </a:p>
          <a:p/>
          <a:p>
            <a:r>
              <a:t>LIKELY QUESTION: The LAS record is 30 bytes. Why do you need so many more?</a:t>
            </a:r>
          </a:p>
          <a:p/>
          <a:p>
            <a:r>
              <a:t>ANSWER: Because a working pipeline holds more than the record. Measured on the 1 km file: laspy.read peaks at 38 and keeps 30 bytes per point, the float64 xyz array adds 24, Open3D's own copy adds 24, and the downsampled cloud makes up the rest. Scaling to billions of points is on backup slide B2.</a:t>
            </a:r>
          </a:p>
          <a:p/>
          <a:p>
            <a:r>
              <a:t>CHECKPOINT: Arrive here by 23:30. Later than that: skip this slide.</a:t>
            </a:r>
          </a:p>
          <a:p/>
          <a:p>
            <a:r>
              <a:t>IF SKIPPED: Skip-first number 3. If skipped, say the one fact on slide 25: "a full-size AHN file has 926 203 338 points".</a:t>
            </a:r>
          </a:p>
          <a:p/>
          <a:p>
            <a:r>
              <a:t>TRACE:</a:t>
            </a:r>
          </a:p>
          <a:p>
            <a:r>
              <a:t>• bench/bench_memory.py</a:t>
            </a:r>
          </a:p>
          <a:p>
            <a:r>
              <a:t>• results/memory.json: tile_1km.points, tile_1km.bytes_per_point (all five keys), big_file.points, big_file.computed_gb, ram_reference_gb</a:t>
            </a:r>
          </a:p>
          <a:p>
            <a:r>
              <a:t>• results/memory.json: big_file.formulas (las_records uses the record size, our_pipeline the measured bytes per point)</a:t>
            </a:r>
          </a:p>
          <a:p>
            <a:r>
              <a:t>• Our pipeline = bench/bench_memory.py case 'pipeline': laspy.read, xyz, Open3D copy, voxel_down_sample, everything kept (slides 11 and 12); the rest of the 86 B per point: the kept centroids, results/memory.json tile_1km.naive_kept_open3d_centroids</a:t>
            </a:r>
          </a:p>
          <a:p>
            <a:r>
              <a:t>• big_file.points: LAS header via a 64 KB range request; the header bounds contain the crop (research: dataset/top_tile_headers.txt; size in km: results/research_facts.json ahn5_c_31hz2)</a:t>
            </a:r>
          </a:p>
          <a:p>
            <a:r>
              <a:t>• Record size for point format 6: results/memory.json tile_1km.record_bytes; LAS 1.4 R16 and laspy.PointFormat(6).size (research: reports/memory.md, notes/verify_facts.json)</a:t>
            </a:r>
          </a:p>
          <a:p>
            <a:r>
              <a:t>• Machine line: results/memory.json conditions.ram_gib (the machine all measurements ran on)</a:t>
            </a:r>
          </a:p>
          <a:p/>
          <a:p>
            <a:r>
              <a:t>CONDITIONS IN FULL (the slide shows the short line): Conditions: Ryzen 7 5700X, 8 cores / 16 threads, 31.3 GiB RAM; Linux (Omarchy, kernel 7.2.5-3-omarchy); Python 3.13.15, NumPy 2.5.3, SciPy 1.18.1, Open3D 0.20.0, laspy 2.7.0; N = 21 013 926 points, median of 3 runs, each in a fresh subprocess; governor performance; boost on; measured 2026-10-11 20:10 UTC; data: AHN file 135000_455000 (AHN5, ahn.nl, Het Waterschapshuis, CC BY 4.0). Memory: increase over the process after imports; 1 GB = 2³⁰ bytes.</a:t>
            </a:r>
          </a:p>
          <a:p/>
          <a:p>
            <a:r>
              <a:t>WHAT IS ON THE SLIDE:</a:t>
            </a:r>
          </a:p>
          <a:p>
            <a:r>
              <a:t>• Title: the AHN5 file that holds this area, 2023_C_31HZ2, is 5 by 6.25 km with 926 203 338 points; loading it whole needs more than the 32 GB of a big laptop</a:t>
            </a:r>
          </a:p>
          <a:p>
            <a:r>
              <a:t>• Bars: two reference bars, 16 and 32 GB of RAM (navy), then three computed bars for that file: the LAS records alone (30 B per point for point format 6), plus a float64 xyz copy (24 B per point more), and our load and voxel steps with every array kept (86 B per point); the dashed line is 32 GB</a:t>
            </a:r>
          </a:p>
          <a:p>
            <a:r>
              <a:t>• Computed, not run: bytes per point measured on the 1 km file (21 013 926 points), multiplied by the big file's point count</a:t>
            </a:r>
          </a:p>
          <a:p>
            <a:r>
              <a:t>• Hero: 86 B per point; where they go: laspy.read keeps 30, xyz adds 24, Open3D's copy 24, the voxel centroids the rest; the peak while running is 154 B per point</a:t>
            </a:r>
          </a:p>
          <a:p>
            <a:r>
              <a:t>• Machine line: the RAM of the machine everything ran on, 31.3 GiB</a:t>
            </a:r>
          </a:p>
          <a:p>
            <a:r>
              <a:t>• Units: GB = 2^30 bytes; memory figures are the increase over the process after its imports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fix is to never hold the whole file: laspy reads it in chunks of 1 000 000 points, each chunk keeps one point per 0.5 m voxel, and one np.unique at the end merges the chunks. On the 1 km file the load-everything pipeline from slides 11 and 12 peaks at 3.0 GB on top of what the imports already use; this loop peaks at 0.8 GB, and its points are exactly those of a load-everything first-point-per-voxel reference. It keeps the first point per voxel, not the average from slide 12, because a first point is a real point and it streams. So why does it work?</a:t>
            </a:r>
          </a:p>
          <a:p/>
          <a:p>
            <a:r>
              <a:t>TIME: 75 s, ends at 25:35</a:t>
            </a:r>
          </a:p>
          <a:p/>
          <a:p>
            <a:r>
              <a:t>LIKELY QUESTION: Does that always keep memory small?</a:t>
            </a:r>
          </a:p>
          <a:p/>
          <a:p>
            <a:r>
              <a:t>ANSWER: No, there are two limits. It only helps if the voxel removes most points: on aerial data like AHN, very fine voxels keep almost everything, so output and memory stay large. And it only works for per-point steps; ground removal or clustering need neighbours, so those run on tiles with an overlap. More on B2.</a:t>
            </a:r>
          </a:p>
          <a:p/>
          <a:p>
            <a:r>
              <a:t>CHECK BEFORE THE TALK:</a:t>
            </a:r>
          </a:p>
          <a:p>
            <a:r>
              <a:t>• Checked: memory.tile_1km.chunked_equals_reference = true (results/memory.json), so 'exactly those of' may be said</a:t>
            </a:r>
          </a:p>
          <a:p/>
          <a:p>
            <a:r>
              <a:t>TRACE:</a:t>
            </a:r>
          </a:p>
          <a:p>
            <a:r>
              <a:t>• snippets/s21_chunked.py</a:t>
            </a:r>
          </a:p>
          <a:p>
            <a:r>
              <a:t>• results/snippets.json: s21_chunked.py.ok</a:t>
            </a:r>
          </a:p>
          <a:p>
            <a:r>
              <a:t>• bench/bench_memory.py</a:t>
            </a:r>
          </a:p>
          <a:p>
            <a:r>
              <a:t>• results/memory.json: tile_1km.chunk_size, tile_1km.voxel, tile_1km.naive_peak_mb, tile_1km.chunked_peak_mb, tile_1km.chunked_equals_reference</a:t>
            </a:r>
          </a:p>
          <a:p>
            <a:r>
              <a:t>• Fine voxels keep almost everything on AHN: research: reports/critic.md C3 and C4 (pilot)</a:t>
            </a:r>
          </a:p>
          <a:p>
            <a:r>
              <a:t>• results/memory.json: tile_1km.cases.pipeline (the naive peak), tile_1km.naive_kept_open3d_centroids, tile_1km.chunked_kept_first_points</a:t>
            </a:r>
          </a:p>
          <a:p>
            <a:r>
              <a:t>• Peaks are increases over the process after imports (results/memory.json tile_1km.units, conditions.extra.rss_method; tile_1km.baseline_mb_after_imports)</a:t>
            </a:r>
          </a:p>
          <a:p/>
          <a:p>
            <a:r>
              <a:t>CONDITIONS IN FULL (the slide shows the short line): Conditions: Ryzen 7 5700X, 8 cores / 16 threads, 31.3 GiB RAM; Linux (Omarchy, kernel 7.2.5-3-omarchy); Python 3.13.15, NumPy 2.5.3, SciPy 1.18.1, Open3D 0.20.0, laspy 2.7.0; N = 21 013 926 points, median of 3 runs, each in a fresh subprocess; governor performance; boost on; measured 2026-10-11 20:10 UTC; data: AHN file 135000_455000 (AHN5, ahn.nl, Het Waterschapshuis, CC BY 4.0). Memory: increase over the process after imports; 1 GB = 2³⁰ bytes.</a:t>
            </a:r>
          </a:p>
          <a:p/>
          <a:p>
            <a:r>
              <a:t>LINE BY LINE:</a:t>
            </a:r>
          </a:p>
          <a:p>
            <a:r>
              <a:t>• v, keys, pts = 0.5, [], []: the voxel size, and two lists that collect each chunk's voxel keys and points</a:t>
            </a:r>
          </a:p>
          <a:p>
            <a:r>
              <a:t>• with laspy.open(path) as f: opens the file without reading the points</a:t>
            </a:r>
          </a:p>
          <a:p>
            <a:r>
              <a:t>• lo, hi = f.header.mins, f.header.maxs: the local origin and the extent, from the header alone</a:t>
            </a:r>
          </a:p>
          <a:p>
            <a:r>
              <a:t>• dims = ((hi - lo) // v).astype(np.int64) + 1: the number of voxels along x, y and z</a:t>
            </a:r>
          </a:p>
          <a:p>
            <a:r>
              <a:t>• for c in f.chunk_iterator(1_000_000) (key line): decompresses one million points at a time; only one chunk is in memory</a:t>
            </a:r>
          </a:p>
          <a:p>
            <a:r>
              <a:t>• xyz = np.c_[c.x, c.y, c.z] - lo: the chunk's coordinates, local (a chunk has no .xyz, gotcha)</a:t>
            </a:r>
          </a:p>
          <a:p>
            <a:r>
              <a:t>• ijk = (xyz // v).astype(np.int64).T: each point's voxel index per axis</a:t>
            </a:r>
          </a:p>
          <a:p>
            <a:r>
              <a:t>• key = np.ravel_multi_index(ijk, dims): one int64 per voxel, so voxels compare as single numbers (faster than np.unique on rows)</a:t>
            </a:r>
          </a:p>
          <a:p>
            <a:r>
              <a:t>• k, first = np.unique(key, return_index=True): the chunk's voxels and the first point in each</a:t>
            </a:r>
          </a:p>
          <a:p>
            <a:r>
              <a:t>• keys.append(k); pts.append(xyz[first]): keep only those, the rest of the chunk is freed</a:t>
            </a:r>
          </a:p>
          <a:p>
            <a:r>
              <a:t>• k, first = np.unique(np.concatenate(keys), return_index=True): merge the chunks; a voxel split over two chunks keeps its first occurrence</a:t>
            </a:r>
          </a:p>
          <a:p>
            <a:r>
              <a:t>• points = np.concatenate(pts)[first]: the result, one real point per voxel; the earliest chunk wins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why, and this time I let a profiler show it: Scalene, a memory profiler for Python, on the same 1 km file. Grey, load everything: the file, the float64 xyz and Open3D's copy already take about 2 gigabytes, and voxel_down_sample on all 21 million points pushes it to 3.4 GB. Blue, chunked: one million points at a time, so it stays lower, 1.6 GB at its peak. Scalene counts allocations, so its numbers run a bit higher than the peaks on the last two slides, and the shape is the point: load everything and memory follows the file; stream it and memory follows what you keep. That brings me to the gotchas that cost me weeks.</a:t>
            </a:r>
          </a:p>
          <a:p/>
          <a:p>
            <a:r>
              <a:t>TIME: 55 s, ends at 26:30</a:t>
            </a:r>
          </a:p>
          <a:p/>
          <a:p>
            <a:r>
              <a:t>LIKELY QUESTION: Does streaming always keep memory small?</a:t>
            </a:r>
          </a:p>
          <a:p/>
          <a:p>
            <a:r>
              <a:t>ANSWER: No, there are two limits. It only helps if the voxel removes most points: on aerial data like AHN, very fine voxels keep almost everything, so output and memory stay large. And it only works for per-point steps; ground removal or clustering need neighbours, so those run on tiles with an overlap. More on B2.</a:t>
            </a:r>
          </a:p>
          <a:p/>
          <a:p>
            <a:r>
              <a:t>TRACE:</a:t>
            </a:r>
          </a:p>
          <a:p>
            <a:r>
              <a:t>• bench/bench_memory_scalene.py runs `scalene run -o OUT.json TARGET --- tile` three times per case (alternating) on bench/memprof/load_everything.py and bench/memprof/chunked.py (the slide lines of snippets/s21_chunked.py, verbatim, checked by the script itself); the run with the median peak is stored</a:t>
            </a:r>
          </a:p>
          <a:p>
            <a:r>
              <a:t>• results/memory_scalene.json (label FINAL): cases.load_everything, cases.chunked (t_s, mem_mib, markers, peak_mib, lines: per source line peak, MB allocated, CPU share)</a:t>
            </a:r>
          </a:p>
          <a:p>
            <a:r>
              <a:t>• Cross-check, not on a slide: results/memory_trace.json (RSS sampled every 5 ms from the parent, bench/bench_memory_trace.py): peaks 3.0 GB and 0.8 GB</a:t>
            </a:r>
          </a:p>
          <a:p/>
          <a:p>
            <a:r>
              <a:t>HOW TO READ IT:</a:t>
            </a:r>
          </a:p>
          <a:p>
            <a:r>
              <a:t>• x: progress through Scalene's memory samples, in percent. Scalene's timeline is the order of its samples, not wall time (the runs took 14.6 s and 9.8 s under Scalene); y: Scalene's footprint in GB (2^30 bytes); one line per version, the run with the median peak of three</a:t>
            </a:r>
          </a:p>
          <a:p>
            <a:r>
              <a:t>• Grey: the climb to about 2 GB is laspy.read, the float64 xyz and the Open3D copy; the peak, 3.4 GB, is on the line `down = pcd.voxel_down_sample(0.5)`, which is also the line that takes most CPU time</a:t>
            </a:r>
          </a:p>
          <a:p>
            <a:r>
              <a:t>• Blue: 22 chunks of one million points; it saws up and down as chunks come and go and as keys and pts collect every chunk's voxels, peaks late in the loop (1.6 GB) and falls at the final merge</a:t>
            </a:r>
          </a:p>
          <a:p>
            <a:r>
              <a:t>• Why the numbers differ from slides 24 and 25: those are the process's peak resident memory (VmHWM) over the process after imports: 3.0 GB and 0.8 GB. Scalene counts allocations (mallocs minus frees it sees), so memory freed by code it cannot see, most likely the Rust LAZ decoder, stays in its footprint: the chunked curve sits above the RSS peak, the load-everything curve close to it. Scalene says 2.2 times less for chunked, RSS says 3 093 against 839 MB</a:t>
            </a:r>
          </a:p>
          <a:p>
            <a:r>
              <a:t>• Run it yourself: uv run --group profile scalene run -o out.json bench/memprof/chunked.py --- tile, then scalene view out.json (browser) or scalene view --cli out.json. Two gotchas: Scalene skips any path containing "scalene" (records no memory), and its memory mode hangs in laspy's parallel LAZ decoder, so the targets use the single-threaded Lazrs backend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Six gotchas I hit while building this, and this is the slide to photograph. The one that cost me most: Open3D reads a .laz file without complaining and hands you an empty point cloud, and I spent an evening debugging the steps after it. Install laspy without lazrs and LAZ files won't open at all. Cast RD coordinates to float32 and your points snap to 1.6 cm steps, silently. Hand Open3D float32 and the copy is 39× slower. A seeded segment_plane still differs between runs unless you pass probability=1.0. And AHN's class 1 isn't trees: it's everything nobody classified. Four rules sum it all up.</a:t>
            </a:r>
          </a:p>
          <a:p/>
          <a:p>
            <a:r>
              <a:t>TIME: 100 s, ends at 28:10</a:t>
            </a:r>
          </a:p>
          <a:p/>
          <a:p>
            <a:r>
              <a:t>LIKELY QUESTION: Is there a written list I can take home?</a:t>
            </a:r>
          </a:p>
          <a:p/>
          <a:p>
            <a:r>
              <a:t>ANSWER: This slide, with the evidence for each in the speaker notes, and the repo on the last slide. [SPEAKER: add a GOTCHAS.md to the repo before saying it is there.]</a:t>
            </a:r>
          </a:p>
          <a:p/>
          <a:p>
            <a:r>
              <a:t>TRACE:</a:t>
            </a:r>
          </a:p>
          <a:p>
            <a:r>
              <a:t>• Six of the candidates below, chosen on 2026-10-12 because each was reproduced in this project; content.yaml slide 27 table</a:t>
            </a:r>
          </a:p>
          <a:p>
            <a:r>
              <a:t>• candidate_gotchas: the full list observed in testing, with evidence</a:t>
            </a:r>
          </a:p>
          <a:p/>
          <a:p>
            <a:r>
              <a:t>CANDIDATE GOTCHAS (not on the slide, speaker to confirm):</a:t>
            </a:r>
          </a:p>
          <a:p>
            <a:r>
              <a:t>1) probability=1.0: A seeded segment_plane is reproducible only with probability=1.0; with the default, seeded runs differ. [CANDIDATE, speaker to confirm; evidence: research: reports/libraries.md FLAG 1 (11_ransac_probability.py), review/honesty/snippets/s10_default_probability.py]</a:t>
            </a:r>
          </a:p>
          <a:p>
            <a:r>
              <a:t>2) o3d.io.read_point_cloud("x.laz"): Open3D 0.20.0 returns an empty point cloud for .las/.laz with only a warning, no exception (already the slide 8 joke). [CANDIDATE, speaker to confirm; evidence: research: reports/libraries.md (08_extra_checks.py), review/honesty/run_s02.out, notes/verify_facts.json]</a:t>
            </a:r>
          </a:p>
          <a:p>
            <a:r>
              <a:t>3) xyz - header.mins: float32 at RD coordinates steps 1.6 cm in x and 3.1 cm in y; subtract a local origin first. [CANDIDATE, speaker to confirm; evidence: results/research_facts.json float32_step_m; research: reports/dataset.md, reports/libraries.md (04_pyvista_render.py striping), notes/verify_facts.json]</a:t>
            </a:r>
          </a:p>
          <a:p>
            <a:r>
              <a:t>4) Vector3dVector(float32): float32 input is accepted but takes a slow path: 39× slower than laspy's float64 array and 192× slower than a C-ordered float64 copy on the crop; cast with astype(np.float64) first (now on slide 9). [CANDIDATE, speaker to confirm (measured; already shown on slide 9); evidence: results/python_facts.json (bench/python_facts.py: 1 warm-up and 7 runs, median); research: reports/libraries.md (08_extra_checks.py), reports/critic.md section 2]</a:t>
            </a:r>
          </a:p>
          <a:p>
            <a:r>
              <a:t>5) classification == 1: AHN class 1 is not vegetation: it also holds facades, cars, poles and street furniture. [CANDIDATE, speaker to confirm; evidence: research: reports/dataset.md (AHN4 spec 'overig', crop analysis)]</a:t>
            </a:r>
          </a:p>
          <a:p>
            <a:r>
              <a:t>6) cluster_dbscan(eps=...): eps must be clearly larger than the voxel size, or most points become noise; too large and buildings fuse with trees. [CANDIDATE, speaker to confirm; evidence: research: reports/review/honesty.md row 11, reports/review/feasibility.md section 2 (prototype runs)]</a:t>
            </a:r>
          </a:p>
          <a:p>
            <a:r>
              <a:t>7) voxel_down_sample: Returns averaged new points and drops every LAS attribute (returns, class). [CANDIDATE, speaker to confirm; evidence: research: reports/review/honesty.md rows 9 and 12, reports/critic.md section 2]</a:t>
            </a:r>
          </a:p>
          <a:p>
            <a:r>
              <a:t>8) np.unique(axis=0): On voxel rows it is no faster than a Python dict loop; pack the voxel coordinates into one int64 key. [CANDIDATE, speaker to confirm; evidence: research: reports/critic.md section 2 (1 M points), reports/perf.md voxel table (synthetic)]</a:t>
            </a:r>
          </a:p>
          <a:p>
            <a:r>
              <a:t>9) np.isin + np.union1d: Merging chunk keys this way was several times slower than one np.unique at the end (synthetic, 30 M points). [CANDIDATE, speaker to confirm; evidence: research: reports/memory.md gotcha 6 (synthetic)]</a:t>
            </a:r>
          </a:p>
          <a:p>
            <a:r>
              <a:t>10) segment_plane per tile: Without a low-height pre-filter, some tiles fit a roof instead of the ground. [CANDIDATE, speaker to confirm; evidence: research: reports/review/feasibility.md section 2 (metrics_noprefilter.json, prototype)]</a:t>
            </a:r>
          </a:p>
          <a:p>
            <a:r>
              <a:t>11) pts @ n + d: Whether it matches the loop bit for bit depends on memory layout: identical on laspy's column-ordered array (results/bench_cliff.json plane.matmul_reference), tiny rounding differences on a row-ordered copy (research pilot). [CANDIDATE, speaker to confirm; evidence: results/bench_cliff.json plane.matmul_reference; research: review/honesty/run_s16.out (np.ascontiguousarray copy), reports/review/rules.md]</a:t>
            </a:r>
          </a:p>
          <a:p>
            <a:r>
              <a:t>12) LasData(copc_header): Writing a crop with the COPC file's header raises NotImplementedError: Writing COPC is not supported; build a fresh header. [CANDIDATE, speaker to confirm; evidence: research: reports/dataset.md section 3]</a:t>
            </a:r>
          </a:p>
          <a:p>
            <a:r>
              <a:t>13) las.xyz: A fresh F-ordered float64 copy on every access (10 ms each on the crop); chunks from chunk_iterator have no .xyz at all (now on slide 9). [CANDIDATE, speaker to confirm; evidence: results/python_facts.json las_xyz, timings.las_xyz_access; research: reports/libraries.md (01_laspy_io.py)]</a:t>
            </a:r>
          </a:p>
          <a:p>
            <a:r>
              <a:t>14) PointCloud.from_legacy: Open3D's tensor point cloud converts to float32 by default. [CANDIDATE, speaker to confirm; evidence: research: reports/libraries.md (03_open3d_tensor.py)]</a:t>
            </a:r>
          </a:p>
          <a:p>
            <a:r>
              <a:t>15) pip install laspy: Without lazrs or laszip, laspy cannot read LAZ (LaspyException: No LazBackend selected). [CANDIDATE, speaker to confirm; evidence: research: reports/libraries.md (out_09_laspy_no_backend.txt)]</a:t>
            </a:r>
          </a:p>
          <a:p>
            <a:r>
              <a:t>16) fixed_radius_search: Returns (indices, distances, splits); its docstring lists a different order. [CANDIDATE, speaker to confirm; evidence: research: reports/perf.md (verified gotchas)]</a:t>
            </a:r>
          </a:p>
          <a:p>
            <a:r>
              <a:t>17) clf.predict(box): A classifier only knows the classes it was trained on: in Poux's demo a box, never seen in training, comes back as 'sphere' with full confidence. Our rules have an honest 'unlabelled'. [CANDIDATE from research, speaker to confirm; evidence: research: reports/videos.md V3 (31:00 to 31:50); NOT observed in this project, from the video]</a:t>
            </a:r>
          </a:p>
          <a:p/>
          <a:p>
            <a:r>
              <a:t>GOTCHAS:</a:t>
            </a:r>
          </a:p>
          <a:p>
            <a:r>
              <a:t>• read_point_cloud("x.laz"): Open3D 0.20.0 returns 0 points for .las and .laz with only a warning, no exception; load with laspy and hand over the array (slide 8). Evidence: snippets/s02_python.py check; research: reports/libraries.md (08_extra_checks.py), notes/verify_facts.json</a:t>
            </a:r>
          </a:p>
          <a:p>
            <a:r>
              <a:t>• pip install laspy: without the lazrs or laszip extra laspy raises LaspyException: No LazBackend selected on a LAZ file; install laspy[lazrs]. Evidence: research: reports/libraries.md (out_09_laspy_no_backend.txt)</a:t>
            </a:r>
          </a:p>
          <a:p>
            <a:r>
              <a:t>• xyz.astype(np.float32): at RD coordinates float32 steps 1.6 cm in x and 3.1 cm in y; subtract header.mins first (slide 11). Evidence: results/research_facts.json float32_step_m (np.spacing)</a:t>
            </a:r>
          </a:p>
          <a:p>
            <a:r>
              <a:t>• Vector3dVector(float32): accepted, but 39× slower than laspy's float64 array (317 ms against 8.2 ms); cast with astype(np.float64). Evidence: results/python_facts.json</a:t>
            </a:r>
          </a:p>
          <a:p>
            <a:r>
              <a:t>• segment_plane(seed): o3d.utility.random.seed(0) alone does not make RANSAC reproducible; with the default probability two seeded runs differ, with probability=1.0 they match (slide 13). Evidence: results/pipeline.json checks.ransac_default_probability</a:t>
            </a:r>
          </a:p>
          <a:p>
            <a:r>
              <a:t>• classification == 1: AHN's class 1 is 'overig', other: vegetation, but also facades, cars, poles and street furniture; there is no vegetation class to score against (slides 4 and 18). Evidence: research: reports/dataset.md, results/pipeline.json label_vs_ahn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the four rules again, now with the evidence from this talk. Think in arrays: 722 961 by 3, passed between four libraries as views wherever possible. Look before you compute: 61 poles on the map, 3 found, and the data told us why. Make it small first: streaming took the 1 km file from 3.0 GB to 0.8 GB. And let compiled code loop: the loop over rows was 130× slower. And you can copy every line of it.</a:t>
            </a:r>
          </a:p>
          <a:p/>
          <a:p>
            <a:r>
              <a:t>TIME: 60 s, ends at 29:10</a:t>
            </a:r>
          </a:p>
          <a:p/>
          <a:p>
            <a:r>
              <a:t>LIKELY QUESTION: Do these rules apply outside 3D?</a:t>
            </a:r>
          </a:p>
          <a:p/>
          <a:p>
            <a:r>
              <a:t>ANSWER: Three of them are plain data engineering, and the compiled-loop one holds wherever Python calls into compiled code, because the toll is per call. But I only measured them in this pipeline, so that's the evidence I can show.</a:t>
            </a:r>
          </a:p>
          <a:p/>
          <a:p>
            <a:r>
              <a:t>TRACE:</a:t>
            </a:r>
          </a:p>
          <a:p>
            <a:r>
              <a:t>• content.yaml slide 28 rules (the rules of slide 6 with evidence); tokens: results/pipeline.json crop.points and n_objects, results/bgt_street_furniture.json collections.paal.n, results/memory.json tile_1km peaks, results/bench_cliff.json plane.factor</a:t>
            </a:r>
          </a:p>
          <a:p>
            <a:r>
              <a:t>• Replaces the old 'Three habits' tiles and the 'Loop over tiles, never over points' statement slide (both removed on 2026-10-12)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Everything you saw is in the repo behind this QR code: the pipeline, the snippets and the benchmarks. The point cloud is AHN5 from Het Waterschapshuis under CC BY 4.0, so you can use it too, as long as you credit it. And if you still write that loop: it's still running, and your coffee is cold. Thank you; I'm happy to take questions.</a:t>
            </a:r>
          </a:p>
          <a:p/>
          <a:p>
            <a:r>
              <a:t>TIME: 50 s, ends at 30:00</a:t>
            </a:r>
          </a:p>
          <a:p/>
          <a:p>
            <a:r>
              <a:t>LIKELY QUESTION: Is this talk based on the O'Reilly book with the same title?</a:t>
            </a:r>
          </a:p>
          <a:p/>
          <a:p>
            <a:r>
              <a:t>ANSWER: No. The title is shared with Florent Poux's O'Reilly book from 2025; this talk and its code are independent. His YouTube channel is a good next step: backup B5 tests his PCA plus Random Forest idea on this area, and B6 lists the data sources from his beginner video.</a:t>
            </a:r>
          </a:p>
          <a:p/>
          <a:p>
            <a:r>
              <a:t>CHECK BEFORE THE TALK:</a:t>
            </a:r>
          </a:p>
          <a:p>
            <a:r>
              <a:t>• Publish the repo URL and QR only after the repo clean-up listed in the open items (docs/OPEN_ITEMS.md, section f)</a:t>
            </a:r>
          </a:p>
          <a:p>
            <a:r>
              <a:t>• If the optional book-credit small print is dropped from the slide, say the credit aloud</a:t>
            </a:r>
          </a:p>
          <a:p/>
          <a:p>
            <a:r>
              <a:t>TRACE:</a:t>
            </a:r>
          </a:p>
          <a:p>
            <a:r>
              <a:t>• content.yaml slide 29: qr.url is null, contact and repo URL are placeholders</a:t>
            </a:r>
          </a:p>
          <a:p>
            <a:r>
              <a:t>• content.yaml meta.source_ahn (licence: research: reports/dataset.md)</a:t>
            </a:r>
          </a:p>
          <a:p>
            <a:r>
              <a:t>• Book title and year: research: reports/book.md</a:t>
            </a:r>
          </a:p>
          <a:p>
            <a:r>
              <a:t>• Poux's videos used for B5 and B6: research: reports/videos.md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you can, and the libraries here already did; Open3D, SciPy's KDTree and VTK are C++ under the hood. What you pay in Python is a toll per call, so the question is not "Python or C++" but "how many calls". Write compiled code yourself only when there is no batched call for your step, or when you can't ship a Python runtime. Checked: the loops in pipeline/steps.py run over tiles and clusters, never over points.</a:t>
            </a:r>
          </a:p>
          <a:p/>
          <a:p>
            <a:r>
              <a:t>SOURCES AND STATUS:</a:t>
            </a:r>
          </a:p>
          <a:p>
            <a:r>
              <a:t>• Bullet 1 "The heavy steps already run in compiled code: Open3D and...": status verified; source: research: reports/libraries.md section 1 (native core column)</a:t>
            </a:r>
          </a:p>
          <a:p>
            <a:r>
              <a:t>• Bullet 2 "Python only orchestrates: no step loops over points, and...": status token; source: pipeline/run.py; results/pipeline.json runtime_s, runtime_note (load to paint-back, renders not included)</a:t>
            </a:r>
          </a:p>
          <a:p>
            <a:r>
              <a:t>• Bullet 3 "The price is per call, not per language: 439 ns per loop...": status token; source: results/bench_cliff.json plane.per_step_ns_loop, plane.per_point_ns_vectorised, knn.per_query_us_far, knn.per_query_us_far_knn, knn.k</a:t>
            </a:r>
          </a:p>
          <a:p>
            <a:r>
              <a:t>• Bullet 4 "Here only the batched call used all cores: kNN in one call...": status token; source: results/bench_cliff.json knn.one_call_1t, knn.one_call_all; research: reports/perf.md ('only the batched form can use workers=-1')</a:t>
            </a:r>
          </a:p>
          <a:p>
            <a:r>
              <a:t>• Bullet 5 "Compiled code pays off when your step has no batched call...": status judgement; source: storyboard.md B1; follows from the measured toll above, not benchmarked separately</a:t>
            </a:r>
          </a:p>
          <a:p>
            <a:r>
              <a:t>• Bullet 6 "It also pays off when Python itself is the constraint: hard...": status judgement; source: storyboard.md B1</a:t>
            </a:r>
          </a:p>
          <a:p>
            <a:r>
              <a:t>• Bullet 7 "NOT TESTED for this talk: Numba, Cython, writing your own...": status not_tested; source: scope of this talk; none of the research reports benchmarked them</a:t>
            </a:r>
          </a:p>
          <a:p>
            <a:r>
              <a:t>• Bullet 8 "The PCL code on slide 2 shows the shape only: NOT RUN (no...": status not_run; source: CONTRACTS.md (s02_pcl.cpp NOT RUN)</a:t>
            </a:r>
          </a:p>
          <a:p/>
          <a:p>
            <a:r>
              <a:t>STATUS KEY: judgement = reasoning, not a measurement; not_run = not run;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Billions are real in AHN: the AHN4 edition of the file that contains this area has 1 290 104 537 points. The answer is the same three moves: read only the box you need (COPC), stream per-point work in chunks, and run neighbour steps on tiles with an overlap. The chunked read keeps exactly the points of a load-everything first-point reference (memory.json tile_1km.chunked_equals_reference: yes). The 0.1 m share is measured on the crop (pipeline.json); the memory pilot's own percentages were synthetic data and are not used here.</a:t>
            </a:r>
          </a:p>
          <a:p/>
          <a:p>
            <a:r>
              <a:t>SOURCES AND STATUS:</a:t>
            </a:r>
          </a:p>
          <a:p>
            <a:r>
              <a:t>• Bullet 1 "AHN files: 1 km file 135000_455000, 21 013 926 points (130...": status verified; source: results/memory.json tile_1km.points, big_file.points; results/research_facts.json tile_1km_file (local file size, research: notes/verify_facts.json), ahn5_c_31hz2 (HTTP Content-Range total and LAS header bounds), ahn4_c_31hz2 (LAS header; research: dataset/top_tile_headers.txt, reports/dataset.md)</a:t>
            </a:r>
          </a:p>
          <a:p>
            <a:r>
              <a:t>• Bullet 2 "LAS records alone: 25.9 GB at 30 B per point (format 6)...": status token; source: results/memory.json big_file.computed_gb, tile_1km.record_bytes, tile_1km.point_format; LAS 1.4 R16 and laspy.PointFormat(6).size (research: reports/memory.md, notes/verify_facts.json)</a:t>
            </a:r>
          </a:p>
          <a:p>
            <a:r>
              <a:t>• Bullet 3 "COPC: laspy's CopcReader reads one box over HTTP with...": status token; source: results/copc_remote.json points_half_open, same_points_as_local_crop, classes_equal_local, mb, requests, seconds (bench/copc_remote.py: the crop's RD box from the AHN5 file the talk uses); signatures re-checked in research: notes/verify_facts.json. The file's total size is in research_facts tile_1km_file</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for this pipeline, the GPU did not pay off. Only voxel downsampling got clearly faster on CUDA: 98 ms on the first call and 4.2 ms on the second, against 250 ms on CPU. Gotchas if you try it: .numpy() on a CUDA tensor raises RuntimeError (use .cpu().numpy()); PointCloud.from_legacy converts to float32 by default; the tensor segment_plane defaults (0.01, 3, 100, 0.999) differ from the legacy API. PyTorch3D is for training models on GPU tensors, not for a CPU pipeline on Python 3.13. All timings here are research single runs, not the final benchmark.</a:t>
            </a:r>
          </a:p>
          <a:p/>
          <a:p>
            <a:r>
              <a:t>SOURCES AND STATUS:</a:t>
            </a:r>
          </a:p>
          <a:p>
            <a:r>
              <a:t>• Bullet 1 "The open3d 0.20.0 wheel on PyPI is built with CUDA 12.6...": status verified; source: research: reports/libraries.md section 1; o3d._build_config re-checked in research: notes/verify_facts.json</a:t>
            </a:r>
          </a:p>
          <a:p>
            <a:r>
              <a:t>• Bullet 2 "Plane fitting and DBSCAN are barely faster (table): their...": status verified; source: research: reports/libraries.md (Open3D tensor API section)</a:t>
            </a:r>
          </a:p>
          <a:p>
            <a:r>
              <a:t>• Bullet 3 "PyTorch3D has no documented install for Python 3.13: PyPI's...": status verified; source: research: reports/libraries.md (PyPI JSON libraries/pypi/pytorch3d.json and torch.json, libraries/web/pt3d_INSTALL.md, libraries/web/pt3d_releases.json, fetched 2026-10-01)</a:t>
            </a:r>
          </a:p>
          <a:p>
            <a:r>
              <a:t>• Bullet 4 "Source build of v0.7.9 against torch 2.14.1 (CPU, gcc...": status verified; source: research: libraries/pt3d_build2.log, pt3d_build3_cxx20.log, pt3d_cxx20.patch (reports/libraries.md)</a:t>
            </a:r>
          </a:p>
          <a:p>
            <a:r>
              <a:t>• Bullet 5 "PyTorch3D knn_points on CPU, 100 000 × 100 000 points, k =...": status synthetic; source: results/research_facts.json pytorch3d_knn (research: libraries/07_torch_pytorch3d_interop.py, reports/libraries.md; a later single run in libraries/out_07_torch.txt gives similar values)</a:t>
            </a:r>
          </a:p>
          <a:p>
            <a:r>
              <a:t>• Bullet 6 "NOT TESTED: the Open3D wheel without a GPU or driver...": status not_tested; source: research: reports/libraries.md FLAG 4 and 7</a:t>
            </a:r>
          </a:p>
          <a:p>
            <a:r>
              <a:t>• Table row 1 "Voxel downsampling": status synthetic; source: results/research_facts.json open3d_tensor (research: libraries/03_open3d_tensor.py, out_03_open3d_tensor.txt, reports/libraries.md)</a:t>
            </a:r>
          </a:p>
          <a:p>
            <a:r>
              <a:t>• Table row 2 "segment_plane": status synthetic; source: results/research_facts.json open3d_tensor (research: libraries/03_open3d_tensor.py, out_03_open3d_tensor.txt, reports/libraries.md)</a:t>
            </a:r>
          </a:p>
          <a:p>
            <a:r>
              <a:t>• Table row 3 "cluster_dbscan": status synthetic; source: results/research_facts.json open3d_tensor (research: libraries/03_open3d_tensor.py, out_03_open3d_tensor.txt, reports/libraries.md)</a:t>
            </a:r>
          </a:p>
          <a:p/>
          <a:p>
            <a:r>
              <a:t>STATUS KEY: not_tested = not tested; synthetic = measured in a research run on generated data (a synthetic street or point cloud), not AHN;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the data structure matters less than the number of calls and the threads. In the synthetic pilot, Open3D's KDTreeFlann had a much cheaper call than SciPy, so a per-point loop over it was only modestly slower than Open3D's batched search on one thread; the big gap came from the batched search's default threads, so compare at equal threads. A uniform grid hash answers radius queries in the same complexity class as a tree (the pure-Python baseline of the synthetic pilot used one); it was not benchmarked as a vectorised method.</a:t>
            </a:r>
          </a:p>
          <a:p/>
          <a:p>
            <a:r>
              <a:t>SOURCES AND STATUS:</a:t>
            </a:r>
          </a:p>
          <a:p>
            <a:r>
              <a:t>• Table row 1 "SciPy KDTree, one call": status verified; source: results/bench_cliff.json knn; signatures in research: notes/verify_facts.json</a:t>
            </a:r>
          </a:p>
          <a:p>
            <a:r>
              <a:t>• Table row 2 "Open3D KDTreeFlann": status verified; source: methods re-checked in research: notes/verify_facts.json; per-point loop timings in research: reports/perf.md (synthetic)</a:t>
            </a:r>
          </a:p>
          <a:p>
            <a:r>
              <a:t>• Table row 3 "Open3D NearestNeighborSearch": status verified; source: research: reports/perf.md (variants E2 and E2_1t, verified gotchas); methods in notes/verify_facts.json</a:t>
            </a:r>
          </a:p>
          <a:p>
            <a:r>
              <a:t>• Table row 4 "Voxel grid hashing": status verified; source: research: reports/critic.md section 2 (1 M points), reports/perf.md voxel table; snippets/s21_chunked.py</a:t>
            </a:r>
          </a:p>
          <a:p>
            <a:r>
              <a:t>• Table row 5 "Octree (o3d.geometry.Octree)": status not_tested; source: API re-checked in research: notes/verify_facts.json (max_depth=8 accepted); in memory: the Open3D 0.20.0 Octree API is convert_from_point_cloud, insert_point, traverse, locate_leaf_node, to_voxel_grid, plus o3d.io.read_octree and write_octree (checked in the project venv, QA final round); out-of-core storage is the book's general octree material (research: reports/book.md), not Open3D; COPC stores an octree: laspy 2.7.0 laspy/copc.py (CopcInfo holds the octree centre, halved at each level; CopcReader.query takes a level); the book's octree timings state no hardware (UNVERIFIED, not used)</a:t>
            </a:r>
          </a:p>
          <a:p>
            <a:r>
              <a:t>• Bullet 1 "kNN, k = 16, 722 961 points: Python loop 9.6 s, one call...": status token; source: results/bench_cliff.json knn.k, knn.n, knn.loop, knn.one_call_1t, knn.one_call_all</a:t>
            </a:r>
          </a:p>
          <a:p>
            <a:r>
              <a:t>• Bullet 2 "So the loop costs 6.2× against one call on one thread, and...": status token; source: results/bench_cliff.json knn.factor_loop_vs_1t, knn.factor_loop_vs_all</a:t>
            </a:r>
          </a:p>
          <a:p>
            <a:r>
              <a:t>• Bullet 3 "Fixed cost per call: 3.2 µs for an empty radius query, 9.8...": status token; source: results/bench_cliff.json knn.per_query_us_far, knn.per_query_us_far_knn, knn.k, knn.per_query_us_typical</a:t>
            </a:r>
          </a:p>
          <a:p>
            <a:r>
              <a:t>• Bullet 4 "Not shown: a brute-force double loop, because it changes...": status verified; source: research: reports/critic.md C2</a:t>
            </a:r>
          </a:p>
          <a:p/>
          <a:p>
            <a:r>
              <a:t>STATUS KEY: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against AHN's building class, on this area the forest scores higher, but read the table with the caveat. Balanced accuracy is 81 % for the forest with the eigenvalue features alone and 79 % with the rules' inputs added, against 66 % for the rules. Most of the gap is one thing: AHN files facades, and the horizontal stripes along the hall's floors, under class 1 ("other"), while my facade rule calls them building, so they count as errors. The forest learns AHN's convention from AHN's labels, which the rules never see: "the model copies AHN" is a fairer reading than "the model sees better". Poux's idea is still the right next step once you have labelled data from many places, and the eigenvalue features need no tuning per city. In this run the weights were: planarity 26 %, linearity 19 %, multiple return share 18 %, verticality 15 %. The Python lesson is the talk's lesson again: compute the features for all clusters in one batched eigh call, not in a loop. And remember Poux's box: a classifier trained on three classes will name a fourth thing with full confidence.</a:t>
            </a:r>
          </a:p>
          <a:p/>
          <a:p>
            <a:r>
              <a:t>SOURCES AND STATUS:</a:t>
            </a:r>
          </a:p>
          <a:p>
            <a:r>
              <a:t>• Bullet 1 "Idea from F. Poux (PCA + Random Forest): describe each...": status verified; source: research: reports/videos.md V3 (10:10 to 25:00); bench/eigen_features.py</a:t>
            </a:r>
          </a:p>
          <a:p>
            <a:r>
              <a:t>• Bullet 2 "In Python: one batched np.linalg.eigh over all 1 024...": status token; source: results/eigen_features.json n_clusters, timing.batched, timing.loop_over_clusters, timing.factor, features_identical_loop_vs_batched (verticality differs only where the eigenvector is arbitrary: verticality_differs_clusters)</a:t>
            </a:r>
          </a:p>
          <a:p>
            <a:r>
              <a:t>• Table row 1 "Four rules of slide 15": status token; source: results/eigen_features.json rules (rule 2 or 3 = building; tuned on this crop, in-sample)</a:t>
            </a:r>
          </a:p>
          <a:p>
            <a:r>
              <a:t>• Table row 2 "Random Forest, eigenvalue features": status token; source: results/eigen_features.json forest_eigen_only (GroupKFold on 50 m blocks, point weights)</a:t>
            </a:r>
          </a:p>
          <a:p>
            <a:r>
              <a:t>• Table row 3 "Random Forest, + the rules' inputs": status token; source: results/eigen_features.json forest_eigen_plus_rule_inputs (top, footprint, multiple return share added)</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start with AHN if your area is in the Netherlands; data/fetch_ahn5.py downloads one AHN file and cuts the crop, so change its tile name, expected size and crop box constants. Outside the Netherlands, OpenTopography and national portals such as France's LiDAR HD have the same kind of airborne LiDAR. Florent Poux's beginner video lists these and more. If you capture yourself with a phone, you get photogrammetry: dense and coloured, but one surface per pixel, so the multiple-return rule for trees will not work and you need another feature.</a:t>
            </a:r>
          </a:p>
          <a:p/>
          <a:p>
            <a:r>
              <a:t>SOURCES AND STATUS:</a:t>
            </a:r>
          </a:p>
          <a:p>
            <a:r>
              <a:t>• Table row 1 "AHN (ahn.nl)": status verified; source: data/DATA_LICENSE.md; research: reports/videos.md V1 (07:00, AHN viewer)</a:t>
            </a:r>
          </a:p>
          <a:p>
            <a:r>
              <a:t>• Table row 2 "3DBAG (3dbag.nl)": status judgement; source: 3dbag.nl reachable 2026-10-11; added for a Dutch audience, not from research: reports/videos.md</a:t>
            </a:r>
          </a:p>
          <a:p>
            <a:r>
              <a:t>• Table row 3 "OpenTopography": status verified; source: research: reports/videos.md V1 (04:50 to 06:00); opentopography.org reachable 2026-10-11</a:t>
            </a:r>
          </a:p>
          <a:p>
            <a:r>
              <a:t>• Table row 4 "National and city portals": status verified; source: research: reports/videos.md V1 (06:00 to 07:00); geoservices.ign.fr/lidarhd and opendata.vancouver.ca reachable 2026-10-11</a:t>
            </a:r>
          </a:p>
          <a:p>
            <a:r>
              <a:t>• Table row 5 "Open Heritage 3D": status verified; source: research: reports/videos.md V1 (07:00 to 07:40); openheritage3d.org reachable 2026-10-11</a:t>
            </a:r>
          </a:p>
          <a:p>
            <a:r>
              <a:t>• Table row 6 "Sketchfab, TurboSquid": status verified; source: research: reports/videos.md V1 (08:37 to 10:20)</a:t>
            </a:r>
          </a:p>
          <a:p>
            <a:r>
              <a:t>• Bullet 1 "Your own capture: photogrammetry (phone, camera) gives...": status verified; source: research: reports/videos.md V1 (12:30 to 16:00)</a:t>
            </a:r>
          </a:p>
          <a:p>
            <a:r>
              <a:t>• Bullet 2 "Only LiDAR returns several echoes per pulse: slide 15's...": status judgement; source: research: reports/videos.md V1 (photogrammetry matches images); pipeline/steps.py name, rule 1 (number_of_returns)</a:t>
            </a:r>
          </a:p>
          <a:p/>
          <a:p>
            <a:r>
              <a:t>STATUS KEY: judgement = reasoning, not a measurement;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look at the date before you install. python-pcl and pylas are archived, pclpy has not moved for years, and several deep learning libraries for sparse point clouds have had no release for a long time. This is from release dates and the archived flag, not from trying them. Two install traps I found while checking: the newest PyTorch3D is not on PyPI, and the kaolin name on PyPI is a placeholder. If your pipeline needs one of the stale ones, pin the version and check the repository's issues first.</a:t>
            </a:r>
          </a:p>
          <a:p/>
          <a:p>
            <a:r>
              <a:t>SOURCES AND STATUS:</a:t>
            </a:r>
          </a:p>
          <a:p>
            <a:r>
              <a:t>• Table row 1 "python-pcl": status token; source: results/ecosystem.json by_id.python-pcl; deck/ecosystem/ecosystem.yaml python-pcl (GitHub archived flag, PyPI release date)</a:t>
            </a:r>
          </a:p>
          <a:p>
            <a:r>
              <a:t>• Table row 2 "pclpy": status token; source: results/ecosystem.json by_id.pclpy; ecosystem.yaml pclpy note (last push, last PyPI release)</a:t>
            </a:r>
          </a:p>
          <a:p>
            <a:r>
              <a:t>• Table row 3 "pylas": status token; source: results/ecosystem.json by_id.pylas; ecosystem.yaml pylas (archived, superseded by laspy)</a:t>
            </a:r>
          </a:p>
          <a:p>
            <a:r>
              <a:t>• Table row 4 "MinkowskiEngine": status token; source: results/ecosystem.json by_id.minkowskiengine; ecosystem.yaml minkowskiengine note</a:t>
            </a:r>
          </a:p>
          <a:p>
            <a:r>
              <a:t>• Table row 5 "TensorFlow Graphics": status token; source: results/ecosystem.json by_id.tf-graphics; ecosystem.yaml tf-graphics note</a:t>
            </a:r>
          </a:p>
          <a:p>
            <a:r>
              <a:t>• Table row 6 "OpenSfM": status token; source: results/ecosystem.json by_id.opensfm; ecosystem.yaml opensfm note (GitHub release against last push)</a:t>
            </a:r>
          </a:p>
          <a:p>
            <a:r>
              <a:t>• Table row 7 "MMDetection3D": status judgement; source: results/ecosystem.json by_id.mmdet3d; ecosystem.yaml mmdet3d note; the PyTorch compatibility advice is judgement, not tested</a:t>
            </a:r>
          </a:p>
          <a:p>
            <a:r>
              <a:t>• Bullet 1 "Of 119 libraries and applications checked, 87 released...": status token; source: results/ecosystem.json n_entries, by_status (12 months = active, 12 to 30 months = maintenance, older = stale; docs/ECOSYSTEM.md)</a:t>
            </a:r>
          </a:p>
          <a:p>
            <a:r>
              <a:t>• Bullet 2 "pip install can fetch the wrong thing: PyTorch3D's newest...": status verified; source: deck/ecosystem/ecosystem.yaml pytorch3d and kaolin notes (PyPI JSON against GitHub releases, checked 2026-10-11)</a:t>
            </a:r>
          </a:p>
          <a:p>
            <a:r>
              <a:t>• Bullet 3 "A release date is not quality: a finished library may be...": status judgement; source: judgement</a:t>
            </a:r>
          </a:p>
          <a:p/>
          <a:p>
            <a:r>
              <a:t>STATUS KEY: judgement = reasoning, not a measurement;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type="title">
  <p:cSld name="Title">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600200"/>
            <a:ext cx="502920" cy="64008"/>
          </a:xfrm>
          <a:prstGeom prst="rect">
            <a:avLst/>
          </a:prstGeom>
          <a:solidFill>
            <a:schemeClr val="accent2"/>
          </a:solidFill>
          <a:ln>
            <a:noFill/>
          </a:ln>
        </p:spPr>
      </p:sp>
      <p:sp>
        <p:nvSpPr>
          <p:cNvPr id="3" name="Title"/>
          <p:cNvSpPr>
            <a:spLocks noGrp="1"/>
          </p:cNvSpPr>
          <p:nvPr>
            <p:ph type="ctrTitle"/>
          </p:nvPr>
        </p:nvSpPr>
        <p:spPr>
          <a:xfrm>
            <a:off x="548640" y="178308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5400">
                <a:solidFill>
                  <a:schemeClr val="bg1"/>
                </a:solidFill>
              </a:defRPr>
            </a:lvl1pPr>
          </a:lstStyle>
          <a:p>
            <a:r>
              <a:rPr lang="en-GB" dirty="0"/>
              <a:t>Talk title</a:t>
            </a:r>
            <a:endParaRPr lang="en-GB" dirty="0"/>
          </a:p>
        </p:txBody>
      </p:sp>
      <p:sp>
        <p:nvSpPr>
          <p:cNvPr id="4" name="Subtitle"/>
          <p:cNvSpPr>
            <a:spLocks noGrp="1"/>
          </p:cNvSpPr>
          <p:nvPr>
            <p:ph type="subTitle" idx="1"/>
          </p:nvPr>
        </p:nvSpPr>
        <p:spPr>
          <a:xfrm>
            <a:off x="548640" y="2926080"/>
            <a:ext cx="9601200" cy="8686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latin typeface="Fira Mono" panose="020B0509050000020004" pitchFamily="49" charset="0"/>
              </a:defRPr>
            </a:lvl1pPr>
          </a:lstStyle>
          <a:p>
            <a:r>
              <a:rPr lang="en-GB" dirty="0"/>
              <a:t>Subtitle or code line, two lines of Fira Mono 24 pt</a:t>
            </a:r>
            <a:endParaRPr lang="en-GB" dirty="0"/>
          </a:p>
        </p:txBody>
      </p:sp>
      <p:sp>
        <p:nvSpPr>
          <p:cNvPr id="5" name="Presenter"/>
          <p:cNvSpPr>
            <a:spLocks noGrp="1"/>
          </p:cNvSpPr>
          <p:nvPr>
            <p:ph type="body" idx="13"/>
          </p:nvPr>
        </p:nvSpPr>
        <p:spPr>
          <a:xfrm>
            <a:off x="548640" y="5212080"/>
            <a:ext cx="8168640" cy="1097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600"/>
              </a:spcAft>
              <a:buNone/>
              <a:defRPr lang="en-GB" sz="2400">
                <a:solidFill>
                  <a:schemeClr val="bg1"/>
                </a:solidFill>
              </a:defRPr>
            </a:lvl1pPr>
          </a:lstStyle>
          <a:p>
            <a:r>
              <a:rPr lang="en-GB" dirty="0"/>
              <a:t>Speaker name · role · repo URL</a:t>
            </a:r>
            <a:endParaRPr lang="en-GB" dirty="0"/>
          </a:p>
        </p:txBody>
      </p:sp>
      <p:sp>
        <p:nvSpPr>
          <p:cNvPr id="6" name="Logo zone"/>
          <p:cNvSpPr>
            <a:spLocks noGrp="1"/>
          </p:cNvSpPr>
          <p:nvPr>
            <p:ph type="pic" idx="16"/>
          </p:nvPr>
        </p:nvSpPr>
        <p:spPr>
          <a:xfrm>
            <a:off x="8991600" y="5120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Agenda list"/>
          <p:cNvSpPr>
            <a:spLocks noGrp="1"/>
          </p:cNvSpPr>
          <p:nvPr>
            <p:ph idx="1"/>
          </p:nvPr>
        </p:nvSpPr>
        <p:spPr>
          <a:xfrm>
            <a:off x="548640" y="1554480"/>
            <a:ext cx="11094720" cy="4663152"/>
          </a:xfrm>
        </p:spPr>
        <p:txBody>
          <a:bodyPr vert="horz" wrap="square" lIns="0" tIns="0" rIns="0" bIns="0" rtlCol="0" anchor="t">
            <a:noAutofit/>
          </a:bodyPr>
          <a:lstStyle>
            <a:lvl1pPr marL="457200" indent="-457200" algn="l" defTabSz="457200" rtl="0" eaLnBrk="1" latinLnBrk="0" hangingPunct="1">
              <a:lnSpc>
                <a:spcPct val="100000"/>
              </a:lnSpc>
              <a:spcBef>
                <a:spcPts val="0"/>
              </a:spcBef>
              <a:spcAft>
                <a:spcPts val="1000"/>
              </a:spcAft>
              <a:buClr>
                <a:schemeClr val="accent1"/>
              </a:buClr>
              <a:buFont typeface="+mj-lt"/>
              <a:buAutoNum type="arabicPeriod"/>
              <a:defRPr lang="en-GB" sz="2400"/>
            </a:lvl1pPr>
          </a:lstStyle>
          <a:p>
            <a:r>
              <a:rPr lang="en-GB" dirty="0"/>
              <a:t>Agenda item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type="secHead">
  <p:cSld name="Section">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2377440"/>
            <a:ext cx="502920" cy="64008"/>
          </a:xfrm>
          <a:prstGeom prst="rect">
            <a:avLst/>
          </a:prstGeom>
          <a:solidFill>
            <a:schemeClr val="accent2"/>
          </a:solidFill>
          <a:ln>
            <a:noFill/>
          </a:ln>
        </p:spPr>
      </p:sp>
      <p:sp>
        <p:nvSpPr>
          <p:cNvPr id="3" name="Title"/>
          <p:cNvSpPr>
            <a:spLocks noGrp="1"/>
          </p:cNvSpPr>
          <p:nvPr>
            <p:ph type="title"/>
          </p:nvPr>
        </p:nvSpPr>
        <p:spPr>
          <a:xfrm>
            <a:off x="548640" y="256032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400">
                <a:solidFill>
                  <a:schemeClr val="bg1"/>
                </a:solidFill>
              </a:defRPr>
            </a:lvl1pPr>
          </a:lstStyle>
          <a:p>
            <a:r>
              <a:rPr lang="en-GB" dirty="0"/>
              <a:t>Section title</a:t>
            </a:r>
            <a:endParaRPr lang="en-GB" dirty="0"/>
          </a:p>
        </p:txBody>
      </p:sp>
      <p:sp>
        <p:nvSpPr>
          <p:cNvPr id="4" name="Section line"/>
          <p:cNvSpPr>
            <a:spLocks noGrp="1"/>
          </p:cNvSpPr>
          <p:nvPr>
            <p:ph type="body" idx="1"/>
          </p:nvPr>
        </p:nvSpPr>
        <p:spPr>
          <a:xfrm>
            <a:off x="548640" y="3611880"/>
            <a:ext cx="11094720" cy="8229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defRPr>
            </a:lvl1pPr>
          </a:lstStyle>
          <a:p>
            <a:r>
              <a:rPr lang="en-GB" dirty="0"/>
              <a:t>What this section answers</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type="obj">
  <p:cSld name="Title and conten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548640" y="1554480"/>
            <a:ext cx="11094720" cy="4663152"/>
          </a:xfrm>
        </p:spPr>
        <p:txBody>
          <a:bodyPr vert="horz" wrap="square" lIns="0" tIns="0" rIns="0" bIns="0" rtlCol="0" anchor="t">
            <a:noAutofit/>
          </a:bodyPr>
          <a:lstStyle/>
          <a:p>
            <a:r>
              <a:rPr lang="en-GB" dirty="0"/>
              <a:t>Content: one visual, or body text at 24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type="twoObj">
  <p:cSld name="Two columns">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Left column"/>
          <p:cNvSpPr>
            <a:spLocks noGrp="1"/>
          </p:cNvSpPr>
          <p:nvPr>
            <p:ph idx="1"/>
          </p:nvPr>
        </p:nvSpPr>
        <p:spPr>
          <a:xfrm>
            <a:off x="548640" y="1554480"/>
            <a:ext cx="5318760" cy="4663152"/>
          </a:xfrm>
        </p:spPr>
        <p:txBody>
          <a:bodyPr vert="horz" wrap="square" lIns="0" tIns="0" rIns="0" bIns="0" rtlCol="0" anchor="t">
            <a:noAutofit/>
          </a:bodyPr>
          <a:lstStyle/>
          <a:p>
            <a:r>
              <a:rPr lang="en-GB" dirty="0"/>
              <a:t>Left column</a:t>
            </a:r>
            <a:endParaRPr lang="en-GB" dirty="0"/>
          </a:p>
        </p:txBody>
      </p:sp>
      <p:sp>
        <p:nvSpPr>
          <p:cNvPr id="5" name="Right column"/>
          <p:cNvSpPr>
            <a:spLocks noGrp="1"/>
          </p:cNvSpPr>
          <p:nvPr>
            <p:ph idx="2"/>
          </p:nvPr>
        </p:nvSpPr>
        <p:spPr>
          <a:xfrm>
            <a:off x="6324600" y="1554480"/>
            <a:ext cx="5318760" cy="4663152"/>
          </a:xfrm>
        </p:spPr>
        <p:txBody>
          <a:bodyPr vert="horz" wrap="square" lIns="0" tIns="0" rIns="0" bIns="0" rtlCol="0" anchor="t">
            <a:noAutofit/>
          </a:bodyPr>
          <a:lstStyle/>
          <a:p>
            <a:r>
              <a:rPr lang="en-GB" dirty="0"/>
              <a:t>Right column</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tement">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874520"/>
            <a:ext cx="502920" cy="64008"/>
          </a:xfrm>
          <a:prstGeom prst="rect">
            <a:avLst/>
          </a:prstGeom>
          <a:solidFill>
            <a:schemeClr val="accent2"/>
          </a:solidFill>
          <a:ln>
            <a:noFill/>
          </a:ln>
        </p:spPr>
      </p:sp>
      <p:sp>
        <p:nvSpPr>
          <p:cNvPr id="3" name="Statement"/>
          <p:cNvSpPr>
            <a:spLocks noGrp="1"/>
          </p:cNvSpPr>
          <p:nvPr>
            <p:ph type="title"/>
          </p:nvPr>
        </p:nvSpPr>
        <p:spPr>
          <a:xfrm>
            <a:off x="548640" y="2057400"/>
            <a:ext cx="10058400" cy="15544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800">
                <a:solidFill>
                  <a:schemeClr val="bg1"/>
                </a:solidFill>
              </a:defRPr>
            </a:lvl1pPr>
          </a:lstStyle>
          <a:p>
            <a:r>
              <a:rPr lang="en-GB" dirty="0"/>
              <a:t>One statement, max 8 words</a:t>
            </a:r>
            <a:endParaRPr lang="en-GB" dirty="0"/>
          </a:p>
        </p:txBody>
      </p:sp>
      <p:sp>
        <p:nvSpPr>
          <p:cNvPr id="4" name="Support"/>
          <p:cNvSpPr>
            <a:spLocks noGrp="1"/>
          </p:cNvSpPr>
          <p:nvPr>
            <p:ph type="body" idx="1"/>
          </p:nvPr>
        </p:nvSpPr>
        <p:spPr>
          <a:xfrm>
            <a:off x="548640" y="3794760"/>
            <a:ext cx="10058400" cy="12801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800">
                <a:solidFill>
                  <a:schemeClr val="accent2"/>
                </a:solidFill>
              </a:defRPr>
            </a:lvl1pPr>
          </a:lstStyle>
          <a:p>
            <a:r>
              <a:rPr lang="en-GB" dirty="0"/>
              <a:t>Optional support line or code</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left, media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548640"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6619722"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edia left, tex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6029478" y="548640"/>
            <a:ext cx="502920" cy="64008"/>
          </a:xfrm>
          <a:prstGeom prst="rect">
            <a:avLst/>
          </a:prstGeom>
          <a:solidFill>
            <a:schemeClr val="accent1"/>
          </a:solidFill>
          <a:ln>
            <a:noFill/>
          </a:ln>
        </p:spPr>
      </p:sp>
      <p:sp>
        <p:nvSpPr>
          <p:cNvPr id="3" name="Title"/>
          <p:cNvSpPr>
            <a:spLocks noGrp="1"/>
          </p:cNvSpPr>
          <p:nvPr>
            <p:ph type="title"/>
          </p:nvPr>
        </p:nvSpPr>
        <p:spPr>
          <a:xfrm>
            <a:off x="6029478"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6029478"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548640"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arge medi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Media"/>
          <p:cNvSpPr>
            <a:spLocks noGrp="1"/>
          </p:cNvSpPr>
          <p:nvPr>
            <p:ph type="pic" idx="18"/>
          </p:nvPr>
        </p:nvSpPr>
        <p:spPr>
          <a:xfrm>
            <a:off x="548640" y="1554480"/>
            <a:ext cx="11094720" cy="466315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Picture, chart or diagram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left, conten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3566160" cy="23774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4572000" y="731520"/>
            <a:ext cx="7071360" cy="548611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Content: table, list or visual, body 20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2"/>
          </a:solidFill>
          <a:ln>
            <a:noFill/>
          </a:ln>
        </p:spPr>
      </p:sp>
      <p:sp>
        <p:nvSpPr>
          <p:cNvPr id="3" name="QR tile">
            <a:extLst>
              <a:ext uri="{C183D7F6-B498-43B3-948B-1728B52AA6E4}">
                <adec:decorative xmlns:adec="http://schemas.microsoft.com/office/drawing/2017/decorative" val="1"/>
              </a:ext>
            </a:extLst>
          </p:cNvPr>
          <p:cNvSpPr/>
          <p:nvPr userDrawn="1"/>
        </p:nvSpPr>
        <p:spPr>
          <a:xfrm>
            <a:off x="8991600" y="2834640"/>
            <a:ext cx="2651760" cy="2651760"/>
          </a:xfrm>
          <a:prstGeom prst="roundRect">
            <a:avLst>
              <a:gd name="adj" fmla="val 6000"/>
            </a:avLst>
          </a:prstGeom>
          <a:solidFill>
            <a:schemeClr val="bg1"/>
          </a:solidFill>
          <a:ln>
            <a:noFill/>
          </a:ln>
        </p:spPr>
      </p:sp>
      <p:sp>
        <p:nvSpPr>
          <p:cNvPr id="4" name="Title"/>
          <p:cNvSpPr>
            <a:spLocks noGrp="1"/>
          </p:cNvSpPr>
          <p:nvPr>
            <p:ph type="title"/>
          </p:nvPr>
        </p:nvSpPr>
        <p:spPr>
          <a:xfrm>
            <a:off x="548640" y="731520"/>
            <a:ext cx="8168640" cy="100584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6000">
                <a:solidFill>
                  <a:schemeClr val="bg1"/>
                </a:solidFill>
              </a:defRPr>
            </a:lvl1pPr>
          </a:lstStyle>
          <a:p>
            <a:r>
              <a:rPr lang="en-GB" dirty="0"/>
              <a:t>Closing title</a:t>
            </a:r>
            <a:endParaRPr lang="en-GB" dirty="0"/>
          </a:p>
        </p:txBody>
      </p:sp>
      <p:sp>
        <p:nvSpPr>
          <p:cNvPr id="5" name="Contact"/>
          <p:cNvSpPr>
            <a:spLocks noGrp="1"/>
          </p:cNvSpPr>
          <p:nvPr>
            <p:ph type="body" idx="15"/>
          </p:nvPr>
        </p:nvSpPr>
        <p:spPr>
          <a:xfrm>
            <a:off x="548640" y="2103120"/>
            <a:ext cx="8168640" cy="3383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400"/>
              </a:spcAft>
              <a:buNone/>
              <a:defRPr lang="en-GB" sz="2400">
                <a:solidFill>
                  <a:schemeClr val="bg1"/>
                </a:solidFill>
              </a:defRPr>
            </a:lvl1pPr>
          </a:lstStyle>
          <a:p>
            <a:r>
              <a:rPr lang="en-GB" dirty="0"/>
              <a:t>Repo URL, name, contact</a:t>
            </a:r>
            <a:endParaRPr lang="en-GB" dirty="0"/>
          </a:p>
        </p:txBody>
      </p:sp>
      <p:sp>
        <p:nvSpPr>
          <p:cNvPr id="6" name="Small print"/>
          <p:cNvSpPr>
            <a:spLocks noGrp="1"/>
          </p:cNvSpPr>
          <p:nvPr>
            <p:ph type="body" idx="19"/>
          </p:nvPr>
        </p:nvSpPr>
        <p:spPr>
          <a:xfrm>
            <a:off x="548640" y="5669280"/>
            <a:ext cx="11094720" cy="6400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Source and licence lines, 12 pt</a:t>
            </a:r>
            <a:endParaRPr lang="en-GB" dirty="0"/>
          </a:p>
        </p:txBody>
      </p:sp>
      <p:sp>
        <p:nvSpPr>
          <p:cNvPr id="7" name="Logo zone"/>
          <p:cNvSpPr>
            <a:spLocks noGrp="1"/>
          </p:cNvSpPr>
          <p:nvPr>
            <p:ph type="pic" idx="16"/>
          </p:nvPr>
        </p:nvSpPr>
        <p:spPr>
          <a:xfrm>
            <a:off x="8991600" y="548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
        <p:nvSpPr>
          <p:cNvPr id="8" name="QR code"/>
          <p:cNvSpPr>
            <a:spLocks noGrp="1"/>
          </p:cNvSpPr>
          <p:nvPr>
            <p:ph type="pic" idx="17"/>
          </p:nvPr>
        </p:nvSpPr>
        <p:spPr>
          <a:xfrm>
            <a:off x="9174480" y="3017520"/>
            <a:ext cx="2286000" cy="228600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QR code</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3" name="Body"/>
          <p:cNvSpPr>
            <a:spLocks noGrp="1"/>
          </p:cNvSpPr>
          <p:nvPr>
            <p:ph type="body" idx="1"/>
          </p:nvPr>
        </p:nvSpPr>
        <p:spPr>
          <a:xfrm>
            <a:off x="548640" y="1554480"/>
            <a:ext cx="11094720" cy="4663152"/>
          </a:xfrm>
        </p:spPr>
        <p:txBody>
          <a:bodyPr vert="horz" wrap="square" lIns="0" tIns="0" rIns="0" bIns="0" rtlCol="0" anchor="t">
            <a:noAutofit/>
          </a:bodyPr>
          <a:lstStyle/>
          <a:p>
            <a:r>
              <a:rPr lang="en-GB" dirty="0"/>
              <a:t>Body text at 24 pt</a:t>
            </a:r>
            <a:endParaRPr lang="en-GB" dirty="0"/>
          </a:p>
          <a:p>
            <a:pPr lvl="1"/>
            <a:r>
              <a:rPr lang="en-GB" dirty="0"/>
              <a:t>Second level at 20 pt</a:t>
            </a:r>
            <a:endParaRPr lang="en-GB" dirty="0"/>
          </a:p>
          <a:p>
            <a:pPr lvl="2"/>
            <a:r>
              <a:rPr lang="en-GB" dirty="0"/>
              <a:t>Third level at 20 pt</a:t>
            </a:r>
            <a:endParaRPr lang="en-GB" dirty="0"/>
          </a:p>
        </p:txBody>
      </p:sp>
      <p:sp>
        <p:nvSpPr>
          <p:cNvPr id="4"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5"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marL="0" indent="0" algn="l" defTabSz="457200" rtl="0" eaLnBrk="1" latinLnBrk="0" hangingPunct="1">
        <a:lnSpc>
          <a:spcPct val="100000"/>
        </a:lnSpc>
        <a:spcBef>
          <a:spcPts val="0"/>
        </a:spcBef>
        <a:spcAft>
          <a:spcPts val="0"/>
        </a:spcAft>
        <a:buNone/>
        <a:defRPr lang="en-GB" sz="3200" b="0" kern="1200">
          <a:solidFill>
            <a:schemeClr val="tx2"/>
          </a:solidFill>
          <a:latin typeface="Fira Sans SemiBold" panose="020B0603050000020004" pitchFamily="34" charset="0"/>
        </a:defRPr>
      </a:lvl1pPr>
    </p:titleStyle>
    <p:bodyStyle>
      <a:lvl1pPr marL="0" indent="0" algn="l" defTabSz="457200" rtl="0" eaLnBrk="1" latinLnBrk="0" hangingPunct="1">
        <a:lnSpc>
          <a:spcPct val="100000"/>
        </a:lnSpc>
        <a:spcBef>
          <a:spcPts val="0"/>
        </a:spcBef>
        <a:spcAft>
          <a:spcPts val="600"/>
        </a:spcAft>
        <a:buNone/>
        <a:defRPr lang="en-GB" sz="2400" kern="1200">
          <a:solidFill>
            <a:schemeClr val="tx1"/>
          </a:solidFill>
          <a:latin typeface="+mn-lt"/>
          <a:ea typeface="+mn-ea"/>
          <a:cs typeface="+mn-cs"/>
        </a:defRPr>
      </a:lvl1pPr>
      <a:lvl2pPr marL="285750" indent="-285750" algn="l" defTabSz="457200" rtl="0" eaLnBrk="1" latinLnBrk="0" hangingPunct="1">
        <a:lnSpc>
          <a:spcPct val="100000"/>
        </a:lnSpc>
        <a:spcBef>
          <a:spcPts val="0"/>
        </a:spcBef>
        <a:spcAft>
          <a:spcPts val="600"/>
        </a:spcAft>
        <a:buClr>
          <a:schemeClr val="accent1"/>
        </a:buClr>
        <a:buFont typeface="Fira Sans"/>
        <a:buChar char="•"/>
        <a:defRPr lang="en-GB" sz="2000" kern="1200">
          <a:solidFill>
            <a:schemeClr val="tx1"/>
          </a:solidFill>
          <a:latin typeface="+mn-lt"/>
          <a:ea typeface="+mn-ea"/>
          <a:cs typeface="+mn-cs"/>
        </a:defRPr>
      </a:lvl2pPr>
      <a:lvl3pPr marL="571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3pPr>
      <a:lvl4pPr marL="857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4pPr>
      <a:lvl5pPr marL="1143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5pPr>
      <a:lvl6pPr marL="14287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6pPr>
      <a:lvl7pPr marL="1714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7pPr>
      <a:lvl8pPr marL="2000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8pPr>
      <a:lvl9pPr marL="2286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9pPr>
    </p:bodyStyle>
    <p:other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hyperlink" Target="https://creativecommons.org/licenses/by/4.0/" TargetMode="Externa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creativecommons.org/licenses/by/4.0/"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6.png"/><Relationship Id="rId5" Type="http://schemas.openxmlformats.org/officeDocument/2006/relationships/hyperlink" Target="https://creativecommons.org/licenses/by/4.0/" TargetMode="Externa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18.png"/><Relationship Id="rId6" Type="http://schemas.openxmlformats.org/officeDocument/2006/relationships/image" Target="../media/image21.png"/><Relationship Id="rId7" Type="http://schemas.openxmlformats.org/officeDocument/2006/relationships/image" Target="../media/image16.png"/><Relationship Id="rId8" Type="http://schemas.openxmlformats.org/officeDocument/2006/relationships/hyperlink" Target="https://creativecommons.org/licenses/by/4.0/" TargetMode="Externa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creativecommons.org/licenses/by/4.0/"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creativecommons.org/licenses/by/4.0/"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hyperlink" Target="https://creativecommons.org/licenses/by/4.0/"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creativecommons.org/licenses/by/4.0/"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creativecommons.org/licenses/by/4.0/"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creativecommons.org/licenses/by/4.0/"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creativecommons.org/licenses/by/4.0/"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6.png"/><Relationship Id="rId3" Type="http://schemas.openxmlformats.org/officeDocument/2006/relationships/image" Target="../media/image22.jpg"/><Relationship Id="rId4" Type="http://schemas.openxmlformats.org/officeDocument/2006/relationships/image" Target="../media/image23.jpg"/><Relationship Id="rId5" Type="http://schemas.openxmlformats.org/officeDocument/2006/relationships/hyperlink" Target="https://creativecommons.org/licenses/by/4.0/" TargetMode="Externa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hyperlink" Target="https://creativecommons.org/licenses/by/4.0/"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hyperlink" Target="https://creativecommons.org/licenses/by/4.0/"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3.xml"/><Relationship Id="rId3" Type="http://schemas.openxmlformats.org/officeDocument/2006/relationships/hyperlink" Target="https://creativecommons.org/licenses/by/4.0/"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 Id="rId3" Type="http://schemas.openxmlformats.org/officeDocument/2006/relationships/hyperlink" Target="https://creativecommons.org/licenses/by/4.0/"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4.png"/><Relationship Id="rId3" Type="http://schemas.openxmlformats.org/officeDocument/2006/relationships/image" Target="../media/image1.png"/><Relationship Id="rId4" Type="http://schemas.openxmlformats.org/officeDocument/2006/relationships/hyperlink" Target="https://creativecommons.org/licenses/by/4.0/" TargetMode="Externa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ctrTitle"/>
          </p:nvPr>
        </p:nvSpPr>
        <p:spPr/>
        <p:txBody>
          <a:bodyPr/>
          <a:lstStyle/>
          <a:p>
            <a:r>
              <a:rPr lang="en-GB"/>
              <a:t>3D Data Science with Python</a:t>
            </a:r>
          </a:p>
        </p:txBody>
      </p:sp>
      <p:sp>
        <p:nvSpPr>
          <p:cNvPr id="4" name="Presenter"/>
          <p:cNvSpPr>
            <a:spLocks noGrp="1"/>
          </p:cNvSpPr>
          <p:nvPr>
            <p:ph type="body" idx="13"/>
          </p:nvPr>
        </p:nvSpPr>
        <p:spPr/>
        <p:txBody>
          <a:bodyPr/>
          <a:lstStyle/>
          <a:p>
            <a:pPr marL="0" indent="0" algn="l">
              <a:spcBef>
                <a:spcPts val="0"/>
              </a:spcBef>
              <a:spcAft>
                <a:spcPts val="0"/>
              </a:spcAft>
              <a:buNone/>
            </a:pPr>
            <a:r>
              <a:rPr sz="2400" lang="en-GB">
                <a:solidFill>
                  <a:srgbClr val="FFFFFF"/>
                </a:solidFill>
                <a:latin typeface="+mn-lt"/>
              </a:rPr>
              <a:t>Sergio Peral · ML Engineer, Teqyard</a:t>
            </a:r>
            <a:endParaRPr lang="en-GB" sz="2400"/>
          </a:p>
        </p:txBody>
      </p:sp>
      <p:sp>
        <p:nvSpPr>
          <p:cNvPr id="5" name="Logo tile"/>
          <p:cNvSpPr/>
          <p:nvPr/>
        </p:nvSpPr>
        <p:spPr>
          <a:xfrm>
            <a:off x="10454640" y="5120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Logo" descr="PyCon NL 2026 logo: the Python snakes filled with a Dutch canal house, tulips and a windmill"/>
          <p:cNvPicPr>
            <a:picLocks noChangeAspect="1"/>
          </p:cNvPicPr>
          <p:nvPr/>
        </p:nvPicPr>
        <p:blipFill>
          <a:blip r:embed="rId2"/>
          <a:stretch>
            <a:fillRect/>
          </a:stretch>
        </p:blipFill>
        <p:spPr>
          <a:xfrm>
            <a:off x="10509504" y="5175504"/>
            <a:ext cx="1078992" cy="1078992"/>
          </a:xfrm>
          <a:prstGeom prst="rect">
            <a:avLst/>
          </a:prstGeom>
        </p:spPr>
      </p:pic>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3D used to mean C++. Not anymore</a:t>
            </a:r>
          </a:p>
        </p:txBody>
      </p:sp>
      <p:sp>
        <p:nvSpPr>
          <p:cNvPr id="7" name="Caption left"/>
          <p:cNvSpPr txBox="1"/>
          <p:nvPr/>
        </p:nvSpPr>
        <p:spPr>
          <a:xfrm>
            <a:off x="54864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Fira Sans SemiBold"/>
              </a:rPr>
              <a:t>C++ with PCL</a:t>
            </a:r>
            <a:endParaRPr lang="en-GB" sz="2000"/>
          </a:p>
        </p:txBody>
      </p:sp>
      <p:grpSp>
        <p:nvGrpSpPr>
          <p:cNvPr id="3" name="Key line left">
            <a:extLst>
              <a:ext uri="{C183D7F6-B498-43B3-948B-1728B52AA6E4}">
                <adec:decorative xmlns:adec="http://schemas.microsoft.com/office/drawing/2017/decorative" val="1"/>
              </a:ext>
            </a:extLst>
          </p:cNvPr>
          <p:cNvGrpSpPr/>
          <p:nvPr/>
        </p:nvGrpSpPr>
        <p:grpSpPr>
          <a:xfrm>
            <a:off x="402336" y="4111752"/>
            <a:ext cx="5465064" cy="266700"/>
            <a:chOff x="402336" y="4111752"/>
            <a:chExt cx="5465064" cy="266700"/>
          </a:xfrm>
        </p:grpSpPr>
        <p:sp>
          <p:nvSpPr>
            <p:cNvPr id="8" name="Key line bar"/>
            <p:cNvSpPr/>
            <p:nvPr/>
          </p:nvSpPr>
          <p:spPr>
            <a:xfrm>
              <a:off x="402336" y="41117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ey line edge"/>
            <p:cNvSpPr/>
            <p:nvPr/>
          </p:nvSpPr>
          <p:spPr>
            <a:xfrm>
              <a:off x="402336" y="41117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Code left"/>
          <p:cNvSpPr txBox="1"/>
          <p:nvPr/>
        </p:nvSpPr>
        <p:spPr>
          <a:xfrm>
            <a:off x="402336" y="1932432"/>
            <a:ext cx="5465064" cy="3291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using Cloud =</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pcl::PointCloud&lt;pcl::PointXYZ&gt;;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Cloud::Ptr cloud(new Cloud);</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 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if (pcl::io::loadPCDFile(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"crop.pcd", *cloud)) return 1;</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pcl::VoxelGrid&lt;pcl::PointXYZ&gt; vg;</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vg.setInputCloud(cloud);</a:t>
            </a:r>
            <a:endParaRPr lang="en-GB" sz="1800"/>
          </a:p>
          <a:p>
            <a:pPr marL="0" indent="0" algn="l">
              <a:lnSpc>
                <a:spcPts val="2100"/>
              </a:lnSpc>
              <a:spcBef>
                <a:spcPts val="0"/>
              </a:spcBef>
              <a:spcAft>
                <a:spcPts val="0"/>
              </a:spcAft>
              <a:buNone/>
            </a:pPr>
            <a:r>
              <a:rPr sz="1800" b="1" lang="en-GB" noProof="1">
                <a:solidFill>
                  <a:srgbClr val="455A64"/>
                </a:solidFill>
                <a:latin typeface="Fira Mono" pitchFamily="49"/>
              </a:rPr>
              <a:t>vg.setLeafSize(0.5f, 0.5f, 0.5f);</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vg.filter(down);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std::cout &lt;&lt; cloud-&gt;size()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&lt;&lt; " -&gt; " &lt;&lt; down.size() &lt;&lt; "\n";</a:t>
            </a:r>
            <a:endParaRPr lang="en-GB" sz="1800"/>
          </a:p>
        </p:txBody>
      </p:sp>
      <p:sp>
        <p:nvSpPr>
          <p:cNvPr id="11" name="Code output left"/>
          <p:cNvSpPr txBox="1"/>
          <p:nvPr/>
        </p:nvSpPr>
        <p:spPr>
          <a:xfrm>
            <a:off x="402336" y="54985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722961 -&gt; 230519</a:t>
            </a:r>
            <a:endParaRPr lang="en-GB" sz="1800"/>
          </a:p>
        </p:txBody>
      </p:sp>
      <p:sp>
        <p:nvSpPr>
          <p:cNvPr id="12" name="Caption right"/>
          <p:cNvSpPr txBox="1"/>
          <p:nvPr/>
        </p:nvSpPr>
        <p:spPr>
          <a:xfrm>
            <a:off x="632460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Python with Open3D</a:t>
            </a:r>
            <a:endParaRPr lang="en-GB" sz="2000"/>
          </a:p>
        </p:txBody>
      </p:sp>
      <p:grpSp>
        <p:nvGrpSpPr>
          <p:cNvPr id="4" name="Key line right">
            <a:extLst>
              <a:ext uri="{C183D7F6-B498-43B3-948B-1728B52AA6E4}">
                <adec:decorative xmlns:adec="http://schemas.microsoft.com/office/drawing/2017/decorative" val="1"/>
              </a:ext>
            </a:extLst>
          </p:cNvPr>
          <p:cNvGrpSpPr/>
          <p:nvPr/>
        </p:nvGrpSpPr>
        <p:grpSpPr>
          <a:xfrm>
            <a:off x="6178296" y="2244852"/>
            <a:ext cx="5465064" cy="266700"/>
            <a:chOff x="6178296" y="2244852"/>
            <a:chExt cx="5465064" cy="266700"/>
          </a:xfrm>
        </p:grpSpPr>
        <p:sp>
          <p:nvSpPr>
            <p:cNvPr id="13" name="Key line bar"/>
            <p:cNvSpPr/>
            <p:nvPr/>
          </p:nvSpPr>
          <p:spPr>
            <a:xfrm>
              <a:off x="6178296" y="22448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6178296" y="22448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right"/>
          <p:cNvSpPr txBox="1"/>
          <p:nvPr/>
        </p:nvSpPr>
        <p:spPr>
          <a:xfrm>
            <a:off x="6178296" y="1932432"/>
            <a:ext cx="5465064" cy="11582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pcd = o3d.io.read_point_cloud(path)</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print(len(pcd.points), </a:t>
            </a:r>
            <a:r>
              <a:rPr sz="1800" b="0" lang="en-GB" noProof="1">
                <a:solidFill>
                  <a:srgbClr val="2B6797"/>
                </a:solidFill>
                <a:latin typeface="Fira Mono" pitchFamily="49"/>
              </a:rPr>
              <a:t>"-&gt;"</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len(down.points))</a:t>
            </a:r>
            <a:endParaRPr lang="en-GB" sz="1800"/>
          </a:p>
        </p:txBody>
      </p:sp>
      <p:sp>
        <p:nvSpPr>
          <p:cNvPr id="16" name="Code output right"/>
          <p:cNvSpPr txBox="1"/>
          <p:nvPr/>
        </p:nvSpPr>
        <p:spPr>
          <a:xfrm>
            <a:off x="6178296" y="33649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722961 -&gt; 232180</a:t>
            </a:r>
            <a:endParaRPr lang="en-GB" sz="18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The Python 3D ecosystem at a glance</a:t>
            </a:r>
          </a:p>
        </p:txBody>
      </p:sp>
      <p:grpSp>
        <p:nvGrpSpPr>
          <p:cNvPr id="3" name="ecosystem_wall" descr="Ecosystem wall in five rows of logos; the five used in this talk's pipeline have a blue outline. Load and store: laspy (used), PDAL, pyproj. Arrays and speed: NumPy (used), SciPy (used), Numba, Dask. Process: Open3D (used), trimesh. Visualise: PyVista (used), VTK. Learn: scikit-learn, PyTorch, PyTorch3D."/>
          <p:cNvGrpSpPr/>
          <p:nvPr/>
        </p:nvGrpSpPr>
        <p:grpSpPr>
          <a:xfrm>
            <a:off x="548640" y="1600200"/>
            <a:ext cx="11094720" cy="4114512"/>
            <a:chOff x="548640" y="1600200"/>
            <a:chExt cx="11094720" cy="4114512"/>
          </a:xfrm>
        </p:grpSpPr>
        <p:sp>
          <p:nvSpPr>
            <p:cNvPr id="6" name="wall_label_1"/>
            <p:cNvSpPr txBox="1"/>
            <p:nvPr/>
          </p:nvSpPr>
          <p:spPr>
            <a:xfrm>
              <a:off x="548640" y="1600200"/>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Load and store</a:t>
              </a:r>
            </a:p>
          </p:txBody>
        </p:sp>
        <p:sp>
          <p:nvSpPr>
            <p:cNvPr id="7" name="wall_tile_1_1"/>
            <p:cNvSpPr/>
            <p:nvPr/>
          </p:nvSpPr>
          <p:spPr>
            <a:xfrm>
              <a:off x="2880360" y="1600200"/>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ile_ref_text_1_1"/>
            <p:cNvSpPr txBox="1"/>
            <p:nvPr/>
          </p:nvSpPr>
          <p:spPr>
            <a:xfrm>
              <a:off x="2926080" y="1600200"/>
              <a:ext cx="2017014" cy="720490"/>
            </a:xfrm>
            <a:prstGeom prst="rect">
              <a:avLst/>
            </a:prstGeom>
            <a:noFill/>
          </p:spPr>
          <p:txBody>
            <a:bodyPr wrap="square" anchor="ctr" lIns="0" tIns="0" rIns="0" bIns="0">
              <a:noAutofit/>
            </a:bodyPr>
            <a:lstStyle/>
            <a:p>
              <a:pPr algn="ctr"/>
              <a:r>
                <a:rPr sz="1400" b="0" i="0" lang="en-GB">
                  <a:solidFill>
                    <a:srgbClr val="263238"/>
                  </a:solidFill>
                  <a:latin typeface="Fira Sans Medium"/>
                </a:rPr>
                <a:t>laspy</a:t>
              </a:r>
            </a:p>
          </p:txBody>
        </p:sp>
        <p:sp>
          <p:nvSpPr>
            <p:cNvPr id="9" name="wall_tile_1_2"/>
            <p:cNvSpPr/>
            <p:nvPr/>
          </p:nvSpPr>
          <p:spPr>
            <a:xfrm>
              <a:off x="5098542" y="1600200"/>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wall_logo_1_2" descr="PDAL logo"/>
            <p:cNvPicPr>
              <a:picLocks noChangeAspect="1"/>
            </p:cNvPicPr>
            <p:nvPr/>
          </p:nvPicPr>
          <p:blipFill>
            <a:blip r:embed="rId2"/>
            <a:stretch>
              <a:fillRect/>
            </a:stretch>
          </p:blipFill>
          <p:spPr>
            <a:xfrm>
              <a:off x="5991053" y="1691640"/>
              <a:ext cx="323431" cy="328822"/>
            </a:xfrm>
            <a:prstGeom prst="rect">
              <a:avLst/>
            </a:prstGeom>
          </p:spPr>
        </p:pic>
        <p:sp>
          <p:nvSpPr>
            <p:cNvPr id="11" name="tile_ref_1_2"/>
            <p:cNvSpPr txBox="1"/>
            <p:nvPr/>
          </p:nvSpPr>
          <p:spPr>
            <a:xfrm>
              <a:off x="5098542" y="2038750"/>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PDAL</a:t>
              </a:r>
            </a:p>
          </p:txBody>
        </p:sp>
        <p:sp>
          <p:nvSpPr>
            <p:cNvPr id="12" name="wall_tile_1_3"/>
            <p:cNvSpPr/>
            <p:nvPr/>
          </p:nvSpPr>
          <p:spPr>
            <a:xfrm>
              <a:off x="7316724" y="1600200"/>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wall_logo_1_3" descr="pyproj logo"/>
            <p:cNvPicPr>
              <a:picLocks noChangeAspect="1"/>
            </p:cNvPicPr>
            <p:nvPr/>
          </p:nvPicPr>
          <p:blipFill>
            <a:blip r:embed="rId3"/>
            <a:stretch>
              <a:fillRect/>
            </a:stretch>
          </p:blipFill>
          <p:spPr>
            <a:xfrm>
              <a:off x="7735547" y="1691640"/>
              <a:ext cx="1270808" cy="328822"/>
            </a:xfrm>
            <a:prstGeom prst="rect">
              <a:avLst/>
            </a:prstGeom>
          </p:spPr>
        </p:pic>
        <p:sp>
          <p:nvSpPr>
            <p:cNvPr id="14" name="tile_ref_1_3"/>
            <p:cNvSpPr txBox="1"/>
            <p:nvPr/>
          </p:nvSpPr>
          <p:spPr>
            <a:xfrm>
              <a:off x="7316724" y="2038750"/>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pyproj</a:t>
              </a:r>
            </a:p>
          </p:txBody>
        </p:sp>
        <p:sp>
          <p:nvSpPr>
            <p:cNvPr id="15" name="wall_label_2"/>
            <p:cNvSpPr txBox="1"/>
            <p:nvPr/>
          </p:nvSpPr>
          <p:spPr>
            <a:xfrm>
              <a:off x="548640" y="2448706"/>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Arrays and speed</a:t>
              </a:r>
            </a:p>
          </p:txBody>
        </p:sp>
        <p:sp>
          <p:nvSpPr>
            <p:cNvPr id="16" name="wall_tile_2_1"/>
            <p:cNvSpPr/>
            <p:nvPr/>
          </p:nvSpPr>
          <p:spPr>
            <a:xfrm>
              <a:off x="2880360" y="2448706"/>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wall_logo_2_1" descr="NumPy logo"/>
            <p:cNvPicPr>
              <a:picLocks noChangeAspect="1"/>
            </p:cNvPicPr>
            <p:nvPr/>
          </p:nvPicPr>
          <p:blipFill>
            <a:blip r:embed="rId4"/>
            <a:stretch>
              <a:fillRect/>
            </a:stretch>
          </p:blipFill>
          <p:spPr>
            <a:xfrm>
              <a:off x="3337243" y="2540146"/>
              <a:ext cx="1194688" cy="537610"/>
            </a:xfrm>
            <a:prstGeom prst="rect">
              <a:avLst/>
            </a:prstGeom>
          </p:spPr>
        </p:pic>
        <p:sp>
          <p:nvSpPr>
            <p:cNvPr id="18" name="wall_tile_2_2"/>
            <p:cNvSpPr/>
            <p:nvPr/>
          </p:nvSpPr>
          <p:spPr>
            <a:xfrm>
              <a:off x="5098542" y="2448706"/>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wall_logo_2_2" descr="SciPy logo"/>
            <p:cNvPicPr>
              <a:picLocks noChangeAspect="1"/>
            </p:cNvPicPr>
            <p:nvPr/>
          </p:nvPicPr>
          <p:blipFill>
            <a:blip r:embed="rId5"/>
            <a:stretch>
              <a:fillRect/>
            </a:stretch>
          </p:blipFill>
          <p:spPr>
            <a:xfrm>
              <a:off x="5988358" y="2540146"/>
              <a:ext cx="328822" cy="328822"/>
            </a:xfrm>
            <a:prstGeom prst="rect">
              <a:avLst/>
            </a:prstGeom>
          </p:spPr>
        </p:pic>
        <p:sp>
          <p:nvSpPr>
            <p:cNvPr id="20" name="tile_ref_2_2"/>
            <p:cNvSpPr txBox="1"/>
            <p:nvPr/>
          </p:nvSpPr>
          <p:spPr>
            <a:xfrm>
              <a:off x="5098542" y="2887255"/>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SciPy</a:t>
              </a:r>
            </a:p>
          </p:txBody>
        </p:sp>
        <p:sp>
          <p:nvSpPr>
            <p:cNvPr id="21" name="wall_tile_2_3"/>
            <p:cNvSpPr/>
            <p:nvPr/>
          </p:nvSpPr>
          <p:spPr>
            <a:xfrm>
              <a:off x="7316724" y="2448706"/>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wall_logo_2_3" descr="Numba logo"/>
            <p:cNvPicPr>
              <a:picLocks noChangeAspect="1"/>
            </p:cNvPicPr>
            <p:nvPr/>
          </p:nvPicPr>
          <p:blipFill>
            <a:blip r:embed="rId6"/>
            <a:stretch>
              <a:fillRect/>
            </a:stretch>
          </p:blipFill>
          <p:spPr>
            <a:xfrm>
              <a:off x="8206540" y="2540146"/>
              <a:ext cx="328822" cy="328822"/>
            </a:xfrm>
            <a:prstGeom prst="rect">
              <a:avLst/>
            </a:prstGeom>
          </p:spPr>
        </p:pic>
        <p:sp>
          <p:nvSpPr>
            <p:cNvPr id="23" name="tile_ref_2_3"/>
            <p:cNvSpPr txBox="1"/>
            <p:nvPr/>
          </p:nvSpPr>
          <p:spPr>
            <a:xfrm>
              <a:off x="7316724" y="2887255"/>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Numba</a:t>
              </a:r>
            </a:p>
          </p:txBody>
        </p:sp>
        <p:sp>
          <p:nvSpPr>
            <p:cNvPr id="24" name="wall_tile_2_4"/>
            <p:cNvSpPr/>
            <p:nvPr/>
          </p:nvSpPr>
          <p:spPr>
            <a:xfrm>
              <a:off x="9534906" y="2448706"/>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wall_logo_2_4" descr="Dask logo"/>
            <p:cNvPicPr>
              <a:picLocks noChangeAspect="1"/>
            </p:cNvPicPr>
            <p:nvPr/>
          </p:nvPicPr>
          <p:blipFill>
            <a:blip r:embed="rId7"/>
            <a:stretch>
              <a:fillRect/>
            </a:stretch>
          </p:blipFill>
          <p:spPr>
            <a:xfrm>
              <a:off x="9855195" y="2540146"/>
              <a:ext cx="1467876" cy="537610"/>
            </a:xfrm>
            <a:prstGeom prst="rect">
              <a:avLst/>
            </a:prstGeom>
          </p:spPr>
        </p:pic>
        <p:sp>
          <p:nvSpPr>
            <p:cNvPr id="26" name="wall_label_3"/>
            <p:cNvSpPr txBox="1"/>
            <p:nvPr/>
          </p:nvSpPr>
          <p:spPr>
            <a:xfrm>
              <a:off x="548640" y="3297211"/>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Process</a:t>
              </a:r>
            </a:p>
          </p:txBody>
        </p:sp>
        <p:sp>
          <p:nvSpPr>
            <p:cNvPr id="27" name="wall_tile_3_1"/>
            <p:cNvSpPr/>
            <p:nvPr/>
          </p:nvSpPr>
          <p:spPr>
            <a:xfrm>
              <a:off x="2880360" y="3297211"/>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wall_logo_3_1" descr="Open3D logo"/>
            <p:cNvPicPr>
              <a:picLocks noChangeAspect="1"/>
            </p:cNvPicPr>
            <p:nvPr/>
          </p:nvPicPr>
          <p:blipFill>
            <a:blip r:embed="rId8"/>
            <a:stretch>
              <a:fillRect/>
            </a:stretch>
          </p:blipFill>
          <p:spPr>
            <a:xfrm>
              <a:off x="2971800" y="3414352"/>
              <a:ext cx="1925574" cy="486207"/>
            </a:xfrm>
            <a:prstGeom prst="rect">
              <a:avLst/>
            </a:prstGeom>
          </p:spPr>
        </p:pic>
        <p:sp>
          <p:nvSpPr>
            <p:cNvPr id="29" name="wall_tile_3_2"/>
            <p:cNvSpPr/>
            <p:nvPr/>
          </p:nvSpPr>
          <p:spPr>
            <a:xfrm>
              <a:off x="5098542" y="3297211"/>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wall_logo_3_2" descr="trimesh logo"/>
            <p:cNvPicPr>
              <a:picLocks noChangeAspect="1"/>
            </p:cNvPicPr>
            <p:nvPr/>
          </p:nvPicPr>
          <p:blipFill>
            <a:blip r:embed="rId9"/>
            <a:stretch>
              <a:fillRect/>
            </a:stretch>
          </p:blipFill>
          <p:spPr>
            <a:xfrm>
              <a:off x="5189982" y="3514241"/>
              <a:ext cx="1925574" cy="286429"/>
            </a:xfrm>
            <a:prstGeom prst="rect">
              <a:avLst/>
            </a:prstGeom>
          </p:spPr>
        </p:pic>
        <p:sp>
          <p:nvSpPr>
            <p:cNvPr id="31" name="wall_label_4"/>
            <p:cNvSpPr txBox="1"/>
            <p:nvPr/>
          </p:nvSpPr>
          <p:spPr>
            <a:xfrm>
              <a:off x="548640" y="4145717"/>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Visualise</a:t>
              </a:r>
            </a:p>
          </p:txBody>
        </p:sp>
        <p:sp>
          <p:nvSpPr>
            <p:cNvPr id="32" name="wall_tile_4_1"/>
            <p:cNvSpPr/>
            <p:nvPr/>
          </p:nvSpPr>
          <p:spPr>
            <a:xfrm>
              <a:off x="2880360" y="4145717"/>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wall_logo_4_1" descr="PyVista logo"/>
            <p:cNvPicPr>
              <a:picLocks noChangeAspect="1"/>
            </p:cNvPicPr>
            <p:nvPr/>
          </p:nvPicPr>
          <p:blipFill>
            <a:blip r:embed="rId10"/>
            <a:stretch>
              <a:fillRect/>
            </a:stretch>
          </p:blipFill>
          <p:spPr>
            <a:xfrm>
              <a:off x="3303960" y="4237157"/>
              <a:ext cx="1261254" cy="537610"/>
            </a:xfrm>
            <a:prstGeom prst="rect">
              <a:avLst/>
            </a:prstGeom>
          </p:spPr>
        </p:pic>
        <p:sp>
          <p:nvSpPr>
            <p:cNvPr id="34" name="wall_tile_4_2"/>
            <p:cNvSpPr/>
            <p:nvPr/>
          </p:nvSpPr>
          <p:spPr>
            <a:xfrm>
              <a:off x="5098542" y="4145717"/>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wall_logo_4_2" descr="VTK logo"/>
            <p:cNvPicPr>
              <a:picLocks noChangeAspect="1"/>
            </p:cNvPicPr>
            <p:nvPr/>
          </p:nvPicPr>
          <p:blipFill>
            <a:blip r:embed="rId11"/>
            <a:stretch>
              <a:fillRect/>
            </a:stretch>
          </p:blipFill>
          <p:spPr>
            <a:xfrm>
              <a:off x="5651501" y="4237157"/>
              <a:ext cx="1002535" cy="537610"/>
            </a:xfrm>
            <a:prstGeom prst="rect">
              <a:avLst/>
            </a:prstGeom>
          </p:spPr>
        </p:pic>
        <p:sp>
          <p:nvSpPr>
            <p:cNvPr id="36" name="wall_label_5"/>
            <p:cNvSpPr txBox="1"/>
            <p:nvPr/>
          </p:nvSpPr>
          <p:spPr>
            <a:xfrm>
              <a:off x="548640" y="4994222"/>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Learn</a:t>
              </a:r>
            </a:p>
          </p:txBody>
        </p:sp>
        <p:sp>
          <p:nvSpPr>
            <p:cNvPr id="37" name="wall_tile_5_1"/>
            <p:cNvSpPr/>
            <p:nvPr/>
          </p:nvSpPr>
          <p:spPr>
            <a:xfrm>
              <a:off x="2880360"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wall_logo_5_1" descr="scikit-learn logo"/>
            <p:cNvPicPr>
              <a:picLocks noChangeAspect="1"/>
            </p:cNvPicPr>
            <p:nvPr/>
          </p:nvPicPr>
          <p:blipFill>
            <a:blip r:embed="rId12"/>
            <a:stretch>
              <a:fillRect/>
            </a:stretch>
          </p:blipFill>
          <p:spPr>
            <a:xfrm>
              <a:off x="3722101" y="5085662"/>
              <a:ext cx="424971" cy="328822"/>
            </a:xfrm>
            <a:prstGeom prst="rect">
              <a:avLst/>
            </a:prstGeom>
          </p:spPr>
        </p:pic>
        <p:sp>
          <p:nvSpPr>
            <p:cNvPr id="39" name="tile_ref_5_1"/>
            <p:cNvSpPr txBox="1"/>
            <p:nvPr/>
          </p:nvSpPr>
          <p:spPr>
            <a:xfrm>
              <a:off x="2880360" y="5432772"/>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scikit-learn</a:t>
              </a:r>
            </a:p>
          </p:txBody>
        </p:sp>
        <p:sp>
          <p:nvSpPr>
            <p:cNvPr id="40" name="wall_tile_5_2"/>
            <p:cNvSpPr/>
            <p:nvPr/>
          </p:nvSpPr>
          <p:spPr>
            <a:xfrm>
              <a:off x="5098542"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wall_logo_5_2" descr="PyTorch logo"/>
            <p:cNvPicPr>
              <a:picLocks noChangeAspect="1"/>
            </p:cNvPicPr>
            <p:nvPr/>
          </p:nvPicPr>
          <p:blipFill>
            <a:blip r:embed="rId13"/>
            <a:stretch>
              <a:fillRect/>
            </a:stretch>
          </p:blipFill>
          <p:spPr>
            <a:xfrm>
              <a:off x="5189982" y="5159503"/>
              <a:ext cx="1925574" cy="389929"/>
            </a:xfrm>
            <a:prstGeom prst="rect">
              <a:avLst/>
            </a:prstGeom>
          </p:spPr>
        </p:pic>
        <p:sp>
          <p:nvSpPr>
            <p:cNvPr id="42" name="wall_tile_5_3"/>
            <p:cNvSpPr/>
            <p:nvPr/>
          </p:nvSpPr>
          <p:spPr>
            <a:xfrm>
              <a:off x="7316724"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wall_logo_5_3" descr="PyTorch3D logo"/>
            <p:cNvPicPr>
              <a:picLocks noChangeAspect="1"/>
            </p:cNvPicPr>
            <p:nvPr/>
          </p:nvPicPr>
          <p:blipFill>
            <a:blip r:embed="rId14"/>
            <a:stretch>
              <a:fillRect/>
            </a:stretch>
          </p:blipFill>
          <p:spPr>
            <a:xfrm>
              <a:off x="7408164" y="5108957"/>
              <a:ext cx="1925574" cy="491021"/>
            </a:xfrm>
            <a:prstGeom prst="rect">
              <a:avLst/>
            </a:prstGeom>
          </p:spPr>
        </p:pic>
      </p:grpSp>
      <p:sp>
        <p:nvSpPr>
          <p:cNvPr id="44" name="Small print"/>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Blue outline: used in today's pipeline. Logos belong to their owners; no endorsement implied. 119 libraries checked on PyPI and GitHub: docs/ECOSYSTEM.md in the repo.</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Today's case: the Jaarbeurs hall, from a plane</a:t>
            </a:r>
          </a:p>
        </p:txBody>
      </p:sp>
      <p:pic>
        <p:nvPicPr>
          <p:cNvPr id="6" name="Render raw" descr="Bird's-eye render of the Jaarbeurs hall in Utrecht and the streets, trees and buildings around it, coloured by height from blue near the ground through sage to white on the roofs."/>
          <p:cNvPicPr>
            <a:picLocks noChangeAspect="1"/>
          </p:cNvPicPr>
          <p:nvPr/>
        </p:nvPicPr>
        <p:blipFill>
          <a:blip r:embed="rId2"/>
          <a:stretch>
            <a:fillRect/>
          </a:stretch>
        </p:blipFill>
        <p:spPr>
          <a:xfrm>
            <a:off x="548640" y="1554480"/>
            <a:ext cx="3055620" cy="3448156"/>
          </a:xfrm>
          <a:prstGeom prst="rect">
            <a:avLst/>
          </a:prstGeom>
        </p:spPr>
      </p:pic>
      <p:pic>
        <p:nvPicPr>
          <p:cNvPr id="7" name="Render labels" descr="The same view with our labels: ground slate grey, buildings light blue, vegetation sage green, street furniture white."/>
          <p:cNvPicPr>
            <a:picLocks noChangeAspect="1"/>
          </p:cNvPicPr>
          <p:nvPr/>
        </p:nvPicPr>
        <p:blipFill>
          <a:blip r:embed="rId3"/>
          <a:stretch>
            <a:fillRect/>
          </a:stretch>
        </p:blipFill>
        <p:spPr>
          <a:xfrm>
            <a:off x="4472940" y="1554480"/>
            <a:ext cx="3055620" cy="3448156"/>
          </a:xfrm>
          <a:prstGeom prst="rect">
            <a:avLst/>
          </a:prstGeom>
        </p:spPr>
      </p:pic>
      <p:sp>
        <p:nvSpPr>
          <p:cNvPr id="8" name="Arrow raw to labels">
            <a:extLst>
              <a:ext uri="{C183D7F6-B498-43B3-948B-1728B52AA6E4}">
                <adec:decorative xmlns:adec="http://schemas.microsoft.com/office/drawing/2017/decorative" val="1"/>
              </a:ext>
            </a:extLst>
          </p:cNvPr>
          <p:cNvSpPr/>
          <p:nvPr/>
        </p:nvSpPr>
        <p:spPr>
          <a:xfrm>
            <a:off x="3782568" y="3077390"/>
            <a:ext cx="512064" cy="402336"/>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3" name="Edge arrow Jaarbeurs" descr="Arrow pointing down at the roof of the Jaarbeurs hall"/>
          <p:cNvGrpSpPr/>
          <p:nvPr/>
        </p:nvGrpSpPr>
        <p:grpSpPr>
          <a:xfrm>
            <a:off x="1194668" y="1814678"/>
            <a:ext cx="1886712" cy="1188720"/>
            <a:chOff x="1194668" y="1814678"/>
            <a:chExt cx="1886712" cy="1188720"/>
          </a:xfrm>
        </p:grpSpPr>
        <p:sp>
          <p:nvSpPr>
            <p:cNvPr id="9" name="Edge arrow"/>
            <p:cNvSpPr/>
            <p:nvPr/>
          </p:nvSpPr>
          <p:spPr>
            <a:xfrm>
              <a:off x="2000864" y="2290166"/>
              <a:ext cx="274320" cy="713232"/>
            </a:xfrm>
            <a:prstGeom prst="downArrow">
              <a:avLst/>
            </a:prstGeom>
            <a:solidFill>
              <a:srgbClr val="B1CAC5"/>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dge label"/>
            <p:cNvSpPr/>
            <p:nvPr/>
          </p:nvSpPr>
          <p:spPr>
            <a:xfrm>
              <a:off x="1194668" y="1814678"/>
              <a:ext cx="1886712" cy="420624"/>
            </a:xfrm>
            <a:prstGeom prst="roundRect">
              <a:avLst>
                <a:gd name="adj" fmla="val 17391"/>
              </a:avLst>
            </a:prstGeom>
            <a:solidFill>
              <a:srgbClr val="1C325B"/>
            </a:solidFill>
            <a:ln w="1587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91440" tIns="0" rIns="91440" bIns="0">
              <a:noAutofit/>
            </a:bodyPr>
            <a:lstStyle/>
            <a:p>
              <a:pPr algn="ctr" marL="0" indent="0">
                <a:spcBef>
                  <a:spcPts val="0"/>
                </a:spcBef>
                <a:spcAft>
                  <a:spcPts val="0"/>
                </a:spcAft>
                <a:buNone/>
              </a:pPr>
              <a:r>
                <a:rPr sz="2000" b="1" lang="en-GB">
                  <a:solidFill>
                    <a:srgbClr val="FFFFFF"/>
                  </a:solidFill>
                  <a:latin typeface="+mn-lt"/>
                </a:rPr>
                <a:t>Jaarbeurs hall</a:t>
              </a:r>
              <a:endParaRPr lang="en-GB" sz="2000"/>
            </a:p>
          </p:txBody>
        </p:sp>
      </p:grpSp>
      <p:grpSp>
        <p:nvGrpSpPr>
          <p:cNvPr id="11" name="Data set" descr="Specification of the data set: area 200 m by 200 m; 722 961 points, about 18 per square metre; source AHN5 from ahn.nl; flown in April 2023, at night; a 4.3 MB LAZ file; coordinates in RD New with NAP heights; licence CC BY 4.0."/>
          <p:cNvGrpSpPr/>
          <p:nvPr/>
        </p:nvGrpSpPr>
        <p:grpSpPr>
          <a:xfrm>
            <a:off x="8031480" y="1554480"/>
            <a:ext cx="3611880" cy="3837144"/>
            <a:chOff x="8031480" y="1554480"/>
            <a:chExt cx="3611880" cy="3837144"/>
          </a:xfrm>
        </p:grpSpPr>
        <p:sp>
          <p:nvSpPr>
            <p:cNvPr id="12" name="spec heading"/>
            <p:cNvSpPr txBox="1"/>
            <p:nvPr/>
          </p:nvSpPr>
          <p:spPr>
            <a:xfrm>
              <a:off x="8031480" y="1554480"/>
              <a:ext cx="3611880" cy="457200"/>
            </a:xfrm>
            <a:prstGeom prst="rect">
              <a:avLst/>
            </a:prstGeom>
            <a:noFill/>
          </p:spPr>
          <p:txBody>
            <a:bodyPr wrap="none" anchor="t" lIns="0" tIns="0" rIns="0" bIns="0">
              <a:noAutofit/>
            </a:bodyPr>
            <a:lstStyle/>
            <a:p>
              <a:pPr algn="l"/>
              <a:r>
                <a:rPr sz="2400" b="0" i="0" lang="en-GB">
                  <a:solidFill>
                    <a:srgbClr val="1C325B"/>
                  </a:solidFill>
                  <a:latin typeface="Fira Sans SemiBold"/>
                </a:rPr>
                <a:t>The data set</a:t>
              </a:r>
            </a:p>
          </p:txBody>
        </p:sp>
        <p:cxnSp>
          <p:nvCxnSpPr>
            <p:cNvPr id="13" name="spec rule"/>
            <p:cNvCxnSpPr/>
            <p:nvPr/>
          </p:nvCxnSpPr>
          <p:spPr>
            <a:xfrm>
              <a:off x="8031480" y="2066544"/>
              <a:ext cx="3611880" cy="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4" name="spec label 1"/>
            <p:cNvSpPr txBox="1"/>
            <p:nvPr/>
          </p:nvSpPr>
          <p:spPr>
            <a:xfrm>
              <a:off x="8031480" y="206654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Area</a:t>
              </a:r>
            </a:p>
          </p:txBody>
        </p:sp>
        <p:sp>
          <p:nvSpPr>
            <p:cNvPr id="15" name="spec value 1"/>
            <p:cNvSpPr txBox="1"/>
            <p:nvPr/>
          </p:nvSpPr>
          <p:spPr>
            <a:xfrm>
              <a:off x="9703816" y="206654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200 m × 200 m</a:t>
              </a:r>
            </a:p>
          </p:txBody>
        </p:sp>
        <p:cxnSp>
          <p:nvCxnSpPr>
            <p:cNvPr id="16" name="spec rule"/>
            <p:cNvCxnSpPr/>
            <p:nvPr/>
          </p:nvCxnSpPr>
          <p:spPr>
            <a:xfrm>
              <a:off x="8031480" y="248217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17" name="spec label 2"/>
            <p:cNvSpPr txBox="1"/>
            <p:nvPr/>
          </p:nvSpPr>
          <p:spPr>
            <a:xfrm>
              <a:off x="8031480" y="248217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Points</a:t>
              </a:r>
            </a:p>
          </p:txBody>
        </p:sp>
        <p:sp>
          <p:nvSpPr>
            <p:cNvPr id="18" name="spec value 2"/>
            <p:cNvSpPr txBox="1"/>
            <p:nvPr/>
          </p:nvSpPr>
          <p:spPr>
            <a:xfrm>
              <a:off x="9703816" y="248217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722 961</a:t>
              </a:r>
            </a:p>
          </p:txBody>
        </p:sp>
        <p:cxnSp>
          <p:nvCxnSpPr>
            <p:cNvPr id="19" name="spec rule"/>
            <p:cNvCxnSpPr/>
            <p:nvPr/>
          </p:nvCxnSpPr>
          <p:spPr>
            <a:xfrm>
              <a:off x="8031480" y="289781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0" name="spec label 3"/>
            <p:cNvSpPr txBox="1"/>
            <p:nvPr/>
          </p:nvSpPr>
          <p:spPr>
            <a:xfrm>
              <a:off x="8031480" y="289781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Density</a:t>
              </a:r>
            </a:p>
          </p:txBody>
        </p:sp>
        <p:sp>
          <p:nvSpPr>
            <p:cNvPr id="21" name="spec value 3"/>
            <p:cNvSpPr txBox="1"/>
            <p:nvPr/>
          </p:nvSpPr>
          <p:spPr>
            <a:xfrm>
              <a:off x="9703816" y="289781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about 18 per m²</a:t>
              </a:r>
            </a:p>
          </p:txBody>
        </p:sp>
        <p:cxnSp>
          <p:nvCxnSpPr>
            <p:cNvPr id="22" name="spec rule"/>
            <p:cNvCxnSpPr/>
            <p:nvPr/>
          </p:nvCxnSpPr>
          <p:spPr>
            <a:xfrm>
              <a:off x="8031480" y="331344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3" name="spec label 4"/>
            <p:cNvSpPr txBox="1"/>
            <p:nvPr/>
          </p:nvSpPr>
          <p:spPr>
            <a:xfrm>
              <a:off x="8031480" y="331344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Source</a:t>
              </a:r>
            </a:p>
          </p:txBody>
        </p:sp>
        <p:sp>
          <p:nvSpPr>
            <p:cNvPr id="24" name="spec value 4"/>
            <p:cNvSpPr txBox="1"/>
            <p:nvPr/>
          </p:nvSpPr>
          <p:spPr>
            <a:xfrm>
              <a:off x="9703816" y="331344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AHN5, ahn.nl</a:t>
              </a:r>
            </a:p>
          </p:txBody>
        </p:sp>
        <p:cxnSp>
          <p:nvCxnSpPr>
            <p:cNvPr id="25" name="spec rule"/>
            <p:cNvCxnSpPr/>
            <p:nvPr/>
          </p:nvCxnSpPr>
          <p:spPr>
            <a:xfrm>
              <a:off x="8031480" y="372908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6" name="spec label 5"/>
            <p:cNvSpPr txBox="1"/>
            <p:nvPr/>
          </p:nvSpPr>
          <p:spPr>
            <a:xfrm>
              <a:off x="8031480" y="372908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Flown</a:t>
              </a:r>
            </a:p>
          </p:txBody>
        </p:sp>
        <p:sp>
          <p:nvSpPr>
            <p:cNvPr id="27" name="spec value 5"/>
            <p:cNvSpPr txBox="1"/>
            <p:nvPr/>
          </p:nvSpPr>
          <p:spPr>
            <a:xfrm>
              <a:off x="9703816" y="372908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April 2023, night</a:t>
              </a:r>
            </a:p>
          </p:txBody>
        </p:sp>
        <p:cxnSp>
          <p:nvCxnSpPr>
            <p:cNvPr id="28" name="spec rule"/>
            <p:cNvCxnSpPr/>
            <p:nvPr/>
          </p:nvCxnSpPr>
          <p:spPr>
            <a:xfrm>
              <a:off x="8031480" y="414471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9" name="spec label 6"/>
            <p:cNvSpPr txBox="1"/>
            <p:nvPr/>
          </p:nvSpPr>
          <p:spPr>
            <a:xfrm>
              <a:off x="8031480" y="414471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File</a:t>
              </a:r>
            </a:p>
          </p:txBody>
        </p:sp>
        <p:sp>
          <p:nvSpPr>
            <p:cNvPr id="30" name="spec value 6"/>
            <p:cNvSpPr txBox="1"/>
            <p:nvPr/>
          </p:nvSpPr>
          <p:spPr>
            <a:xfrm>
              <a:off x="9703816" y="414471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LAZ, 4.3 MB</a:t>
              </a:r>
            </a:p>
          </p:txBody>
        </p:sp>
        <p:cxnSp>
          <p:nvCxnSpPr>
            <p:cNvPr id="31" name="spec rule"/>
            <p:cNvCxnSpPr/>
            <p:nvPr/>
          </p:nvCxnSpPr>
          <p:spPr>
            <a:xfrm>
              <a:off x="8031480" y="456035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2" name="spec label 7"/>
            <p:cNvSpPr txBox="1"/>
            <p:nvPr/>
          </p:nvSpPr>
          <p:spPr>
            <a:xfrm>
              <a:off x="8031480" y="456035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Coordinates</a:t>
              </a:r>
            </a:p>
          </p:txBody>
        </p:sp>
        <p:sp>
          <p:nvSpPr>
            <p:cNvPr id="33" name="spec value 7"/>
            <p:cNvSpPr txBox="1"/>
            <p:nvPr/>
          </p:nvSpPr>
          <p:spPr>
            <a:xfrm>
              <a:off x="9703816" y="456035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RD New + NAP</a:t>
              </a:r>
            </a:p>
          </p:txBody>
        </p:sp>
        <p:cxnSp>
          <p:nvCxnSpPr>
            <p:cNvPr id="34" name="spec rule"/>
            <p:cNvCxnSpPr/>
            <p:nvPr/>
          </p:nvCxnSpPr>
          <p:spPr>
            <a:xfrm>
              <a:off x="8031480" y="497598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5" name="spec label 8"/>
            <p:cNvSpPr txBox="1"/>
            <p:nvPr/>
          </p:nvSpPr>
          <p:spPr>
            <a:xfrm>
              <a:off x="8031480" y="497598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Licence</a:t>
              </a:r>
            </a:p>
          </p:txBody>
        </p:sp>
        <p:sp>
          <p:nvSpPr>
            <p:cNvPr id="36" name="spec value 8"/>
            <p:cNvSpPr txBox="1"/>
            <p:nvPr/>
          </p:nvSpPr>
          <p:spPr>
            <a:xfrm>
              <a:off x="9703816" y="497598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hlinkClick r:id="rId4">
                    <a:extLst>
                      <a:ext uri="{A12FA001-AC4F-418D-AE19-62706E023703}">
                        <ahyp:hlinkClr xmlns:ahyp="http://schemas.microsoft.com/office/drawing/2018/hyperlinkcolor" val="tx"/>
                      </a:ext>
                    </a:extLst>
                  </a:hlinkClick>
                </a:rPr>
                <a:t>CC BY 4.0</a:t>
              </a:r>
            </a:p>
          </p:txBody>
        </p:sp>
      </p:grpSp>
      <p:sp>
        <p:nvSpPr>
          <p:cNvPr id="37" name="Support"/>
          <p:cNvSpPr txBox="1"/>
          <p:nvPr/>
        </p:nvSpPr>
        <p:spPr>
          <a:xfrm>
            <a:off x="548640" y="5574504"/>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Goal: ground, buildings, vegetation, street furniture; scored against AHN.</a:t>
            </a:r>
            <a:endParaRPr lang="en-GB" sz="2000"/>
          </a:p>
        </p:txBody>
      </p:sp>
      <p:sp>
        <p:nvSpPr>
          <p:cNvPr id="38"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point cloud is just</a:t>
            </a:r>
            <a:br/>
            <a:r>
              <a:rPr lang="en-GB"/>
              <a:t>an N×3 array</a:t>
            </a:r>
          </a:p>
        </p:txBody>
      </p:sp>
      <p:pic>
        <p:nvPicPr>
          <p:cNvPr id="4" name="Render closeup" descr="Close-up of the same point cloud, aimed at trees beside the hall, with individual points visible as small squares, next to a Python session showing that the point cloud is an array of 722 961 rows and 3 columns."/>
          <p:cNvPicPr>
            <a:picLocks noGrp="1" noChangeAspect="1"/>
          </p:cNvPicPr>
          <p:nvPr>
            <p:ph type="pic" idx="18"/>
          </p:nvPr>
        </p:nvPicPr>
        <p:blipFill>
          <a:blip r:embed="rId2"/>
          <a:srcRect/>
          <a:stretch>
            <a:fillRect/>
          </a:stretch>
        </p:blipFill>
        <p:spPr>
          <a:xfrm>
            <a:off x="6619722" y="548640"/>
            <a:ext cx="5023638" cy="5668992"/>
          </a:xfrm>
        </p:spPr>
      </p:pic>
      <p:grpSp>
        <p:nvGrpSpPr>
          <p:cNvPr id="3" name="Key line 4">
            <a:extLst>
              <a:ext uri="{C183D7F6-B498-43B3-948B-1728B52AA6E4}">
                <adec:decorative xmlns:adec="http://schemas.microsoft.com/office/drawing/2017/decorative" val="1"/>
              </a:ext>
            </a:extLst>
          </p:cNvPr>
          <p:cNvGrpSpPr/>
          <p:nvPr/>
        </p:nvGrpSpPr>
        <p:grpSpPr>
          <a:xfrm>
            <a:off x="402336" y="2811780"/>
            <a:ext cx="5760186" cy="266700"/>
            <a:chOff x="402336" y="2811780"/>
            <a:chExt cx="5760186" cy="266700"/>
          </a:xfrm>
        </p:grpSpPr>
        <p:sp>
          <p:nvSpPr>
            <p:cNvPr id="7" name="Key line bar"/>
            <p:cNvSpPr/>
            <p:nvPr/>
          </p:nvSpPr>
          <p:spPr>
            <a:xfrm>
              <a:off x="402336" y="28117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8117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REPL"/>
          <p:cNvSpPr txBox="1"/>
          <p:nvPr/>
        </p:nvSpPr>
        <p:spPr>
          <a:xfrm>
            <a:off x="402336" y="1965960"/>
            <a:ext cx="5760186" cy="16916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1" lang="en-GB" noProof="1">
                <a:solidFill>
                  <a:srgbClr val="1C325B"/>
                </a:solidFill>
                <a:latin typeface="Fira Mono" pitchFamily="49"/>
              </a:rPr>
              <a:t>import</a:t>
            </a:r>
            <a:r>
              <a:rPr sz="1800" b="0" lang="en-GB" noProof="1">
                <a:solidFill>
                  <a:srgbClr val="263238"/>
                </a:solidFill>
                <a:latin typeface="Fira Mono" pitchFamily="49"/>
              </a:rPr>
              <a:t> laspy</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0" lang="en-GB" noProof="1">
                <a:solidFill>
                  <a:srgbClr val="263238"/>
                </a:solidFill>
                <a:latin typeface="Fira Mono" pitchFamily="49"/>
              </a:rPr>
              <a:t>las = laspy.read(</a:t>
            </a:r>
            <a:r>
              <a:rPr sz="1800" b="0" lang="en-GB" noProof="1">
                <a:solidFill>
                  <a:srgbClr val="2B6797"/>
                </a:solidFill>
                <a:latin typeface="Fira Mono" pitchFamily="49"/>
              </a:rPr>
              <a:t>"crop.laz"</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0" lang="en-GB" noProof="1">
                <a:solidFill>
                  <a:srgbClr val="263238"/>
                </a:solidFill>
                <a:latin typeface="Fira Mono" pitchFamily="49"/>
              </a:rPr>
              <a:t>las.xyz.shape</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(722961, 3)</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0" lang="en-GB" noProof="1">
                <a:solidFill>
                  <a:srgbClr val="263238"/>
                </a:solidFill>
                <a:latin typeface="Fira Mono" pitchFamily="49"/>
              </a:rPr>
              <a:t>las.classification[:5]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array([6, 6, 6, 6, 6], dtype=uint8)</a:t>
            </a:r>
            <a:endParaRPr lang="en-GB" sz="1800"/>
          </a:p>
        </p:txBody>
      </p:sp>
      <p:sp>
        <p:nvSpPr>
          <p:cNvPr id="10" name="Support"/>
          <p:cNvSpPr txBox="1"/>
          <p:nvPr/>
        </p:nvSpPr>
        <p:spPr>
          <a:xfrm>
            <a:off x="548640" y="397764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Plus one column per attribute:</a:t>
            </a:r>
            <a:endParaRPr lang="en-GB" sz="2000"/>
          </a:p>
          <a:p>
            <a:pPr marL="0" indent="0" algn="l">
              <a:spcBef>
                <a:spcPts val="0"/>
              </a:spcBef>
              <a:spcAft>
                <a:spcPts val="0"/>
              </a:spcAft>
              <a:buNone/>
            </a:pPr>
            <a:r>
              <a:rPr sz="2000" b="0" lang="en-GB">
                <a:solidFill>
                  <a:srgbClr val="263238"/>
                </a:solidFill>
                <a:latin typeface="+mn-lt"/>
              </a:rPr>
              <a:t>intensity, returns, class.</a:t>
            </a:r>
            <a:endParaRPr lang="en-GB" sz="2000"/>
          </a:p>
        </p:txBody>
      </p:sp>
      <p:sp>
        <p:nvSpPr>
          <p:cNvPr id="11" name="Source"/>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Four rules of thumb for 3D data</a:t>
            </a:r>
          </a:p>
        </p:txBody>
      </p:sp>
      <p:grpSp>
        <p:nvGrpSpPr>
          <p:cNvPr id="3" name="Rules of thumb" descr="Four tiles, one rule of thumb each. 1 Think in arrays, not points: a point cloud is an N by 3 table plus attribute columns. 2 Look before you compute: render it; check units, coordinates and classes. 3 Make it small first: crop, tile and downsample; scale up last. 4 Let compiled code loop: one call per array or tile, never per point."/>
          <p:cNvGrpSpPr/>
          <p:nvPr/>
        </p:nvGrpSpPr>
        <p:grpSpPr>
          <a:xfrm>
            <a:off x="548640" y="1600200"/>
            <a:ext cx="11094720" cy="4480272"/>
            <a:chOff x="548640" y="1600200"/>
            <a:chExt cx="11094720" cy="4480272"/>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 not</a:t>
              </a:r>
            </a:p>
            <a:p>
              <a:pPr algn="l"/>
              <a:r>
                <a:rPr sz="2800" b="0" i="0" lang="en-GB">
                  <a:solidFill>
                    <a:srgbClr val="1C325B"/>
                  </a:solidFill>
                  <a:latin typeface="Fira Sans SemiBold"/>
                </a:rPr>
                <a:t>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A point cloud is an N×3 table plus attribute columns.</a:t>
              </a:r>
            </a:p>
          </p:txBody>
        </p:sp>
        <p:sp>
          <p:nvSpPr>
            <p:cNvPr id="10"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2" name="rule head 2"/>
            <p:cNvSpPr txBox="1"/>
            <p:nvPr/>
          </p:nvSpPr>
          <p:spPr>
            <a:xfrm>
              <a:off x="729386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13" name="rule text 2"/>
            <p:cNvSpPr txBox="1"/>
            <p:nvPr/>
          </p:nvSpPr>
          <p:spPr>
            <a:xfrm>
              <a:off x="7293864" y="2791968"/>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Render it; check units, coordinates and classes.</a:t>
              </a:r>
            </a:p>
          </p:txBody>
        </p:sp>
        <p:sp>
          <p:nvSpPr>
            <p:cNvPr id="14"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6"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7"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63238"/>
                  </a:solidFill>
                  <a:latin typeface="Fira Sans"/>
                </a:rPr>
                <a:t>Crop, tile and downsample; scale up last.</a:t>
              </a:r>
            </a:p>
          </p:txBody>
        </p:sp>
        <p:sp>
          <p:nvSpPr>
            <p:cNvPr id="18"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0" name="rule head 4"/>
            <p:cNvSpPr txBox="1"/>
            <p:nvPr/>
          </p:nvSpPr>
          <p:spPr>
            <a:xfrm>
              <a:off x="729386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 loop</a:t>
              </a:r>
            </a:p>
          </p:txBody>
        </p:sp>
        <p:sp>
          <p:nvSpPr>
            <p:cNvPr id="21" name="rule text 4"/>
            <p:cNvSpPr txBox="1"/>
            <p:nvPr/>
          </p:nvSpPr>
          <p:spPr>
            <a:xfrm>
              <a:off x="7293864" y="4855320"/>
              <a:ext cx="4120896" cy="1042272"/>
            </a:xfrm>
            <a:prstGeom prst="rect">
              <a:avLst/>
            </a:prstGeom>
            <a:noFill/>
          </p:spPr>
          <p:txBody>
            <a:bodyPr wrap="square" anchor="t" lIns="0" tIns="0" rIns="0" bIns="0">
              <a:noAutofit/>
            </a:bodyPr>
            <a:lstStyle/>
            <a:p>
              <a:pPr algn="l"/>
              <a:r>
                <a:rPr sz="2400" b="0" i="0" lang="en-GB">
                  <a:solidFill>
                    <a:srgbClr val="263238"/>
                  </a:solidFill>
                  <a:latin typeface="Fira Sans"/>
                </a:rPr>
                <a:t>One call per array or tile, never per point.</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No single library does the whole job</a:t>
            </a:r>
          </a:p>
        </p:txBody>
      </p:sp>
      <p:grpSp>
        <p:nvGrpSpPr>
          <p:cNvPr id="3" name="ecosystem_map" descr="Diagram: six pipeline steps in a row. Under each step, the library that does it: laspy under Load, Open3D across voxel downsampling, ground removal and clustering, SciPy KDTree under clustering, labelling and visualisation, PyVista under visualisation, NumPy under all six steps, the arrays every step passes on. PyTorch3D and trimesh sit apart, dashed, marked not in this pipeline."/>
          <p:cNvGrpSpPr/>
          <p:nvPr/>
        </p:nvGrpSpPr>
        <p:grpSpPr>
          <a:xfrm>
            <a:off x="548640" y="1600200"/>
            <a:ext cx="11094720" cy="4617432"/>
            <a:chOff x="548640" y="1600200"/>
            <a:chExt cx="11094720" cy="4617432"/>
          </a:xfrm>
        </p:grpSpPr>
        <p:sp>
          <p:nvSpPr>
            <p:cNvPr id="6" name="eco_step_1"/>
            <p:cNvSpPr txBox="1"/>
            <p:nvPr/>
          </p:nvSpPr>
          <p:spPr>
            <a:xfrm>
              <a:off x="548640"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Load</a:t>
              </a:r>
            </a:p>
          </p:txBody>
        </p:sp>
        <p:cxnSp>
          <p:nvCxnSpPr>
            <p:cNvPr id="7" name="eco_rule_1"/>
            <p:cNvCxnSpPr/>
            <p:nvPr/>
          </p:nvCxnSpPr>
          <p:spPr>
            <a:xfrm>
              <a:off x="548640"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8" name="eco_step_2"/>
            <p:cNvSpPr txBox="1"/>
            <p:nvPr/>
          </p:nvSpPr>
          <p:spPr>
            <a:xfrm>
              <a:off x="2409952"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Voxel</a:t>
              </a:r>
            </a:p>
            <a:p>
              <a:pPr algn="ctr"/>
              <a:r>
                <a:rPr sz="2000" b="1" i="0" lang="en-GB">
                  <a:solidFill>
                    <a:srgbClr val="263238"/>
                  </a:solidFill>
                  <a:latin typeface="Fira Sans"/>
                </a:rPr>
                <a:t>downsampling</a:t>
              </a:r>
            </a:p>
          </p:txBody>
        </p:sp>
        <p:cxnSp>
          <p:nvCxnSpPr>
            <p:cNvPr id="9" name="eco_rule_2"/>
            <p:cNvCxnSpPr/>
            <p:nvPr/>
          </p:nvCxnSpPr>
          <p:spPr>
            <a:xfrm>
              <a:off x="2409952"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0" name="eco_step_3"/>
            <p:cNvSpPr txBox="1"/>
            <p:nvPr/>
          </p:nvSpPr>
          <p:spPr>
            <a:xfrm>
              <a:off x="4271264"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Ground</a:t>
              </a:r>
            </a:p>
            <a:p>
              <a:pPr algn="ctr"/>
              <a:r>
                <a:rPr sz="2000" b="1" i="0" lang="en-GB">
                  <a:solidFill>
                    <a:srgbClr val="263238"/>
                  </a:solidFill>
                  <a:latin typeface="Fira Sans"/>
                </a:rPr>
                <a:t>removal</a:t>
              </a:r>
            </a:p>
          </p:txBody>
        </p:sp>
        <p:cxnSp>
          <p:nvCxnSpPr>
            <p:cNvPr id="11" name="eco_rule_3"/>
            <p:cNvCxnSpPr/>
            <p:nvPr/>
          </p:nvCxnSpPr>
          <p:spPr>
            <a:xfrm>
              <a:off x="4271264"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2" name="eco_step_4"/>
            <p:cNvSpPr txBox="1"/>
            <p:nvPr/>
          </p:nvSpPr>
          <p:spPr>
            <a:xfrm>
              <a:off x="6132576"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Clustering</a:t>
              </a:r>
            </a:p>
          </p:txBody>
        </p:sp>
        <p:cxnSp>
          <p:nvCxnSpPr>
            <p:cNvPr id="13" name="eco_rule_4"/>
            <p:cNvCxnSpPr/>
            <p:nvPr/>
          </p:nvCxnSpPr>
          <p:spPr>
            <a:xfrm>
              <a:off x="6132576"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4" name="eco_step_5"/>
            <p:cNvSpPr txBox="1"/>
            <p:nvPr/>
          </p:nvSpPr>
          <p:spPr>
            <a:xfrm>
              <a:off x="7993888"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Labelling</a:t>
              </a:r>
            </a:p>
          </p:txBody>
        </p:sp>
        <p:cxnSp>
          <p:nvCxnSpPr>
            <p:cNvPr id="15" name="eco_rule_5"/>
            <p:cNvCxnSpPr/>
            <p:nvPr/>
          </p:nvCxnSpPr>
          <p:spPr>
            <a:xfrm>
              <a:off x="7993888"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6" name="eco_step_6"/>
            <p:cNvSpPr txBox="1"/>
            <p:nvPr/>
          </p:nvSpPr>
          <p:spPr>
            <a:xfrm>
              <a:off x="9855200"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Visualisation</a:t>
              </a:r>
            </a:p>
          </p:txBody>
        </p:sp>
        <p:cxnSp>
          <p:nvCxnSpPr>
            <p:cNvPr id="17" name="eco_rule_6"/>
            <p:cNvCxnSpPr/>
            <p:nvPr/>
          </p:nvCxnSpPr>
          <p:spPr>
            <a:xfrm>
              <a:off x="9855200"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8" name="eco_lib_laspy"/>
            <p:cNvSpPr/>
            <p:nvPr/>
          </p:nvSpPr>
          <p:spPr>
            <a:xfrm>
              <a:off x="548640" y="2472595"/>
              <a:ext cx="1788160"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laspy</a:t>
              </a:r>
            </a:p>
            <a:p>
              <a:pPr algn="l">
                <a:spcBef>
                  <a:spcPts val="200"/>
                </a:spcBef>
              </a:pPr>
              <a:r>
                <a:rPr sz="2000" b="0" i="0" lang="en-GB">
                  <a:solidFill>
                    <a:srgbClr val="455A64"/>
                  </a:solidFill>
                  <a:latin typeface="Fira Sans"/>
                </a:rPr>
                <a:t>LAS/LAZ in and out</a:t>
              </a:r>
            </a:p>
          </p:txBody>
        </p:sp>
        <p:sp>
          <p:nvSpPr>
            <p:cNvPr id="19" name="eco_lib_Open3D"/>
            <p:cNvSpPr/>
            <p:nvPr/>
          </p:nvSpPr>
          <p:spPr>
            <a:xfrm>
              <a:off x="2409952" y="2472595"/>
              <a:ext cx="5510784"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Open3D</a:t>
              </a:r>
            </a:p>
            <a:p>
              <a:pPr algn="l">
                <a:spcBef>
                  <a:spcPts val="200"/>
                </a:spcBef>
              </a:pPr>
              <a:r>
                <a:rPr sz="2000" b="0" i="0" lang="en-GB">
                  <a:solidFill>
                    <a:srgbClr val="455A64"/>
                  </a:solidFill>
                  <a:latin typeface="Fira Sans"/>
                </a:rPr>
                <a:t>downsampling, planes, DBSCAN</a:t>
              </a:r>
            </a:p>
          </p:txBody>
        </p:sp>
        <p:sp>
          <p:nvSpPr>
            <p:cNvPr id="20" name="eco_lib_SciPy KDTree"/>
            <p:cNvSpPr/>
            <p:nvPr/>
          </p:nvSpPr>
          <p:spPr>
            <a:xfrm>
              <a:off x="6132576" y="3651317"/>
              <a:ext cx="5510784" cy="763016"/>
            </a:xfrm>
            <a:prstGeom prst="roundRect">
              <a:avLst>
                <a:gd name="adj" fmla="val 9587"/>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SciPy KDTree</a:t>
              </a:r>
            </a:p>
            <a:p>
              <a:pPr algn="l">
                <a:spcBef>
                  <a:spcPts val="200"/>
                </a:spcBef>
              </a:pPr>
              <a:r>
                <a:rPr sz="2000" b="0" i="0" lang="en-GB">
                  <a:solidFill>
                    <a:srgbClr val="455A64"/>
                  </a:solidFill>
                  <a:latin typeface="Fira Sans"/>
                </a:rPr>
                <a:t>batch neighbour queries</a:t>
              </a:r>
            </a:p>
          </p:txBody>
        </p:sp>
        <p:sp>
          <p:nvSpPr>
            <p:cNvPr id="21" name="eco_lib_PyVista"/>
            <p:cNvSpPr/>
            <p:nvPr/>
          </p:nvSpPr>
          <p:spPr>
            <a:xfrm>
              <a:off x="9855200" y="2472595"/>
              <a:ext cx="1788160"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PyVista</a:t>
              </a:r>
            </a:p>
            <a:p>
              <a:pPr algn="l">
                <a:spcBef>
                  <a:spcPts val="200"/>
                </a:spcBef>
              </a:pPr>
              <a:r>
                <a:rPr sz="2000" b="0" i="0" lang="en-GB">
                  <a:solidFill>
                    <a:srgbClr val="455A64"/>
                  </a:solidFill>
                  <a:latin typeface="Fira Sans"/>
                </a:rPr>
                <a:t>off-screen renders</a:t>
              </a:r>
            </a:p>
          </p:txBody>
        </p:sp>
        <p:sp>
          <p:nvSpPr>
            <p:cNvPr id="22" name="eco_lib_NumPy"/>
            <p:cNvSpPr/>
            <p:nvPr/>
          </p:nvSpPr>
          <p:spPr>
            <a:xfrm>
              <a:off x="548640" y="4525240"/>
              <a:ext cx="11094720" cy="763016"/>
            </a:xfrm>
            <a:prstGeom prst="roundRect">
              <a:avLst>
                <a:gd name="adj" fmla="val 9587"/>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NumPy</a:t>
              </a:r>
            </a:p>
            <a:p>
              <a:pPr algn="l">
                <a:spcBef>
                  <a:spcPts val="200"/>
                </a:spcBef>
              </a:pPr>
              <a:r>
                <a:rPr sz="2000" b="0" i="0" lang="en-GB">
                  <a:solidFill>
                    <a:srgbClr val="455A64"/>
                  </a:solidFill>
                  <a:latin typeface="Fira Sans"/>
                </a:rPr>
                <a:t>the arrays every step passes on</a:t>
              </a:r>
            </a:p>
          </p:txBody>
        </p:sp>
        <p:sp>
          <p:nvSpPr>
            <p:cNvPr id="23" name="eco_note_1"/>
            <p:cNvSpPr txBox="1"/>
            <p:nvPr/>
          </p:nvSpPr>
          <p:spPr>
            <a:xfrm>
              <a:off x="548640" y="5454616"/>
              <a:ext cx="2440432" cy="763016"/>
            </a:xfrm>
            <a:prstGeom prst="rect">
              <a:avLst/>
            </a:prstGeom>
            <a:noFill/>
          </p:spPr>
          <p:txBody>
            <a:bodyPr wrap="square" anchor="ctr" lIns="0" tIns="0" rIns="0" bIns="0">
              <a:noAutofit/>
            </a:bodyPr>
            <a:lstStyle/>
            <a:p>
              <a:pPr algn="l"/>
              <a:r>
                <a:rPr sz="2000" b="0" i="0" lang="en-GB">
                  <a:solidFill>
                    <a:srgbClr val="455A64"/>
                  </a:solidFill>
                  <a:latin typeface="Fira Sans"/>
                </a:rPr>
                <a:t>Not in this pipeline</a:t>
              </a:r>
            </a:p>
          </p:txBody>
        </p:sp>
        <p:sp>
          <p:nvSpPr>
            <p:cNvPr id="24" name="eco_apart_trimesh"/>
            <p:cNvSpPr/>
            <p:nvPr/>
          </p:nvSpPr>
          <p:spPr>
            <a:xfrm>
              <a:off x="2989072" y="5454616"/>
              <a:ext cx="4290568" cy="763016"/>
            </a:xfrm>
            <a:prstGeom prst="roundRect">
              <a:avLst>
                <a:gd name="adj" fmla="val 9587"/>
              </a:avLst>
            </a:prstGeom>
            <a:no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tIns="64008" rIns="109728" bIns="64008">
              <a:noAutofit/>
            </a:bodyPr>
            <a:lstStyle/>
            <a:p>
              <a:pPr algn="l"/>
              <a:r>
                <a:rPr sz="2000" b="1" i="0" lang="en-GB">
                  <a:solidFill>
                    <a:srgbClr val="455A64"/>
                  </a:solidFill>
                  <a:latin typeface="Fira Sans"/>
                </a:rPr>
                <a:t>trimesh</a:t>
              </a:r>
            </a:p>
            <a:p>
              <a:pPr algn="l">
                <a:spcBef>
                  <a:spcPts val="200"/>
                </a:spcBef>
              </a:pPr>
              <a:r>
                <a:rPr sz="2000" b="0" i="0" lang="en-GB">
                  <a:solidFill>
                    <a:srgbClr val="455A64"/>
                  </a:solidFill>
                  <a:latin typeface="Fira Sans"/>
                </a:rPr>
                <a:t>meshes, hulls, oriented boxes</a:t>
              </a:r>
            </a:p>
          </p:txBody>
        </p:sp>
        <p:sp>
          <p:nvSpPr>
            <p:cNvPr id="25" name="eco_apart_PyTorch3D"/>
            <p:cNvSpPr/>
            <p:nvPr/>
          </p:nvSpPr>
          <p:spPr>
            <a:xfrm>
              <a:off x="7352792" y="5454616"/>
              <a:ext cx="4290568" cy="763016"/>
            </a:xfrm>
            <a:prstGeom prst="roundRect">
              <a:avLst>
                <a:gd name="adj" fmla="val 9587"/>
              </a:avLst>
            </a:prstGeom>
            <a:no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tIns="64008" rIns="109728" bIns="64008">
              <a:noAutofit/>
            </a:bodyPr>
            <a:lstStyle/>
            <a:p>
              <a:pPr algn="l"/>
              <a:r>
                <a:rPr sz="2000" b="1" i="0" lang="en-GB">
                  <a:solidFill>
                    <a:srgbClr val="455A64"/>
                  </a:solidFill>
                  <a:latin typeface="Fira Sans"/>
                </a:rPr>
                <a:t>PyTorch3D</a:t>
              </a:r>
            </a:p>
            <a:p>
              <a:pPr algn="l">
                <a:spcBef>
                  <a:spcPts val="200"/>
                </a:spcBef>
              </a:pPr>
              <a:r>
                <a:rPr sz="2000" b="0" i="0" lang="en-GB">
                  <a:solidFill>
                    <a:srgbClr val="455A64"/>
                  </a:solidFill>
                  <a:latin typeface="Fira Sans"/>
                </a:rPr>
                <a:t>differentiable 3D for training</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laspy loads, Open3D computes, PyVista draws</a:t>
            </a:r>
          </a:p>
        </p:txBody>
      </p:sp>
      <p:grpSp>
        <p:nvGrpSpPr>
          <p:cNvPr id="3" name="chain" descr="Chain: laspy, then NumPy, then Open3D, then PyVista."/>
          <p:cNvGrpSpPr/>
          <p:nvPr/>
        </p:nvGrpSpPr>
        <p:grpSpPr>
          <a:xfrm>
            <a:off x="548640" y="1600200"/>
            <a:ext cx="11094720" cy="685800"/>
            <a:chOff x="548640" y="1600200"/>
            <a:chExt cx="11094720" cy="685800"/>
          </a:xfrm>
        </p:grpSpPr>
        <p:sp>
          <p:nvSpPr>
            <p:cNvPr id="6" name="chain_1"/>
            <p:cNvSpPr/>
            <p:nvPr/>
          </p:nvSpPr>
          <p:spPr>
            <a:xfrm>
              <a:off x="54864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laspy</a:t>
              </a:r>
            </a:p>
          </p:txBody>
        </p:sp>
        <p:sp>
          <p:nvSpPr>
            <p:cNvPr id="7" name="chain_sep_1">
              <a:extLst>
                <a:ext uri="{C183D7F6-B498-43B3-948B-1728B52AA6E4}">
                  <adec:decorative xmlns:adec="http://schemas.microsoft.com/office/drawing/2017/decorative" val="1"/>
                </a:ext>
              </a:extLst>
            </p:cNvPr>
            <p:cNvSpPr/>
            <p:nvPr/>
          </p:nvSpPr>
          <p:spPr>
            <a:xfrm>
              <a:off x="3070860" y="1824228"/>
              <a:ext cx="274320" cy="237744"/>
            </a:xfrm>
            <a:prstGeom prst="rightArrow">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ain_2"/>
            <p:cNvSpPr/>
            <p:nvPr/>
          </p:nvSpPr>
          <p:spPr>
            <a:xfrm>
              <a:off x="343662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NumPy</a:t>
              </a:r>
            </a:p>
          </p:txBody>
        </p:sp>
        <p:sp>
          <p:nvSpPr>
            <p:cNvPr id="9" name="chain_sep_2">
              <a:extLst>
                <a:ext uri="{C183D7F6-B498-43B3-948B-1728B52AA6E4}">
                  <adec:decorative xmlns:adec="http://schemas.microsoft.com/office/drawing/2017/decorative" val="1"/>
                </a:ext>
              </a:extLst>
            </p:cNvPr>
            <p:cNvSpPr/>
            <p:nvPr/>
          </p:nvSpPr>
          <p:spPr>
            <a:xfrm>
              <a:off x="5958840" y="1824228"/>
              <a:ext cx="274320" cy="237744"/>
            </a:xfrm>
            <a:prstGeom prst="rightArrow">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ain_3"/>
            <p:cNvSpPr/>
            <p:nvPr/>
          </p:nvSpPr>
          <p:spPr>
            <a:xfrm>
              <a:off x="632460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Open3D</a:t>
              </a:r>
            </a:p>
          </p:txBody>
        </p:sp>
        <p:sp>
          <p:nvSpPr>
            <p:cNvPr id="11" name="chain_sep_3">
              <a:extLst>
                <a:ext uri="{C183D7F6-B498-43B3-948B-1728B52AA6E4}">
                  <adec:decorative xmlns:adec="http://schemas.microsoft.com/office/drawing/2017/decorative" val="1"/>
                </a:ext>
              </a:extLst>
            </p:cNvPr>
            <p:cNvSpPr/>
            <p:nvPr/>
          </p:nvSpPr>
          <p:spPr>
            <a:xfrm>
              <a:off x="8846820" y="1824228"/>
              <a:ext cx="274320" cy="237744"/>
            </a:xfrm>
            <a:prstGeom prst="rightArrow">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hain_4"/>
            <p:cNvSpPr/>
            <p:nvPr/>
          </p:nvSpPr>
          <p:spPr>
            <a:xfrm>
              <a:off x="921258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PyVista</a:t>
              </a:r>
            </a:p>
          </p:txBody>
        </p:sp>
      </p:grpSp>
      <p:cxnSp>
        <p:nvCxnSpPr>
          <p:cNvPr id="13" name="Chain tick 1">
            <a:extLst>
              <a:ext uri="{C183D7F6-B498-43B3-948B-1728B52AA6E4}">
                <adec:decorative xmlns:adec="http://schemas.microsoft.com/office/drawing/2017/decorative" val="1"/>
              </a:ext>
            </a:extLst>
          </p:cNvPr>
          <p:cNvCxnSpPr/>
          <p:nvPr/>
        </p:nvCxnSpPr>
        <p:spPr>
          <a:xfrm>
            <a:off x="176403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pic>
        <p:nvPicPr>
          <p:cNvPr id="14" name="Chain image 1" descr="Close-up render of the crop: single points as laspy reads them."/>
          <p:cNvPicPr>
            <a:picLocks noChangeAspect="1"/>
          </p:cNvPicPr>
          <p:nvPr/>
        </p:nvPicPr>
        <p:blipFill>
          <a:blip r:embed="rId2"/>
          <a:stretch>
            <a:fillRect/>
          </a:stretch>
        </p:blipFill>
        <p:spPr>
          <a:xfrm>
            <a:off x="548640" y="2560320"/>
            <a:ext cx="2430780" cy="2743046"/>
          </a:xfrm>
          <a:prstGeom prst="rect">
            <a:avLst/>
          </a:prstGeom>
        </p:spPr>
      </p:pic>
      <p:sp>
        <p:nvSpPr>
          <p:cNvPr id="15" name="Chain caption 1"/>
          <p:cNvSpPr txBox="1"/>
          <p:nvPr/>
        </p:nvSpPr>
        <p:spPr>
          <a:xfrm>
            <a:off x="548640" y="5394806"/>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reads the LAZ file</a:t>
            </a:r>
            <a:endParaRPr lang="en-GB" sz="2000"/>
          </a:p>
        </p:txBody>
      </p:sp>
      <p:cxnSp>
        <p:nvCxnSpPr>
          <p:cNvPr id="16" name="Chain tick 2">
            <a:extLst>
              <a:ext uri="{C183D7F6-B498-43B3-948B-1728B52AA6E4}">
                <adec:decorative xmlns:adec="http://schemas.microsoft.com/office/drawing/2017/decorative" val="1"/>
              </a:ext>
            </a:extLst>
          </p:cNvPr>
          <p:cNvCxnSpPr/>
          <p:nvPr/>
        </p:nvCxnSpPr>
        <p:spPr>
          <a:xfrm>
            <a:off x="465201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7" name="Chain image 2" descr="The first three rows of the crop's xyz array in local metres, shape 722961 by 3, float64."/>
          <p:cNvSpPr/>
          <p:nvPr/>
        </p:nvSpPr>
        <p:spPr>
          <a:xfrm>
            <a:off x="3436620" y="2560320"/>
            <a:ext cx="2430780" cy="2743046"/>
          </a:xfrm>
          <a:prstGeom prst="roundRect">
            <a:avLst>
              <a:gd name="adj" fmla="val 3009"/>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ode array 2" descr="The first three rows of the crop's xyz array in local metres, shape 722961 by 3, float64."/>
          <p:cNvSpPr txBox="1"/>
          <p:nvPr/>
        </p:nvSpPr>
        <p:spPr>
          <a:xfrm>
            <a:off x="3454146" y="2819323"/>
            <a:ext cx="2395728" cy="22250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    x     y    z</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199.6 199.9 26.3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199.2 199.9 26.4</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199.4 199.7 26.4</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   ...  ...</a:t>
            </a:r>
            <a:endParaRPr lang="en-GB" sz="1800"/>
          </a:p>
          <a:p>
            <a:pPr marL="0" indent="0" algn="l">
              <a:lnSpc>
                <a:spcPts val="2100"/>
              </a:lnSpc>
              <a:spcBef>
                <a:spcPts val="0"/>
              </a:spcBef>
              <a:spcAft>
                <a:spcPts val="0"/>
              </a:spcAft>
              <a:buNone/>
            </a:pP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(722961, 3)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float64</a:t>
            </a:r>
            <a:endParaRPr lang="en-GB" sz="1800"/>
          </a:p>
        </p:txBody>
      </p:sp>
      <p:sp>
        <p:nvSpPr>
          <p:cNvPr id="19" name="Chain caption 2"/>
          <p:cNvSpPr txBox="1"/>
          <p:nvPr/>
        </p:nvSpPr>
        <p:spPr>
          <a:xfrm>
            <a:off x="3436620" y="5394806"/>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holds the N×3 array</a:t>
            </a:r>
            <a:endParaRPr lang="en-GB" sz="2000"/>
          </a:p>
        </p:txBody>
      </p:sp>
      <p:cxnSp>
        <p:nvCxnSpPr>
          <p:cNvPr id="20" name="Chain tick 3">
            <a:extLst>
              <a:ext uri="{C183D7F6-B498-43B3-948B-1728B52AA6E4}">
                <adec:decorative xmlns:adec="http://schemas.microsoft.com/office/drawing/2017/decorative" val="1"/>
              </a:ext>
            </a:extLst>
          </p:cNvPr>
          <p:cNvCxnSpPr/>
          <p:nvPr/>
        </p:nvCxnSpPr>
        <p:spPr>
          <a:xfrm>
            <a:off x="753999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pic>
        <p:nvPicPr>
          <p:cNvPr id="21" name="Chain image 3" descr="The clusters render of slide 14: ground grey, each cluster in one of four colours."/>
          <p:cNvPicPr>
            <a:picLocks noChangeAspect="1"/>
          </p:cNvPicPr>
          <p:nvPr/>
        </p:nvPicPr>
        <p:blipFill>
          <a:blip r:embed="rId3"/>
          <a:stretch>
            <a:fillRect/>
          </a:stretch>
        </p:blipFill>
        <p:spPr>
          <a:xfrm>
            <a:off x="6324600" y="2560320"/>
            <a:ext cx="2430780" cy="2743046"/>
          </a:xfrm>
          <a:prstGeom prst="rect">
            <a:avLst/>
          </a:prstGeom>
        </p:spPr>
      </p:pic>
      <p:sp>
        <p:nvSpPr>
          <p:cNvPr id="22" name="Chain caption 3"/>
          <p:cNvSpPr txBox="1"/>
          <p:nvPr/>
        </p:nvSpPr>
        <p:spPr>
          <a:xfrm>
            <a:off x="6324600" y="5394806"/>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voxels and clusters</a:t>
            </a:r>
            <a:endParaRPr lang="en-GB" sz="2000"/>
          </a:p>
        </p:txBody>
      </p:sp>
      <p:cxnSp>
        <p:nvCxnSpPr>
          <p:cNvPr id="23" name="Chain tick 4">
            <a:extLst>
              <a:ext uri="{C183D7F6-B498-43B3-948B-1728B52AA6E4}">
                <adec:decorative xmlns:adec="http://schemas.microsoft.com/office/drawing/2017/decorative" val="1"/>
              </a:ext>
            </a:extLst>
          </p:cNvPr>
          <p:cNvCxnSpPr/>
          <p:nvPr/>
        </p:nvCxnSpPr>
        <p:spPr>
          <a:xfrm>
            <a:off x="1042797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pic>
        <p:nvPicPr>
          <p:cNvPr id="24" name="Chain image 4" descr="The final render: ground, buildings, vegetation and street furniture."/>
          <p:cNvPicPr>
            <a:picLocks noChangeAspect="1"/>
          </p:cNvPicPr>
          <p:nvPr/>
        </p:nvPicPr>
        <p:blipFill>
          <a:blip r:embed="rId4"/>
          <a:stretch>
            <a:fillRect/>
          </a:stretch>
        </p:blipFill>
        <p:spPr>
          <a:xfrm>
            <a:off x="9212580" y="2560320"/>
            <a:ext cx="2430780" cy="2743046"/>
          </a:xfrm>
          <a:prstGeom prst="rect">
            <a:avLst/>
          </a:prstGeom>
        </p:spPr>
      </p:pic>
      <p:sp>
        <p:nvSpPr>
          <p:cNvPr id="25" name="Chain caption 4"/>
          <p:cNvSpPr txBox="1"/>
          <p:nvPr/>
        </p:nvSpPr>
        <p:spPr>
          <a:xfrm>
            <a:off x="9212580" y="5394806"/>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draws the result</a:t>
            </a:r>
            <a:endParaRPr lang="en-GB" sz="2000"/>
          </a:p>
        </p:txBody>
      </p:sp>
      <p:sp>
        <p:nvSpPr>
          <p:cNvPr id="26"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Python passes the array, not the points</a:t>
            </a:r>
          </a:p>
        </p:txBody>
      </p:sp>
      <p:grpSp>
        <p:nvGrpSpPr>
          <p:cNvPr id="3" name="Copy or view" descr="Legend. Copy: two names, each on its own block of memory; new memory: costs time and RAM. View: two names on one block of memory; same memory: free, writes show through."/>
          <p:cNvGrpSpPr/>
          <p:nvPr/>
        </p:nvGrpSpPr>
        <p:grpSpPr>
          <a:xfrm>
            <a:off x="548640" y="1600200"/>
            <a:ext cx="11094720" cy="914400"/>
            <a:chOff x="548640" y="1600200"/>
            <a:chExt cx="11094720" cy="914400"/>
          </a:xfrm>
        </p:grpSpPr>
        <p:sp>
          <p:nvSpPr>
            <p:cNvPr id="7" name="copy name 1"/>
            <p:cNvSpPr txBox="1"/>
            <p:nvPr/>
          </p:nvSpPr>
          <p:spPr>
            <a:xfrm>
              <a:off x="548640" y="1600200"/>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8" name="copy name 2"/>
            <p:cNvSpPr txBox="1"/>
            <p:nvPr/>
          </p:nvSpPr>
          <p:spPr>
            <a:xfrm>
              <a:off x="548640" y="2093976"/>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9" name="copy cell"/>
            <p:cNvSpPr/>
            <p:nvPr/>
          </p:nvSpPr>
          <p:spPr>
            <a:xfrm>
              <a:off x="1188720"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py cell"/>
            <p:cNvSpPr/>
            <p:nvPr/>
          </p:nvSpPr>
          <p:spPr>
            <a:xfrm>
              <a:off x="1426464"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opy cell"/>
            <p:cNvSpPr/>
            <p:nvPr/>
          </p:nvSpPr>
          <p:spPr>
            <a:xfrm>
              <a:off x="1664208"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py cell"/>
            <p:cNvSpPr/>
            <p:nvPr/>
          </p:nvSpPr>
          <p:spPr>
            <a:xfrm>
              <a:off x="1901952"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opy cell"/>
            <p:cNvSpPr/>
            <p:nvPr/>
          </p:nvSpPr>
          <p:spPr>
            <a:xfrm>
              <a:off x="2139696"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opy cell"/>
            <p:cNvSpPr/>
            <p:nvPr/>
          </p:nvSpPr>
          <p:spPr>
            <a:xfrm>
              <a:off x="1188720"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opy cell"/>
            <p:cNvSpPr/>
            <p:nvPr/>
          </p:nvSpPr>
          <p:spPr>
            <a:xfrm>
              <a:off x="1426464"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opy cell"/>
            <p:cNvSpPr/>
            <p:nvPr/>
          </p:nvSpPr>
          <p:spPr>
            <a:xfrm>
              <a:off x="1664208"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opy cell"/>
            <p:cNvSpPr/>
            <p:nvPr/>
          </p:nvSpPr>
          <p:spPr>
            <a:xfrm>
              <a:off x="1901952"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opy cell"/>
            <p:cNvSpPr/>
            <p:nvPr/>
          </p:nvSpPr>
          <p:spPr>
            <a:xfrm>
              <a:off x="2139696"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py ref"/>
            <p:cNvCxnSpPr/>
            <p:nvPr/>
          </p:nvCxnSpPr>
          <p:spPr>
            <a:xfrm>
              <a:off x="841248" y="1764792"/>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py ref"/>
            <p:cNvCxnSpPr/>
            <p:nvPr/>
          </p:nvCxnSpPr>
          <p:spPr>
            <a:xfrm>
              <a:off x="841248" y="2258568"/>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copy pill"/>
            <p:cNvSpPr/>
            <p:nvPr/>
          </p:nvSpPr>
          <p:spPr>
            <a:xfrm>
              <a:off x="2697480" y="1609344"/>
              <a:ext cx="1003300" cy="38404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1C325B"/>
                  </a:solidFill>
                  <a:latin typeface="Fira Sans SemiBold"/>
                </a:rPr>
                <a:t>copy</a:t>
              </a:r>
            </a:p>
          </p:txBody>
        </p:sp>
        <p:sp>
          <p:nvSpPr>
            <p:cNvPr id="22" name="copy meaning"/>
            <p:cNvSpPr txBox="1"/>
            <p:nvPr/>
          </p:nvSpPr>
          <p:spPr>
            <a:xfrm>
              <a:off x="2697480" y="2011680"/>
              <a:ext cx="3169920" cy="502920"/>
            </a:xfrm>
            <a:prstGeom prst="rect">
              <a:avLst/>
            </a:prstGeom>
            <a:noFill/>
          </p:spPr>
          <p:txBody>
            <a:bodyPr wrap="square" anchor="t" lIns="0" tIns="0" rIns="0" bIns="0">
              <a:noAutofit/>
            </a:bodyPr>
            <a:lstStyle/>
            <a:p>
              <a:pPr algn="l"/>
              <a:r>
                <a:rPr sz="2000" b="0" i="0" lang="en-GB">
                  <a:solidFill>
                    <a:srgbClr val="263238"/>
                  </a:solidFill>
                  <a:latin typeface="Fira Sans"/>
                </a:rPr>
                <a:t>new memory: costs time and RAM</a:t>
              </a:r>
            </a:p>
          </p:txBody>
        </p:sp>
        <p:sp>
          <p:nvSpPr>
            <p:cNvPr id="23" name="view name 1"/>
            <p:cNvSpPr txBox="1"/>
            <p:nvPr/>
          </p:nvSpPr>
          <p:spPr>
            <a:xfrm>
              <a:off x="6324600" y="1600200"/>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24" name="view name 2"/>
            <p:cNvSpPr txBox="1"/>
            <p:nvPr/>
          </p:nvSpPr>
          <p:spPr>
            <a:xfrm>
              <a:off x="6324600" y="2093976"/>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25" name="view cell"/>
            <p:cNvSpPr/>
            <p:nvPr/>
          </p:nvSpPr>
          <p:spPr>
            <a:xfrm>
              <a:off x="6964680"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view cell"/>
            <p:cNvSpPr/>
            <p:nvPr/>
          </p:nvSpPr>
          <p:spPr>
            <a:xfrm>
              <a:off x="7202424"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view cell"/>
            <p:cNvSpPr/>
            <p:nvPr/>
          </p:nvSpPr>
          <p:spPr>
            <a:xfrm>
              <a:off x="7440168"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view cell"/>
            <p:cNvSpPr/>
            <p:nvPr/>
          </p:nvSpPr>
          <p:spPr>
            <a:xfrm>
              <a:off x="7677912"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view cell"/>
            <p:cNvSpPr/>
            <p:nvPr/>
          </p:nvSpPr>
          <p:spPr>
            <a:xfrm>
              <a:off x="7915656"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view ref"/>
            <p:cNvCxnSpPr/>
            <p:nvPr/>
          </p:nvCxnSpPr>
          <p:spPr>
            <a:xfrm>
              <a:off x="6617208" y="1764792"/>
              <a:ext cx="301752" cy="246888"/>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view ref"/>
            <p:cNvCxnSpPr/>
            <p:nvPr/>
          </p:nvCxnSpPr>
          <p:spPr>
            <a:xfrm flipV="1">
              <a:off x="6617208" y="2011680"/>
              <a:ext cx="301752" cy="246888"/>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view pill"/>
            <p:cNvSpPr/>
            <p:nvPr/>
          </p:nvSpPr>
          <p:spPr>
            <a:xfrm>
              <a:off x="8473440" y="1609344"/>
              <a:ext cx="989584" cy="384048"/>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FFFFFF"/>
                  </a:solidFill>
                  <a:latin typeface="Fira Sans SemiBold"/>
                </a:rPr>
                <a:t>view</a:t>
              </a:r>
            </a:p>
          </p:txBody>
        </p:sp>
        <p:sp>
          <p:nvSpPr>
            <p:cNvPr id="33" name="view meaning"/>
            <p:cNvSpPr txBox="1"/>
            <p:nvPr/>
          </p:nvSpPr>
          <p:spPr>
            <a:xfrm>
              <a:off x="8473440" y="2011680"/>
              <a:ext cx="3169920" cy="502920"/>
            </a:xfrm>
            <a:prstGeom prst="rect">
              <a:avLst/>
            </a:prstGeom>
            <a:noFill/>
          </p:spPr>
          <p:txBody>
            <a:bodyPr wrap="square" anchor="t" lIns="0" tIns="0" rIns="0" bIns="0">
              <a:noAutofit/>
            </a:bodyPr>
            <a:lstStyle/>
            <a:p>
              <a:pPr algn="l"/>
              <a:r>
                <a:rPr sz="2000" b="0" i="0" lang="en-GB">
                  <a:solidFill>
                    <a:srgbClr val="263238"/>
                  </a:solidFill>
                  <a:latin typeface="Fira Sans"/>
                </a:rPr>
                <a:t>same memory: free, writes show through</a:t>
              </a:r>
            </a:p>
          </p:txBody>
        </p:sp>
      </p:grpSp>
      <p:cxnSp>
        <p:nvCxnSpPr>
          <p:cNvPr id="34" name="Legend rule">
            <a:extLst>
              <a:ext uri="{C183D7F6-B498-43B3-948B-1728B52AA6E4}">
                <adec:decorative xmlns:adec="http://schemas.microsoft.com/office/drawing/2017/decorative" val="1"/>
              </a:ext>
            </a:extLst>
          </p:cNvPr>
          <p:cNvCxnSpPr/>
          <p:nvPr/>
        </p:nvCxnSpPr>
        <p:spPr>
          <a:xfrm>
            <a:off x="548640" y="2587752"/>
            <a:ext cx="1109472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grpSp>
        <p:nvGrpSpPr>
          <p:cNvPr id="36" name="Handoffs" descr="Above, a legend: a copy is new memory and costs time and RAM; a view is the same memory, free, and writes show through. Below, four rows, one per hand-off between the libraries. las.xyz: copy, a new array on every access. Vector3dVector of xyz: copy, and 39× slower for float32 input. np.asarray of pcd.points: view, writes reach the point cloud. pv.PolyData of pts: view, the same memory as pts."/>
          <p:cNvGrpSpPr/>
          <p:nvPr/>
        </p:nvGrpSpPr>
        <p:grpSpPr>
          <a:xfrm>
            <a:off x="548640" y="2695812"/>
            <a:ext cx="11094720" cy="2542032"/>
            <a:chOff x="548640" y="2695812"/>
            <a:chExt cx="11094720" cy="2542032"/>
          </a:xfrm>
        </p:grpSpPr>
        <p:sp>
          <p:nvSpPr>
            <p:cNvPr id="37" name="Handoffs_code_1"/>
            <p:cNvSpPr/>
            <p:nvPr/>
          </p:nvSpPr>
          <p:spPr>
            <a:xfrm>
              <a:off x="548640" y="2695812"/>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las.xyz</a:t>
              </a:r>
            </a:p>
          </p:txBody>
        </p:sp>
        <p:sp>
          <p:nvSpPr>
            <p:cNvPr id="38" name="Handoffs_pill_1"/>
            <p:cNvSpPr/>
            <p:nvPr/>
          </p:nvSpPr>
          <p:spPr>
            <a:xfrm>
              <a:off x="5013960" y="2750676"/>
              <a:ext cx="1147394" cy="457200"/>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1C325B"/>
                  </a:solidFill>
                  <a:latin typeface="Fira Sans SemiBold"/>
                </a:rPr>
                <a:t>copy</a:t>
              </a:r>
            </a:p>
          </p:txBody>
        </p:sp>
        <p:sp>
          <p:nvSpPr>
            <p:cNvPr id="39" name="Handoffs_text_1"/>
            <p:cNvSpPr txBox="1"/>
            <p:nvPr/>
          </p:nvSpPr>
          <p:spPr>
            <a:xfrm>
              <a:off x="6572834" y="2695812"/>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new array, every access</a:t>
              </a:r>
            </a:p>
          </p:txBody>
        </p:sp>
        <p:sp>
          <p:nvSpPr>
            <p:cNvPr id="40" name="Handoffs_code_2"/>
            <p:cNvSpPr/>
            <p:nvPr/>
          </p:nvSpPr>
          <p:spPr>
            <a:xfrm>
              <a:off x="548640" y="3354180"/>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Vector3dVector(xyz)</a:t>
              </a:r>
            </a:p>
          </p:txBody>
        </p:sp>
        <p:sp>
          <p:nvSpPr>
            <p:cNvPr id="41" name="Handoffs_pill_2"/>
            <p:cNvSpPr/>
            <p:nvPr/>
          </p:nvSpPr>
          <p:spPr>
            <a:xfrm>
              <a:off x="5013960" y="3409044"/>
              <a:ext cx="1147394" cy="457200"/>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1C325B"/>
                  </a:solidFill>
                  <a:latin typeface="Fira Sans SemiBold"/>
                </a:rPr>
                <a:t>copy</a:t>
              </a:r>
            </a:p>
          </p:txBody>
        </p:sp>
        <p:sp>
          <p:nvSpPr>
            <p:cNvPr id="42" name="Handoffs_text_2"/>
            <p:cNvSpPr txBox="1"/>
            <p:nvPr/>
          </p:nvSpPr>
          <p:spPr>
            <a:xfrm>
              <a:off x="6572834" y="3354180"/>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float32: 39× slower</a:t>
              </a:r>
            </a:p>
          </p:txBody>
        </p:sp>
        <p:sp>
          <p:nvSpPr>
            <p:cNvPr id="43" name="Handoffs_code_3"/>
            <p:cNvSpPr/>
            <p:nvPr/>
          </p:nvSpPr>
          <p:spPr>
            <a:xfrm>
              <a:off x="548640" y="4012548"/>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np.asarray(pcd.points)</a:t>
              </a:r>
            </a:p>
          </p:txBody>
        </p:sp>
        <p:sp>
          <p:nvSpPr>
            <p:cNvPr id="44" name="Handoffs_pill_3"/>
            <p:cNvSpPr/>
            <p:nvPr/>
          </p:nvSpPr>
          <p:spPr>
            <a:xfrm>
              <a:off x="5013960" y="4067412"/>
              <a:ext cx="1147394" cy="457200"/>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FFFFFF"/>
                  </a:solidFill>
                  <a:latin typeface="Fira Sans SemiBold"/>
                </a:rPr>
                <a:t>view</a:t>
              </a:r>
            </a:p>
          </p:txBody>
        </p:sp>
        <p:sp>
          <p:nvSpPr>
            <p:cNvPr id="45" name="Handoffs_text_3"/>
            <p:cNvSpPr txBox="1"/>
            <p:nvPr/>
          </p:nvSpPr>
          <p:spPr>
            <a:xfrm>
              <a:off x="6572834" y="4012548"/>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writes reach the point cloud</a:t>
              </a:r>
            </a:p>
          </p:txBody>
        </p:sp>
        <p:sp>
          <p:nvSpPr>
            <p:cNvPr id="46" name="Handoffs_code_4"/>
            <p:cNvSpPr/>
            <p:nvPr/>
          </p:nvSpPr>
          <p:spPr>
            <a:xfrm>
              <a:off x="548640" y="4670916"/>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pv.PolyData(pts)</a:t>
              </a:r>
            </a:p>
          </p:txBody>
        </p:sp>
        <p:sp>
          <p:nvSpPr>
            <p:cNvPr id="47" name="Handoffs_pill_4"/>
            <p:cNvSpPr/>
            <p:nvPr/>
          </p:nvSpPr>
          <p:spPr>
            <a:xfrm>
              <a:off x="5013960" y="4725780"/>
              <a:ext cx="1147394" cy="457200"/>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FFFFFF"/>
                  </a:solidFill>
                  <a:latin typeface="Fira Sans SemiBold"/>
                </a:rPr>
                <a:t>view</a:t>
              </a:r>
            </a:p>
          </p:txBody>
        </p:sp>
        <p:sp>
          <p:nvSpPr>
            <p:cNvPr id="48" name="Handoffs_text_4"/>
            <p:cNvSpPr txBox="1"/>
            <p:nvPr/>
          </p:nvSpPr>
          <p:spPr>
            <a:xfrm>
              <a:off x="6572834" y="4670916"/>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same memory as pts</a:t>
              </a:r>
            </a:p>
          </p:txBody>
        </p:sp>
      </p:grpSp>
      <p:sp>
        <p:nvSpPr>
          <p:cNvPr id="35" name="Support"/>
          <p:cNvSpPr txBox="1"/>
          <p:nvPr/>
        </p:nvSpPr>
        <p:spPr>
          <a:xfrm>
            <a:off x="548640" y="554707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Each xyz copy costs 24 B per point: 0.5 GB per 1 km AHN file.</a:t>
            </a:r>
            <a:endParaRPr lang="en-GB" sz="2000"/>
          </a:p>
        </p:txBody>
      </p:sp>
      <p:sp>
        <p:nvSpPr>
          <p:cNvPr id="6" name="Conditions"/>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results/python_facts.json.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Six steps turn a point cloud into labels</a:t>
            </a:r>
          </a:p>
        </p:txBody>
      </p:sp>
      <p:pic>
        <p:nvPicPr>
          <p:cNvPr id="6" name="!!render" descr="Six thumbnails of the same area from the same camera, one per pipeline step: load, voxel downsampling, ground removal, clustering, labelling, visualisation."/>
          <p:cNvPicPr>
            <a:picLocks noChangeAspect="1"/>
          </p:cNvPicPr>
          <p:nvPr/>
        </p:nvPicPr>
        <p:blipFill>
          <a:blip r:embed="rId2"/>
          <a:stretch>
            <a:fillRect/>
          </a:stretch>
        </p:blipFill>
        <p:spPr>
          <a:xfrm>
            <a:off x="548640" y="2249331"/>
            <a:ext cx="1620520" cy="1828698"/>
          </a:xfrm>
          <a:prstGeom prst="rect">
            <a:avLst/>
          </a:prstGeom>
        </p:spPr>
      </p:pic>
      <p:sp>
        <p:nvSpPr>
          <p:cNvPr id="7" name="film_sep_1">
            <a:extLst>
              <a:ext uri="{C183D7F6-B498-43B3-948B-1728B52AA6E4}">
                <adec:decorative xmlns:adec="http://schemas.microsoft.com/office/drawing/2017/decorative" val="1"/>
              </a:ext>
            </a:extLst>
          </p:cNvPr>
          <p:cNvSpPr/>
          <p:nvPr/>
        </p:nvSpPr>
        <p:spPr>
          <a:xfrm>
            <a:off x="220573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ilm_name_1"/>
          <p:cNvSpPr txBox="1"/>
          <p:nvPr/>
        </p:nvSpPr>
        <p:spPr>
          <a:xfrm>
            <a:off x="42976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Load</a:t>
            </a:r>
          </a:p>
        </p:txBody>
      </p:sp>
      <p:sp>
        <p:nvSpPr>
          <p:cNvPr id="9" name="film_tag_1"/>
          <p:cNvSpPr txBox="1"/>
          <p:nvPr/>
        </p:nvSpPr>
        <p:spPr>
          <a:xfrm>
            <a:off x="42976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laspy</a:t>
            </a:r>
          </a:p>
        </p:txBody>
      </p:sp>
      <p:pic>
        <p:nvPicPr>
          <p:cNvPr id="10" name="film_2" descr="Thumbnail 2: Voxel downsampling"/>
          <p:cNvPicPr>
            <a:picLocks noChangeAspect="1"/>
          </p:cNvPicPr>
          <p:nvPr/>
        </p:nvPicPr>
        <p:blipFill>
          <a:blip r:embed="rId3"/>
          <a:stretch>
            <a:fillRect/>
          </a:stretch>
        </p:blipFill>
        <p:spPr>
          <a:xfrm>
            <a:off x="2443480" y="2249331"/>
            <a:ext cx="1620520" cy="1828698"/>
          </a:xfrm>
          <a:prstGeom prst="rect">
            <a:avLst/>
          </a:prstGeom>
        </p:spPr>
      </p:pic>
      <p:sp>
        <p:nvSpPr>
          <p:cNvPr id="11" name="film_sep_2">
            <a:extLst>
              <a:ext uri="{C183D7F6-B498-43B3-948B-1728B52AA6E4}">
                <adec:decorative xmlns:adec="http://schemas.microsoft.com/office/drawing/2017/decorative" val="1"/>
              </a:ext>
            </a:extLst>
          </p:cNvPr>
          <p:cNvSpPr/>
          <p:nvPr/>
        </p:nvSpPr>
        <p:spPr>
          <a:xfrm>
            <a:off x="410057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ilm_name_2"/>
          <p:cNvSpPr txBox="1"/>
          <p:nvPr/>
        </p:nvSpPr>
        <p:spPr>
          <a:xfrm>
            <a:off x="232460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Voxel</a:t>
            </a:r>
          </a:p>
          <a:p>
            <a:pPr algn="ctr"/>
            <a:r>
              <a:rPr sz="2000" b="1" i="0" lang="en-GB">
                <a:solidFill>
                  <a:srgbClr val="263238"/>
                </a:solidFill>
                <a:latin typeface="Fira Sans"/>
              </a:rPr>
              <a:t>downsampling</a:t>
            </a:r>
          </a:p>
        </p:txBody>
      </p:sp>
      <p:sp>
        <p:nvSpPr>
          <p:cNvPr id="13" name="film_tag_2"/>
          <p:cNvSpPr txBox="1"/>
          <p:nvPr/>
        </p:nvSpPr>
        <p:spPr>
          <a:xfrm>
            <a:off x="232460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4" name="film_3" descr="Thumbnail 3: Ground removal"/>
          <p:cNvPicPr>
            <a:picLocks noChangeAspect="1"/>
          </p:cNvPicPr>
          <p:nvPr/>
        </p:nvPicPr>
        <p:blipFill>
          <a:blip r:embed="rId4"/>
          <a:stretch>
            <a:fillRect/>
          </a:stretch>
        </p:blipFill>
        <p:spPr>
          <a:xfrm>
            <a:off x="4338320" y="2249331"/>
            <a:ext cx="1620520" cy="1828698"/>
          </a:xfrm>
          <a:prstGeom prst="rect">
            <a:avLst/>
          </a:prstGeom>
        </p:spPr>
      </p:pic>
      <p:sp>
        <p:nvSpPr>
          <p:cNvPr id="15" name="film_sep_3">
            <a:extLst>
              <a:ext uri="{C183D7F6-B498-43B3-948B-1728B52AA6E4}">
                <adec:decorative xmlns:adec="http://schemas.microsoft.com/office/drawing/2017/decorative" val="1"/>
              </a:ext>
            </a:extLst>
          </p:cNvPr>
          <p:cNvSpPr/>
          <p:nvPr/>
        </p:nvSpPr>
        <p:spPr>
          <a:xfrm>
            <a:off x="599541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ilm_name_3"/>
          <p:cNvSpPr txBox="1"/>
          <p:nvPr/>
        </p:nvSpPr>
        <p:spPr>
          <a:xfrm>
            <a:off x="421944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Ground</a:t>
            </a:r>
          </a:p>
          <a:p>
            <a:pPr algn="ctr"/>
            <a:r>
              <a:rPr sz="2000" b="1" i="0" lang="en-GB">
                <a:solidFill>
                  <a:srgbClr val="263238"/>
                </a:solidFill>
                <a:latin typeface="Fira Sans"/>
              </a:rPr>
              <a:t>removal</a:t>
            </a:r>
          </a:p>
        </p:txBody>
      </p:sp>
      <p:sp>
        <p:nvSpPr>
          <p:cNvPr id="17" name="film_tag_3"/>
          <p:cNvSpPr txBox="1"/>
          <p:nvPr/>
        </p:nvSpPr>
        <p:spPr>
          <a:xfrm>
            <a:off x="421944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8" name="film_4" descr="Thumbnail 4: Clustering"/>
          <p:cNvPicPr>
            <a:picLocks noChangeAspect="1"/>
          </p:cNvPicPr>
          <p:nvPr/>
        </p:nvPicPr>
        <p:blipFill>
          <a:blip r:embed="rId5"/>
          <a:stretch>
            <a:fillRect/>
          </a:stretch>
        </p:blipFill>
        <p:spPr>
          <a:xfrm>
            <a:off x="6233160" y="2249331"/>
            <a:ext cx="1620520" cy="1828698"/>
          </a:xfrm>
          <a:prstGeom prst="rect">
            <a:avLst/>
          </a:prstGeom>
        </p:spPr>
      </p:pic>
      <p:sp>
        <p:nvSpPr>
          <p:cNvPr id="19" name="film_sep_4">
            <a:extLst>
              <a:ext uri="{C183D7F6-B498-43B3-948B-1728B52AA6E4}">
                <adec:decorative xmlns:adec="http://schemas.microsoft.com/office/drawing/2017/decorative" val="1"/>
              </a:ext>
            </a:extLst>
          </p:cNvPr>
          <p:cNvSpPr/>
          <p:nvPr/>
        </p:nvSpPr>
        <p:spPr>
          <a:xfrm>
            <a:off x="789025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ilm_name_4"/>
          <p:cNvSpPr txBox="1"/>
          <p:nvPr/>
        </p:nvSpPr>
        <p:spPr>
          <a:xfrm>
            <a:off x="611428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Clustering</a:t>
            </a:r>
          </a:p>
        </p:txBody>
      </p:sp>
      <p:sp>
        <p:nvSpPr>
          <p:cNvPr id="21" name="film_tag_4"/>
          <p:cNvSpPr txBox="1"/>
          <p:nvPr/>
        </p:nvSpPr>
        <p:spPr>
          <a:xfrm>
            <a:off x="611428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 SciPy</a:t>
            </a:r>
          </a:p>
        </p:txBody>
      </p:sp>
      <p:pic>
        <p:nvPicPr>
          <p:cNvPr id="22" name="film_5" descr="Thumbnail 5: Labelling"/>
          <p:cNvPicPr>
            <a:picLocks noChangeAspect="1"/>
          </p:cNvPicPr>
          <p:nvPr/>
        </p:nvPicPr>
        <p:blipFill>
          <a:blip r:embed="rId6"/>
          <a:stretch>
            <a:fillRect/>
          </a:stretch>
        </p:blipFill>
        <p:spPr>
          <a:xfrm>
            <a:off x="8128000" y="2249331"/>
            <a:ext cx="1620520" cy="1828698"/>
          </a:xfrm>
          <a:prstGeom prst="rect">
            <a:avLst/>
          </a:prstGeom>
        </p:spPr>
      </p:pic>
      <p:sp>
        <p:nvSpPr>
          <p:cNvPr id="23" name="film_sep_5">
            <a:extLst>
              <a:ext uri="{C183D7F6-B498-43B3-948B-1728B52AA6E4}">
                <adec:decorative xmlns:adec="http://schemas.microsoft.com/office/drawing/2017/decorative" val="1"/>
              </a:ext>
            </a:extLst>
          </p:cNvPr>
          <p:cNvSpPr/>
          <p:nvPr/>
        </p:nvSpPr>
        <p:spPr>
          <a:xfrm>
            <a:off x="978509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ilm_name_5"/>
          <p:cNvSpPr txBox="1"/>
          <p:nvPr/>
        </p:nvSpPr>
        <p:spPr>
          <a:xfrm>
            <a:off x="800912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Labelling</a:t>
            </a:r>
          </a:p>
        </p:txBody>
      </p:sp>
      <p:sp>
        <p:nvSpPr>
          <p:cNvPr id="25" name="film_tag_5"/>
          <p:cNvSpPr txBox="1"/>
          <p:nvPr/>
        </p:nvSpPr>
        <p:spPr>
          <a:xfrm>
            <a:off x="800912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NumPy, SciPy</a:t>
            </a:r>
          </a:p>
        </p:txBody>
      </p:sp>
      <p:pic>
        <p:nvPicPr>
          <p:cNvPr id="26" name="film_6" descr="Thumbnail 6: Visualisation"/>
          <p:cNvPicPr>
            <a:picLocks noChangeAspect="1"/>
          </p:cNvPicPr>
          <p:nvPr/>
        </p:nvPicPr>
        <p:blipFill>
          <a:blip r:embed="rId7"/>
          <a:stretch>
            <a:fillRect/>
          </a:stretch>
        </p:blipFill>
        <p:spPr>
          <a:xfrm>
            <a:off x="10022840" y="2249331"/>
            <a:ext cx="1620520" cy="1828698"/>
          </a:xfrm>
          <a:prstGeom prst="rect">
            <a:avLst/>
          </a:prstGeom>
        </p:spPr>
      </p:pic>
      <p:sp>
        <p:nvSpPr>
          <p:cNvPr id="27" name="film_name_6"/>
          <p:cNvSpPr txBox="1"/>
          <p:nvPr/>
        </p:nvSpPr>
        <p:spPr>
          <a:xfrm>
            <a:off x="990396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Visualisation</a:t>
            </a:r>
          </a:p>
        </p:txBody>
      </p:sp>
      <p:sp>
        <p:nvSpPr>
          <p:cNvPr id="28" name="film_tag_6"/>
          <p:cNvSpPr txBox="1"/>
          <p:nvPr/>
        </p:nvSpPr>
        <p:spPr>
          <a:xfrm>
            <a:off x="990396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SciPy, PyVista</a:t>
            </a:r>
          </a:p>
        </p:txBody>
      </p:sp>
      <p:sp>
        <p:nvSpPr>
          <p:cNvPr id="29"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8">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1 Load:</a:t>
            </a:r>
            <a:br/>
            <a:r>
              <a:rPr lang="en-GB"/>
              <a:t>laspy hands you NumPy</a:t>
            </a:r>
          </a:p>
        </p:txBody>
      </p:sp>
      <p:pic>
        <p:nvPicPr>
          <p:cNvPr id="4" name="!!render" descr="The crop as a point cloud, coloured by height: the hall roof white, the ground blu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811780"/>
            <a:ext cx="5760186" cy="266700"/>
            <a:chOff x="402336" y="2811780"/>
            <a:chExt cx="5760186" cy="266700"/>
          </a:xfrm>
        </p:grpSpPr>
        <p:sp>
          <p:nvSpPr>
            <p:cNvPr id="7" name="Key line bar"/>
            <p:cNvSpPr/>
            <p:nvPr/>
          </p:nvSpPr>
          <p:spPr>
            <a:xfrm>
              <a:off x="402336" y="28117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8117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laspy</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open3d </a:t>
            </a:r>
            <a:r>
              <a:rPr sz="1800" b="1" lang="en-GB" noProof="1">
                <a:solidFill>
                  <a:srgbClr val="1C325B"/>
                </a:solidFill>
                <a:latin typeface="Fira Mono" pitchFamily="49"/>
              </a:rPr>
              <a:t>as</a:t>
            </a:r>
            <a:r>
              <a:rPr sz="1800" b="0" lang="en-GB" noProof="1">
                <a:solidFill>
                  <a:srgbClr val="263238"/>
                </a:solidFill>
                <a:latin typeface="Fira Mono" pitchFamily="49"/>
              </a:rPr>
              <a:t> o3d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las = laspy.read(</a:t>
            </a:r>
            <a:r>
              <a:rPr sz="1800" b="0" lang="en-GB" noProof="1">
                <a:solidFill>
                  <a:srgbClr val="2B6797"/>
                </a:solidFill>
                <a:latin typeface="Fira Mono" pitchFamily="49"/>
              </a:rPr>
              <a:t>"crop.laz"</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xyz = las.xyz - las.header.mins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v = o3d.utility.Vector3dVector(xyz)</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pcd = o3d.geometry.PointCloud(v)</a:t>
            </a:r>
            <a:endParaRPr lang="en-GB" sz="1800"/>
          </a:p>
        </p:txBody>
      </p:sp>
      <p:grpSp>
        <p:nvGrpSpPr>
          <p:cNvPr id="12" name="Sketch origin" descr="Sketch: the first point's x, 135914.6 m in RD, becomes 199.6 m after subtracting header.mins; float32 then steps 15 micrometres instead of 1.6 cm."/>
          <p:cNvGrpSpPr/>
          <p:nvPr/>
        </p:nvGrpSpPr>
        <p:grpSpPr>
          <a:xfrm>
            <a:off x="9201912" y="658368"/>
            <a:ext cx="2331720" cy="1554480"/>
            <a:chOff x="9201912" y="658368"/>
            <a:chExt cx="2331720" cy="1554480"/>
          </a:xfrm>
        </p:grpSpPr>
        <p:sp>
          <p:nvSpPr>
            <p:cNvPr id="13" name="Sketch origin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rigin head"/>
            <p:cNvSpPr txBox="1"/>
            <p:nvPr/>
          </p:nvSpPr>
          <p:spPr>
            <a:xfrm>
              <a:off x="9329928" y="786384"/>
              <a:ext cx="2075688" cy="292608"/>
            </a:xfrm>
            <a:prstGeom prst="rect">
              <a:avLst/>
            </a:prstGeom>
            <a:noFill/>
          </p:spPr>
          <p:txBody>
            <a:bodyPr wrap="none" anchor="t" lIns="0" tIns="0" rIns="0" bIns="0">
              <a:noAutofit/>
            </a:bodyPr>
            <a:lstStyle/>
            <a:p>
              <a:pPr algn="r"/>
              <a:r>
                <a:rPr sz="1800" b="0" i="0" lang="en-GB">
                  <a:solidFill>
                    <a:srgbClr val="B1CAC5"/>
                  </a:solidFill>
                  <a:latin typeface="Fira Sans"/>
                </a:rPr>
                <a:t>float32 step</a:t>
              </a:r>
            </a:p>
          </p:txBody>
        </p:sp>
        <p:sp>
          <p:nvSpPr>
            <p:cNvPr id="15" name="origin value 1"/>
            <p:cNvSpPr txBox="1"/>
            <p:nvPr/>
          </p:nvSpPr>
          <p:spPr>
            <a:xfrm>
              <a:off x="9329928" y="1170432"/>
              <a:ext cx="1369954" cy="274320"/>
            </a:xfrm>
            <a:prstGeom prst="rect">
              <a:avLst/>
            </a:prstGeom>
            <a:noFill/>
          </p:spPr>
          <p:txBody>
            <a:bodyPr wrap="none" anchor="t" lIns="0" tIns="0" rIns="0" bIns="0">
              <a:noAutofit/>
            </a:bodyPr>
            <a:lstStyle/>
            <a:p>
              <a:pPr algn="r"/>
              <a:r>
                <a:rPr sz="1800" b="0" i="0" lang="en-GB">
                  <a:solidFill>
                    <a:srgbClr val="FFFFFF"/>
                  </a:solidFill>
                  <a:latin typeface="Fira Mono" pitchFamily="49" charset="0"/>
                </a:rPr>
                <a:t>135914.6 m</a:t>
              </a:r>
            </a:p>
          </p:txBody>
        </p:sp>
        <p:sp>
          <p:nvSpPr>
            <p:cNvPr id="16" name="origin step 1"/>
            <p:cNvSpPr txBox="1"/>
            <p:nvPr/>
          </p:nvSpPr>
          <p:spPr>
            <a:xfrm>
              <a:off x="10782910" y="1170432"/>
              <a:ext cx="622706" cy="274320"/>
            </a:xfrm>
            <a:prstGeom prst="rect">
              <a:avLst/>
            </a:prstGeom>
            <a:noFill/>
          </p:spPr>
          <p:txBody>
            <a:bodyPr wrap="none" anchor="t" lIns="0" tIns="0" rIns="0" bIns="0">
              <a:noAutofit/>
            </a:bodyPr>
            <a:lstStyle/>
            <a:p>
              <a:pPr algn="r"/>
              <a:r>
                <a:rPr sz="1800" b="0" i="0" lang="en-GB">
                  <a:solidFill>
                    <a:srgbClr val="B1CAC5"/>
                  </a:solidFill>
                  <a:latin typeface="Fira Sans"/>
                </a:rPr>
                <a:t>1.6 cm</a:t>
              </a:r>
            </a:p>
          </p:txBody>
        </p:sp>
        <p:sp>
          <p:nvSpPr>
            <p:cNvPr id="17" name="origin value 2"/>
            <p:cNvSpPr txBox="1"/>
            <p:nvPr/>
          </p:nvSpPr>
          <p:spPr>
            <a:xfrm>
              <a:off x="9329928" y="1773936"/>
              <a:ext cx="1369954" cy="274320"/>
            </a:xfrm>
            <a:prstGeom prst="rect">
              <a:avLst/>
            </a:prstGeom>
            <a:noFill/>
          </p:spPr>
          <p:txBody>
            <a:bodyPr wrap="none" anchor="t" lIns="0" tIns="0" rIns="0" bIns="0">
              <a:noAutofit/>
            </a:bodyPr>
            <a:lstStyle/>
            <a:p>
              <a:pPr algn="r"/>
              <a:r>
                <a:rPr sz="1800" b="0" i="0" lang="en-GB">
                  <a:solidFill>
                    <a:srgbClr val="FFFFFF"/>
                  </a:solidFill>
                  <a:latin typeface="Fira Mono" pitchFamily="49" charset="0"/>
                </a:rPr>
                <a:t>199.6 m</a:t>
              </a:r>
            </a:p>
          </p:txBody>
        </p:sp>
        <p:sp>
          <p:nvSpPr>
            <p:cNvPr id="18" name="origin step 2"/>
            <p:cNvSpPr txBox="1"/>
            <p:nvPr/>
          </p:nvSpPr>
          <p:spPr>
            <a:xfrm>
              <a:off x="10782910" y="1773936"/>
              <a:ext cx="622706" cy="274320"/>
            </a:xfrm>
            <a:prstGeom prst="rect">
              <a:avLst/>
            </a:prstGeom>
            <a:noFill/>
          </p:spPr>
          <p:txBody>
            <a:bodyPr wrap="none" anchor="t" lIns="0" tIns="0" rIns="0" bIns="0">
              <a:noAutofit/>
            </a:bodyPr>
            <a:lstStyle/>
            <a:p>
              <a:pPr algn="r"/>
              <a:r>
                <a:rPr sz="1800" b="1" i="0" lang="en-GB">
                  <a:solidFill>
                    <a:srgbClr val="B1CAC5"/>
                  </a:solidFill>
                  <a:latin typeface="Fira Sans"/>
                </a:rPr>
                <a:t>15 µm</a:t>
              </a:r>
            </a:p>
          </p:txBody>
        </p:sp>
        <p:sp>
          <p:nvSpPr>
            <p:cNvPr id="19" name="origin arrow"/>
            <p:cNvSpPr/>
            <p:nvPr/>
          </p:nvSpPr>
          <p:spPr>
            <a:xfrm>
              <a:off x="9375648" y="1490472"/>
              <a:ext cx="164592" cy="237744"/>
            </a:xfrm>
            <a:prstGeom prst="downArrow">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rigin op"/>
            <p:cNvSpPr txBox="1"/>
            <p:nvPr/>
          </p:nvSpPr>
          <p:spPr>
            <a:xfrm>
              <a:off x="9604248" y="1472184"/>
              <a:ext cx="1095634" cy="274320"/>
            </a:xfrm>
            <a:prstGeom prst="rect">
              <a:avLst/>
            </a:prstGeom>
            <a:noFill/>
          </p:spPr>
          <p:txBody>
            <a:bodyPr wrap="none" anchor="t" lIns="0" tIns="0" rIns="0" bIns="0">
              <a:noAutofit/>
            </a:bodyPr>
            <a:lstStyle/>
            <a:p>
              <a:pPr algn="l"/>
              <a:r>
                <a:rPr sz="1800" b="0" i="0" lang="en-GB">
                  <a:solidFill>
                    <a:srgbClr val="B1CAC5"/>
                  </a:solidFill>
                  <a:latin typeface="Fira Mono" pitchFamily="49" charset="0"/>
                </a:rPr>
                <a:t>− header.mins</a:t>
              </a: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Subtract a local origin before anything else.</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11</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2 Voxel downsampling:</a:t>
            </a:r>
            <a:br/>
            <a:r>
              <a:rPr lang="en-GB"/>
              <a:t>one average per voxel</a:t>
            </a:r>
          </a:p>
        </p:txBody>
      </p:sp>
      <p:pic>
        <p:nvPicPr>
          <p:cNvPr id="4" name="!!render" descr="Same view after voxel downsampling: fewer points, same size, same area."/>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011680"/>
            <a:ext cx="5760186" cy="266700"/>
            <a:chOff x="402336" y="2011680"/>
            <a:chExt cx="5760186" cy="266700"/>
          </a:xfrm>
        </p:grpSpPr>
        <p:sp>
          <p:nvSpPr>
            <p:cNvPr id="7" name="Key line bar"/>
            <p:cNvSpPr/>
            <p:nvPr/>
          </p:nvSpPr>
          <p:spPr>
            <a:xfrm>
              <a:off x="402336" y="20116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0116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print(len(xyz), </a:t>
            </a:r>
            <a:r>
              <a:rPr sz="1800" b="0" lang="en-GB" noProof="1">
                <a:solidFill>
                  <a:srgbClr val="2B6797"/>
                </a:solidFill>
                <a:latin typeface="Fira Mono" pitchFamily="49"/>
              </a:rPr>
              <a:t>"-&gt;"</a:t>
            </a:r>
            <a:r>
              <a:rPr sz="1800" b="0" lang="en-GB" noProof="1">
                <a:solidFill>
                  <a:srgbClr val="263238"/>
                </a:solidFill>
                <a:latin typeface="Fira Mono" pitchFamily="49"/>
              </a:rPr>
              <a:t>, len(P))</a:t>
            </a:r>
            <a:endParaRPr lang="en-GB" sz="1800"/>
          </a:p>
        </p:txBody>
      </p:sp>
      <p:grpSp>
        <p:nvGrpSpPr>
          <p:cNvPr id="12" name="Sketch voxel" descr="Sketch: a grid of cells with several small points in each; every occupied cell keeps one larger point at the average of its points."/>
          <p:cNvGrpSpPr/>
          <p:nvPr/>
        </p:nvGrpSpPr>
        <p:grpSpPr>
          <a:xfrm>
            <a:off x="9201912" y="658368"/>
            <a:ext cx="2331720" cy="1554480"/>
            <a:chOff x="9201912" y="658368"/>
            <a:chExt cx="2331720" cy="1554480"/>
          </a:xfrm>
        </p:grpSpPr>
        <p:sp>
          <p:nvSpPr>
            <p:cNvPr id="13" name="Sketch voxel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voxel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0.5 m voxels</a:t>
              </a:r>
            </a:p>
          </p:txBody>
        </p:sp>
        <p:cxnSp>
          <p:nvCxnSpPr>
            <p:cNvPr id="15" name="grid v"/>
            <p:cNvCxnSpPr/>
            <p:nvPr/>
          </p:nvCxnSpPr>
          <p:spPr>
            <a:xfrm>
              <a:off x="936193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6" name="grid v"/>
            <p:cNvCxnSpPr/>
            <p:nvPr/>
          </p:nvCxnSpPr>
          <p:spPr>
            <a:xfrm>
              <a:off x="986485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7" name="grid v"/>
            <p:cNvCxnSpPr/>
            <p:nvPr/>
          </p:nvCxnSpPr>
          <p:spPr>
            <a:xfrm>
              <a:off x="1036777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8" name="grid v"/>
            <p:cNvCxnSpPr/>
            <p:nvPr/>
          </p:nvCxnSpPr>
          <p:spPr>
            <a:xfrm>
              <a:off x="1087069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9" name="grid v"/>
            <p:cNvCxnSpPr/>
            <p:nvPr/>
          </p:nvCxnSpPr>
          <p:spPr>
            <a:xfrm>
              <a:off x="1137361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0" name="grid h"/>
            <p:cNvCxnSpPr/>
            <p:nvPr/>
          </p:nvCxnSpPr>
          <p:spPr>
            <a:xfrm>
              <a:off x="9361932" y="78638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1" name="grid h"/>
            <p:cNvCxnSpPr/>
            <p:nvPr/>
          </p:nvCxnSpPr>
          <p:spPr>
            <a:xfrm>
              <a:off x="9361932" y="128930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2" name="grid h"/>
            <p:cNvCxnSpPr/>
            <p:nvPr/>
          </p:nvCxnSpPr>
          <p:spPr>
            <a:xfrm>
              <a:off x="9361932" y="179222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3" name="point"/>
            <p:cNvSpPr/>
            <p:nvPr/>
          </p:nvSpPr>
          <p:spPr>
            <a:xfrm>
              <a:off x="9500006" y="98480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oint"/>
            <p:cNvSpPr/>
            <p:nvPr/>
          </p:nvSpPr>
          <p:spPr>
            <a:xfrm>
              <a:off x="9640824" y="88422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oint"/>
            <p:cNvSpPr/>
            <p:nvPr/>
          </p:nvSpPr>
          <p:spPr>
            <a:xfrm>
              <a:off x="9721291" y="106527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oint"/>
            <p:cNvSpPr/>
            <p:nvPr/>
          </p:nvSpPr>
          <p:spPr>
            <a:xfrm>
              <a:off x="10063277" y="86410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oint"/>
            <p:cNvSpPr/>
            <p:nvPr/>
          </p:nvSpPr>
          <p:spPr>
            <a:xfrm>
              <a:off x="10183978"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oint"/>
            <p:cNvSpPr/>
            <p:nvPr/>
          </p:nvSpPr>
          <p:spPr>
            <a:xfrm>
              <a:off x="9942576" y="104515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oint"/>
            <p:cNvSpPr/>
            <p:nvPr/>
          </p:nvSpPr>
          <p:spPr>
            <a:xfrm>
              <a:off x="10586314" y="94457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oint"/>
            <p:cNvSpPr/>
            <p:nvPr/>
          </p:nvSpPr>
          <p:spPr>
            <a:xfrm>
              <a:off x="10747248" y="84399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oint"/>
            <p:cNvSpPr/>
            <p:nvPr/>
          </p:nvSpPr>
          <p:spPr>
            <a:xfrm>
              <a:off x="9560357"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oint"/>
            <p:cNvSpPr/>
            <p:nvPr/>
          </p:nvSpPr>
          <p:spPr>
            <a:xfrm>
              <a:off x="9761525" y="131673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oint"/>
            <p:cNvSpPr/>
            <p:nvPr/>
          </p:nvSpPr>
          <p:spPr>
            <a:xfrm>
              <a:off x="9701174" y="15681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oint"/>
            <p:cNvSpPr/>
            <p:nvPr/>
          </p:nvSpPr>
          <p:spPr>
            <a:xfrm>
              <a:off x="10143744"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oint"/>
            <p:cNvSpPr/>
            <p:nvPr/>
          </p:nvSpPr>
          <p:spPr>
            <a:xfrm>
              <a:off x="10284562" y="146761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oint"/>
            <p:cNvSpPr/>
            <p:nvPr/>
          </p:nvSpPr>
          <p:spPr>
            <a:xfrm>
              <a:off x="10002926" y="161848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oint"/>
            <p:cNvSpPr/>
            <p:nvPr/>
          </p:nvSpPr>
          <p:spPr>
            <a:xfrm>
              <a:off x="10505846"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oint"/>
            <p:cNvSpPr/>
            <p:nvPr/>
          </p:nvSpPr>
          <p:spPr>
            <a:xfrm>
              <a:off x="10686898" y="152796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oint"/>
            <p:cNvSpPr/>
            <p:nvPr/>
          </p:nvSpPr>
          <p:spPr>
            <a:xfrm>
              <a:off x="10807598" y="131673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oint"/>
            <p:cNvSpPr/>
            <p:nvPr/>
          </p:nvSpPr>
          <p:spPr>
            <a:xfrm>
              <a:off x="11109350"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oint"/>
            <p:cNvSpPr/>
            <p:nvPr/>
          </p:nvSpPr>
          <p:spPr>
            <a:xfrm>
              <a:off x="11189818" y="15681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oint"/>
            <p:cNvSpPr/>
            <p:nvPr/>
          </p:nvSpPr>
          <p:spPr>
            <a:xfrm>
              <a:off x="11008766" y="164866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oint"/>
            <p:cNvSpPr/>
            <p:nvPr/>
          </p:nvSpPr>
          <p:spPr>
            <a:xfrm>
              <a:off x="10445496" y="121615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oint"/>
            <p:cNvSpPr/>
            <p:nvPr/>
          </p:nvSpPr>
          <p:spPr>
            <a:xfrm>
              <a:off x="11069117" y="96469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oint"/>
            <p:cNvSpPr/>
            <p:nvPr/>
          </p:nvSpPr>
          <p:spPr>
            <a:xfrm>
              <a:off x="11230051" y="106527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voxel mean"/>
            <p:cNvSpPr/>
            <p:nvPr/>
          </p:nvSpPr>
          <p:spPr>
            <a:xfrm>
              <a:off x="9574987" y="932383"/>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voxel mean"/>
            <p:cNvSpPr/>
            <p:nvPr/>
          </p:nvSpPr>
          <p:spPr>
            <a:xfrm>
              <a:off x="10017557" y="925678"/>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voxel mean"/>
            <p:cNvSpPr/>
            <p:nvPr/>
          </p:nvSpPr>
          <p:spPr>
            <a:xfrm>
              <a:off x="10547299" y="955853"/>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voxel mean"/>
            <p:cNvSpPr/>
            <p:nvPr/>
          </p:nvSpPr>
          <p:spPr>
            <a:xfrm>
              <a:off x="9628632" y="1378306"/>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voxel mean"/>
            <p:cNvSpPr/>
            <p:nvPr/>
          </p:nvSpPr>
          <p:spPr>
            <a:xfrm>
              <a:off x="10098024" y="1431950"/>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voxel mean"/>
            <p:cNvSpPr/>
            <p:nvPr/>
          </p:nvSpPr>
          <p:spPr>
            <a:xfrm>
              <a:off x="10621061" y="1364894"/>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voxel mean"/>
            <p:cNvSpPr/>
            <p:nvPr/>
          </p:nvSpPr>
          <p:spPr>
            <a:xfrm>
              <a:off x="11056925" y="1488948"/>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voxel mean"/>
            <p:cNvSpPr/>
            <p:nvPr/>
          </p:nvSpPr>
          <p:spPr>
            <a:xfrm>
              <a:off x="11103864" y="969264"/>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722 961 points in,</a:t>
            </a:r>
            <a:endParaRPr lang="en-GB" sz="2000"/>
          </a:p>
          <a:p>
            <a:pPr marL="0" indent="0" algn="l">
              <a:spcBef>
                <a:spcPts val="0"/>
              </a:spcBef>
              <a:spcAft>
                <a:spcPts val="0"/>
              </a:spcAft>
              <a:buNone/>
            </a:pPr>
            <a:r>
              <a:rPr sz="2000" b="0" lang="en-GB">
                <a:solidFill>
                  <a:srgbClr val="263238"/>
                </a:solidFill>
                <a:latin typeface="+mn-lt"/>
              </a:rPr>
              <a:t>232 180 out at 0.5 m voxels.</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12</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 Ground removal:</a:t>
            </a:r>
            <a:br/>
            <a:r>
              <a:rPr lang="en-GB"/>
              <a:t>one plane per tile</a:t>
            </a:r>
          </a:p>
        </p:txBody>
      </p:sp>
      <p:pic>
        <p:nvPicPr>
          <p:cNvPr id="4" name="!!render" descr="Same view: ground points in slate grey, labelled Ground, everything else still coloured by height."/>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545080"/>
            <a:ext cx="5760186" cy="266700"/>
            <a:chOff x="402336" y="2545080"/>
            <a:chExt cx="5760186" cy="266700"/>
          </a:xfrm>
        </p:grpSpPr>
        <p:sp>
          <p:nvSpPr>
            <p:cNvPr id="7" name="Key line bar"/>
            <p:cNvSpPr/>
            <p:nvPr/>
          </p:nvSpPr>
          <p:spPr>
            <a:xfrm>
              <a:off x="402336" y="25450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5450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o3d.utility.random.seed(0)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ground = np.zeros(len(P), bool)</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for</a:t>
            </a:r>
            <a:r>
              <a:rPr sz="1800" b="1" lang="en-GB" noProof="1">
                <a:solidFill>
                  <a:srgbClr val="263238"/>
                </a:solidFill>
                <a:latin typeface="Fira Mono" pitchFamily="49"/>
              </a:rPr>
              <a:t> i </a:t>
            </a:r>
            <a:r>
              <a:rPr sz="1800" b="1" lang="en-GB" noProof="1">
                <a:solidFill>
                  <a:srgbClr val="1C325B"/>
                </a:solidFill>
                <a:latin typeface="Fira Mono" pitchFamily="49"/>
              </a:rPr>
              <a:t>in</a:t>
            </a:r>
            <a:r>
              <a:rPr sz="1800" b="1" lang="en-GB" noProof="1">
                <a:solidFill>
                  <a:srgbClr val="263238"/>
                </a:solidFill>
                <a:latin typeface="Fira Mono" pitchFamily="49"/>
              </a:rPr>
              <a:t> tiles(P,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z0 = np.percentile(P[i, 2], 2)</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low = i[P[i, 2] &lt; z0 + 1.5]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t = down.select_by_index(low)</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_, inl = t.segment_plane(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0.4, 3, 300,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probability=1.0)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ground[low[inl]] = z0 &lt; 5</a:t>
            </a:r>
            <a:endParaRPr lang="en-GB" sz="1800"/>
          </a:p>
        </p:txBody>
      </p:sp>
      <p:grpSp>
        <p:nvGrpSpPr>
          <p:cNvPr id="12" name="Sketch ground" descr="Sketch, side view: ground points along a gently sloping street, a building and a tree above them; each of two tiles fits its own straight plane through its ground points."/>
          <p:cNvGrpSpPr/>
          <p:nvPr/>
        </p:nvGrpSpPr>
        <p:grpSpPr>
          <a:xfrm>
            <a:off x="9201912" y="658368"/>
            <a:ext cx="2331720" cy="1554480"/>
            <a:chOff x="9201912" y="658368"/>
            <a:chExt cx="2331720" cy="1554480"/>
          </a:xfrm>
        </p:grpSpPr>
        <p:sp>
          <p:nvSpPr>
            <p:cNvPr id="13" name="Sketch ground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ground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one plane per tile</a:t>
              </a:r>
            </a:p>
          </p:txBody>
        </p:sp>
        <p:cxnSp>
          <p:nvCxnSpPr>
            <p:cNvPr id="15" name="tile edge"/>
            <p:cNvCxnSpPr/>
            <p:nvPr/>
          </p:nvCxnSpPr>
          <p:spPr>
            <a:xfrm>
              <a:off x="10367772" y="786384"/>
              <a:ext cx="0" cy="1005840"/>
            </a:xfrm>
            <a:prstGeom prst="line">
              <a:avLst/>
            </a:prstGeom>
            <a:ln w="9525">
              <a:solidFill>
                <a:srgbClr val="9CA3AF"/>
              </a:solidFill>
              <a:prstDash val="dash"/>
            </a:ln>
          </p:spPr>
          <p:style>
            <a:lnRef idx="2">
              <a:schemeClr val="accent1"/>
            </a:lnRef>
            <a:fillRef idx="0">
              <a:schemeClr val="accent1"/>
            </a:fillRef>
            <a:effectRef idx="1">
              <a:schemeClr val="accent1"/>
            </a:effectRef>
            <a:fontRef idx="minor">
              <a:schemeClr val="tx1"/>
            </a:fontRef>
          </p:style>
        </p:cxnSp>
        <p:sp>
          <p:nvSpPr>
            <p:cNvPr id="16" name="ground pt"/>
            <p:cNvSpPr/>
            <p:nvPr/>
          </p:nvSpPr>
          <p:spPr>
            <a:xfrm>
              <a:off x="9349671" y="1593525"/>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ground pt"/>
            <p:cNvSpPr/>
            <p:nvPr/>
          </p:nvSpPr>
          <p:spPr>
            <a:xfrm>
              <a:off x="9444020" y="156682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ground pt"/>
            <p:cNvSpPr/>
            <p:nvPr/>
          </p:nvSpPr>
          <p:spPr>
            <a:xfrm>
              <a:off x="9538370" y="1562252"/>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ground pt"/>
            <p:cNvSpPr/>
            <p:nvPr/>
          </p:nvSpPr>
          <p:spPr>
            <a:xfrm>
              <a:off x="9632719" y="1579809"/>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ground pt"/>
            <p:cNvSpPr/>
            <p:nvPr/>
          </p:nvSpPr>
          <p:spPr>
            <a:xfrm>
              <a:off x="9727069" y="155310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ground pt"/>
            <p:cNvSpPr/>
            <p:nvPr/>
          </p:nvSpPr>
          <p:spPr>
            <a:xfrm>
              <a:off x="9821418" y="1548536"/>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ground pt"/>
            <p:cNvSpPr/>
            <p:nvPr/>
          </p:nvSpPr>
          <p:spPr>
            <a:xfrm>
              <a:off x="9915767" y="1566093"/>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ground pt"/>
            <p:cNvSpPr/>
            <p:nvPr/>
          </p:nvSpPr>
          <p:spPr>
            <a:xfrm>
              <a:off x="10010117" y="1539392"/>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ground pt"/>
            <p:cNvSpPr/>
            <p:nvPr/>
          </p:nvSpPr>
          <p:spPr>
            <a:xfrm>
              <a:off x="10104466" y="1534820"/>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ground pt"/>
            <p:cNvSpPr/>
            <p:nvPr/>
          </p:nvSpPr>
          <p:spPr>
            <a:xfrm>
              <a:off x="10198816" y="155237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ground pt"/>
            <p:cNvSpPr/>
            <p:nvPr/>
          </p:nvSpPr>
          <p:spPr>
            <a:xfrm>
              <a:off x="10293165" y="1525676"/>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ground pt"/>
            <p:cNvSpPr/>
            <p:nvPr/>
          </p:nvSpPr>
          <p:spPr>
            <a:xfrm>
              <a:off x="10387515" y="1522933"/>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ground pt"/>
            <p:cNvSpPr/>
            <p:nvPr/>
          </p:nvSpPr>
          <p:spPr>
            <a:xfrm>
              <a:off x="10481864" y="154414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ground pt"/>
            <p:cNvSpPr/>
            <p:nvPr/>
          </p:nvSpPr>
          <p:spPr>
            <a:xfrm>
              <a:off x="10576214" y="15211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ground pt"/>
            <p:cNvSpPr/>
            <p:nvPr/>
          </p:nvSpPr>
          <p:spPr>
            <a:xfrm>
              <a:off x="10670563" y="1520190"/>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ground pt"/>
            <p:cNvSpPr/>
            <p:nvPr/>
          </p:nvSpPr>
          <p:spPr>
            <a:xfrm>
              <a:off x="10764913" y="15414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ground pt"/>
            <p:cNvSpPr/>
            <p:nvPr/>
          </p:nvSpPr>
          <p:spPr>
            <a:xfrm>
              <a:off x="10859262" y="1518361"/>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ground pt"/>
            <p:cNvSpPr/>
            <p:nvPr/>
          </p:nvSpPr>
          <p:spPr>
            <a:xfrm>
              <a:off x="10953611" y="151744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ground pt"/>
            <p:cNvSpPr/>
            <p:nvPr/>
          </p:nvSpPr>
          <p:spPr>
            <a:xfrm>
              <a:off x="11047961" y="1538661"/>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ground pt"/>
            <p:cNvSpPr/>
            <p:nvPr/>
          </p:nvSpPr>
          <p:spPr>
            <a:xfrm>
              <a:off x="11142310" y="151561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ground pt"/>
            <p:cNvSpPr/>
            <p:nvPr/>
          </p:nvSpPr>
          <p:spPr>
            <a:xfrm>
              <a:off x="11236660" y="15147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ground pt"/>
            <p:cNvSpPr/>
            <p:nvPr/>
          </p:nvSpPr>
          <p:spPr>
            <a:xfrm>
              <a:off x="11331009" y="153591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uilding pt"/>
            <p:cNvSpPr/>
            <p:nvPr/>
          </p:nvSpPr>
          <p:spPr>
            <a:xfrm>
              <a:off x="9576907"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uilding pt"/>
            <p:cNvSpPr/>
            <p:nvPr/>
          </p:nvSpPr>
          <p:spPr>
            <a:xfrm>
              <a:off x="9576907"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uilding pt"/>
            <p:cNvSpPr/>
            <p:nvPr/>
          </p:nvSpPr>
          <p:spPr>
            <a:xfrm>
              <a:off x="9576907"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uilding pt"/>
            <p:cNvSpPr/>
            <p:nvPr/>
          </p:nvSpPr>
          <p:spPr>
            <a:xfrm>
              <a:off x="9670313"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uilding pt"/>
            <p:cNvSpPr/>
            <p:nvPr/>
          </p:nvSpPr>
          <p:spPr>
            <a:xfrm>
              <a:off x="9670313"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uilding pt"/>
            <p:cNvSpPr/>
            <p:nvPr/>
          </p:nvSpPr>
          <p:spPr>
            <a:xfrm>
              <a:off x="9670313"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uilding pt"/>
            <p:cNvSpPr/>
            <p:nvPr/>
          </p:nvSpPr>
          <p:spPr>
            <a:xfrm>
              <a:off x="9763719"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uilding pt"/>
            <p:cNvSpPr/>
            <p:nvPr/>
          </p:nvSpPr>
          <p:spPr>
            <a:xfrm>
              <a:off x="9763719"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uilding pt"/>
            <p:cNvSpPr/>
            <p:nvPr/>
          </p:nvSpPr>
          <p:spPr>
            <a:xfrm>
              <a:off x="9763719"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uilding pt"/>
            <p:cNvSpPr/>
            <p:nvPr/>
          </p:nvSpPr>
          <p:spPr>
            <a:xfrm>
              <a:off x="9857125"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uilding pt"/>
            <p:cNvSpPr/>
            <p:nvPr/>
          </p:nvSpPr>
          <p:spPr>
            <a:xfrm>
              <a:off x="9857125"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uilding pt"/>
            <p:cNvSpPr/>
            <p:nvPr/>
          </p:nvSpPr>
          <p:spPr>
            <a:xfrm>
              <a:off x="9857125"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uilding pt"/>
            <p:cNvSpPr/>
            <p:nvPr/>
          </p:nvSpPr>
          <p:spPr>
            <a:xfrm>
              <a:off x="9950531"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uilding pt"/>
            <p:cNvSpPr/>
            <p:nvPr/>
          </p:nvSpPr>
          <p:spPr>
            <a:xfrm>
              <a:off x="9950531"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uilding pt"/>
            <p:cNvSpPr/>
            <p:nvPr/>
          </p:nvSpPr>
          <p:spPr>
            <a:xfrm>
              <a:off x="9950531"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ree pt"/>
            <p:cNvSpPr/>
            <p:nvPr/>
          </p:nvSpPr>
          <p:spPr>
            <a:xfrm>
              <a:off x="11029889" y="114574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ree pt"/>
            <p:cNvSpPr/>
            <p:nvPr/>
          </p:nvSpPr>
          <p:spPr>
            <a:xfrm>
              <a:off x="10995896" y="105522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ree pt"/>
            <p:cNvSpPr/>
            <p:nvPr/>
          </p:nvSpPr>
          <p:spPr>
            <a:xfrm>
              <a:off x="10909822" y="100706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ree pt"/>
            <p:cNvSpPr/>
            <p:nvPr/>
          </p:nvSpPr>
          <p:spPr>
            <a:xfrm>
              <a:off x="10811942" y="102379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ree pt"/>
            <p:cNvSpPr/>
            <p:nvPr/>
          </p:nvSpPr>
          <p:spPr>
            <a:xfrm>
              <a:off x="10748055" y="109758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ree pt"/>
            <p:cNvSpPr/>
            <p:nvPr/>
          </p:nvSpPr>
          <p:spPr>
            <a:xfrm>
              <a:off x="10748055" y="119390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ree pt"/>
            <p:cNvSpPr/>
            <p:nvPr/>
          </p:nvSpPr>
          <p:spPr>
            <a:xfrm>
              <a:off x="10811942" y="126769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ree pt"/>
            <p:cNvSpPr/>
            <p:nvPr/>
          </p:nvSpPr>
          <p:spPr>
            <a:xfrm>
              <a:off x="10909822" y="12844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ree pt"/>
            <p:cNvSpPr/>
            <p:nvPr/>
          </p:nvSpPr>
          <p:spPr>
            <a:xfrm>
              <a:off x="10995896" y="123625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trunk"/>
            <p:cNvCxnSpPr/>
            <p:nvPr/>
          </p:nvCxnSpPr>
          <p:spPr>
            <a:xfrm flipV="1">
              <a:off x="10907451" y="1309421"/>
              <a:ext cx="0" cy="246229"/>
            </a:xfrm>
            <a:prstGeom prst="line">
              <a:avLst/>
            </a:prstGeom>
            <a:ln w="1270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3" name="tile plane"/>
            <p:cNvCxnSpPr/>
            <p:nvPr/>
          </p:nvCxnSpPr>
          <p:spPr>
            <a:xfrm flipV="1">
              <a:off x="9329928" y="1560881"/>
              <a:ext cx="1037844" cy="50292"/>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4" name="tile plane"/>
            <p:cNvCxnSpPr/>
            <p:nvPr/>
          </p:nvCxnSpPr>
          <p:spPr>
            <a:xfrm flipV="1">
              <a:off x="10367772" y="1550822"/>
              <a:ext cx="1037844" cy="10059"/>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grpSp>
      <p:grpSp>
        <p:nvGrpSpPr>
          <p:cNvPr id="65" name="!!lab_ground" descr="Label: Ground, pointing at the ground in the render"/>
          <p:cNvGrpSpPr/>
          <p:nvPr/>
        </p:nvGrpSpPr>
        <p:grpSpPr>
          <a:xfrm>
            <a:off x="9074206" y="4799992"/>
            <a:ext cx="1472438" cy="1252728"/>
            <a:chOff x="9074206" y="4799992"/>
            <a:chExt cx="1472438" cy="1252728"/>
          </a:xfrm>
        </p:grpSpPr>
        <p:cxnSp>
          <p:nvCxnSpPr>
            <p:cNvPr id="66"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7"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8"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71"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Scored against AHN's ground:</a:t>
            </a:r>
            <a:endParaRPr lang="en-GB" sz="2000"/>
          </a:p>
          <a:p>
            <a:pPr marL="0" indent="0" algn="l">
              <a:spcBef>
                <a:spcPts val="0"/>
              </a:spcBef>
              <a:spcAft>
                <a:spcPts val="0"/>
              </a:spcAft>
              <a:buNone/>
            </a:pPr>
            <a:r>
              <a:rPr sz="2000" b="0" lang="en-GB">
                <a:solidFill>
                  <a:srgbClr val="263238"/>
                </a:solidFill>
                <a:latin typeface="+mn-lt"/>
              </a:rPr>
              <a:t>98 % precision, 94 % recall.</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13</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4 Clustering:</a:t>
            </a:r>
            <a:br/>
            <a:r>
              <a:rPr lang="en-GB"/>
              <a:t>DBSCAN groups what touches</a:t>
            </a:r>
          </a:p>
        </p:txBody>
      </p:sp>
      <p:pic>
        <p:nvPicPr>
          <p:cNvPr id="4" name="!!render" descr="Same view: ground stays slate grey, labelled Ground; the other points are grouped into clusters, each drawn in one of four cycling colours (blue, sage, grey, light grey), with noise dimmed."/>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3345180"/>
            <a:ext cx="5760186" cy="266700"/>
            <a:chOff x="402336" y="3345180"/>
            <a:chExt cx="5760186" cy="266700"/>
          </a:xfrm>
        </p:grpSpPr>
        <p:sp>
          <p:nvSpPr>
            <p:cNvPr id="7" name="Key line bar"/>
            <p:cNvSpPr/>
            <p:nvPr/>
          </p:nvSpPr>
          <p:spPr>
            <a:xfrm>
              <a:off x="402336" y="33451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33451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hag = height_above(P, ground)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up = ~ground &amp; (hag &gt; 0.3)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rest = down.select_by_index(</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np.flatnonzero(up))</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lab = rest.cluster_dbscan(</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eps=0.75, min_points=6)</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ids = np.asarray(lab)</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print(ids.max() + 1, </a:t>
            </a:r>
            <a:r>
              <a:rPr sz="1800" b="0" lang="en-GB" noProof="1">
                <a:solidFill>
                  <a:srgbClr val="2B6797"/>
                </a:solidFill>
                <a:latin typeface="Fira Mono" pitchFamily="49"/>
              </a:rPr>
              <a:t>"clusters"</a:t>
            </a:r>
            <a:r>
              <a:rPr sz="1800" b="0" lang="en-GB" noProof="1">
                <a:solidFill>
                  <a:srgbClr val="263238"/>
                </a:solidFill>
                <a:latin typeface="Fira Mono" pitchFamily="49"/>
              </a:rPr>
              <a:t>)</a:t>
            </a:r>
            <a:endParaRPr lang="en-GB" sz="1800"/>
          </a:p>
        </p:txBody>
      </p:sp>
      <p:grpSp>
        <p:nvGrpSpPr>
          <p:cNvPr id="12" name="Sketch dbscan" descr="Sketch: two groups of points, each a cluster because every point has neighbours within eps, shown as a dashed circle; a lone point far away is noise."/>
          <p:cNvGrpSpPr/>
          <p:nvPr/>
        </p:nvGrpSpPr>
        <p:grpSpPr>
          <a:xfrm>
            <a:off x="9201912" y="658368"/>
            <a:ext cx="2331720" cy="1554480"/>
            <a:chOff x="9201912" y="658368"/>
            <a:chExt cx="2331720" cy="1554480"/>
          </a:xfrm>
        </p:grpSpPr>
        <p:sp>
          <p:nvSpPr>
            <p:cNvPr id="13" name="Sketch dbscan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dbscan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eps = 0.75 m</a:t>
              </a:r>
            </a:p>
          </p:txBody>
        </p:sp>
        <p:sp>
          <p:nvSpPr>
            <p:cNvPr id="15" name="eps ring"/>
            <p:cNvSpPr/>
            <p:nvPr/>
          </p:nvSpPr>
          <p:spPr>
            <a:xfrm>
              <a:off x="9662038" y="960394"/>
              <a:ext cx="456651" cy="456651"/>
            </a:xfrm>
            <a:prstGeom prst="ellipse">
              <a:avLst/>
            </a:prstGeom>
            <a:noFill/>
            <a:ln w="12700">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luster A"/>
            <p:cNvSpPr/>
            <p:nvPr/>
          </p:nvSpPr>
          <p:spPr>
            <a:xfrm>
              <a:off x="9491777" y="1193292"/>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luster A"/>
            <p:cNvSpPr/>
            <p:nvPr/>
          </p:nvSpPr>
          <p:spPr>
            <a:xfrm>
              <a:off x="9637075" y="1042416"/>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luster A"/>
            <p:cNvSpPr/>
            <p:nvPr/>
          </p:nvSpPr>
          <p:spPr>
            <a:xfrm>
              <a:off x="9699346" y="1293876"/>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luster A"/>
            <p:cNvSpPr/>
            <p:nvPr/>
          </p:nvSpPr>
          <p:spPr>
            <a:xfrm>
              <a:off x="9844644" y="1143000"/>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luster A"/>
            <p:cNvSpPr/>
            <p:nvPr/>
          </p:nvSpPr>
          <p:spPr>
            <a:xfrm>
              <a:off x="9906914" y="1364285"/>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luster A"/>
            <p:cNvSpPr/>
            <p:nvPr/>
          </p:nvSpPr>
          <p:spPr>
            <a:xfrm>
              <a:off x="10010699" y="1022299"/>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luster A"/>
            <p:cNvSpPr/>
            <p:nvPr/>
          </p:nvSpPr>
          <p:spPr>
            <a:xfrm>
              <a:off x="10114483" y="1223467"/>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luster B"/>
            <p:cNvSpPr/>
            <p:nvPr/>
          </p:nvSpPr>
          <p:spPr>
            <a:xfrm>
              <a:off x="10529621" y="1042416"/>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luster B"/>
            <p:cNvSpPr/>
            <p:nvPr/>
          </p:nvSpPr>
          <p:spPr>
            <a:xfrm>
              <a:off x="10654162" y="1193292"/>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luster B"/>
            <p:cNvSpPr/>
            <p:nvPr/>
          </p:nvSpPr>
          <p:spPr>
            <a:xfrm>
              <a:off x="10778703" y="992124"/>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luster B"/>
            <p:cNvSpPr/>
            <p:nvPr/>
          </p:nvSpPr>
          <p:spPr>
            <a:xfrm>
              <a:off x="10861731" y="1263701"/>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luster B"/>
            <p:cNvSpPr/>
            <p:nvPr/>
          </p:nvSpPr>
          <p:spPr>
            <a:xfrm>
              <a:off x="10986272" y="1122883"/>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oise"/>
            <p:cNvSpPr/>
            <p:nvPr/>
          </p:nvSpPr>
          <p:spPr>
            <a:xfrm>
              <a:off x="11214598" y="1545336"/>
              <a:ext cx="91440" cy="91440"/>
            </a:xfrm>
            <a:prstGeom prst="ellipse">
              <a:avLst/>
            </a:prstGeom>
            <a:solidFill>
              <a:srgbClr val="455A64"/>
            </a:solidFill>
            <a:ln w="9525">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29" name="!!lab_ground" descr="Label: Ground, pointing at the ground in the render"/>
          <p:cNvGrpSpPr/>
          <p:nvPr/>
        </p:nvGrpSpPr>
        <p:grpSpPr>
          <a:xfrm>
            <a:off x="9074206" y="4799992"/>
            <a:ext cx="1472438" cy="1252728"/>
            <a:chOff x="9074206" y="4799992"/>
            <a:chExt cx="1472438" cy="1252728"/>
          </a:xfrm>
        </p:grpSpPr>
        <p:cxnSp>
          <p:nvCxnSpPr>
            <p:cNvPr id="30"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31"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32"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35"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1 024 clusters. Clusters are not labels yet.</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14</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5 Labelling:</a:t>
            </a:r>
            <a:br/>
            <a:r>
              <a:rPr lang="en-GB"/>
              <a:t>rules name the clusters</a:t>
            </a:r>
          </a:p>
        </p:txBody>
      </p:sp>
      <p:pic>
        <p:nvPicPr>
          <p:cNvPr id="4" name="!!render" descr="Same view with four classes, each labelled directly: ground slate grey, buildings light blue, vegetation sage green, street furniture whit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278380"/>
            <a:ext cx="5760186" cy="266700"/>
            <a:chOff x="402336" y="2278380"/>
            <a:chExt cx="5760186" cy="266700"/>
          </a:xfrm>
        </p:grpSpPr>
        <p:sp>
          <p:nvSpPr>
            <p:cNvPr id="7" name="Key line bar"/>
            <p:cNvSpPr/>
            <p:nvPr/>
          </p:nvSpPr>
          <p:spPr>
            <a:xfrm>
              <a:off x="402336" y="22783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2783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def</a:t>
            </a:r>
            <a:r>
              <a:rPr sz="1800" b="0" lang="en-GB" noProof="1">
                <a:solidFill>
                  <a:srgbClr val="263238"/>
                </a:solidFill>
                <a:latin typeface="Fira Mono" pitchFamily="49"/>
              </a:rPr>
              <a:t> name(c):</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a:t>
            </a:r>
            <a:r>
              <a:rPr sz="1800" b="1" lang="en-GB" noProof="1">
                <a:solidFill>
                  <a:srgbClr val="1C325B"/>
                </a:solidFill>
                <a:latin typeface="Fira Mono" pitchFamily="49"/>
              </a:rPr>
              <a:t>if</a:t>
            </a:r>
            <a:r>
              <a:rPr sz="1800" b="1" lang="en-GB" noProof="1">
                <a:solidFill>
                  <a:srgbClr val="263238"/>
                </a:solidFill>
                <a:latin typeface="Fira Mono" pitchFamily="49"/>
              </a:rPr>
              <a:t> c.multi &gt; 0.4 </a:t>
            </a:r>
            <a:r>
              <a:rPr sz="1800" b="1" lang="en-GB" noProof="1">
                <a:solidFill>
                  <a:srgbClr val="1C325B"/>
                </a:solidFill>
                <a:latin typeface="Fira Mono" pitchFamily="49"/>
              </a:rPr>
              <a:t>and</a:t>
            </a:r>
            <a:r>
              <a:rPr sz="1800" b="1" lang="en-GB" noProof="1">
                <a:solidFill>
                  <a:srgbClr val="263238"/>
                </a:solidFill>
                <a:latin typeface="Fira Mono" pitchFamily="49"/>
              </a:rPr>
              <a:t> c.top &gt; 1:</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VEGETATION</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c.foot &gt; 25 </a:t>
            </a:r>
            <a:r>
              <a:rPr sz="1800" b="1" lang="en-GB" noProof="1">
                <a:solidFill>
                  <a:srgbClr val="1C325B"/>
                </a:solidFill>
                <a:latin typeface="Fira Mono" pitchFamily="49"/>
              </a:rPr>
              <a:t>and</a:t>
            </a:r>
            <a:r>
              <a:rPr sz="1800" b="0" lang="en-GB" noProof="1">
                <a:solidFill>
                  <a:srgbClr val="263238"/>
                </a:solidFill>
                <a:latin typeface="Fira Mono" pitchFamily="49"/>
              </a:rPr>
              <a:t> c.top &gt;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c.to_building &lt; 2:  </a:t>
            </a:r>
            <a:r>
              <a:rPr sz="1800" b="0" lang="en-GB" noProof="1">
                <a:solidFill>
                  <a:srgbClr val="455A64"/>
                </a:solidFill>
                <a:latin typeface="Fira Mono" pitchFamily="49"/>
              </a:rPr>
              <a:t># facade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c.slender </a:t>
            </a:r>
            <a:r>
              <a:rPr sz="1800" b="1" lang="en-GB" noProof="1">
                <a:solidFill>
                  <a:srgbClr val="1C325B"/>
                </a:solidFill>
                <a:latin typeface="Fira Mono" pitchFamily="49"/>
              </a:rPr>
              <a:t>and</a:t>
            </a:r>
            <a:r>
              <a:rPr sz="1800" b="0" lang="en-GB" noProof="1">
                <a:solidFill>
                  <a:srgbClr val="263238"/>
                </a:solidFill>
                <a:latin typeface="Fira Mono" pitchFamily="49"/>
              </a:rPr>
              <a:t> c.free: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STREET_FURNITURE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UNLABELLED</a:t>
            </a:r>
            <a:endParaRPr lang="en-GB" sz="1800"/>
          </a:p>
        </p:txBody>
      </p:sp>
      <p:grpSp>
        <p:nvGrpSpPr>
          <p:cNvPr id="13" name="Sketch rules" descr="Sketch: three cluster shapes, a tree crown with many echoes, a wide flat building and a thin pole, each with an arrow to its class colour: vegetation, buildings, street furniture."/>
          <p:cNvGrpSpPr/>
          <p:nvPr/>
        </p:nvGrpSpPr>
        <p:grpSpPr>
          <a:xfrm>
            <a:off x="9201912" y="658368"/>
            <a:ext cx="2331720" cy="1554480"/>
            <a:chOff x="9201912" y="658368"/>
            <a:chExt cx="2331720" cy="1554480"/>
          </a:xfrm>
        </p:grpSpPr>
        <p:sp>
          <p:nvSpPr>
            <p:cNvPr id="14" name="Sketch rules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ketch rules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shape → class</a:t>
              </a:r>
            </a:p>
          </p:txBody>
        </p:sp>
        <p:sp>
          <p:nvSpPr>
            <p:cNvPr id="16" name="crown pt"/>
            <p:cNvSpPr/>
            <p:nvPr/>
          </p:nvSpPr>
          <p:spPr>
            <a:xfrm>
              <a:off x="9904476"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rown pt"/>
            <p:cNvSpPr/>
            <p:nvPr/>
          </p:nvSpPr>
          <p:spPr>
            <a:xfrm>
              <a:off x="9855578" y="112737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rown pt"/>
            <p:cNvSpPr/>
            <p:nvPr/>
          </p:nvSpPr>
          <p:spPr>
            <a:xfrm>
              <a:off x="9727562" y="120045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rown pt"/>
            <p:cNvSpPr/>
            <p:nvPr/>
          </p:nvSpPr>
          <p:spPr>
            <a:xfrm>
              <a:off x="9569326" y="120045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rown pt"/>
            <p:cNvSpPr/>
            <p:nvPr/>
          </p:nvSpPr>
          <p:spPr>
            <a:xfrm>
              <a:off x="9441310" y="112737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rown pt"/>
            <p:cNvSpPr/>
            <p:nvPr/>
          </p:nvSpPr>
          <p:spPr>
            <a:xfrm>
              <a:off x="9392412"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rown pt"/>
            <p:cNvSpPr/>
            <p:nvPr/>
          </p:nvSpPr>
          <p:spPr>
            <a:xfrm>
              <a:off x="9441310" y="890888"/>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rown pt"/>
            <p:cNvSpPr/>
            <p:nvPr/>
          </p:nvSpPr>
          <p:spPr>
            <a:xfrm>
              <a:off x="9569326" y="817810"/>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rown pt"/>
            <p:cNvSpPr/>
            <p:nvPr/>
          </p:nvSpPr>
          <p:spPr>
            <a:xfrm>
              <a:off x="9727562" y="817810"/>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rown pt"/>
            <p:cNvSpPr/>
            <p:nvPr/>
          </p:nvSpPr>
          <p:spPr>
            <a:xfrm>
              <a:off x="9855578" y="890888"/>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rown pt"/>
            <p:cNvSpPr/>
            <p:nvPr/>
          </p:nvSpPr>
          <p:spPr>
            <a:xfrm>
              <a:off x="9648444"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trunk"/>
            <p:cNvCxnSpPr/>
            <p:nvPr/>
          </p:nvCxnSpPr>
          <p:spPr>
            <a:xfrm>
              <a:off x="9675876" y="1194572"/>
              <a:ext cx="0" cy="25018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8" name="building"/>
            <p:cNvSpPr/>
            <p:nvPr/>
          </p:nvSpPr>
          <p:spPr>
            <a:xfrm>
              <a:off x="10093452" y="1082650"/>
              <a:ext cx="548640" cy="362102"/>
            </a:xfrm>
            <a:prstGeom prst="rect">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ole"/>
            <p:cNvSpPr/>
            <p:nvPr/>
          </p:nvSpPr>
          <p:spPr>
            <a:xfrm>
              <a:off x="11032236" y="819302"/>
              <a:ext cx="54864" cy="6254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to class"/>
            <p:cNvCxnSpPr/>
            <p:nvPr/>
          </p:nvCxnSpPr>
          <p:spPr>
            <a:xfrm>
              <a:off x="9675876"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Swatch"/>
            <p:cNvSpPr/>
            <p:nvPr/>
          </p:nvSpPr>
          <p:spPr>
            <a:xfrm>
              <a:off x="9575292" y="1591056"/>
              <a:ext cx="201168" cy="201168"/>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to class"/>
            <p:cNvCxnSpPr/>
            <p:nvPr/>
          </p:nvCxnSpPr>
          <p:spPr>
            <a:xfrm>
              <a:off x="10367772"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watch"/>
            <p:cNvSpPr/>
            <p:nvPr/>
          </p:nvSpPr>
          <p:spPr>
            <a:xfrm>
              <a:off x="10267188" y="1591056"/>
              <a:ext cx="201168" cy="201168"/>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to class"/>
            <p:cNvCxnSpPr/>
            <p:nvPr/>
          </p:nvCxnSpPr>
          <p:spPr>
            <a:xfrm>
              <a:off x="11059668"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watch"/>
            <p:cNvSpPr/>
            <p:nvPr/>
          </p:nvSpPr>
          <p:spPr>
            <a:xfrm>
              <a:off x="10959084" y="1591056"/>
              <a:ext cx="201168" cy="201168"/>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36" name="!!lab_ground" descr="Label: Ground, pointing at the ground in the render"/>
          <p:cNvGrpSpPr/>
          <p:nvPr/>
        </p:nvGrpSpPr>
        <p:grpSpPr>
          <a:xfrm>
            <a:off x="9074206" y="4799992"/>
            <a:ext cx="1472438" cy="1252728"/>
            <a:chOff x="9074206" y="4799992"/>
            <a:chExt cx="1472438" cy="1252728"/>
          </a:xfrm>
        </p:grpSpPr>
        <p:cxnSp>
          <p:nvCxnSpPr>
            <p:cNvPr id="37"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38"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39"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42"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43" name="!!lab_buildings" descr="Label: Buildings, pointing at the buildings in the render"/>
          <p:cNvGrpSpPr/>
          <p:nvPr/>
        </p:nvGrpSpPr>
        <p:grpSpPr>
          <a:xfrm>
            <a:off x="9048898" y="3181968"/>
            <a:ext cx="2057146" cy="402336"/>
            <a:chOff x="9048898" y="3181968"/>
            <a:chExt cx="2057146" cy="402336"/>
          </a:xfrm>
        </p:grpSpPr>
        <p:cxnSp>
          <p:nvCxnSpPr>
            <p:cNvPr id="44"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5"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6"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ip"/>
            <p:cNvSpPr/>
            <p:nvPr/>
          </p:nvSpPr>
          <p:spPr>
            <a:xfrm>
              <a:off x="9533530" y="3181968"/>
              <a:ext cx="1572514"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49"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0" name="!!lab_vegetation" descr="Label: Vegetation, pointing at the vegetation in the render"/>
          <p:cNvGrpSpPr/>
          <p:nvPr/>
        </p:nvGrpSpPr>
        <p:grpSpPr>
          <a:xfrm>
            <a:off x="6969125" y="3983810"/>
            <a:ext cx="1745742" cy="886968"/>
            <a:chOff x="6969125" y="3983810"/>
            <a:chExt cx="1745742" cy="886968"/>
          </a:xfrm>
        </p:grpSpPr>
        <p:cxnSp>
          <p:nvCxnSpPr>
            <p:cNvPr id="51"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2"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3"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Chip"/>
            <p:cNvSpPr/>
            <p:nvPr/>
          </p:nvSpPr>
          <p:spPr>
            <a:xfrm>
              <a:off x="6969125" y="4468442"/>
              <a:ext cx="174574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56" name="Swatch"/>
            <p:cNvSpPr/>
            <p:nvPr/>
          </p:nvSpPr>
          <p:spPr>
            <a:xfrm>
              <a:off x="706056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7" name="!!lab_street_furniture" descr="Label: Street furniture, pointing at the street furniture in the render"/>
          <p:cNvGrpSpPr/>
          <p:nvPr/>
        </p:nvGrpSpPr>
        <p:grpSpPr>
          <a:xfrm>
            <a:off x="6791468" y="898600"/>
            <a:ext cx="2303526" cy="813816"/>
            <a:chOff x="6791468" y="898600"/>
            <a:chExt cx="2303526" cy="813816"/>
          </a:xfrm>
        </p:grpSpPr>
        <p:cxnSp>
          <p:nvCxnSpPr>
            <p:cNvPr id="58" name="Leader halo"/>
            <p:cNvCxnSpPr/>
            <p:nvPr/>
          </p:nvCxnSpPr>
          <p:spPr>
            <a:xfrm flipH="1" flipV="1">
              <a:off x="8403936" y="1300936"/>
              <a:ext cx="1582" cy="41148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9" name="Leader"/>
            <p:cNvCxnSpPr/>
            <p:nvPr/>
          </p:nvCxnSpPr>
          <p:spPr>
            <a:xfrm flipH="1" flipV="1">
              <a:off x="8403936" y="1300936"/>
              <a:ext cx="1582" cy="41148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0" name="Chip"/>
            <p:cNvSpPr/>
            <p:nvPr/>
          </p:nvSpPr>
          <p:spPr>
            <a:xfrm>
              <a:off x="6791468" y="898600"/>
              <a:ext cx="230352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1" name="Swatch"/>
            <p:cNvSpPr/>
            <p:nvPr/>
          </p:nvSpPr>
          <p:spPr>
            <a:xfrm>
              <a:off x="6882908" y="1017472"/>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Leaf-off scan: bare trees echo several times.</a:t>
            </a:r>
            <a:endParaRPr lang="en-GB" sz="2000"/>
          </a:p>
        </p:txBody>
      </p:sp>
      <p:sp>
        <p:nvSpPr>
          <p:cNvPr id="11" name="!!small"/>
          <p:cNvSpPr txBox="1"/>
          <p:nvPr/>
        </p:nvSpPr>
        <p:spPr>
          <a:xfrm>
            <a:off x="548640" y="5540976"/>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Street furniture: 3 objects, 53 points, drawn enlarged. Poles nearly vanish.</a:t>
            </a:r>
            <a:endParaRPr lang="en-GB" sz="1200"/>
          </a:p>
        </p:txBody>
      </p:sp>
      <p:sp>
        <p:nvSpPr>
          <p:cNvPr id="12"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15</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6 Visualisation:</a:t>
            </a:r>
            <a:br/>
            <a:r>
              <a:rPr lang="en-GB"/>
              <a:t>PyVista paints every point</a:t>
            </a:r>
          </a:p>
        </p:txBody>
      </p:sp>
      <p:pic>
        <p:nvPicPr>
          <p:cNvPr id="4" name="!!render" descr="Same view: the four class labels painted back from the 232 180 voxel points onto all 722 961 original points; ground slate grey, buildings light blue, vegetation sage green, street furniture whit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811780"/>
            <a:ext cx="5760186" cy="266700"/>
            <a:chOff x="402336" y="2811780"/>
            <a:chExt cx="5760186" cy="266700"/>
          </a:xfrm>
        </p:grpSpPr>
        <p:sp>
          <p:nvSpPr>
            <p:cNvPr id="7" name="Key line bar"/>
            <p:cNvSpPr/>
            <p:nvPr/>
          </p:nvSpPr>
          <p:spPr>
            <a:xfrm>
              <a:off x="402336" y="28117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8117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_, j = KDTree(P).query(</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xyz, workers=-1)</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pl = pv.Plotter(off_screen=</a:t>
            </a:r>
            <a:r>
              <a:rPr sz="1800" b="1" lang="en-GB" noProof="1">
                <a:solidFill>
                  <a:srgbClr val="1C325B"/>
                </a:solidFill>
                <a:latin typeface="Fira Mono" pitchFamily="49"/>
              </a:rPr>
              <a:t>True</a:t>
            </a:r>
            <a:r>
              <a:rPr sz="1800" b="1"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pl.add_points(xyz, point_size=3,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scalars=RGB[cls[j]], rgb=</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pl.camera_position = CAM</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pl.screenshot(</a:t>
            </a:r>
            <a:r>
              <a:rPr sz="1800" b="0" lang="en-GB" noProof="1">
                <a:solidFill>
                  <a:srgbClr val="2B6797"/>
                </a:solidFill>
                <a:latin typeface="Fira Mono" pitchFamily="49"/>
              </a:rPr>
              <a:t>"f6_final.png"</a:t>
            </a:r>
            <a:r>
              <a:rPr sz="1800" b="0" lang="en-GB" noProof="1">
                <a:solidFill>
                  <a:srgbClr val="263238"/>
                </a:solidFill>
                <a:latin typeface="Fira Mono" pitchFamily="49"/>
              </a:rPr>
              <a:t>)</a:t>
            </a:r>
            <a:endParaRPr lang="en-GB" sz="1800"/>
          </a:p>
        </p:txBody>
      </p:sp>
      <p:grpSp>
        <p:nvGrpSpPr>
          <p:cNvPr id="13" name="Sketch paint" descr="Sketch: three large voxel points with labels and many small original points around them; each small point takes the colour of its nearest voxel point."/>
          <p:cNvGrpSpPr/>
          <p:nvPr/>
        </p:nvGrpSpPr>
        <p:grpSpPr>
          <a:xfrm>
            <a:off x="9201912" y="658368"/>
            <a:ext cx="2331720" cy="1554480"/>
            <a:chOff x="9201912" y="658368"/>
            <a:chExt cx="2331720" cy="1554480"/>
          </a:xfrm>
        </p:grpSpPr>
        <p:sp>
          <p:nvSpPr>
            <p:cNvPr id="14" name="Sketch paint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ketch paint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nearest voxel's label</a:t>
              </a:r>
            </a:p>
          </p:txBody>
        </p:sp>
        <p:cxnSp>
          <p:nvCxnSpPr>
            <p:cNvPr id="16" name="nearest"/>
            <p:cNvCxnSpPr/>
            <p:nvPr/>
          </p:nvCxnSpPr>
          <p:spPr>
            <a:xfrm>
              <a:off x="9537497" y="1088136"/>
              <a:ext cx="249082" cy="150876"/>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17" name="Swatch"/>
            <p:cNvSpPr/>
            <p:nvPr/>
          </p:nvSpPr>
          <p:spPr>
            <a:xfrm>
              <a:off x="9500921" y="1051560"/>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nearest"/>
            <p:cNvCxnSpPr/>
            <p:nvPr/>
          </p:nvCxnSpPr>
          <p:spPr>
            <a:xfrm flipV="1">
              <a:off x="9620524" y="1239012"/>
              <a:ext cx="166055" cy="170993"/>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19" name="Swatch"/>
            <p:cNvSpPr/>
            <p:nvPr/>
          </p:nvSpPr>
          <p:spPr>
            <a:xfrm>
              <a:off x="9583948" y="1373429"/>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nearest"/>
            <p:cNvCxnSpPr/>
            <p:nvPr/>
          </p:nvCxnSpPr>
          <p:spPr>
            <a:xfrm flipH="1" flipV="1">
              <a:off x="9786579" y="1239012"/>
              <a:ext cx="166055" cy="20116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1" name="Swatch"/>
            <p:cNvSpPr/>
            <p:nvPr/>
          </p:nvSpPr>
          <p:spPr>
            <a:xfrm>
              <a:off x="9916058" y="1403604"/>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nearest"/>
            <p:cNvCxnSpPr/>
            <p:nvPr/>
          </p:nvCxnSpPr>
          <p:spPr>
            <a:xfrm flipH="1">
              <a:off x="9786579" y="1037844"/>
              <a:ext cx="207569" cy="20116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3" name="Swatch"/>
            <p:cNvSpPr/>
            <p:nvPr/>
          </p:nvSpPr>
          <p:spPr>
            <a:xfrm>
              <a:off x="9957572" y="1001268"/>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nearest"/>
            <p:cNvCxnSpPr/>
            <p:nvPr/>
          </p:nvCxnSpPr>
          <p:spPr>
            <a:xfrm>
              <a:off x="10263988" y="987552"/>
              <a:ext cx="207568" cy="100584"/>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5" name="Swatch"/>
            <p:cNvSpPr/>
            <p:nvPr/>
          </p:nvSpPr>
          <p:spPr>
            <a:xfrm>
              <a:off x="10227412" y="950976"/>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nearest"/>
            <p:cNvCxnSpPr/>
            <p:nvPr/>
          </p:nvCxnSpPr>
          <p:spPr>
            <a:xfrm flipV="1">
              <a:off x="10326258" y="1088136"/>
              <a:ext cx="145298" cy="18105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7" name="Swatch"/>
            <p:cNvSpPr/>
            <p:nvPr/>
          </p:nvSpPr>
          <p:spPr>
            <a:xfrm>
              <a:off x="10289682" y="1232611"/>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nearest"/>
            <p:cNvCxnSpPr/>
            <p:nvPr/>
          </p:nvCxnSpPr>
          <p:spPr>
            <a:xfrm flipH="1">
              <a:off x="10471556" y="937260"/>
              <a:ext cx="166055" cy="150876"/>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9" name="Swatch"/>
            <p:cNvSpPr/>
            <p:nvPr/>
          </p:nvSpPr>
          <p:spPr>
            <a:xfrm>
              <a:off x="10601035" y="900684"/>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nearest"/>
            <p:cNvCxnSpPr/>
            <p:nvPr/>
          </p:nvCxnSpPr>
          <p:spPr>
            <a:xfrm flipH="1" flipV="1">
              <a:off x="10471556" y="1088136"/>
              <a:ext cx="228326" cy="12070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1" name="Swatch"/>
            <p:cNvSpPr/>
            <p:nvPr/>
          </p:nvSpPr>
          <p:spPr>
            <a:xfrm>
              <a:off x="10663306" y="1172261"/>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nearest"/>
            <p:cNvCxnSpPr/>
            <p:nvPr/>
          </p:nvCxnSpPr>
          <p:spPr>
            <a:xfrm flipV="1">
              <a:off x="10824423" y="1410005"/>
              <a:ext cx="207569" cy="130759"/>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3" name="Swatch"/>
            <p:cNvSpPr/>
            <p:nvPr/>
          </p:nvSpPr>
          <p:spPr>
            <a:xfrm>
              <a:off x="10787847" y="1504188"/>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nearest"/>
            <p:cNvCxnSpPr/>
            <p:nvPr/>
          </p:nvCxnSpPr>
          <p:spPr>
            <a:xfrm flipH="1">
              <a:off x="11031992" y="1269187"/>
              <a:ext cx="166055" cy="14081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5" name="Swatch"/>
            <p:cNvSpPr/>
            <p:nvPr/>
          </p:nvSpPr>
          <p:spPr>
            <a:xfrm>
              <a:off x="11161471" y="1232611"/>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nearest"/>
            <p:cNvCxnSpPr/>
            <p:nvPr/>
          </p:nvCxnSpPr>
          <p:spPr>
            <a:xfrm flipH="1" flipV="1">
              <a:off x="11031992" y="1410005"/>
              <a:ext cx="228326" cy="18105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7" name="Swatch"/>
            <p:cNvSpPr/>
            <p:nvPr/>
          </p:nvSpPr>
          <p:spPr>
            <a:xfrm>
              <a:off x="11223742" y="1554480"/>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nearest"/>
            <p:cNvCxnSpPr/>
            <p:nvPr/>
          </p:nvCxnSpPr>
          <p:spPr>
            <a:xfrm>
              <a:off x="10886694" y="1339596"/>
              <a:ext cx="145298" cy="70409"/>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9" name="Swatch"/>
            <p:cNvSpPr/>
            <p:nvPr/>
          </p:nvSpPr>
          <p:spPr>
            <a:xfrm>
              <a:off x="10850118" y="1303020"/>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Swatch"/>
            <p:cNvSpPr/>
            <p:nvPr/>
          </p:nvSpPr>
          <p:spPr>
            <a:xfrm>
              <a:off x="9695139" y="1147572"/>
              <a:ext cx="182880" cy="182880"/>
            </a:xfrm>
            <a:prstGeom prst="ellipse">
              <a:avLst/>
            </a:prstGeom>
            <a:solidFill>
              <a:srgbClr val="6FA0CC"/>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Swatch"/>
            <p:cNvSpPr/>
            <p:nvPr/>
          </p:nvSpPr>
          <p:spPr>
            <a:xfrm>
              <a:off x="10380116" y="996696"/>
              <a:ext cx="182880" cy="182880"/>
            </a:xfrm>
            <a:prstGeom prst="ellipse">
              <a:avLst/>
            </a:prstGeom>
            <a:solidFill>
              <a:srgbClr val="B1CAC5"/>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Swatch"/>
            <p:cNvSpPr/>
            <p:nvPr/>
          </p:nvSpPr>
          <p:spPr>
            <a:xfrm>
              <a:off x="10940552" y="1318565"/>
              <a:ext cx="182880" cy="182880"/>
            </a:xfrm>
            <a:prstGeom prst="ellipse">
              <a:avLst/>
            </a:prstGeom>
            <a:solidFill>
              <a:srgbClr val="4A5F69"/>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43" name="!!lab_ground" descr="Label: Ground, pointing at the ground in the render"/>
          <p:cNvGrpSpPr/>
          <p:nvPr/>
        </p:nvGrpSpPr>
        <p:grpSpPr>
          <a:xfrm>
            <a:off x="9074206" y="4799992"/>
            <a:ext cx="1472438" cy="1252728"/>
            <a:chOff x="9074206" y="4799992"/>
            <a:chExt cx="1472438" cy="1252728"/>
          </a:xfrm>
        </p:grpSpPr>
        <p:cxnSp>
          <p:nvCxnSpPr>
            <p:cNvPr id="44"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5"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6"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49"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0" name="!!lab_buildings" descr="Label: Buildings, pointing at the buildings in the render"/>
          <p:cNvGrpSpPr/>
          <p:nvPr/>
        </p:nvGrpSpPr>
        <p:grpSpPr>
          <a:xfrm>
            <a:off x="9048898" y="3181968"/>
            <a:ext cx="2057146" cy="402336"/>
            <a:chOff x="9048898" y="3181968"/>
            <a:chExt cx="2057146" cy="402336"/>
          </a:xfrm>
        </p:grpSpPr>
        <p:cxnSp>
          <p:nvCxnSpPr>
            <p:cNvPr id="51"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2"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3"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Chip"/>
            <p:cNvSpPr/>
            <p:nvPr/>
          </p:nvSpPr>
          <p:spPr>
            <a:xfrm>
              <a:off x="9533530" y="3181968"/>
              <a:ext cx="1572514"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56"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7" name="!!lab_vegetation" descr="Label: Vegetation, pointing at the vegetation in the render"/>
          <p:cNvGrpSpPr/>
          <p:nvPr/>
        </p:nvGrpSpPr>
        <p:grpSpPr>
          <a:xfrm>
            <a:off x="6969125" y="3983810"/>
            <a:ext cx="1745742" cy="886968"/>
            <a:chOff x="6969125" y="3983810"/>
            <a:chExt cx="1745742" cy="886968"/>
          </a:xfrm>
        </p:grpSpPr>
        <p:cxnSp>
          <p:nvCxnSpPr>
            <p:cNvPr id="58"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9"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0"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Chip"/>
            <p:cNvSpPr/>
            <p:nvPr/>
          </p:nvSpPr>
          <p:spPr>
            <a:xfrm>
              <a:off x="6969125" y="4468442"/>
              <a:ext cx="174574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63" name="Swatch"/>
            <p:cNvSpPr/>
            <p:nvPr/>
          </p:nvSpPr>
          <p:spPr>
            <a:xfrm>
              <a:off x="706056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64" name="!!lab_street_furniture" descr="Label: Street furniture, pointing at the street furniture in the render"/>
          <p:cNvGrpSpPr/>
          <p:nvPr/>
        </p:nvGrpSpPr>
        <p:grpSpPr>
          <a:xfrm>
            <a:off x="6791468" y="898600"/>
            <a:ext cx="2303526" cy="813816"/>
            <a:chOff x="6791468" y="898600"/>
            <a:chExt cx="2303526" cy="813816"/>
          </a:xfrm>
        </p:grpSpPr>
        <p:cxnSp>
          <p:nvCxnSpPr>
            <p:cNvPr id="65" name="Leader halo"/>
            <p:cNvCxnSpPr/>
            <p:nvPr/>
          </p:nvCxnSpPr>
          <p:spPr>
            <a:xfrm flipH="1" flipV="1">
              <a:off x="8403936" y="1300936"/>
              <a:ext cx="1582" cy="41148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6" name="Leader"/>
            <p:cNvCxnSpPr/>
            <p:nvPr/>
          </p:nvCxnSpPr>
          <p:spPr>
            <a:xfrm flipH="1" flipV="1">
              <a:off x="8403936" y="1300936"/>
              <a:ext cx="1582" cy="41148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7" name="Chip"/>
            <p:cNvSpPr/>
            <p:nvPr/>
          </p:nvSpPr>
          <p:spPr>
            <a:xfrm>
              <a:off x="6791468" y="898600"/>
              <a:ext cx="230352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8" name="Swatch"/>
            <p:cNvSpPr/>
            <p:nvPr/>
          </p:nvSpPr>
          <p:spPr>
            <a:xfrm>
              <a:off x="6882908" y="1017472"/>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Fixed camera, off-screen, one PNG per step.</a:t>
            </a:r>
            <a:endParaRPr lang="en-GB" sz="2000"/>
          </a:p>
        </p:txBody>
      </p:sp>
      <p:sp>
        <p:nvSpPr>
          <p:cNvPr id="11" name="!!small"/>
          <p:cNvSpPr txBox="1"/>
          <p:nvPr/>
        </p:nvSpPr>
        <p:spPr>
          <a:xfrm>
            <a:off x="548640" y="5540976"/>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Street furniture: 3 objects, 53 points, drawn enlarged. Poles nearly vanish.</a:t>
            </a:r>
            <a:endParaRPr lang="en-GB" sz="1200"/>
          </a:p>
        </p:txBody>
      </p:sp>
      <p:sp>
        <p:nvSpPr>
          <p:cNvPr id="12"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16</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the six steps did</a:t>
            </a:r>
          </a:p>
        </p:txBody>
      </p:sp>
      <p:pic>
        <p:nvPicPr>
          <p:cNvPr id="4" name="Render final" descr="The final labelled area, same view as slides 11 to 16: ground, buildings, vegetation and street furniture painted back onto all 722 961 points, each class labelled directly."/>
          <p:cNvPicPr>
            <a:picLocks noGrp="1" noChangeAspect="1"/>
          </p:cNvPicPr>
          <p:nvPr>
            <p:ph type="pic" idx="18"/>
          </p:nvPr>
        </p:nvPicPr>
        <p:blipFill>
          <a:blip r:embed="rId2"/>
          <a:srcRect/>
          <a:stretch>
            <a:fillRect/>
          </a:stretch>
        </p:blipFill>
        <p:spPr>
          <a:xfrm>
            <a:off x="6619722" y="548640"/>
            <a:ext cx="5023638" cy="5668992"/>
          </a:xfrm>
        </p:spPr>
      </p:pic>
      <p:grpSp>
        <p:nvGrpSpPr>
          <p:cNvPr id="3" name="Pipeline summary" descr="Table, one row per step. Load, laspy: 722 961 points, 57 ms. Voxels, Open3D: 232 180 voxels, 84 ms. Ground, Open3D: 98 % precision, 81 ms. Clusters, Open3D: 1 024 clusters, 137 ms. Labels, NumPy: 4 classes, 151 ms. Paint-back, SciPy: all points labelled, 99 ms."/>
          <p:cNvGrpSpPr/>
          <p:nvPr/>
        </p:nvGrpSpPr>
        <p:grpSpPr>
          <a:xfrm>
            <a:off x="548640" y="2011680"/>
            <a:ext cx="5613882" cy="2773392"/>
            <a:chOff x="548640" y="2011680"/>
            <a:chExt cx="5613882" cy="2773392"/>
          </a:xfrm>
        </p:grpSpPr>
        <p:sp>
          <p:nvSpPr>
            <p:cNvPr id="7" name="table 0.1"/>
            <p:cNvSpPr txBox="1"/>
            <p:nvPr/>
          </p:nvSpPr>
          <p:spPr>
            <a:xfrm>
              <a:off x="548640" y="2011680"/>
              <a:ext cx="1214120" cy="396199"/>
            </a:xfrm>
            <a:prstGeom prst="rect">
              <a:avLst/>
            </a:prstGeom>
            <a:noFill/>
          </p:spPr>
          <p:txBody>
            <a:bodyPr wrap="none" anchor="ctr" lIns="0" tIns="0" rIns="0" bIns="0">
              <a:noAutofit/>
            </a:bodyPr>
            <a:lstStyle/>
            <a:p>
              <a:pPr algn="l"/>
              <a:r>
                <a:rPr sz="2000" b="0" i="0" lang="en-GB">
                  <a:solidFill>
                    <a:srgbClr val="1C325B"/>
                  </a:solidFill>
                  <a:latin typeface="Fira Sans SemiBold"/>
                </a:rPr>
                <a:t>Step</a:t>
              </a:r>
            </a:p>
          </p:txBody>
        </p:sp>
        <p:sp>
          <p:nvSpPr>
            <p:cNvPr id="8" name="table 0.2"/>
            <p:cNvSpPr txBox="1"/>
            <p:nvPr/>
          </p:nvSpPr>
          <p:spPr>
            <a:xfrm>
              <a:off x="1963928" y="2011680"/>
              <a:ext cx="904240" cy="396199"/>
            </a:xfrm>
            <a:prstGeom prst="rect">
              <a:avLst/>
            </a:prstGeom>
            <a:noFill/>
          </p:spPr>
          <p:txBody>
            <a:bodyPr wrap="none" anchor="ctr" lIns="0" tIns="0" rIns="0" bIns="0">
              <a:noAutofit/>
            </a:bodyPr>
            <a:lstStyle/>
            <a:p>
              <a:pPr algn="l"/>
              <a:r>
                <a:rPr sz="2000" b="0" i="0" lang="en-GB">
                  <a:solidFill>
                    <a:srgbClr val="1C325B"/>
                  </a:solidFill>
                  <a:latin typeface="Fira Sans SemiBold"/>
                </a:rPr>
                <a:t>Library</a:t>
              </a:r>
            </a:p>
          </p:txBody>
        </p:sp>
        <p:sp>
          <p:nvSpPr>
            <p:cNvPr id="9" name="table 0.3"/>
            <p:cNvSpPr txBox="1"/>
            <p:nvPr/>
          </p:nvSpPr>
          <p:spPr>
            <a:xfrm>
              <a:off x="3069336" y="2011680"/>
              <a:ext cx="1939010" cy="396199"/>
            </a:xfrm>
            <a:prstGeom prst="rect">
              <a:avLst/>
            </a:prstGeom>
            <a:noFill/>
          </p:spPr>
          <p:txBody>
            <a:bodyPr wrap="none" anchor="ctr" lIns="0" tIns="0" rIns="0" bIns="0">
              <a:noAutofit/>
            </a:bodyPr>
            <a:lstStyle/>
            <a:p>
              <a:pPr algn="l"/>
              <a:r>
                <a:rPr sz="2000" b="0" i="0" lang="en-GB">
                  <a:solidFill>
                    <a:srgbClr val="1C325B"/>
                  </a:solidFill>
                  <a:latin typeface="Fira Sans SemiBold"/>
                </a:rPr>
                <a:t>Result</a:t>
              </a:r>
            </a:p>
          </p:txBody>
        </p:sp>
        <p:sp>
          <p:nvSpPr>
            <p:cNvPr id="10" name="table 0.4"/>
            <p:cNvSpPr txBox="1"/>
            <p:nvPr/>
          </p:nvSpPr>
          <p:spPr>
            <a:xfrm>
              <a:off x="5209514" y="2011680"/>
              <a:ext cx="953008" cy="396199"/>
            </a:xfrm>
            <a:prstGeom prst="rect">
              <a:avLst/>
            </a:prstGeom>
            <a:noFill/>
          </p:spPr>
          <p:txBody>
            <a:bodyPr wrap="none" anchor="ctr" lIns="0" tIns="0" rIns="0" bIns="0">
              <a:noAutofit/>
            </a:bodyPr>
            <a:lstStyle/>
            <a:p>
              <a:pPr algn="r"/>
              <a:r>
                <a:rPr sz="2000" b="0" i="0" lang="en-GB">
                  <a:solidFill>
                    <a:srgbClr val="1C325B"/>
                  </a:solidFill>
                  <a:latin typeface="Fira Sans SemiBold"/>
                </a:rPr>
                <a:t>Time</a:t>
              </a:r>
            </a:p>
          </p:txBody>
        </p:sp>
        <p:sp>
          <p:nvSpPr>
            <p:cNvPr id="11" name="table 1.1"/>
            <p:cNvSpPr txBox="1"/>
            <p:nvPr/>
          </p:nvSpPr>
          <p:spPr>
            <a:xfrm>
              <a:off x="548640" y="2407879"/>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Load</a:t>
              </a:r>
            </a:p>
          </p:txBody>
        </p:sp>
        <p:sp>
          <p:nvSpPr>
            <p:cNvPr id="12" name="table 1.2"/>
            <p:cNvSpPr txBox="1"/>
            <p:nvPr/>
          </p:nvSpPr>
          <p:spPr>
            <a:xfrm>
              <a:off x="1963928" y="2407879"/>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laspy</a:t>
              </a:r>
            </a:p>
          </p:txBody>
        </p:sp>
        <p:sp>
          <p:nvSpPr>
            <p:cNvPr id="13" name="table 1.3"/>
            <p:cNvSpPr txBox="1"/>
            <p:nvPr/>
          </p:nvSpPr>
          <p:spPr>
            <a:xfrm>
              <a:off x="3069336" y="2407879"/>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722 961 points</a:t>
              </a:r>
            </a:p>
          </p:txBody>
        </p:sp>
        <p:sp>
          <p:nvSpPr>
            <p:cNvPr id="14" name="table 1.4"/>
            <p:cNvSpPr txBox="1"/>
            <p:nvPr/>
          </p:nvSpPr>
          <p:spPr>
            <a:xfrm>
              <a:off x="5209514" y="2407879"/>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57 ms</a:t>
              </a:r>
            </a:p>
          </p:txBody>
        </p:sp>
        <p:cxnSp>
          <p:nvCxnSpPr>
            <p:cNvPr id="15" name="table rule"/>
            <p:cNvCxnSpPr/>
            <p:nvPr/>
          </p:nvCxnSpPr>
          <p:spPr>
            <a:xfrm>
              <a:off x="548640" y="2407879"/>
              <a:ext cx="5613882" cy="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6" name="table 2.1"/>
            <p:cNvSpPr txBox="1"/>
            <p:nvPr/>
          </p:nvSpPr>
          <p:spPr>
            <a:xfrm>
              <a:off x="548640" y="2804078"/>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Voxels</a:t>
              </a:r>
            </a:p>
          </p:txBody>
        </p:sp>
        <p:sp>
          <p:nvSpPr>
            <p:cNvPr id="17" name="table 2.2"/>
            <p:cNvSpPr txBox="1"/>
            <p:nvPr/>
          </p:nvSpPr>
          <p:spPr>
            <a:xfrm>
              <a:off x="1963928" y="2804078"/>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18" name="table 2.3"/>
            <p:cNvSpPr txBox="1"/>
            <p:nvPr/>
          </p:nvSpPr>
          <p:spPr>
            <a:xfrm>
              <a:off x="3069336" y="2804078"/>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232 180 voxels</a:t>
              </a:r>
            </a:p>
          </p:txBody>
        </p:sp>
        <p:sp>
          <p:nvSpPr>
            <p:cNvPr id="19" name="table 2.4"/>
            <p:cNvSpPr txBox="1"/>
            <p:nvPr/>
          </p:nvSpPr>
          <p:spPr>
            <a:xfrm>
              <a:off x="5209514" y="2804078"/>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84 ms</a:t>
              </a:r>
            </a:p>
          </p:txBody>
        </p:sp>
        <p:cxnSp>
          <p:nvCxnSpPr>
            <p:cNvPr id="20" name="table rule"/>
            <p:cNvCxnSpPr/>
            <p:nvPr/>
          </p:nvCxnSpPr>
          <p:spPr>
            <a:xfrm>
              <a:off x="548640" y="2804078"/>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1" name="table 3.1"/>
            <p:cNvSpPr txBox="1"/>
            <p:nvPr/>
          </p:nvSpPr>
          <p:spPr>
            <a:xfrm>
              <a:off x="548640" y="3200277"/>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Ground</a:t>
              </a:r>
            </a:p>
          </p:txBody>
        </p:sp>
        <p:sp>
          <p:nvSpPr>
            <p:cNvPr id="22" name="table 3.2"/>
            <p:cNvSpPr txBox="1"/>
            <p:nvPr/>
          </p:nvSpPr>
          <p:spPr>
            <a:xfrm>
              <a:off x="1963928" y="3200277"/>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23" name="table 3.3"/>
            <p:cNvSpPr txBox="1"/>
            <p:nvPr/>
          </p:nvSpPr>
          <p:spPr>
            <a:xfrm>
              <a:off x="3069336" y="3200277"/>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98 % precision</a:t>
              </a:r>
            </a:p>
          </p:txBody>
        </p:sp>
        <p:sp>
          <p:nvSpPr>
            <p:cNvPr id="24" name="table 3.4"/>
            <p:cNvSpPr txBox="1"/>
            <p:nvPr/>
          </p:nvSpPr>
          <p:spPr>
            <a:xfrm>
              <a:off x="5209514" y="3200277"/>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81 ms</a:t>
              </a:r>
            </a:p>
          </p:txBody>
        </p:sp>
        <p:cxnSp>
          <p:nvCxnSpPr>
            <p:cNvPr id="25" name="table rule"/>
            <p:cNvCxnSpPr/>
            <p:nvPr/>
          </p:nvCxnSpPr>
          <p:spPr>
            <a:xfrm>
              <a:off x="548640" y="3200277"/>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6" name="table 4.1"/>
            <p:cNvSpPr txBox="1"/>
            <p:nvPr/>
          </p:nvSpPr>
          <p:spPr>
            <a:xfrm>
              <a:off x="548640" y="3596475"/>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Clusters</a:t>
              </a:r>
            </a:p>
          </p:txBody>
        </p:sp>
        <p:sp>
          <p:nvSpPr>
            <p:cNvPr id="27" name="table 4.2"/>
            <p:cNvSpPr txBox="1"/>
            <p:nvPr/>
          </p:nvSpPr>
          <p:spPr>
            <a:xfrm>
              <a:off x="1963928" y="3596475"/>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28" name="table 4.3"/>
            <p:cNvSpPr txBox="1"/>
            <p:nvPr/>
          </p:nvSpPr>
          <p:spPr>
            <a:xfrm>
              <a:off x="3069336" y="3596475"/>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1 024 clusters</a:t>
              </a:r>
            </a:p>
          </p:txBody>
        </p:sp>
        <p:sp>
          <p:nvSpPr>
            <p:cNvPr id="29" name="table 4.4"/>
            <p:cNvSpPr txBox="1"/>
            <p:nvPr/>
          </p:nvSpPr>
          <p:spPr>
            <a:xfrm>
              <a:off x="5209514" y="3596475"/>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137 ms</a:t>
              </a:r>
            </a:p>
          </p:txBody>
        </p:sp>
        <p:cxnSp>
          <p:nvCxnSpPr>
            <p:cNvPr id="30" name="table rule"/>
            <p:cNvCxnSpPr/>
            <p:nvPr/>
          </p:nvCxnSpPr>
          <p:spPr>
            <a:xfrm>
              <a:off x="548640" y="3596475"/>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1" name="table 5.1"/>
            <p:cNvSpPr txBox="1"/>
            <p:nvPr/>
          </p:nvSpPr>
          <p:spPr>
            <a:xfrm>
              <a:off x="548640" y="3992674"/>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Labels</a:t>
              </a:r>
            </a:p>
          </p:txBody>
        </p:sp>
        <p:sp>
          <p:nvSpPr>
            <p:cNvPr id="32" name="table 5.2"/>
            <p:cNvSpPr txBox="1"/>
            <p:nvPr/>
          </p:nvSpPr>
          <p:spPr>
            <a:xfrm>
              <a:off x="1963928" y="3992674"/>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NumPy</a:t>
              </a:r>
            </a:p>
          </p:txBody>
        </p:sp>
        <p:sp>
          <p:nvSpPr>
            <p:cNvPr id="33" name="table 5.3"/>
            <p:cNvSpPr txBox="1"/>
            <p:nvPr/>
          </p:nvSpPr>
          <p:spPr>
            <a:xfrm>
              <a:off x="3069336" y="3992674"/>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4 classes</a:t>
              </a:r>
            </a:p>
          </p:txBody>
        </p:sp>
        <p:sp>
          <p:nvSpPr>
            <p:cNvPr id="34" name="table 5.4"/>
            <p:cNvSpPr txBox="1"/>
            <p:nvPr/>
          </p:nvSpPr>
          <p:spPr>
            <a:xfrm>
              <a:off x="5209514" y="3992674"/>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151 ms</a:t>
              </a:r>
            </a:p>
          </p:txBody>
        </p:sp>
        <p:cxnSp>
          <p:nvCxnSpPr>
            <p:cNvPr id="35" name="table rule"/>
            <p:cNvCxnSpPr/>
            <p:nvPr/>
          </p:nvCxnSpPr>
          <p:spPr>
            <a:xfrm>
              <a:off x="548640" y="3992674"/>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6" name="table 6.1"/>
            <p:cNvSpPr txBox="1"/>
            <p:nvPr/>
          </p:nvSpPr>
          <p:spPr>
            <a:xfrm>
              <a:off x="548640" y="4388873"/>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Paint-back</a:t>
              </a:r>
            </a:p>
          </p:txBody>
        </p:sp>
        <p:sp>
          <p:nvSpPr>
            <p:cNvPr id="37" name="table 6.2"/>
            <p:cNvSpPr txBox="1"/>
            <p:nvPr/>
          </p:nvSpPr>
          <p:spPr>
            <a:xfrm>
              <a:off x="1963928" y="4388873"/>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SciPy</a:t>
              </a:r>
            </a:p>
          </p:txBody>
        </p:sp>
        <p:sp>
          <p:nvSpPr>
            <p:cNvPr id="38" name="table 6.3"/>
            <p:cNvSpPr txBox="1"/>
            <p:nvPr/>
          </p:nvSpPr>
          <p:spPr>
            <a:xfrm>
              <a:off x="3069336" y="4388873"/>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all points</a:t>
              </a:r>
            </a:p>
          </p:txBody>
        </p:sp>
        <p:sp>
          <p:nvSpPr>
            <p:cNvPr id="39" name="table 6.4"/>
            <p:cNvSpPr txBox="1"/>
            <p:nvPr/>
          </p:nvSpPr>
          <p:spPr>
            <a:xfrm>
              <a:off x="5209514" y="4388873"/>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99 ms</a:t>
              </a:r>
            </a:p>
          </p:txBody>
        </p:sp>
        <p:cxnSp>
          <p:nvCxnSpPr>
            <p:cNvPr id="40" name="table rule"/>
            <p:cNvCxnSpPr/>
            <p:nvPr/>
          </p:nvCxnSpPr>
          <p:spPr>
            <a:xfrm>
              <a:off x="548640" y="4388873"/>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grpSp>
      <p:grpSp>
        <p:nvGrpSpPr>
          <p:cNvPr id="44" name="Label ground" descr="Label: Ground, pointing at the ground in the render"/>
          <p:cNvGrpSpPr/>
          <p:nvPr/>
        </p:nvGrpSpPr>
        <p:grpSpPr>
          <a:xfrm>
            <a:off x="9074206" y="4799992"/>
            <a:ext cx="1472438" cy="1252728"/>
            <a:chOff x="9074206" y="4799992"/>
            <a:chExt cx="1472438" cy="1252728"/>
          </a:xfrm>
        </p:grpSpPr>
        <p:cxnSp>
          <p:nvCxnSpPr>
            <p:cNvPr id="45"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6"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7"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50"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1" name="Label buildings" descr="Label: Buildings, pointing at the buildings in the render"/>
          <p:cNvGrpSpPr/>
          <p:nvPr/>
        </p:nvGrpSpPr>
        <p:grpSpPr>
          <a:xfrm>
            <a:off x="9048898" y="3181968"/>
            <a:ext cx="2057146" cy="402336"/>
            <a:chOff x="9048898" y="3181968"/>
            <a:chExt cx="2057146" cy="402336"/>
          </a:xfrm>
        </p:grpSpPr>
        <p:cxnSp>
          <p:nvCxnSpPr>
            <p:cNvPr id="52"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3"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4"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Chip"/>
            <p:cNvSpPr/>
            <p:nvPr/>
          </p:nvSpPr>
          <p:spPr>
            <a:xfrm>
              <a:off x="9533530" y="3181968"/>
              <a:ext cx="1572514"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57"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8" name="Label vegetation" descr="Label: Vegetation, pointing at the vegetation in the render"/>
          <p:cNvGrpSpPr/>
          <p:nvPr/>
        </p:nvGrpSpPr>
        <p:grpSpPr>
          <a:xfrm>
            <a:off x="6969125" y="3983810"/>
            <a:ext cx="1745742" cy="886968"/>
            <a:chOff x="6969125" y="3983810"/>
            <a:chExt cx="1745742" cy="886968"/>
          </a:xfrm>
        </p:grpSpPr>
        <p:cxnSp>
          <p:nvCxnSpPr>
            <p:cNvPr id="59"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0"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Chip"/>
            <p:cNvSpPr/>
            <p:nvPr/>
          </p:nvSpPr>
          <p:spPr>
            <a:xfrm>
              <a:off x="6969125" y="4468442"/>
              <a:ext cx="174574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64" name="Swatch"/>
            <p:cNvSpPr/>
            <p:nvPr/>
          </p:nvSpPr>
          <p:spPr>
            <a:xfrm>
              <a:off x="706056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65" name="Label street_furniture" descr="Label: Street furniture, pointing at the street furniture in the render"/>
          <p:cNvGrpSpPr/>
          <p:nvPr/>
        </p:nvGrpSpPr>
        <p:grpSpPr>
          <a:xfrm>
            <a:off x="6791468" y="898600"/>
            <a:ext cx="2303526" cy="813816"/>
            <a:chOff x="6791468" y="898600"/>
            <a:chExt cx="2303526" cy="813816"/>
          </a:xfrm>
        </p:grpSpPr>
        <p:cxnSp>
          <p:nvCxnSpPr>
            <p:cNvPr id="66" name="Leader halo"/>
            <p:cNvCxnSpPr/>
            <p:nvPr/>
          </p:nvCxnSpPr>
          <p:spPr>
            <a:xfrm flipH="1" flipV="1">
              <a:off x="8403936" y="1300936"/>
              <a:ext cx="1582" cy="41148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7" name="Leader"/>
            <p:cNvCxnSpPr/>
            <p:nvPr/>
          </p:nvCxnSpPr>
          <p:spPr>
            <a:xfrm flipH="1" flipV="1">
              <a:off x="8403936" y="1300936"/>
              <a:ext cx="1582" cy="41148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8" name="Chip"/>
            <p:cNvSpPr/>
            <p:nvPr/>
          </p:nvSpPr>
          <p:spPr>
            <a:xfrm>
              <a:off x="6791468" y="898600"/>
              <a:ext cx="230352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9" name="Swatch"/>
            <p:cNvSpPr/>
            <p:nvPr/>
          </p:nvSpPr>
          <p:spPr>
            <a:xfrm>
              <a:off x="6882908" y="1017472"/>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41"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0.6 s from file to labels, and no loop over points.</a:t>
            </a:r>
            <a:endParaRPr lang="en-GB" sz="2000"/>
          </a:p>
        </p:txBody>
      </p:sp>
      <p:sp>
        <p:nvSpPr>
          <p:cNvPr id="42" name="Small print"/>
          <p:cNvSpPr txBox="1"/>
          <p:nvPr/>
        </p:nvSpPr>
        <p:spPr>
          <a:xfrm>
            <a:off x="548640" y="5540976"/>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One run, indicative; renders not included. Street furniture drawn enlarged.</a:t>
            </a:r>
            <a:endParaRPr lang="en-GB" sz="1200"/>
          </a:p>
        </p:txBody>
      </p:sp>
      <p:sp>
        <p:nvSpPr>
          <p:cNvPr id="43" name="Source"/>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Expectation vs reality:</a:t>
            </a:r>
            <a:br/>
            <a:r>
              <a:rPr lang="en-GB"/>
              <a:t>street furniture</a:t>
            </a:r>
          </a:p>
        </p:txBody>
      </p:sp>
      <p:pic>
        <p:nvPicPr>
          <p:cNvPr id="4" name="Render map" descr="The final render with two kinds of rings. Small sage rings mark the 61 poles the BGT register lists in this box, 51 lamp posts and 10 bollards, along the streets and the plaza. Three large white rings mark the street furniture objects the pipeline found; two of them sit on a registered lamp post."/>
          <p:cNvPicPr>
            <a:picLocks noGrp="1" noChangeAspect="1"/>
          </p:cNvPicPr>
          <p:nvPr>
            <p:ph type="pic" idx="18"/>
          </p:nvPr>
        </p:nvPicPr>
        <p:blipFill>
          <a:blip r:embed="rId2"/>
          <a:srcRect/>
          <a:stretch>
            <a:fillRect/>
          </a:stretch>
        </p:blipFill>
        <p:spPr>
          <a:xfrm>
            <a:off x="548640" y="548640"/>
            <a:ext cx="5023638" cy="5668992"/>
          </a:xfrm>
        </p:spPr>
      </p:pic>
      <p:sp>
        <p:nvSpPr>
          <p:cNvPr id="7" name="BGT pole 1 halo">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T pole 1">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T pole 2 halo">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T pole 2">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T pole 3 halo">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T pole 3">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T pole 4 halo">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GT pole 4">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GT pole 5 halo">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GT pole 5">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GT pole 6 halo">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GT pole 6">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GT pole 7 halo">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GT pole 7">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GT pole 8 halo">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GT pole 8">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GT pole 9 halo">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GT pole 9">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GT pole 10 halo">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GT pole 10">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GT pole 11 halo">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GT pole 11">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GT pole 12 halo">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GT pole 12">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GT pole 13 halo">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GT pole 13">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GT pole 14 halo">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GT pole 14">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GT pole 15 halo">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GT pole 15">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GT pole 16 halo">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GT pole 16">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GT pole 17 halo">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GT pole 17">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GT pole 18 halo">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GT pole 18">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GT pole 19 halo">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GT pole 19">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GT pole 20 halo">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GT pole 20">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GT pole 21 halo">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GT pole 21">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GT pole 22 halo">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GT pole 22">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GT pole 24 halo">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GT pole 24">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GT pole 25 halo">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GT pole 25">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GT pole 26 halo">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GT pole 26">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GT pole 27 halo">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GT pole 27">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GT pole 28 halo">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GT pole 28">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GT pole 29 halo">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GT pole 29">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GT pole 30 halo">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GT pole 30">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GT pole 31 halo">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GT pole 31">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GT pole 32 halo">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GT pole 32">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GT pole 33 halo">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GT pole 33">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GT pole 34 halo">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GT pole 34">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GT pole 35 halo">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GT pole 35">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GT pole 36 halo">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GT pole 36">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GT pole 37 halo">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GT pole 37">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GT pole 38 halo">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GT pole 38">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GT pole 39 halo">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GT pole 39">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GT pole 40 halo">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GT pole 40">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GT pole 41 halo">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GT pole 41">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GT pole 42 halo">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GT pole 42">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GT pole 43 halo">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GT pole 43">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GT pole 44 halo">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GT pole 44">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GT pole 45 halo">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GT pole 45">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GT pole 46 halo">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GT pole 46">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GT pole 47 halo">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GT pole 47">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GT pole 48 halo">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GT pole 48">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GT pole 49 halo">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GT pole 49">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BGT pole 50 halo">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GT pole 50">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BGT pole 51 halo">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BGT pole 51">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BGT pole 52 halo">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BGT pole 52">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BGT pole 53 halo">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BGT pole 53">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BGT pole 54 halo">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BGT pole 54">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BGT pole 55 halo">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BGT pole 55">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BGT pole 56 halo">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BGT pole 56">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BGT pole 57 halo">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BGT pole 57">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BGT pole 58 halo">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BGT pole 58">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BGT pole 59 halo">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BGT pole 59">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BGT pole 60 halo">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BGT pole 60">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BGT pole 61 halo">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BGT pole 61">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ur object 1 halo">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ur object 1">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ur object 2 halo">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ur object 2">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ur object 3 halo">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ur object 3">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Legend expectation">
            <a:extLst>
              <a:ext uri="{C183D7F6-B498-43B3-948B-1728B52AA6E4}">
                <adec:decorative xmlns:adec="http://schemas.microsoft.com/office/drawing/2017/decorative" val="1"/>
              </a:ext>
            </a:extLst>
          </p:cNvPr>
          <p:cNvSpPr/>
          <p:nvPr/>
        </p:nvSpPr>
        <p:spPr>
          <a:xfrm>
            <a:off x="6029478" y="1984248"/>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Legend ring expectation halo">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Legend ring expectation">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Heading expectation"/>
          <p:cNvSpPr txBox="1"/>
          <p:nvPr/>
        </p:nvSpPr>
        <p:spPr>
          <a:xfrm>
            <a:off x="6450102" y="1965960"/>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Expectation: the BGT register</a:t>
            </a:r>
            <a:endParaRPr lang="en-GB" sz="2000"/>
          </a:p>
        </p:txBody>
      </p:sp>
      <p:sp>
        <p:nvSpPr>
          <p:cNvPr id="138" name="Legend reality">
            <a:extLst>
              <a:ext uri="{C183D7F6-B498-43B3-948B-1728B52AA6E4}">
                <adec:decorative xmlns:adec="http://schemas.microsoft.com/office/drawing/2017/decorative" val="1"/>
              </a:ext>
            </a:extLst>
          </p:cNvPr>
          <p:cNvSpPr/>
          <p:nvPr/>
        </p:nvSpPr>
        <p:spPr>
          <a:xfrm>
            <a:off x="6029478" y="2868168"/>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Legend ring reality halo">
            <a:extLst>
              <a:ext uri="{C183D7F6-B498-43B3-948B-1728B52AA6E4}">
                <adec:decorative xmlns:adec="http://schemas.microsoft.com/office/drawing/2017/decorative" val="1"/>
              </a:ext>
            </a:extLst>
          </p:cNvPr>
          <p:cNvSpPr/>
          <p:nvPr/>
        </p:nvSpPr>
        <p:spPr>
          <a:xfrm>
            <a:off x="6036793" y="2875483"/>
            <a:ext cx="241402" cy="24140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Legend ring reality">
            <a:extLst>
              <a:ext uri="{C183D7F6-B498-43B3-948B-1728B52AA6E4}">
                <adec:decorative xmlns:adec="http://schemas.microsoft.com/office/drawing/2017/decorative" val="1"/>
              </a:ext>
            </a:extLst>
          </p:cNvPr>
          <p:cNvSpPr/>
          <p:nvPr/>
        </p:nvSpPr>
        <p:spPr>
          <a:xfrm>
            <a:off x="6036793" y="2875483"/>
            <a:ext cx="241402" cy="24140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Heading reality"/>
          <p:cNvSpPr txBox="1"/>
          <p:nvPr/>
        </p:nvSpPr>
        <p:spPr>
          <a:xfrm>
            <a:off x="6450102" y="2849880"/>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Reality: our pipeline</a:t>
            </a:r>
            <a:endParaRPr lang="en-GB" sz="2000"/>
          </a:p>
        </p:txBody>
      </p:sp>
      <p:pic>
        <p:nvPicPr>
          <p:cNvPr id="145" name="Photo 1" descr="Photo of Jaarbeursplein by day: slim dark lamp posts and bollards along the cycle path and across the paved plaza."/>
          <p:cNvPicPr>
            <a:picLocks noChangeAspect="1"/>
          </p:cNvPicPr>
          <p:nvPr/>
        </p:nvPicPr>
        <p:blipFill>
          <a:blip r:embed="rId3"/>
          <a:srcRect l="38000" t="51077" b="19077"/>
          <a:stretch>
            <a:fillRect/>
          </a:stretch>
        </p:blipFill>
        <p:spPr>
          <a:xfrm>
            <a:off x="6029478" y="3770376"/>
            <a:ext cx="2742933" cy="990312"/>
          </a:xfrm>
          <a:prstGeom prst="rect">
            <a:avLst/>
          </a:prstGeom>
        </p:spPr>
      </p:pic>
      <p:pic>
        <p:nvPicPr>
          <p:cNvPr id="147" name="Photo 2" descr="Photo of Jaarbeursplein at night: tall leaning lamp posts on both sides of the red paved square, lit street lamps behind."/>
          <p:cNvPicPr>
            <a:picLocks noChangeAspect="1"/>
          </p:cNvPicPr>
          <p:nvPr/>
        </p:nvPicPr>
        <p:blipFill>
          <a:blip r:embed="rId4"/>
          <a:srcRect l="38000" t="33185" b="33185"/>
          <a:stretch>
            <a:fillRect/>
          </a:stretch>
        </p:blipFill>
        <p:spPr>
          <a:xfrm>
            <a:off x="8900427" y="3770376"/>
            <a:ext cx="2742933" cy="990312"/>
          </a:xfrm>
          <a:prstGeom prst="rect">
            <a:avLst/>
          </a:prstGeom>
        </p:spPr>
      </p:pic>
      <p:sp>
        <p:nvSpPr>
          <p:cNvPr id="137" name="Hero expectation"/>
          <p:cNvSpPr txBox="1"/>
          <p:nvPr/>
        </p:nvSpPr>
        <p:spPr>
          <a:xfrm>
            <a:off x="6029478" y="2270760"/>
            <a:ext cx="5613882" cy="487680"/>
          </a:xfrm>
          <a:prstGeom prst="rect">
            <a:avLst/>
          </a:prstGeom>
          <a:noFill/>
        </p:spPr>
        <p:txBody>
          <a:bodyPr wrap="none" anchor="t" lIns="0" tIns="0" rIns="0" bIns="0">
            <a:noAutofit/>
          </a:bodyPr>
          <a:lstStyle/>
          <a:p>
            <a:pPr marL="0" indent="0" algn="l">
              <a:spcBef>
                <a:spcPts val="0"/>
              </a:spcBef>
              <a:spcAft>
                <a:spcPts val="0"/>
              </a:spcAft>
              <a:buNone/>
            </a:pPr>
            <a:r>
              <a:rPr sz="3200" lang="en-GB">
                <a:solidFill>
                  <a:srgbClr val="2B6797"/>
                </a:solidFill>
                <a:latin typeface="Fira Sans SemiBold"/>
              </a:rPr>
              <a:t>61 poles</a:t>
            </a:r>
            <a:r>
              <a:rPr sz="2000" lang="en-GB">
                <a:solidFill>
                  <a:srgbClr val="263238"/>
                </a:solidFill>
                <a:latin typeface="+mn-lt"/>
              </a:rPr>
              <a:t> 51 lamp posts, 10 bollards</a:t>
            </a:r>
            <a:endParaRPr lang="en-GB" sz="3200"/>
          </a:p>
        </p:txBody>
      </p:sp>
      <p:sp>
        <p:nvSpPr>
          <p:cNvPr id="142" name="Hero reality"/>
          <p:cNvSpPr txBox="1"/>
          <p:nvPr/>
        </p:nvSpPr>
        <p:spPr>
          <a:xfrm>
            <a:off x="6029478" y="3154680"/>
            <a:ext cx="5613882" cy="487680"/>
          </a:xfrm>
          <a:prstGeom prst="rect">
            <a:avLst/>
          </a:prstGeom>
          <a:noFill/>
        </p:spPr>
        <p:txBody>
          <a:bodyPr wrap="none" anchor="t" lIns="0" tIns="0" rIns="0" bIns="0">
            <a:noAutofit/>
          </a:bodyPr>
          <a:lstStyle/>
          <a:p>
            <a:pPr marL="0" indent="0" algn="l">
              <a:spcBef>
                <a:spcPts val="0"/>
              </a:spcBef>
              <a:spcAft>
                <a:spcPts val="0"/>
              </a:spcAft>
              <a:buNone/>
            </a:pPr>
            <a:r>
              <a:rPr sz="3200" lang="en-GB">
                <a:solidFill>
                  <a:srgbClr val="2B6797"/>
                </a:solidFill>
                <a:latin typeface="Fira Sans SemiBold"/>
              </a:rPr>
              <a:t>3 objects</a:t>
            </a:r>
            <a:r>
              <a:rPr sz="2000" lang="en-GB">
                <a:solidFill>
                  <a:srgbClr val="263238"/>
                </a:solidFill>
                <a:latin typeface="+mn-lt"/>
              </a:rPr>
              <a:t> 2 of them on a lamp post</a:t>
            </a:r>
            <a:endParaRPr lang="en-GB" sz="3200"/>
          </a:p>
        </p:txBody>
      </p:sp>
      <p:sp>
        <p:nvSpPr>
          <p:cNvPr id="144" name="Support"/>
          <p:cNvSpPr txBox="1"/>
          <p:nvPr/>
        </p:nvSpPr>
        <p:spPr>
          <a:xfrm>
            <a:off x="6029478" y="4906992"/>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42 of 61 poles get no LiDAR point above 1.5 m.</a:t>
            </a:r>
            <a:endParaRPr lang="en-GB" sz="2000"/>
          </a:p>
        </p:txBody>
      </p:sp>
      <p:sp>
        <p:nvSpPr>
          <p:cNvPr id="143" name="Small print"/>
          <p:cNvSpPr txBox="1"/>
          <p:nvPr/>
        </p:nvSpPr>
        <p:spPr>
          <a:xfrm>
            <a:off x="6029478" y="53946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Poles: BGT (Kadaster,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via PDOK, 2026-10-12. Points: within 0.6 m, over 1.5 m above ground. Photos: Jaarbeursplein, Wikimedia Commons.</a:t>
            </a:r>
            <a:endParaRPr lang="en-GB" sz="1200"/>
          </a:p>
        </p:txBody>
      </p:sp>
      <p:sp>
        <p:nvSpPr>
          <p:cNvPr id="146" name="Small print photo credit 1"/>
          <p:cNvSpPr/>
          <p:nvPr/>
        </p:nvSpPr>
        <p:spPr>
          <a:xfrm>
            <a:off x="6029478" y="4486368"/>
            <a:ext cx="2137410" cy="27432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1200" b="0" lang="en-GB">
                <a:solidFill>
                  <a:srgbClr val="FFFFFF"/>
                </a:solidFill>
                <a:latin typeface="+mn-lt"/>
              </a:rPr>
              <a:t>2021 · Robot8A · CC BY-SA 4.0</a:t>
            </a:r>
            <a:endParaRPr lang="en-GB" sz="1200"/>
          </a:p>
        </p:txBody>
      </p:sp>
      <p:sp>
        <p:nvSpPr>
          <p:cNvPr id="148" name="Small print photo credit 2"/>
          <p:cNvSpPr/>
          <p:nvPr/>
        </p:nvSpPr>
        <p:spPr>
          <a:xfrm>
            <a:off x="8900427" y="4486368"/>
            <a:ext cx="2635301" cy="27432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1200" b="0" lang="en-GB">
                <a:solidFill>
                  <a:srgbClr val="FFFFFF"/>
                </a:solidFill>
                <a:latin typeface="+mn-lt"/>
              </a:rPr>
              <a:t>2014 · V. van Werkhooven · CC BY 3.0</a:t>
            </a:r>
            <a:endParaRPr lang="en-GB" sz="1200"/>
          </a:p>
        </p:txBody>
      </p:sp>
      <p:sp>
        <p:nvSpPr>
          <p:cNvPr id="149" name="Source"/>
          <p:cNvSpPr txBox="1"/>
          <p:nvPr/>
        </p:nvSpPr>
        <p:spPr>
          <a:xfrm>
            <a:off x="6029478"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Quiz: which is faster, and by how much?</a:t>
            </a:r>
          </a:p>
        </p:txBody>
      </p:sp>
      <p:sp>
        <p:nvSpPr>
          <p:cNvPr id="7" name="Task"/>
          <p:cNvSpPr txBox="1"/>
          <p:nvPr/>
        </p:nvSpPr>
        <p:spPr>
          <a:xfrm>
            <a:off x="548640" y="1554480"/>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Distance of every point to the ground plane, 722 961 points.</a:t>
            </a:r>
            <a:endParaRPr lang="en-GB" sz="2000"/>
          </a:p>
        </p:txBody>
      </p:sp>
      <p:sp>
        <p:nvSpPr>
          <p:cNvPr id="8" name="Option A" descr="Option A: a Python for loop over the rows of P, one distance per point."/>
          <p:cNvSpPr/>
          <p:nvPr/>
        </p:nvSpPr>
        <p:spPr>
          <a:xfrm>
            <a:off x="548640" y="2087880"/>
            <a:ext cx="1572895" cy="1572895"/>
          </a:xfrm>
          <a:prstGeom prst="roundRect">
            <a:avLst>
              <a:gd name="adj" fmla="val 465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A</a:t>
            </a:r>
            <a:endParaRPr lang="en-GB" sz="5400"/>
          </a:p>
        </p:txBody>
      </p:sp>
      <p:grpSp>
        <p:nvGrpSpPr>
          <p:cNvPr id="3" name="Key line A">
            <a:extLst>
              <a:ext uri="{C183D7F6-B498-43B3-948B-1728B52AA6E4}">
                <adec:decorative xmlns:adec="http://schemas.microsoft.com/office/drawing/2017/decorative" val="1"/>
              </a:ext>
            </a:extLst>
          </p:cNvPr>
          <p:cNvGrpSpPr/>
          <p:nvPr/>
        </p:nvGrpSpPr>
        <p:grpSpPr>
          <a:xfrm>
            <a:off x="2386711" y="2726182"/>
            <a:ext cx="5535168" cy="296291"/>
            <a:chOff x="2386711" y="2726182"/>
            <a:chExt cx="5535168" cy="296291"/>
          </a:xfrm>
        </p:grpSpPr>
        <p:sp>
          <p:nvSpPr>
            <p:cNvPr id="9" name="Key line bar"/>
            <p:cNvSpPr/>
            <p:nvPr/>
          </p:nvSpPr>
          <p:spPr>
            <a:xfrm>
              <a:off x="2386711" y="2726182"/>
              <a:ext cx="55351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Key line edge"/>
            <p:cNvSpPr/>
            <p:nvPr/>
          </p:nvSpPr>
          <p:spPr>
            <a:xfrm>
              <a:off x="2386711" y="2726182"/>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1" name="Code A"/>
          <p:cNvSpPr txBox="1"/>
          <p:nvPr/>
        </p:nvSpPr>
        <p:spPr>
          <a:xfrm>
            <a:off x="2386711" y="2087880"/>
            <a:ext cx="5535168" cy="1572895"/>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h = np.empty(len(P))  </a:t>
            </a:r>
            <a:r>
              <a:rPr sz="2000" b="0" lang="en-GB" noProof="1">
                <a:solidFill>
                  <a:srgbClr val="455A64"/>
                </a:solidFill>
                <a:latin typeface="Fira Mono" pitchFamily="49"/>
              </a:rPr>
              <a:t># distances</a:t>
            </a:r>
            <a:endParaRPr lang="en-GB" sz="2000"/>
          </a:p>
          <a:p>
            <a:pPr marL="0" indent="0" algn="l">
              <a:lnSpc>
                <a:spcPts val="2333"/>
              </a:lnSpc>
              <a:spcBef>
                <a:spcPts val="0"/>
              </a:spcBef>
              <a:spcAft>
                <a:spcPts val="0"/>
              </a:spcAft>
              <a:buNone/>
            </a:pPr>
            <a:r>
              <a:rPr sz="2000" b="1" lang="en-GB" noProof="1">
                <a:solidFill>
                  <a:srgbClr val="1C325B"/>
                </a:solidFill>
                <a:latin typeface="Fira Mono" pitchFamily="49"/>
              </a:rPr>
              <a:t>for</a:t>
            </a:r>
            <a:r>
              <a:rPr sz="2000" b="1" lang="en-GB" noProof="1">
                <a:solidFill>
                  <a:srgbClr val="263238"/>
                </a:solidFill>
                <a:latin typeface="Fira Mono" pitchFamily="49"/>
              </a:rPr>
              <a:t> i, p </a:t>
            </a:r>
            <a:r>
              <a:rPr sz="2000" b="1" lang="en-GB" noProof="1">
                <a:solidFill>
                  <a:srgbClr val="1C325B"/>
                </a:solidFill>
                <a:latin typeface="Fira Mono" pitchFamily="49"/>
              </a:rPr>
              <a:t>in</a:t>
            </a:r>
            <a:r>
              <a:rPr sz="2000" b="1" lang="en-GB" noProof="1">
                <a:solidFill>
                  <a:srgbClr val="263238"/>
                </a:solidFill>
                <a:latin typeface="Fira Mono" pitchFamily="49"/>
              </a:rPr>
              <a:t> enumerate(P):</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x, y, z = p[0], p[1], p[2]</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h[i] = abs(a*x + b*y + c*z + d)</a:t>
            </a:r>
            <a:endParaRPr lang="en-GB" sz="2000"/>
          </a:p>
        </p:txBody>
      </p:sp>
      <p:sp>
        <p:nvSpPr>
          <p:cNvPr id="12" name="Option B" descr="Option B: one element-wise NumPy expression over the columns of P."/>
          <p:cNvSpPr/>
          <p:nvPr/>
        </p:nvSpPr>
        <p:spPr>
          <a:xfrm>
            <a:off x="548640" y="3861943"/>
            <a:ext cx="1572895" cy="980313"/>
          </a:xfrm>
          <a:prstGeom prst="roundRect">
            <a:avLst>
              <a:gd name="adj" fmla="val 7462"/>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B</a:t>
            </a:r>
            <a:endParaRPr lang="en-GB" sz="5400"/>
          </a:p>
        </p:txBody>
      </p:sp>
      <p:grpSp>
        <p:nvGrpSpPr>
          <p:cNvPr id="4" name="Key line B">
            <a:extLst>
              <a:ext uri="{C183D7F6-B498-43B3-948B-1728B52AA6E4}">
                <adec:decorative xmlns:adec="http://schemas.microsoft.com/office/drawing/2017/decorative" val="1"/>
              </a:ext>
            </a:extLst>
          </p:cNvPr>
          <p:cNvGrpSpPr/>
          <p:nvPr/>
        </p:nvGrpSpPr>
        <p:grpSpPr>
          <a:xfrm>
            <a:off x="2386711" y="4500245"/>
            <a:ext cx="5230368" cy="296291"/>
            <a:chOff x="2386711" y="4500245"/>
            <a:chExt cx="5230368" cy="296291"/>
          </a:xfrm>
        </p:grpSpPr>
        <p:sp>
          <p:nvSpPr>
            <p:cNvPr id="13" name="Key line bar"/>
            <p:cNvSpPr/>
            <p:nvPr/>
          </p:nvSpPr>
          <p:spPr>
            <a:xfrm>
              <a:off x="2386711" y="4500245"/>
              <a:ext cx="52303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2386711" y="4500245"/>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B"/>
          <p:cNvSpPr txBox="1"/>
          <p:nvPr/>
        </p:nvSpPr>
        <p:spPr>
          <a:xfrm>
            <a:off x="2386711" y="3861943"/>
            <a:ext cx="5230368" cy="980313"/>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x, y, z = P.T  </a:t>
            </a:r>
            <a:r>
              <a:rPr sz="2000" b="0" lang="en-GB" noProof="1">
                <a:solidFill>
                  <a:srgbClr val="455A64"/>
                </a:solidFill>
                <a:latin typeface="Fira Mono" pitchFamily="49"/>
              </a:rPr>
              <a:t># columns, no copy</a:t>
            </a:r>
            <a:endParaRPr lang="en-GB" sz="2000"/>
          </a:p>
          <a:p>
            <a:pPr marL="0" indent="0" algn="l">
              <a:lnSpc>
                <a:spcPts val="2333"/>
              </a:lnSpc>
              <a:spcBef>
                <a:spcPts val="0"/>
              </a:spcBef>
              <a:spcAft>
                <a:spcPts val="0"/>
              </a:spcAft>
              <a:buNone/>
            </a:pPr>
            <a:r>
              <a:rPr sz="2000" b="1" lang="en-GB" noProof="1">
                <a:solidFill>
                  <a:srgbClr val="263238"/>
                </a:solidFill>
                <a:latin typeface="Fira Mono" pitchFamily="49"/>
              </a:rPr>
              <a:t>h = np.abs(a*x + b*y + c*z + d)</a:t>
            </a:r>
            <a:endParaRPr lang="en-GB" sz="2000"/>
          </a:p>
        </p:txBody>
      </p:sp>
      <p:sp>
        <p:nvSpPr>
          <p:cNvPr id="16" name="Answers label"/>
          <p:cNvSpPr txBox="1"/>
          <p:nvPr/>
        </p:nvSpPr>
        <p:spPr>
          <a:xfrm>
            <a:off x="548640" y="5089144"/>
            <a:ext cx="4484522" cy="475488"/>
          </a:xfrm>
          <a:prstGeom prst="rect">
            <a:avLst/>
          </a:prstGeom>
          <a:noFill/>
        </p:spPr>
        <p:txBody>
          <a:bodyPr wrap="none" anchor="ctr" lIns="0" tIns="0" rIns="0" bIns="0">
            <a:noAutofit/>
          </a:bodyPr>
          <a:lstStyle/>
          <a:p>
            <a:pPr marL="0" indent="0" algn="l">
              <a:spcBef>
                <a:spcPts val="0"/>
              </a:spcBef>
              <a:spcAft>
                <a:spcPts val="0"/>
              </a:spcAft>
              <a:buNone/>
            </a:pPr>
            <a:r>
              <a:rPr sz="2400" b="0" lang="en-GB">
                <a:solidFill>
                  <a:srgbClr val="1C325B"/>
                </a:solidFill>
                <a:latin typeface="Fira Sans SemiBold"/>
              </a:rPr>
              <a:t>The faster one wins by about:</a:t>
            </a:r>
            <a:endParaRPr lang="en-GB" sz="2400"/>
          </a:p>
        </p:txBody>
      </p:sp>
      <p:sp>
        <p:nvSpPr>
          <p:cNvPr id="17" name="Answer 1"/>
          <p:cNvSpPr/>
          <p:nvPr/>
        </p:nvSpPr>
        <p:spPr>
          <a:xfrm>
            <a:off x="503316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2×</a:t>
            </a:r>
            <a:endParaRPr lang="en-GB" sz="2400"/>
          </a:p>
        </p:txBody>
      </p:sp>
      <p:sp>
        <p:nvSpPr>
          <p:cNvPr id="18" name="Answer 2"/>
          <p:cNvSpPr/>
          <p:nvPr/>
        </p:nvSpPr>
        <p:spPr>
          <a:xfrm>
            <a:off x="658764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a:t>
            </a:r>
            <a:endParaRPr lang="en-GB" sz="2400"/>
          </a:p>
        </p:txBody>
      </p:sp>
      <p:sp>
        <p:nvSpPr>
          <p:cNvPr id="19" name="Answer 3"/>
          <p:cNvSpPr/>
          <p:nvPr/>
        </p:nvSpPr>
        <p:spPr>
          <a:xfrm>
            <a:off x="814212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a:t>
            </a:r>
            <a:endParaRPr lang="en-GB" sz="2400"/>
          </a:p>
        </p:txBody>
      </p:sp>
      <p:sp>
        <p:nvSpPr>
          <p:cNvPr id="20" name="Answer 4"/>
          <p:cNvSpPr/>
          <p:nvPr/>
        </p:nvSpPr>
        <p:spPr>
          <a:xfrm>
            <a:off x="969660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1000×</a:t>
            </a:r>
            <a:endParaRPr lang="en-GB" sz="2400"/>
          </a:p>
        </p:txBody>
      </p:sp>
      <p:sp>
        <p:nvSpPr>
          <p:cNvPr id="21"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Both give identical results (np.array_equal). P: the crop's xyz from slide 11, column-ordered. plane: one seeded segment_plane on the whole crop.</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much slower is the loop over rows?</a:t>
            </a:r>
          </a:p>
        </p:txBody>
      </p:sp>
      <p:graphicFrame>
        <p:nvGraphicFramePr>
          <p:cNvPr id="7" name="chart_time" descr="Column chart on a logarithmic time axis. The Python loop over NumPy rows takes 317 ms; one NumPy expression takes 2.4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8" name="Hero"/>
          <p:cNvSpPr txBox="1"/>
          <p:nvPr/>
        </p:nvSpPr>
        <p:spPr>
          <a:xfrm>
            <a:off x="548640" y="1965960"/>
            <a:ext cx="5613882" cy="1463040"/>
          </a:xfrm>
          <a:prstGeom prst="rect">
            <a:avLst/>
          </a:prstGeom>
          <a:noFill/>
        </p:spPr>
        <p:txBody>
          <a:bodyPr wrap="none" anchor="t" lIns="0" tIns="0" rIns="0" bIns="0">
            <a:noAutofit/>
          </a:bodyPr>
          <a:lstStyle/>
          <a:p>
            <a:pPr marL="0" indent="0" algn="l">
              <a:spcBef>
                <a:spcPts val="0"/>
              </a:spcBef>
              <a:spcAft>
                <a:spcPts val="0"/>
              </a:spcAft>
              <a:buNone/>
            </a:pPr>
            <a:r>
              <a:rPr sz="9600" lang="en-GB">
                <a:solidFill>
                  <a:srgbClr val="2B6797"/>
                </a:solidFill>
                <a:latin typeface="Fira Sans SemiBold"/>
              </a:rPr>
              <a:t>130×</a:t>
            </a:r>
            <a:r>
              <a:rPr sz="2000" lang="en-GB">
                <a:solidFill>
                  <a:srgbClr val="263238"/>
                </a:solidFill>
                <a:latin typeface="+mn-lt"/>
              </a:rPr>
              <a:t> slower</a:t>
            </a:r>
            <a:endParaRPr lang="en-GB" sz="9600"/>
          </a:p>
        </p:txBody>
      </p:sp>
      <p:sp>
        <p:nvSpPr>
          <p:cNvPr id="10" name="Support"/>
          <p:cNvSpPr txBox="1"/>
          <p:nvPr/>
        </p:nvSpPr>
        <p:spPr>
          <a:xfrm>
            <a:off x="548640" y="505939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Same data, same answer, far fewer calls into compiled code.</a:t>
            </a:r>
            <a:endParaRPr lang="en-GB" sz="2000"/>
          </a:p>
        </p:txBody>
      </p:sp>
      <p:sp>
        <p:nvSpPr>
          <p:cNvPr id="9" name="Conditions"/>
          <p:cNvSpPr txBox="1"/>
          <p:nvPr/>
        </p:nvSpPr>
        <p:spPr>
          <a:xfrm>
            <a:off x="548640" y="5668992"/>
            <a:ext cx="5613882"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Every trip into compiled code pays a toll</a:t>
            </a:r>
          </a:p>
        </p:txBody>
      </p:sp>
      <p:grpSp>
        <p:nvGrpSpPr>
          <p:cNvPr id="3" name="toll_diagram" descr="Diagram: a Python lane above a dashed boundary and a compiled-code lane below. On the left a loop crosses the boundary many times, paying a toll each time, marked by blue ticks on the boundary. On the right one call crosses once and does all the work below the line."/>
          <p:cNvGrpSpPr/>
          <p:nvPr/>
        </p:nvGrpSpPr>
        <p:grpSpPr>
          <a:xfrm>
            <a:off x="548640" y="1600200"/>
            <a:ext cx="11094720" cy="2758152"/>
            <a:chOff x="548640" y="1600200"/>
            <a:chExt cx="11094720" cy="2758152"/>
          </a:xfrm>
        </p:grpSpPr>
        <p:sp>
          <p:nvSpPr>
            <p:cNvPr id="6" name="toll_lane_top"/>
            <p:cNvSpPr txBox="1"/>
            <p:nvPr/>
          </p:nvSpPr>
          <p:spPr>
            <a:xfrm>
              <a:off x="548640" y="2642153"/>
              <a:ext cx="1828800" cy="411480"/>
            </a:xfrm>
            <a:prstGeom prst="rect">
              <a:avLst/>
            </a:prstGeom>
            <a:noFill/>
          </p:spPr>
          <p:txBody>
            <a:bodyPr wrap="square" anchor="b" lIns="0" tIns="0" rIns="0" bIns="0">
              <a:noAutofit/>
            </a:bodyPr>
            <a:lstStyle/>
            <a:p>
              <a:pPr algn="l"/>
              <a:r>
                <a:rPr sz="2000" b="1" i="0" lang="en-GB">
                  <a:solidFill>
                    <a:srgbClr val="1C325B"/>
                  </a:solidFill>
                  <a:latin typeface="Fira Sans"/>
                </a:rPr>
                <a:t>Python</a:t>
              </a:r>
            </a:p>
          </p:txBody>
        </p:sp>
        <p:sp>
          <p:nvSpPr>
            <p:cNvPr id="7" name="toll_lane_bottom"/>
            <p:cNvSpPr txBox="1"/>
            <p:nvPr/>
          </p:nvSpPr>
          <p:spPr>
            <a:xfrm>
              <a:off x="548640" y="3236513"/>
              <a:ext cx="1828800" cy="411480"/>
            </a:xfrm>
            <a:prstGeom prst="rect">
              <a:avLst/>
            </a:prstGeom>
            <a:noFill/>
          </p:spPr>
          <p:txBody>
            <a:bodyPr wrap="square" anchor="t" lIns="0" tIns="0" rIns="0" bIns="0">
              <a:noAutofit/>
            </a:bodyPr>
            <a:lstStyle/>
            <a:p>
              <a:pPr algn="l"/>
              <a:r>
                <a:rPr sz="2000" b="1" i="0" lang="en-GB">
                  <a:solidFill>
                    <a:srgbClr val="1C325B"/>
                  </a:solidFill>
                  <a:latin typeface="Fira Sans"/>
                </a:rPr>
                <a:t>compiled code</a:t>
              </a:r>
            </a:p>
          </p:txBody>
        </p:sp>
        <p:cxnSp>
          <p:nvCxnSpPr>
            <p:cNvPr id="8" name="toll_boundary"/>
            <p:cNvCxnSpPr/>
            <p:nvPr/>
          </p:nvCxnSpPr>
          <p:spPr>
            <a:xfrm>
              <a:off x="548640" y="3145073"/>
              <a:ext cx="11094720" cy="0"/>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sp>
          <p:nvSpPr>
            <p:cNvPr id="9" name="toll_loop_code"/>
            <p:cNvSpPr/>
            <p:nvPr/>
          </p:nvSpPr>
          <p:spPr>
            <a:xfrm>
              <a:off x="2468880" y="1600200"/>
              <a:ext cx="3328416"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for p in pts: f(p)</a:t>
              </a:r>
            </a:p>
          </p:txBody>
        </p:sp>
        <p:cxnSp>
          <p:nvCxnSpPr>
            <p:cNvPr id="10" name="loop_down_1"/>
            <p:cNvCxnSpPr/>
            <p:nvPr/>
          </p:nvCxnSpPr>
          <p:spPr>
            <a:xfrm>
              <a:off x="265176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loop_work_1"/>
            <p:cNvSpPr/>
            <p:nvPr/>
          </p:nvSpPr>
          <p:spPr>
            <a:xfrm>
              <a:off x="259689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loop_up_1"/>
            <p:cNvCxnSpPr/>
            <p:nvPr/>
          </p:nvCxnSpPr>
          <p:spPr>
            <a:xfrm flipV="1">
              <a:off x="287121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loop_toll_1"/>
            <p:cNvSpPr/>
            <p:nvPr/>
          </p:nvSpPr>
          <p:spPr>
            <a:xfrm>
              <a:off x="250545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loop_down_2"/>
            <p:cNvCxnSpPr/>
            <p:nvPr/>
          </p:nvCxnSpPr>
          <p:spPr>
            <a:xfrm>
              <a:off x="320040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loop_work_2"/>
            <p:cNvSpPr/>
            <p:nvPr/>
          </p:nvSpPr>
          <p:spPr>
            <a:xfrm>
              <a:off x="314553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loop_up_2"/>
            <p:cNvCxnSpPr/>
            <p:nvPr/>
          </p:nvCxnSpPr>
          <p:spPr>
            <a:xfrm flipV="1">
              <a:off x="341985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loop_toll_2"/>
            <p:cNvSpPr/>
            <p:nvPr/>
          </p:nvSpPr>
          <p:spPr>
            <a:xfrm>
              <a:off x="305409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loop_down_3"/>
            <p:cNvCxnSpPr/>
            <p:nvPr/>
          </p:nvCxnSpPr>
          <p:spPr>
            <a:xfrm>
              <a:off x="374904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loop_work_3"/>
            <p:cNvSpPr/>
            <p:nvPr/>
          </p:nvSpPr>
          <p:spPr>
            <a:xfrm>
              <a:off x="369417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loop_up_3"/>
            <p:cNvCxnSpPr/>
            <p:nvPr/>
          </p:nvCxnSpPr>
          <p:spPr>
            <a:xfrm flipV="1">
              <a:off x="396849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loop_toll_3"/>
            <p:cNvSpPr/>
            <p:nvPr/>
          </p:nvSpPr>
          <p:spPr>
            <a:xfrm>
              <a:off x="360273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loop_down_4"/>
            <p:cNvCxnSpPr/>
            <p:nvPr/>
          </p:nvCxnSpPr>
          <p:spPr>
            <a:xfrm>
              <a:off x="429768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loop_work_4"/>
            <p:cNvSpPr/>
            <p:nvPr/>
          </p:nvSpPr>
          <p:spPr>
            <a:xfrm>
              <a:off x="424281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loop_up_4"/>
            <p:cNvCxnSpPr/>
            <p:nvPr/>
          </p:nvCxnSpPr>
          <p:spPr>
            <a:xfrm flipV="1">
              <a:off x="451713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loop_toll_4"/>
            <p:cNvSpPr/>
            <p:nvPr/>
          </p:nvSpPr>
          <p:spPr>
            <a:xfrm>
              <a:off x="415137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loop_down_5"/>
            <p:cNvCxnSpPr/>
            <p:nvPr/>
          </p:nvCxnSpPr>
          <p:spPr>
            <a:xfrm>
              <a:off x="484632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loop_work_5"/>
            <p:cNvSpPr/>
            <p:nvPr/>
          </p:nvSpPr>
          <p:spPr>
            <a:xfrm>
              <a:off x="479145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loop_up_5"/>
            <p:cNvCxnSpPr/>
            <p:nvPr/>
          </p:nvCxnSpPr>
          <p:spPr>
            <a:xfrm flipV="1">
              <a:off x="506577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loop_toll_5"/>
            <p:cNvSpPr/>
            <p:nvPr/>
          </p:nvSpPr>
          <p:spPr>
            <a:xfrm>
              <a:off x="470001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loop_down_6"/>
            <p:cNvCxnSpPr/>
            <p:nvPr/>
          </p:nvCxnSpPr>
          <p:spPr>
            <a:xfrm>
              <a:off x="539496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loop_work_6"/>
            <p:cNvSpPr/>
            <p:nvPr/>
          </p:nvSpPr>
          <p:spPr>
            <a:xfrm>
              <a:off x="534009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loop_up_6"/>
            <p:cNvCxnSpPr/>
            <p:nvPr/>
          </p:nvCxnSpPr>
          <p:spPr>
            <a:xfrm flipV="1">
              <a:off x="561441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loop_toll_6"/>
            <p:cNvSpPr/>
            <p:nvPr/>
          </p:nvSpPr>
          <p:spPr>
            <a:xfrm>
              <a:off x="524865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oll_times"/>
            <p:cNvSpPr txBox="1"/>
            <p:nvPr/>
          </p:nvSpPr>
          <p:spPr>
            <a:xfrm>
              <a:off x="5779008" y="3974304"/>
              <a:ext cx="1097280" cy="384048"/>
            </a:xfrm>
            <a:prstGeom prst="rect">
              <a:avLst/>
            </a:prstGeom>
            <a:noFill/>
          </p:spPr>
          <p:txBody>
            <a:bodyPr wrap="square" anchor="ctr" lIns="0" tIns="0" rIns="0" bIns="0">
              <a:noAutofit/>
            </a:bodyPr>
            <a:lstStyle/>
            <a:p>
              <a:pPr algn="l"/>
              <a:r>
                <a:rPr sz="2400" b="1" i="0" lang="en-GB">
                  <a:solidFill>
                    <a:srgbClr val="1C325B"/>
                  </a:solidFill>
                  <a:latin typeface="Fira Sans"/>
                </a:rPr>
                <a:t>× N</a:t>
              </a:r>
            </a:p>
          </p:txBody>
        </p:sp>
        <p:sp>
          <p:nvSpPr>
            <p:cNvPr id="35" name="toll_call_code"/>
            <p:cNvSpPr/>
            <p:nvPr/>
          </p:nvSpPr>
          <p:spPr>
            <a:xfrm>
              <a:off x="7205472" y="1600200"/>
              <a:ext cx="1152144"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f(pts)</a:t>
              </a:r>
            </a:p>
          </p:txBody>
        </p:sp>
        <p:cxnSp>
          <p:nvCxnSpPr>
            <p:cNvPr id="36" name="call_down_1"/>
            <p:cNvCxnSpPr/>
            <p:nvPr/>
          </p:nvCxnSpPr>
          <p:spPr>
            <a:xfrm>
              <a:off x="7388352"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call_work_1"/>
            <p:cNvSpPr/>
            <p:nvPr/>
          </p:nvSpPr>
          <p:spPr>
            <a:xfrm>
              <a:off x="7333488" y="4020024"/>
              <a:ext cx="4264152"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all_up_1"/>
            <p:cNvCxnSpPr/>
            <p:nvPr/>
          </p:nvCxnSpPr>
          <p:spPr>
            <a:xfrm flipV="1">
              <a:off x="7607808"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call_toll_1"/>
            <p:cNvSpPr/>
            <p:nvPr/>
          </p:nvSpPr>
          <p:spPr>
            <a:xfrm>
              <a:off x="7242048"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40" name="Hero"/>
          <p:cNvSpPr txBox="1"/>
          <p:nvPr/>
        </p:nvSpPr>
        <p:spPr>
          <a:xfrm>
            <a:off x="548640" y="4586952"/>
            <a:ext cx="2346198" cy="914400"/>
          </a:xfrm>
          <a:prstGeom prst="rect">
            <a:avLst/>
          </a:prstGeom>
          <a:noFill/>
        </p:spPr>
        <p:txBody>
          <a:bodyPr wrap="none" anchor="b" lIns="0" tIns="0" rIns="0" bIns="0">
            <a:noAutofit/>
          </a:bodyPr>
          <a:lstStyle/>
          <a:p>
            <a:pPr marL="0" indent="0" algn="l">
              <a:spcBef>
                <a:spcPts val="0"/>
              </a:spcBef>
              <a:spcAft>
                <a:spcPts val="0"/>
              </a:spcAft>
              <a:buNone/>
            </a:pPr>
            <a:r>
              <a:rPr sz="6000" lang="en-GB">
                <a:solidFill>
                  <a:srgbClr val="2B6797"/>
                </a:solidFill>
                <a:latin typeface="Fira Sans SemiBold"/>
              </a:rPr>
              <a:t>439 ns</a:t>
            </a:r>
            <a:endParaRPr lang="en-GB" sz="6000"/>
          </a:p>
        </p:txBody>
      </p:sp>
      <p:sp>
        <p:nvSpPr>
          <p:cNvPr id="41" name="Hero label"/>
          <p:cNvSpPr txBox="1"/>
          <p:nvPr/>
        </p:nvSpPr>
        <p:spPr>
          <a:xfrm>
            <a:off x="3077718" y="5061932"/>
            <a:ext cx="8565642" cy="304800"/>
          </a:xfrm>
          <a:prstGeom prst="rect">
            <a:avLst/>
          </a:prstGeom>
          <a:noFill/>
        </p:spPr>
        <p:txBody>
          <a:bodyPr wrap="none" anchor="b" lIns="0" tIns="0" rIns="0" bIns="0">
            <a:noAutofit/>
          </a:bodyPr>
          <a:lstStyle/>
          <a:p>
            <a:pPr marL="0" indent="0" algn="l">
              <a:spcBef>
                <a:spcPts val="0"/>
              </a:spcBef>
              <a:spcAft>
                <a:spcPts val="0"/>
              </a:spcAft>
              <a:buNone/>
            </a:pPr>
            <a:r>
              <a:rPr sz="2000" b="0" lang="en-GB">
                <a:solidFill>
                  <a:srgbClr val="263238"/>
                </a:solidFill>
                <a:latin typeface="+mn-lt"/>
              </a:rPr>
              <a:t>per loop step (several NumPy calls)</a:t>
            </a:r>
            <a:endParaRPr lang="en-GB" sz="2000"/>
          </a:p>
        </p:txBody>
      </p:sp>
      <p:sp>
        <p:nvSpPr>
          <p:cNvPr id="42" name="Support"/>
          <p:cNvSpPr txBox="1"/>
          <p:nvPr/>
        </p:nvSpPr>
        <p:spPr>
          <a:xfrm>
            <a:off x="548640" y="559279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C++ libraries too: even an empty k = 16 KDTree query costs 9.8 µs.</a:t>
            </a:r>
            <a:endParaRPr lang="en-GB" sz="2000"/>
          </a:p>
        </p:txBody>
      </p:sp>
      <p:sp>
        <p:nvSpPr>
          <p:cNvPr id="43" name="Conditions"/>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Profile before you vectorise</a:t>
            </a:r>
          </a:p>
        </p:txBody>
      </p:sp>
      <p:sp>
        <p:nvSpPr>
          <p:cNvPr id="6" name="Code profile command"/>
          <p:cNvSpPr txBox="1"/>
          <p:nvPr/>
        </p:nvSpPr>
        <p:spPr>
          <a:xfrm>
            <a:off x="402336" y="1554480"/>
            <a:ext cx="11241024" cy="3581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a:t>
            </a:r>
            <a:r>
              <a:rPr sz="1800" b="0" lang="en-GB" noProof="1">
                <a:solidFill>
                  <a:srgbClr val="263238"/>
                </a:solidFill>
                <a:latin typeface="Fira Mono" pitchFamily="49"/>
              </a:rPr>
              <a:t>scalene run --cpu-only loop.py</a:t>
            </a:r>
            <a:endParaRPr lang="en-GB" sz="1800"/>
          </a:p>
        </p:txBody>
      </p:sp>
      <p:grpSp>
        <p:nvGrpSpPr>
          <p:cNvPr id="3" name="Line profile" descr="Per-line CPU profile from Scalene. For the loop version, the for line and the line that unpacks a row show 0 %, and the line that computes the distance takes 88 % of the whole run, almost all of it native NumPy time and about 4 % in the Python interpreter. The one-expression NumPy version takes 0.7 %."/>
          <p:cNvGrpSpPr/>
          <p:nvPr/>
        </p:nvGrpSpPr>
        <p:grpSpPr>
          <a:xfrm>
            <a:off x="548640" y="2186940"/>
            <a:ext cx="11094720" cy="2816352"/>
            <a:chOff x="548640" y="2186940"/>
            <a:chExt cx="11094720" cy="2816352"/>
          </a:xfrm>
        </p:grpSpPr>
        <p:sp>
          <p:nvSpPr>
            <p:cNvPr id="8" name="legend python swatch"/>
            <p:cNvSpPr/>
            <p:nvPr/>
          </p:nvSpPr>
          <p:spPr>
            <a:xfrm>
              <a:off x="6400292" y="2250948"/>
              <a:ext cx="182880" cy="18288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egend python"/>
            <p:cNvSpPr txBox="1"/>
            <p:nvPr/>
          </p:nvSpPr>
          <p:spPr>
            <a:xfrm>
              <a:off x="6656324" y="2186940"/>
              <a:ext cx="900430" cy="310896"/>
            </a:xfrm>
            <a:prstGeom prst="rect">
              <a:avLst/>
            </a:prstGeom>
            <a:noFill/>
          </p:spPr>
          <p:txBody>
            <a:bodyPr wrap="none" anchor="ctr" lIns="0" tIns="0" rIns="0" bIns="0">
              <a:noAutofit/>
            </a:bodyPr>
            <a:lstStyle/>
            <a:p>
              <a:pPr algn="l"/>
              <a:r>
                <a:rPr sz="2000" b="0" i="0" lang="en-GB">
                  <a:solidFill>
                    <a:srgbClr val="263238"/>
                  </a:solidFill>
                  <a:latin typeface="Fira Sans"/>
                </a:rPr>
                <a:t>Python</a:t>
              </a:r>
            </a:p>
          </p:txBody>
        </p:sp>
        <p:sp>
          <p:nvSpPr>
            <p:cNvPr id="10" name="legend native swatch"/>
            <p:cNvSpPr/>
            <p:nvPr/>
          </p:nvSpPr>
          <p:spPr>
            <a:xfrm>
              <a:off x="7831074" y="2250948"/>
              <a:ext cx="182880" cy="18288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egend native"/>
            <p:cNvSpPr txBox="1"/>
            <p:nvPr/>
          </p:nvSpPr>
          <p:spPr>
            <a:xfrm>
              <a:off x="8087106" y="2186940"/>
              <a:ext cx="2134362" cy="310896"/>
            </a:xfrm>
            <a:prstGeom prst="rect">
              <a:avLst/>
            </a:prstGeom>
            <a:noFill/>
          </p:spPr>
          <p:txBody>
            <a:bodyPr wrap="none" anchor="ctr" lIns="0" tIns="0" rIns="0" bIns="0">
              <a:noAutofit/>
            </a:bodyPr>
            <a:lstStyle/>
            <a:p>
              <a:pPr algn="l"/>
              <a:r>
                <a:rPr sz="2000" b="0" i="0" lang="en-GB">
                  <a:solidFill>
                    <a:srgbClr val="263238"/>
                  </a:solidFill>
                  <a:latin typeface="Fira Sans"/>
                </a:rPr>
                <a:t>native, i.e. NumPy</a:t>
              </a:r>
            </a:p>
          </p:txBody>
        </p:sp>
        <p:sp>
          <p:nvSpPr>
            <p:cNvPr id="12" name="legend system swatch"/>
            <p:cNvSpPr/>
            <p:nvPr/>
          </p:nvSpPr>
          <p:spPr>
            <a:xfrm>
              <a:off x="10495788" y="2250948"/>
              <a:ext cx="182880" cy="182880"/>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egend system"/>
            <p:cNvSpPr txBox="1"/>
            <p:nvPr/>
          </p:nvSpPr>
          <p:spPr>
            <a:xfrm>
              <a:off x="10751820" y="2186940"/>
              <a:ext cx="891540" cy="310896"/>
            </a:xfrm>
            <a:prstGeom prst="rect">
              <a:avLst/>
            </a:prstGeom>
            <a:noFill/>
          </p:spPr>
          <p:txBody>
            <a:bodyPr wrap="none" anchor="ctr" lIns="0" tIns="0" rIns="0" bIns="0">
              <a:noAutofit/>
            </a:bodyPr>
            <a:lstStyle/>
            <a:p>
              <a:pPr algn="l"/>
              <a:r>
                <a:rPr sz="2000" b="0" i="0" lang="en-GB">
                  <a:solidFill>
                    <a:srgbClr val="263238"/>
                  </a:solidFill>
                  <a:latin typeface="Fira Sans"/>
                </a:rPr>
                <a:t>system</a:t>
              </a:r>
            </a:p>
          </p:txBody>
        </p:sp>
        <p:sp>
          <p:nvSpPr>
            <p:cNvPr id="14" name="tag"/>
            <p:cNvSpPr txBox="1"/>
            <p:nvPr/>
          </p:nvSpPr>
          <p:spPr>
            <a:xfrm>
              <a:off x="548640" y="2607564"/>
              <a:ext cx="1038860" cy="566928"/>
            </a:xfrm>
            <a:prstGeom prst="rect">
              <a:avLst/>
            </a:prstGeom>
            <a:noFill/>
          </p:spPr>
          <p:txBody>
            <a:bodyPr wrap="none" anchor="ctr" lIns="0" tIns="0" rIns="0" bIns="0">
              <a:noAutofit/>
            </a:bodyPr>
            <a:lstStyle/>
            <a:p>
              <a:pPr algn="l"/>
              <a:r>
                <a:rPr sz="2000" b="0" i="0" lang="en-GB">
                  <a:solidFill>
                    <a:srgbClr val="455A64"/>
                  </a:solidFill>
                  <a:latin typeface="Fira Sans"/>
                </a:rPr>
                <a:t>loop</a:t>
              </a:r>
            </a:p>
          </p:txBody>
        </p:sp>
        <p:sp>
          <p:nvSpPr>
            <p:cNvPr id="15" name="code"/>
            <p:cNvSpPr txBox="1"/>
            <p:nvPr/>
          </p:nvSpPr>
          <p:spPr>
            <a:xfrm>
              <a:off x="1587500" y="2607564"/>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for i, p in enumerate(P):</a:t>
              </a:r>
            </a:p>
          </p:txBody>
        </p:sp>
        <p:sp>
          <p:nvSpPr>
            <p:cNvPr id="16" name="share"/>
            <p:cNvSpPr txBox="1"/>
            <p:nvPr/>
          </p:nvSpPr>
          <p:spPr>
            <a:xfrm>
              <a:off x="7259828" y="2607564"/>
              <a:ext cx="743966" cy="566928"/>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17" name="code"/>
            <p:cNvSpPr txBox="1"/>
            <p:nvPr/>
          </p:nvSpPr>
          <p:spPr>
            <a:xfrm>
              <a:off x="1587500" y="3174492"/>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x, y, z = p[0], p[1], p[2]</a:t>
              </a:r>
            </a:p>
          </p:txBody>
        </p:sp>
        <p:sp>
          <p:nvSpPr>
            <p:cNvPr id="18" name="share"/>
            <p:cNvSpPr txBox="1"/>
            <p:nvPr/>
          </p:nvSpPr>
          <p:spPr>
            <a:xfrm>
              <a:off x="7259828" y="3174492"/>
              <a:ext cx="743966" cy="566928"/>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19" name="code"/>
            <p:cNvSpPr txBox="1"/>
            <p:nvPr/>
          </p:nvSpPr>
          <p:spPr>
            <a:xfrm>
              <a:off x="1587500" y="3741420"/>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h[i] = abs(a*x + b*y + c*z + d)</a:t>
              </a:r>
            </a:p>
          </p:txBody>
        </p:sp>
        <p:sp>
          <p:nvSpPr>
            <p:cNvPr id="20" name="bar python"/>
            <p:cNvSpPr/>
            <p:nvPr/>
          </p:nvSpPr>
          <p:spPr>
            <a:xfrm>
              <a:off x="7150100" y="3823716"/>
              <a:ext cx="146653" cy="402336"/>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ar native"/>
            <p:cNvSpPr/>
            <p:nvPr/>
          </p:nvSpPr>
          <p:spPr>
            <a:xfrm>
              <a:off x="7296753" y="3823716"/>
              <a:ext cx="2971341" cy="40233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 system"/>
            <p:cNvSpPr/>
            <p:nvPr/>
          </p:nvSpPr>
          <p:spPr>
            <a:xfrm>
              <a:off x="10268094" y="3823716"/>
              <a:ext cx="61767" cy="4023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hare"/>
            <p:cNvSpPr txBox="1"/>
            <p:nvPr/>
          </p:nvSpPr>
          <p:spPr>
            <a:xfrm>
              <a:off x="10439590" y="3741420"/>
              <a:ext cx="743966" cy="566928"/>
            </a:xfrm>
            <a:prstGeom prst="rect">
              <a:avLst/>
            </a:prstGeom>
            <a:noFill/>
          </p:spPr>
          <p:txBody>
            <a:bodyPr wrap="none" anchor="ctr" lIns="0" tIns="0" rIns="0" bIns="0">
              <a:noAutofit/>
            </a:bodyPr>
            <a:lstStyle/>
            <a:p>
              <a:pPr algn="l"/>
              <a:r>
                <a:rPr sz="2000" b="1" i="0" lang="en-GB">
                  <a:solidFill>
                    <a:srgbClr val="2B6797"/>
                  </a:solidFill>
                  <a:latin typeface="Fira Sans"/>
                </a:rPr>
                <a:t>88 %</a:t>
              </a:r>
            </a:p>
          </p:txBody>
        </p:sp>
        <p:cxnSp>
          <p:nvCxnSpPr>
            <p:cNvPr id="24" name="rule"/>
            <p:cNvCxnSpPr/>
            <p:nvPr/>
          </p:nvCxnSpPr>
          <p:spPr>
            <a:xfrm>
              <a:off x="548640" y="4372356"/>
              <a:ext cx="1109472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5" name="tag"/>
            <p:cNvSpPr txBox="1"/>
            <p:nvPr/>
          </p:nvSpPr>
          <p:spPr>
            <a:xfrm>
              <a:off x="548640" y="4436364"/>
              <a:ext cx="1038860" cy="566928"/>
            </a:xfrm>
            <a:prstGeom prst="rect">
              <a:avLst/>
            </a:prstGeom>
            <a:noFill/>
          </p:spPr>
          <p:txBody>
            <a:bodyPr wrap="none" anchor="ctr" lIns="0" tIns="0" rIns="0" bIns="0">
              <a:noAutofit/>
            </a:bodyPr>
            <a:lstStyle/>
            <a:p>
              <a:pPr algn="l"/>
              <a:r>
                <a:rPr sz="2000" b="0" i="0" lang="en-GB">
                  <a:solidFill>
                    <a:srgbClr val="455A64"/>
                  </a:solidFill>
                  <a:latin typeface="Fira Sans"/>
                </a:rPr>
                <a:t>NumPy</a:t>
              </a:r>
            </a:p>
          </p:txBody>
        </p:sp>
        <p:sp>
          <p:nvSpPr>
            <p:cNvPr id="26" name="code"/>
            <p:cNvSpPr txBox="1"/>
            <p:nvPr/>
          </p:nvSpPr>
          <p:spPr>
            <a:xfrm>
              <a:off x="1587500" y="4436364"/>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h = np.abs(a*x + b*y + c*z + d)</a:t>
              </a:r>
            </a:p>
          </p:txBody>
        </p:sp>
        <p:sp>
          <p:nvSpPr>
            <p:cNvPr id="27" name="bar native"/>
            <p:cNvSpPr/>
            <p:nvPr/>
          </p:nvSpPr>
          <p:spPr>
            <a:xfrm>
              <a:off x="7150100" y="4518660"/>
              <a:ext cx="22034" cy="40233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share"/>
            <p:cNvSpPr txBox="1"/>
            <p:nvPr/>
          </p:nvSpPr>
          <p:spPr>
            <a:xfrm>
              <a:off x="7283668" y="4436364"/>
              <a:ext cx="743966" cy="566928"/>
            </a:xfrm>
            <a:prstGeom prst="rect">
              <a:avLst/>
            </a:prstGeom>
            <a:noFill/>
          </p:spPr>
          <p:txBody>
            <a:bodyPr wrap="none" anchor="ctr" lIns="0" tIns="0" rIns="0" bIns="0">
              <a:noAutofit/>
            </a:bodyPr>
            <a:lstStyle/>
            <a:p>
              <a:pPr algn="l"/>
              <a:r>
                <a:rPr sz="2000" b="0" i="0" lang="en-GB">
                  <a:solidFill>
                    <a:srgbClr val="263238"/>
                  </a:solidFill>
                  <a:latin typeface="Fira Sans"/>
                </a:rPr>
                <a:t>0.7 %</a:t>
              </a:r>
            </a:p>
          </p:txBody>
        </p:sp>
      </p:grpSp>
      <p:sp>
        <p:nvSpPr>
          <p:cNvPr id="29" name="Support"/>
          <p:cNvSpPr txBox="1"/>
          <p:nvPr/>
        </p:nvSpPr>
        <p:spPr>
          <a:xfrm>
            <a:off x="548640" y="536419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The loop's last line takes 88 % of the run. As one NumPy expression: 0.7 %.</a:t>
            </a:r>
            <a:endParaRPr lang="en-GB" sz="2000"/>
          </a:p>
        </p:txBody>
      </p:sp>
      <p:sp>
        <p:nvSpPr>
          <p:cNvPr id="7"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Scalene 2.3.0 (--cpu-only, a sample every 1 ms); 722 961 points, both versions 30 times per run, median of 3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Shares are of the whole run, imports and reading the file included. Full: results/profile_scalene.json.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Will free-threaded Python save my loop?</a:t>
            </a:r>
          </a:p>
        </p:txBody>
      </p:sp>
      <p:graphicFrame>
        <p:nvGraphicFramePr>
          <p:cNvPr id="7" name="chart_time" descr="Column chart on a logarithmic time axis, on the free-threaded build: the loop on one thread takes 336 ms; the same loop split over 8 threads takes 61 ms; one NumPy expression on one thread takes 2.3 ms. With the GIL, the 8 threads take 347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8" name="Hero"/>
          <p:cNvSpPr txBox="1"/>
          <p:nvPr/>
        </p:nvSpPr>
        <p:spPr>
          <a:xfrm>
            <a:off x="548640" y="1965960"/>
            <a:ext cx="5613882" cy="1463040"/>
          </a:xfrm>
          <a:prstGeom prst="rect">
            <a:avLst/>
          </a:prstGeom>
          <a:noFill/>
        </p:spPr>
        <p:txBody>
          <a:bodyPr wrap="none" anchor="t" lIns="0" tIns="0" rIns="0" bIns="0">
            <a:noAutofit/>
          </a:bodyPr>
          <a:lstStyle/>
          <a:p>
            <a:pPr marL="0" indent="0" algn="l">
              <a:spcBef>
                <a:spcPts val="0"/>
              </a:spcBef>
              <a:spcAft>
                <a:spcPts val="0"/>
              </a:spcAft>
              <a:buNone/>
            </a:pPr>
            <a:r>
              <a:rPr sz="9600" lang="en-GB">
                <a:solidFill>
                  <a:srgbClr val="2B6797"/>
                </a:solidFill>
                <a:latin typeface="Fira Sans SemiBold"/>
              </a:rPr>
              <a:t>5.5×</a:t>
            </a:r>
            <a:r>
              <a:rPr sz="2000" lang="en-GB">
                <a:solidFill>
                  <a:srgbClr val="263238"/>
                </a:solidFill>
                <a:latin typeface="+mn-lt"/>
              </a:rPr>
              <a:t> faster on 8 free threads</a:t>
            </a:r>
            <a:endParaRPr lang="en-GB" sz="9600"/>
          </a:p>
        </p:txBody>
      </p:sp>
      <p:sp>
        <p:nvSpPr>
          <p:cNvPr id="10" name="Support"/>
          <p:cNvSpPr txBox="1"/>
          <p:nvPr/>
        </p:nvSpPr>
        <p:spPr>
          <a:xfrm>
            <a:off x="548640" y="487651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With the GIL, threads gain nothing; one NumPy call is still 27× faster.</a:t>
            </a:r>
            <a:endParaRPr lang="en-GB" sz="2000"/>
          </a:p>
        </p:txBody>
      </p:sp>
      <p:sp>
        <p:nvSpPr>
          <p:cNvPr id="9" name="Conditions"/>
          <p:cNvSpPr txBox="1"/>
          <p:nvPr/>
        </p:nvSpPr>
        <p:spPr>
          <a:xfrm>
            <a:off x="548640" y="5486112"/>
            <a:ext cx="5613882"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CPython 3.14.7 free-threaded and 3.14.7, NumPy 2.5.4;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results/bench_freethreaded.json.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Loading this area's AHN file outgrows 32 GB</a:t>
            </a:r>
          </a:p>
        </p:txBody>
      </p:sp>
      <p:graphicFrame>
        <p:nvGraphicFramePr>
          <p:cNvPr id="8" name="chart_memory" descr="Horizontal bar chart in gigabytes for one 5 by 6.25 km AHN5 file with 926 203 338 points: reference bars for 16 and 32 GB of RAM, then LAS records at 25.9 GB, plus a float64 copy of the coordinates at 46.6 GB, and our load and voxel downsampling steps (slides 11 and 12), all arrays kept, at 74.2 GB; a dashed line continues the end of the 32 GB bar down across the data bars; the three data bars are computed, not run."/>
          <p:cNvGraphicFramePr>
            <a:graphicFrameLocks noGrp="1"/>
          </p:cNvGraphicFramePr>
          <p:nvPr/>
        </p:nvGraphicFramePr>
        <p:xfrm>
          <a:off x="548640" y="548640"/>
          <a:ext cx="5023638" cy="5166072"/>
        </p:xfrm>
        <a:graphic>
          <a:graphicData uri="http://schemas.openxmlformats.org/drawingml/2006/chart">
            <c:chart xmlns:c="http://schemas.openxmlformats.org/drawingml/2006/chart" r:id="rId2"/>
          </a:graphicData>
        </a:graphic>
      </p:graphicFrame>
      <p:cxnSp>
        <p:nvCxnSpPr>
          <p:cNvPr id="9" name="Threshold line 1">
            <a:extLst>
              <a:ext uri="{C183D7F6-B498-43B3-948B-1728B52AA6E4}">
                <adec:decorative xmlns:adec="http://schemas.microsoft.com/office/drawing/2017/decorative" val="1"/>
              </a:ext>
            </a:extLst>
          </p:cNvPr>
          <p:cNvCxnSpPr/>
          <p:nvPr/>
        </p:nvCxnSpPr>
        <p:spPr>
          <a:xfrm>
            <a:off x="3102702" y="2481820"/>
            <a:ext cx="0" cy="252962"/>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cxnSp>
        <p:nvCxnSpPr>
          <p:cNvPr id="10" name="Threshold line 2">
            <a:extLst>
              <a:ext uri="{C183D7F6-B498-43B3-948B-1728B52AA6E4}">
                <adec:decorative xmlns:adec="http://schemas.microsoft.com/office/drawing/2017/decorative" val="1"/>
              </a:ext>
            </a:extLst>
          </p:cNvPr>
          <p:cNvCxnSpPr/>
          <p:nvPr/>
        </p:nvCxnSpPr>
        <p:spPr>
          <a:xfrm>
            <a:off x="3102702" y="3528570"/>
            <a:ext cx="0" cy="2082821"/>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sp>
        <p:nvSpPr>
          <p:cNvPr id="14" name="Machine line"/>
          <p:cNvSpPr txBox="1"/>
          <p:nvPr/>
        </p:nvSpPr>
        <p:spPr>
          <a:xfrm>
            <a:off x="6029478" y="498348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mn-lt"/>
              </a:rPr>
              <a:t>It works on my machine (31.3 GiB RAM).</a:t>
            </a:r>
            <a:endParaRPr lang="en-GB" sz="2000"/>
          </a:p>
        </p:txBody>
      </p:sp>
      <p:sp>
        <p:nvSpPr>
          <p:cNvPr id="11" name="Hero"/>
          <p:cNvSpPr txBox="1"/>
          <p:nvPr/>
        </p:nvSpPr>
        <p:spPr>
          <a:xfrm>
            <a:off x="6029478" y="1965960"/>
            <a:ext cx="5613882" cy="1341120"/>
          </a:xfrm>
          <a:prstGeom prst="rect">
            <a:avLst/>
          </a:prstGeom>
          <a:noFill/>
        </p:spPr>
        <p:txBody>
          <a:bodyPr wrap="none" anchor="t" lIns="0" tIns="0" rIns="0" bIns="0">
            <a:noAutofit/>
          </a:bodyPr>
          <a:lstStyle/>
          <a:p>
            <a:pPr marL="0" indent="0" algn="l">
              <a:spcBef>
                <a:spcPts val="0"/>
              </a:spcBef>
              <a:spcAft>
                <a:spcPts val="0"/>
              </a:spcAft>
              <a:buNone/>
            </a:pPr>
            <a:r>
              <a:rPr sz="8800" lang="en-GB">
                <a:solidFill>
                  <a:srgbClr val="2B6797"/>
                </a:solidFill>
                <a:latin typeface="Fira Sans SemiBold"/>
              </a:rPr>
              <a:t>86 B</a:t>
            </a:r>
            <a:r>
              <a:rPr sz="2000" lang="en-GB">
                <a:solidFill>
                  <a:srgbClr val="263238"/>
                </a:solidFill>
                <a:latin typeface="+mn-lt"/>
              </a:rPr>
              <a:t> per point in our pipeline</a:t>
            </a:r>
            <a:endParaRPr lang="en-GB" sz="8800"/>
          </a:p>
        </p:txBody>
      </p:sp>
      <p:sp>
        <p:nvSpPr>
          <p:cNvPr id="12" name="Support"/>
          <p:cNvSpPr txBox="1"/>
          <p:nvPr/>
        </p:nvSpPr>
        <p:spPr>
          <a:xfrm>
            <a:off x="6029478" y="353568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926 203 338 points × 86 B each.</a:t>
            </a:r>
            <a:endParaRPr lang="en-GB" sz="2000"/>
          </a:p>
        </p:txBody>
      </p:sp>
      <p:sp>
        <p:nvSpPr>
          <p:cNvPr id="7"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21 013 926 points, median of 3 runs, each in a fresh process; AHN5 1 km file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1 GB = 2³⁰ B. Full: results/memory.json.</a:t>
            </a:r>
            <a:endParaRPr lang="en-GB" sz="1200"/>
          </a:p>
        </p:txBody>
      </p:sp>
      <p:sp>
        <p:nvSpPr>
          <p:cNvPr id="13" name="Small print"/>
          <p:cNvSpPr txBox="1"/>
          <p:nvPr/>
        </p:nvSpPr>
        <p:spPr>
          <a:xfrm>
            <a:off x="6029478" y="3977640"/>
            <a:ext cx="5613882" cy="73152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Bytes per point measured on the 1 km AHN file 135000_455000 (21 013 926 points); totals for 2023_C_31HZ2.LAZ computed, not run. Our pipeline: load and voxel downsampling (slides 11 and 12), all arrays kept, after gc.collect() and malloc_trim(0); peak 154 B per point.</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Stream chunks, keep the first point per voxel</a:t>
            </a:r>
          </a:p>
        </p:txBody>
      </p:sp>
      <p:grpSp>
        <p:nvGrpSpPr>
          <p:cNvPr id="3" name="Key line 5">
            <a:extLst>
              <a:ext uri="{C183D7F6-B498-43B3-948B-1728B52AA6E4}">
                <adec:decorative xmlns:adec="http://schemas.microsoft.com/office/drawing/2017/decorative" val="1"/>
              </a:ext>
            </a:extLst>
          </p:cNvPr>
          <p:cNvGrpSpPr/>
          <p:nvPr/>
        </p:nvGrpSpPr>
        <p:grpSpPr>
          <a:xfrm>
            <a:off x="402336" y="2616200"/>
            <a:ext cx="9802368" cy="254000"/>
            <a:chOff x="402336" y="2616200"/>
            <a:chExt cx="9802368" cy="254000"/>
          </a:xfrm>
        </p:grpSpPr>
        <p:sp>
          <p:nvSpPr>
            <p:cNvPr id="7" name="Key line bar"/>
            <p:cNvSpPr/>
            <p:nvPr/>
          </p:nvSpPr>
          <p:spPr>
            <a:xfrm>
              <a:off x="402336" y="2616200"/>
              <a:ext cx="9802368" cy="2540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616200"/>
              <a:ext cx="64008" cy="2540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descr="Twelve lines of Python that read a LAZ file in chunks of one million points and keep the first point in every voxel, above the peak memory before and after."/>
          <p:cNvSpPr txBox="1"/>
          <p:nvPr/>
        </p:nvSpPr>
        <p:spPr>
          <a:xfrm>
            <a:off x="402336" y="1554480"/>
            <a:ext cx="9802368" cy="3139440"/>
          </a:xfrm>
          <a:prstGeom prst="rect">
            <a:avLst/>
          </a:prstGeom>
          <a:noFill/>
        </p:spPr>
        <p:txBody>
          <a:bodyPr wrap="none" anchor="t" lIns="146304" tIns="45720" rIns="54864" bIns="45720">
            <a:noAutofit/>
          </a:bodyPr>
          <a:lstStyle/>
          <a:p>
            <a:pPr marL="0" indent="0" algn="l">
              <a:lnSpc>
                <a:spcPts val="2000"/>
              </a:lnSpc>
              <a:spcBef>
                <a:spcPts val="0"/>
              </a:spcBef>
              <a:spcAft>
                <a:spcPts val="0"/>
              </a:spcAft>
              <a:buNone/>
            </a:pPr>
            <a:r>
              <a:rPr sz="1800" b="0" lang="en-GB" noProof="1">
                <a:solidFill>
                  <a:srgbClr val="263238"/>
                </a:solidFill>
                <a:latin typeface="Fira Mono" pitchFamily="49"/>
              </a:rPr>
              <a:t>v, keys, pts = 0.5, [], []                      </a:t>
            </a:r>
            <a:r>
              <a:rPr sz="1800" b="0" lang="en-GB" noProof="1">
                <a:solidFill>
                  <a:srgbClr val="455A64"/>
                </a:solidFill>
                <a:latin typeface="Fira Mono" pitchFamily="49"/>
              </a:rPr>
              <a:t># voxel size: 0.5 m</a:t>
            </a:r>
            <a:endParaRPr lang="en-GB" sz="1800"/>
          </a:p>
          <a:p>
            <a:pPr marL="0" indent="0" algn="l">
              <a:lnSpc>
                <a:spcPts val="2000"/>
              </a:lnSpc>
              <a:spcBef>
                <a:spcPts val="0"/>
              </a:spcBef>
              <a:spcAft>
                <a:spcPts val="0"/>
              </a:spcAft>
              <a:buNone/>
            </a:pPr>
            <a:r>
              <a:rPr sz="1800" b="1" lang="en-GB" noProof="1">
                <a:solidFill>
                  <a:srgbClr val="1C325B"/>
                </a:solidFill>
                <a:latin typeface="Fira Mono" pitchFamily="49"/>
              </a:rPr>
              <a:t>with</a:t>
            </a:r>
            <a:r>
              <a:rPr sz="1800" b="0" lang="en-GB" noProof="1">
                <a:solidFill>
                  <a:srgbClr val="263238"/>
                </a:solidFill>
                <a:latin typeface="Fira Mono" pitchFamily="49"/>
              </a:rPr>
              <a:t> laspy.open(path) </a:t>
            </a:r>
            <a:r>
              <a:rPr sz="1800" b="1" lang="en-GB" noProof="1">
                <a:solidFill>
                  <a:srgbClr val="1C325B"/>
                </a:solidFill>
                <a:latin typeface="Fira Mono" pitchFamily="49"/>
              </a:rPr>
              <a:t>as</a:t>
            </a:r>
            <a:r>
              <a:rPr sz="1800" b="0" lang="en-GB" noProof="1">
                <a:solidFill>
                  <a:srgbClr val="263238"/>
                </a:solidFill>
                <a:latin typeface="Fira Mono" pitchFamily="49"/>
              </a:rPr>
              <a:t> f:</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lo, hi = f.header.mins, f.header.maxs       </a:t>
            </a:r>
            <a:r>
              <a:rPr sz="1800" b="0" lang="en-GB" noProof="1">
                <a:solidFill>
                  <a:srgbClr val="455A64"/>
                </a:solidFill>
                <a:latin typeface="Fira Mono" pitchFamily="49"/>
              </a:rPr>
              <a:t># local origin, extent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dims = ((hi - lo) // v).astype(np.int64) + 1  </a:t>
            </a:r>
            <a:r>
              <a:rPr sz="1800" b="0" lang="en-GB" noProof="1">
                <a:solidFill>
                  <a:srgbClr val="455A64"/>
                </a:solidFill>
                <a:latin typeface="Fira Mono" pitchFamily="49"/>
              </a:rPr>
              <a:t># voxels per axis</a:t>
            </a:r>
            <a:endParaRPr lang="en-GB" sz="1800"/>
          </a:p>
          <a:p>
            <a:pPr marL="0" indent="0" algn="l">
              <a:lnSpc>
                <a:spcPts val="2000"/>
              </a:lnSpc>
              <a:spcBef>
                <a:spcPts val="0"/>
              </a:spcBef>
              <a:spcAft>
                <a:spcPts val="0"/>
              </a:spcAft>
              <a:buNone/>
            </a:pPr>
            <a:r>
              <a:rPr sz="1800" b="1" lang="en-GB" noProof="1">
                <a:solidFill>
                  <a:srgbClr val="263238"/>
                </a:solidFill>
                <a:latin typeface="Fira Mono" pitchFamily="49"/>
              </a:rPr>
              <a:t>    </a:t>
            </a:r>
            <a:r>
              <a:rPr sz="1800" b="1" lang="en-GB" noProof="1">
                <a:solidFill>
                  <a:srgbClr val="1C325B"/>
                </a:solidFill>
                <a:latin typeface="Fira Mono" pitchFamily="49"/>
              </a:rPr>
              <a:t>for</a:t>
            </a:r>
            <a:r>
              <a:rPr sz="1800" b="1" lang="en-GB" noProof="1">
                <a:solidFill>
                  <a:srgbClr val="263238"/>
                </a:solidFill>
                <a:latin typeface="Fira Mono" pitchFamily="49"/>
              </a:rPr>
              <a:t> c </a:t>
            </a:r>
            <a:r>
              <a:rPr sz="1800" b="1" lang="en-GB" noProof="1">
                <a:solidFill>
                  <a:srgbClr val="1C325B"/>
                </a:solidFill>
                <a:latin typeface="Fira Mono" pitchFamily="49"/>
              </a:rPr>
              <a:t>in</a:t>
            </a:r>
            <a:r>
              <a:rPr sz="1800" b="1" lang="en-GB" noProof="1">
                <a:solidFill>
                  <a:srgbClr val="263238"/>
                </a:solidFill>
                <a:latin typeface="Fira Mono" pitchFamily="49"/>
              </a:rPr>
              <a:t> f.chunk_iterator(1_000_000):       </a:t>
            </a:r>
            <a:r>
              <a:rPr sz="1800" b="1" lang="en-GB" noProof="1">
                <a:solidFill>
                  <a:srgbClr val="455A64"/>
                </a:solidFill>
                <a:latin typeface="Fira Mono" pitchFamily="49"/>
              </a:rPr>
              <a:t># a million points</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xyz = np.c_[c.x, c.y, c.z] - lo</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ijk = (xyz // v).astype(np.int64).T     </a:t>
            </a:r>
            <a:r>
              <a:rPr sz="1800" b="0" lang="en-GB" noProof="1">
                <a:solidFill>
                  <a:srgbClr val="455A64"/>
                </a:solidFill>
                <a:latin typeface="Fira Mono" pitchFamily="49"/>
              </a:rPr>
              <a:t># voxel index per axis</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key = np.ravel_multi_index(ijk, dims)   </a:t>
            </a:r>
            <a:r>
              <a:rPr sz="1800" b="0" lang="en-GB" noProof="1">
                <a:solidFill>
                  <a:srgbClr val="455A64"/>
                </a:solidFill>
                <a:latin typeface="Fira Mono" pitchFamily="49"/>
              </a:rPr>
              <a:t># one int64 per voxel</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 first = np.unique(key, return_index=</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keys.append(k); pts.append(xyz[first])  </a:t>
            </a:r>
            <a:r>
              <a:rPr sz="1800" b="0" lang="en-GB" noProof="1">
                <a:solidFill>
                  <a:srgbClr val="455A64"/>
                </a:solidFill>
                <a:latin typeface="Fira Mono" pitchFamily="49"/>
              </a:rPr>
              <a:t># first per voxel</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k, first = np.unique(np.concatenate(keys), return_index=</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points = np.concatenate(pts)[first]             </a:t>
            </a:r>
            <a:r>
              <a:rPr sz="1800" b="0" lang="en-GB" noProof="1">
                <a:solidFill>
                  <a:srgbClr val="455A64"/>
                </a:solidFill>
                <a:latin typeface="Fira Mono" pitchFamily="49"/>
              </a:rPr>
              <a:t># earliest chunk wins</a:t>
            </a:r>
            <a:endParaRPr lang="en-GB" sz="1800"/>
          </a:p>
        </p:txBody>
      </p:sp>
      <p:sp>
        <p:nvSpPr>
          <p:cNvPr id="10" name="Hero"/>
          <p:cNvSpPr txBox="1"/>
          <p:nvPr/>
        </p:nvSpPr>
        <p:spPr>
          <a:xfrm>
            <a:off x="548640" y="4806552"/>
            <a:ext cx="5548884" cy="914400"/>
          </a:xfrm>
          <a:prstGeom prst="rect">
            <a:avLst/>
          </a:prstGeom>
          <a:noFill/>
        </p:spPr>
        <p:txBody>
          <a:bodyPr wrap="none" anchor="b" lIns="0" tIns="0" rIns="0" bIns="0">
            <a:noAutofit/>
          </a:bodyPr>
          <a:lstStyle/>
          <a:p>
            <a:pPr marL="0" indent="0" algn="l">
              <a:spcBef>
                <a:spcPts val="0"/>
              </a:spcBef>
              <a:spcAft>
                <a:spcPts val="0"/>
              </a:spcAft>
              <a:buNone/>
            </a:pPr>
            <a:r>
              <a:rPr sz="6000" lang="en-GB">
                <a:solidFill>
                  <a:srgbClr val="2B6797"/>
                </a:solidFill>
                <a:latin typeface="Fira Sans SemiBold"/>
              </a:rPr>
              <a:t>3.0 GB → 0.8 GB</a:t>
            </a:r>
            <a:endParaRPr lang="en-GB" sz="6000"/>
          </a:p>
        </p:txBody>
      </p:sp>
      <p:sp>
        <p:nvSpPr>
          <p:cNvPr id="11" name="Hero label"/>
          <p:cNvSpPr txBox="1"/>
          <p:nvPr/>
        </p:nvSpPr>
        <p:spPr>
          <a:xfrm>
            <a:off x="6280404" y="5281532"/>
            <a:ext cx="5362956" cy="304800"/>
          </a:xfrm>
          <a:prstGeom prst="rect">
            <a:avLst/>
          </a:prstGeom>
          <a:noFill/>
        </p:spPr>
        <p:txBody>
          <a:bodyPr wrap="none" anchor="b" lIns="0" tIns="0" rIns="0" bIns="0">
            <a:noAutofit/>
          </a:bodyPr>
          <a:lstStyle/>
          <a:p>
            <a:pPr marL="0" indent="0" algn="l">
              <a:spcBef>
                <a:spcPts val="0"/>
              </a:spcBef>
              <a:spcAft>
                <a:spcPts val="0"/>
              </a:spcAft>
              <a:buNone/>
            </a:pPr>
            <a:r>
              <a:rPr sz="2000" b="0" lang="en-GB">
                <a:solidFill>
                  <a:srgbClr val="263238"/>
                </a:solidFill>
                <a:latin typeface="+mn-lt"/>
              </a:rPr>
              <a:t>peak memory, 1 km AHN file</a:t>
            </a:r>
            <a:endParaRPr lang="en-GB" sz="2000"/>
          </a:p>
        </p:txBody>
      </p:sp>
      <p:sp>
        <p:nvSpPr>
          <p:cNvPr id="6"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21 013 926 points, median of 3 runs, each in a fresh process; AHN5 1 km file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1 GB = 2³⁰ B. Full: results/memory.json.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Why it works: memory over time</a:t>
            </a:r>
          </a:p>
        </p:txBody>
      </p:sp>
      <p:graphicFrame>
        <p:nvGraphicFramePr>
          <p:cNvPr id="7" name="Memory over time" descr="Line chart of memory over a run on the 1 km AHN file, 21 013 926 points, as profiled by Scalene. Loading everything climbs to about 2 GB once the file, the float64 xyz and Open3D's copy are in memory, then to 3.4 GB during voxel downsampling. The chunked loop reads one million points at a time, stays lower and peaks at 1.6 GB late in the loop."/>
          <p:cNvGraphicFramePr>
            <a:graphicFrameLocks noGrp="1"/>
          </p:cNvGraphicFramePr>
          <p:nvPr/>
        </p:nvGraphicFramePr>
        <p:xfrm>
          <a:off x="502920" y="1554480"/>
          <a:ext cx="11140440" cy="3322032"/>
        </p:xfrm>
        <a:graphic>
          <a:graphicData uri="http://schemas.openxmlformats.org/drawingml/2006/chart">
            <c:chart xmlns:c="http://schemas.openxmlformats.org/drawingml/2006/chart" r:id="rId2"/>
          </a:graphicData>
        </a:graphic>
      </p:graphicFrame>
      <p:cxnSp>
        <p:nvCxnSpPr>
          <p:cNvPr id="8" name="Trace leader">
            <a:extLst>
              <a:ext uri="{C183D7F6-B498-43B3-948B-1728B52AA6E4}">
                <adec:decorative xmlns:adec="http://schemas.microsoft.com/office/drawing/2017/decorative" val="1"/>
              </a:ext>
            </a:extLst>
          </p:cNvPr>
          <p:cNvCxnSpPr/>
          <p:nvPr/>
        </p:nvCxnSpPr>
        <p:spPr>
          <a:xfrm flipV="1">
            <a:off x="3828059" y="2506079"/>
            <a:ext cx="0" cy="448056"/>
          </a:xfrm>
          <a:prstGeom prst="line">
            <a:avLst/>
          </a:prstGeom>
          <a:ln w="12700">
            <a:solidFill>
              <a:srgbClr val="455A64"/>
            </a:solidFill>
          </a:ln>
        </p:spPr>
        <p:style>
          <a:lnRef idx="2">
            <a:schemeClr val="accent1"/>
          </a:lnRef>
          <a:fillRef idx="0">
            <a:schemeClr val="accent1"/>
          </a:fillRef>
          <a:effectRef idx="1">
            <a:schemeClr val="accent1"/>
          </a:effectRef>
          <a:fontRef idx="minor">
            <a:schemeClr val="tx1"/>
          </a:fontRef>
        </p:style>
      </p:cxnSp>
      <p:sp>
        <p:nvSpPr>
          <p:cNvPr id="9" name="Trace label"/>
          <p:cNvSpPr txBox="1"/>
          <p:nvPr/>
        </p:nvSpPr>
        <p:spPr>
          <a:xfrm>
            <a:off x="1639087" y="2201279"/>
            <a:ext cx="4377944"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63238"/>
                </a:solidFill>
                <a:latin typeface="+mn-lt"/>
              </a:rPr>
              <a:t>load everything: Open3D copy: 2.0 GB</a:t>
            </a:r>
            <a:endParaRPr lang="en-GB" sz="2000"/>
          </a:p>
        </p:txBody>
      </p:sp>
      <p:cxnSp>
        <p:nvCxnSpPr>
          <p:cNvPr id="10" name="Trace leader">
            <a:extLst>
              <a:ext uri="{C183D7F6-B498-43B3-948B-1728B52AA6E4}">
                <adec:decorative xmlns:adec="http://schemas.microsoft.com/office/drawing/2017/decorative" val="1"/>
              </a:ext>
            </a:extLst>
          </p:cNvPr>
          <p:cNvCxnSpPr/>
          <p:nvPr/>
        </p:nvCxnSpPr>
        <p:spPr>
          <a:xfrm flipV="1">
            <a:off x="7563899" y="1527580"/>
            <a:ext cx="0" cy="448056"/>
          </a:xfrm>
          <a:prstGeom prst="line">
            <a:avLst/>
          </a:prstGeom>
          <a:ln w="12700">
            <a:solidFill>
              <a:srgbClr val="455A64"/>
            </a:solidFill>
          </a:ln>
        </p:spPr>
        <p:style>
          <a:lnRef idx="2">
            <a:schemeClr val="accent1"/>
          </a:lnRef>
          <a:fillRef idx="0">
            <a:schemeClr val="accent1"/>
          </a:fillRef>
          <a:effectRef idx="1">
            <a:schemeClr val="accent1"/>
          </a:effectRef>
          <a:fontRef idx="minor">
            <a:schemeClr val="tx1"/>
          </a:fontRef>
        </p:style>
      </p:cxnSp>
      <p:sp>
        <p:nvSpPr>
          <p:cNvPr id="11" name="Trace label"/>
          <p:cNvSpPr txBox="1"/>
          <p:nvPr/>
        </p:nvSpPr>
        <p:spPr>
          <a:xfrm>
            <a:off x="5932457" y="1222780"/>
            <a:ext cx="3262884"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63238"/>
                </a:solidFill>
                <a:latin typeface="+mn-lt"/>
              </a:rPr>
              <a:t>voxel_down_sample: 3.4 GB</a:t>
            </a:r>
            <a:endParaRPr lang="en-GB" sz="2000"/>
          </a:p>
        </p:txBody>
      </p:sp>
      <p:sp>
        <p:nvSpPr>
          <p:cNvPr id="12" name="Trace label"/>
          <p:cNvSpPr txBox="1"/>
          <p:nvPr/>
        </p:nvSpPr>
        <p:spPr>
          <a:xfrm>
            <a:off x="6997023" y="2839226"/>
            <a:ext cx="3795268"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B6797"/>
                </a:solidFill>
                <a:latin typeface="Fira Sans SemiBold"/>
              </a:rPr>
              <a:t>chunked: late in the loop: 1.6 GB</a:t>
            </a:r>
            <a:endParaRPr lang="en-GB" sz="2000"/>
          </a:p>
        </p:txBody>
      </p:sp>
      <p:sp>
        <p:nvSpPr>
          <p:cNvPr id="13" name="Support"/>
          <p:cNvSpPr txBox="1"/>
          <p:nvPr/>
        </p:nvSpPr>
        <p:spPr>
          <a:xfrm>
            <a:off x="548640" y="5059392"/>
            <a:ext cx="11094720"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Profiled with Scalene. Load everything: memory follows the file. Chunked: memory follows what you keep.</a:t>
            </a:r>
            <a:endParaRPr lang="en-GB" sz="2000"/>
          </a:p>
        </p:txBody>
      </p:sp>
      <p:sp>
        <p:nvSpPr>
          <p:cNvPr id="6"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Scalene 2.3.0; 21 013 926 points, median of 3 runs; AHN5 1 km file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Scalene counts allocations, not resident memory (slide 25). Full: results/memory_scalene.json.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Six gotchas I hit building this</a:t>
            </a:r>
          </a:p>
        </p:txBody>
      </p:sp>
      <p:graphicFrame>
        <p:nvGraphicFramePr>
          <p:cNvPr id="6" name="gotcha_table" descr="Table of six gotchas, a code token and its consequence. Open3D read_point_cloud on a LAZ file: an empty cloud, no error. pip install laspy alone: LAZ files will not open. xyz as float32: 1.6 cm steps at RD coordinates. Vector3dVector of float32: a 39× slower copy. segment_plane with a seed: runs differ unless probability is 1. AHN classification 1: not trees."/>
          <p:cNvGraphicFramePr>
            <a:graphicFrameLocks noGrp="1"/>
          </p:cNvGraphicFramePr>
          <p:nvPr/>
        </p:nvGraphicFramePr>
        <p:xfrm>
          <a:off x="4572000" y="731520"/>
          <a:ext cx="7071360" cy="5486112"/>
        </p:xfrm>
        <a:graphic>
          <a:graphicData uri="http://schemas.openxmlformats.org/drawingml/2006/table">
            <a:tbl>
              <a:tblPr>
                <a:tableStyleId>{2D5ABB26-0587-4C30-8999-92F81FD0307C}</a:tableStyleId>
              </a:tblPr>
              <a:tblGrid>
                <a:gridCol w="4242816"/>
                <a:gridCol w="2828544"/>
              </a:tblGrid>
              <a:tr h="914352">
                <a:tc>
                  <a:txBody>
                    <a:bodyPr wrap="square"/>
                    <a:lstStyle/>
                    <a:p>
                      <a:pPr algn="l"/>
                      <a:r>
                        <a:rPr sz="2000" b="0" i="0" lang="en-GB">
                          <a:solidFill>
                            <a:srgbClr val="263238"/>
                          </a:solidFill>
                          <a:latin typeface="Fira Mono" pitchFamily="49" charset="0"/>
                        </a:rPr>
                        <a:t>read_point_cloud("x.laz")</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Empty cloud, no error</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pip install laspy</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LAZ files will not open</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xyz.astype(np.float32)</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1.6 cm steps in RD</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Vector3dVector(float32)</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39× slower copy</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segment_plane(seed)</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Differs unless probability=1</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classification == 1</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noFill/>
                      <a:prstDash val="solid"/>
                      <a:round/>
                      <a:headEnd type="none" w="med" len="med"/>
                      <a:tailEnd type="none" w="med" len="med"/>
                    </a:lnB>
                    <a:noFill/>
                  </a:tcPr>
                </a:tc>
                <a:tc>
                  <a:txBody>
                    <a:bodyPr wrap="square"/>
                    <a:lstStyle/>
                    <a:p>
                      <a:pPr algn="l"/>
                      <a:r>
                        <a:rPr sz="2000" b="0" i="0" lang="en-GB">
                          <a:solidFill>
                            <a:srgbClr val="263238"/>
                          </a:solidFill>
                          <a:latin typeface="Fira Sans"/>
                        </a:rPr>
                        <a:t>Class 1 is not trees</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noFill/>
                      <a:prstDash val="solid"/>
                      <a:round/>
                      <a:headEnd type="none" w="med" len="med"/>
                      <a:tailEnd type="none" w="med" len="med"/>
                    </a:lnB>
                    <a:noFill/>
                  </a:tcPr>
                </a:tc>
              </a:tr>
            </a:tbl>
          </a:graphicData>
        </a:graphic>
      </p:graphicFrame>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Take the four rules home</a:t>
            </a:r>
          </a:p>
        </p:txBody>
      </p:sp>
      <p:grpSp>
        <p:nvGrpSpPr>
          <p:cNvPr id="3" name="Rules of thumb" descr="The four rules of thumb again, each with its evidence from the talk. Think in arrays, not points: 722 961 by 3, passed on as views. Look before you compute: 61 poles on the map, 3 found. Make it small first: 3.0 GB to 0.8 GB peak memory. Let compiled code loop: 130× faster than a loop over rows."/>
          <p:cNvGrpSpPr/>
          <p:nvPr/>
        </p:nvGrpSpPr>
        <p:grpSpPr>
          <a:xfrm>
            <a:off x="548640" y="1600200"/>
            <a:ext cx="11094720" cy="4480272"/>
            <a:chOff x="548640" y="1600200"/>
            <a:chExt cx="11094720" cy="4480272"/>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 not</a:t>
              </a:r>
            </a:p>
            <a:p>
              <a:pPr algn="l"/>
              <a:r>
                <a:rPr sz="2800" b="0" i="0" lang="en-GB">
                  <a:solidFill>
                    <a:srgbClr val="1C325B"/>
                  </a:solidFill>
                  <a:latin typeface="Fira Sans SemiBold"/>
                </a:rPr>
                <a:t>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722 961 × 3, as views</a:t>
              </a:r>
            </a:p>
            <a:p>
              <a:pPr algn="l">
                <a:spcBef>
                  <a:spcPts val="600"/>
                </a:spcBef>
              </a:pPr>
              <a:r>
                <a:rPr sz="2000" b="0" i="0" lang="en-GB">
                  <a:solidFill>
                    <a:srgbClr val="455A64"/>
                  </a:solidFill>
                  <a:latin typeface="Fira Sans"/>
                </a:rPr>
                <a:t>slides 5, 9</a:t>
              </a:r>
            </a:p>
          </p:txBody>
        </p:sp>
        <p:sp>
          <p:nvSpPr>
            <p:cNvPr id="10"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2" name="rule head 2"/>
            <p:cNvSpPr txBox="1"/>
            <p:nvPr/>
          </p:nvSpPr>
          <p:spPr>
            <a:xfrm>
              <a:off x="729386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13" name="rule text 2"/>
            <p:cNvSpPr txBox="1"/>
            <p:nvPr/>
          </p:nvSpPr>
          <p:spPr>
            <a:xfrm>
              <a:off x="7293864" y="2791968"/>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61 poles on the map, 3 found</a:t>
              </a:r>
            </a:p>
            <a:p>
              <a:pPr algn="l">
                <a:spcBef>
                  <a:spcPts val="600"/>
                </a:spcBef>
              </a:pPr>
              <a:r>
                <a:rPr sz="2000" b="0" i="0" lang="en-GB">
                  <a:solidFill>
                    <a:srgbClr val="455A64"/>
                  </a:solidFill>
                  <a:latin typeface="Fira Sans"/>
                </a:rPr>
                <a:t>slides 18, 27</a:t>
              </a:r>
            </a:p>
          </p:txBody>
        </p:sp>
        <p:sp>
          <p:nvSpPr>
            <p:cNvPr id="14"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6"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7"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B6797"/>
                  </a:solidFill>
                  <a:latin typeface="Fira Sans SemiBold"/>
                </a:rPr>
                <a:t>3.0 GB → 0.8 GB peak</a:t>
              </a:r>
            </a:p>
            <a:p>
              <a:pPr algn="l">
                <a:spcBef>
                  <a:spcPts val="600"/>
                </a:spcBef>
              </a:pPr>
              <a:r>
                <a:rPr sz="2000" b="0" i="0" lang="en-GB">
                  <a:solidFill>
                    <a:srgbClr val="455A64"/>
                  </a:solidFill>
                  <a:latin typeface="Fira Sans"/>
                </a:rPr>
                <a:t>slides 12, 25, 26</a:t>
              </a:r>
            </a:p>
          </p:txBody>
        </p:sp>
        <p:sp>
          <p:nvSpPr>
            <p:cNvPr id="18"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0" name="rule head 4"/>
            <p:cNvSpPr txBox="1"/>
            <p:nvPr/>
          </p:nvSpPr>
          <p:spPr>
            <a:xfrm>
              <a:off x="729386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 loop</a:t>
              </a:r>
            </a:p>
          </p:txBody>
        </p:sp>
        <p:sp>
          <p:nvSpPr>
            <p:cNvPr id="21" name="rule text 4"/>
            <p:cNvSpPr txBox="1"/>
            <p:nvPr/>
          </p:nvSpPr>
          <p:spPr>
            <a:xfrm>
              <a:off x="7293864" y="4855320"/>
              <a:ext cx="4120896" cy="1042272"/>
            </a:xfrm>
            <a:prstGeom prst="rect">
              <a:avLst/>
            </a:prstGeom>
            <a:noFill/>
          </p:spPr>
          <p:txBody>
            <a:bodyPr wrap="square" anchor="t" lIns="0" tIns="0" rIns="0" bIns="0">
              <a:noAutofit/>
            </a:bodyPr>
            <a:lstStyle/>
            <a:p>
              <a:pPr algn="l"/>
              <a:r>
                <a:rPr sz="2400" b="0" i="0" lang="en-GB">
                  <a:solidFill>
                    <a:srgbClr val="2B6797"/>
                  </a:solidFill>
                  <a:latin typeface="Fira Sans SemiBold"/>
                </a:rPr>
                <a:t>130× faster than a loop</a:t>
              </a:r>
            </a:p>
            <a:p>
              <a:pPr algn="l">
                <a:spcBef>
                  <a:spcPts val="600"/>
                </a:spcBef>
              </a:pPr>
              <a:r>
                <a:rPr sz="2000" b="0" i="0" lang="en-GB">
                  <a:solidFill>
                    <a:srgbClr val="455A64"/>
                  </a:solidFill>
                  <a:latin typeface="Fira Sans"/>
                </a:rPr>
                <a:t>slides 19 to 23</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Copy the pipeline</a:t>
            </a:r>
          </a:p>
        </p:txBody>
      </p:sp>
      <p:sp>
        <p:nvSpPr>
          <p:cNvPr id="3" name="Contact"/>
          <p:cNvSpPr>
            <a:spLocks noGrp="1"/>
          </p:cNvSpPr>
          <p:nvPr>
            <p:ph type="body" idx="15"/>
          </p:nvPr>
        </p:nvSpPr>
        <p:spPr/>
        <p:txBody>
          <a:bodyPr/>
          <a:lstStyle/>
          <a:p>
            <a:pPr marL="0" indent="0" algn="l">
              <a:spcBef>
                <a:spcPts val="0"/>
              </a:spcBef>
              <a:spcAft>
                <a:spcPts val="1400"/>
              </a:spcAft>
              <a:buNone/>
            </a:pPr>
            <a:r>
              <a:rPr sz="2800" b="0" lang="en-GB">
                <a:solidFill>
                  <a:srgbClr val="B1CAC5"/>
                </a:solidFill>
                <a:latin typeface="+mn-lt"/>
              </a:rPr>
              <a:t>github.com/Sloppy1999/pycon-nl-2026-3d-data-science</a:t>
            </a:r>
            <a:endParaRPr lang="en-GB" sz="2800"/>
          </a:p>
          <a:p>
            <a:pPr marL="0" indent="0" algn="l">
              <a:spcBef>
                <a:spcPts val="0"/>
              </a:spcBef>
              <a:spcAft>
                <a:spcPts val="400"/>
              </a:spcAft>
              <a:buNone/>
            </a:pPr>
            <a:r>
              <a:rPr sz="2400" b="1" lang="en-GB">
                <a:solidFill>
                  <a:srgbClr val="FFFFFF"/>
                </a:solidFill>
                <a:latin typeface="+mn-lt"/>
              </a:rPr>
              <a:t>Sergio Peral</a:t>
            </a:r>
            <a:endParaRPr lang="en-GB" sz="2400"/>
          </a:p>
          <a:p>
            <a:pPr marL="0" indent="0" algn="l">
              <a:spcBef>
                <a:spcPts val="0"/>
              </a:spcBef>
              <a:spcAft>
                <a:spcPts val="400"/>
              </a:spcAft>
              <a:buNone/>
            </a:pPr>
            <a:r>
              <a:rPr sz="2400" b="0" lang="en-GB">
                <a:solidFill>
                  <a:srgbClr val="FFFFFF"/>
                </a:solidFill>
                <a:latin typeface="+mn-lt"/>
              </a:rPr>
              <a:t>sergioperalgarijo99@gmail.com</a:t>
            </a:r>
            <a:endParaRPr lang="en-GB" sz="2400"/>
          </a:p>
          <a:p>
            <a:pPr marL="0" indent="0" algn="l">
              <a:spcBef>
                <a:spcPts val="0"/>
              </a:spcBef>
              <a:spcAft>
                <a:spcPts val="400"/>
              </a:spcAft>
              <a:buNone/>
            </a:pPr>
            <a:r>
              <a:rPr sz="2400" b="0" lang="en-GB">
                <a:solidFill>
                  <a:srgbClr val="FFFFFF"/>
                </a:solidFill>
                <a:latin typeface="+mn-lt"/>
              </a:rPr>
              <a:t>github.com/Sloppy1999</a:t>
            </a:r>
            <a:endParaRPr lang="en-GB" sz="2400"/>
          </a:p>
        </p:txBody>
      </p:sp>
      <p:pic>
        <p:nvPicPr>
          <p:cNvPr id="6" name="QR code" descr="QR code linking to https://github.com/Sloppy1999/pycon-nl-2026-3d-data-science"/>
          <p:cNvPicPr>
            <a:picLocks noGrp="1" noChangeAspect="1"/>
          </p:cNvPicPr>
          <p:nvPr>
            <p:ph type="pic" idx="17"/>
          </p:nvPr>
        </p:nvPicPr>
        <p:blipFill>
          <a:blip r:embed="rId2"/>
          <a:srcRect/>
          <a:stretch>
            <a:fillRect/>
          </a:stretch>
        </p:blipFill>
        <p:spPr/>
      </p:pic>
      <p:sp>
        <p:nvSpPr>
          <p:cNvPr id="7" name="Logo tile"/>
          <p:cNvSpPr/>
          <p:nvPr/>
        </p:nvSpPr>
        <p:spPr>
          <a:xfrm>
            <a:off x="10454640" y="548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Logo" descr="PyCon NL 2026 logo: the Python snakes filled with a Dutch canal house, tulips and a windmill"/>
          <p:cNvPicPr>
            <a:picLocks noChangeAspect="1"/>
          </p:cNvPicPr>
          <p:nvPr/>
        </p:nvPicPr>
        <p:blipFill>
          <a:blip r:embed="rId3"/>
          <a:stretch>
            <a:fillRect/>
          </a:stretch>
        </p:blipFill>
        <p:spPr>
          <a:xfrm>
            <a:off x="10509504" y="603504"/>
            <a:ext cx="1078992" cy="1078992"/>
          </a:xfrm>
          <a:prstGeom prst="rect">
            <a:avLst/>
          </a:prstGeom>
        </p:spPr>
      </p:pic>
      <p:sp>
        <p:nvSpPr>
          <p:cNvPr id="9" name="Callback"/>
          <p:cNvSpPr txBox="1"/>
          <p:nvPr/>
        </p:nvSpPr>
        <p:spPr>
          <a:xfrm>
            <a:off x="548640" y="1828800"/>
            <a:ext cx="8168640" cy="365760"/>
          </a:xfrm>
          <a:prstGeom prst="rect">
            <a:avLst/>
          </a:prstGeom>
          <a:noFill/>
        </p:spPr>
        <p:txBody>
          <a:bodyPr wrap="square" anchor="t" lIns="0" tIns="0" rIns="0" bIns="0">
            <a:noAutofit/>
          </a:bodyPr>
          <a:lstStyle/>
          <a:p>
            <a:pPr marL="0" indent="0" algn="l">
              <a:spcBef>
                <a:spcPts val="0"/>
              </a:spcBef>
              <a:spcAft>
                <a:spcPts val="0"/>
              </a:spcAft>
              <a:buNone/>
            </a:pPr>
            <a:r>
              <a:rPr sz="2400" b="0" lang="en-GB">
                <a:solidFill>
                  <a:srgbClr val="B1CAC5"/>
                </a:solidFill>
                <a:latin typeface="+mn-lt"/>
              </a:rPr>
              <a:t>Your loop is still running. Your coffee is cold.</a:t>
            </a:r>
            <a:endParaRPr lang="en-GB" sz="2400"/>
          </a:p>
        </p:txBody>
      </p:sp>
      <p:sp>
        <p:nvSpPr>
          <p:cNvPr id="4" name="Small print"/>
          <p:cNvSpPr>
            <a:spLocks noGrp="1"/>
          </p:cNvSpPr>
          <p:nvPr>
            <p:ph type="body" idx="19"/>
          </p:nvPr>
        </p:nvSpPr>
        <p:spPr/>
        <p:txBody>
          <a:bodyPr/>
          <a:lstStyle/>
          <a:p>
            <a:pPr marL="0" indent="0" algn="l">
              <a:spcBef>
                <a:spcPts val="0"/>
              </a:spcBef>
              <a:spcAft>
                <a:spcPts val="0"/>
              </a:spcAft>
              <a:buNone/>
            </a:pPr>
            <a:r>
              <a:rPr sz="1200" lang="en-GB">
                <a:solidFill>
                  <a:srgbClr val="B1CAC5"/>
                </a:solidFill>
                <a:latin typeface="+mn-lt"/>
              </a:rPr>
              <a:t>Point cloud: AHN5, Actueel Hoogtebestand Nederland (ahn.nl), Het Waterschapshuis, </a:t>
            </a:r>
            <a:r>
              <a:rPr sz="1200" lang="en-GB">
                <a:solidFill>
                  <a:srgbClr val="B1CAC5"/>
                </a:solidFill>
                <a:latin typeface="+mn-lt"/>
                <a:hlinkClick r:id="rId4">
                  <a:extLst>
                    <a:ext uri="{A12FA001-AC4F-418D-AE19-62706E023703}">
                      <ahyp:hlinkClr xmlns:ahyp="http://schemas.microsoft.com/office/drawing/2018/hyperlinkcolor" val="tx"/>
                    </a:ext>
                  </a:extLst>
                </a:hlinkClick>
              </a:rPr>
              <a:t>CC BY 4.0</a:t>
            </a:r>
            <a:r>
              <a:rPr sz="1200" lang="en-GB">
                <a:solidFill>
                  <a:srgbClr val="B1CAC5"/>
                </a:solidFill>
                <a:latin typeface="+mn-lt"/>
              </a:rPr>
              <a:t>. AHN file 135000_455000, cropped and processed.</a:t>
            </a:r>
            <a:endParaRPr lang="en-GB" sz="1200"/>
          </a:p>
          <a:p>
            <a:pPr marL="0" indent="0" algn="l">
              <a:spcBef>
                <a:spcPts val="0"/>
              </a:spcBef>
              <a:spcAft>
                <a:spcPts val="0"/>
              </a:spcAft>
              <a:buNone/>
            </a:pPr>
            <a:r>
              <a:rPr sz="1200" lang="en-GB">
                <a:solidFill>
                  <a:srgbClr val="B1CAC5"/>
                </a:solidFill>
                <a:latin typeface="+mn-lt"/>
              </a:rPr>
              <a:t>Licence: </a:t>
            </a:r>
            <a:r>
              <a:rPr sz="1200" lang="en-GB">
                <a:solidFill>
                  <a:srgbClr val="B1CAC5"/>
                </a:solidFill>
                <a:latin typeface="+mn-lt"/>
                <a:hlinkClick r:id="rId4">
                  <a:extLst>
                    <a:ext uri="{A12FA001-AC4F-418D-AE19-62706E023703}">
                      <ahyp:hlinkClr xmlns:ahyp="http://schemas.microsoft.com/office/drawing/2018/hyperlinkcolor" val="tx"/>
                    </a:ext>
                  </a:extLst>
                </a:hlinkClick>
              </a:rPr>
              <a:t>creativecommons.org/licenses/by/4.0</a:t>
            </a:r>
            <a:endParaRPr lang="en-GB" sz="1200"/>
          </a:p>
          <a:p>
            <a:pPr marL="0" indent="0" algn="l">
              <a:spcBef>
                <a:spcPts val="0"/>
              </a:spcBef>
              <a:spcAft>
                <a:spcPts val="0"/>
              </a:spcAft>
              <a:buNone/>
            </a:pPr>
            <a:r>
              <a:rPr sz="1200" lang="en-GB">
                <a:solidFill>
                  <a:srgbClr val="B1CAC5"/>
                </a:solidFill>
                <a:latin typeface="+mn-lt"/>
              </a:rPr>
              <a:t>[Optional: Title shared with F. Poux, 3D Data Science with Python, O'Reilly 2025; this talk is independent.]</a:t>
            </a:r>
            <a:endParaRPr lang="en-GB" sz="1200"/>
          </a:p>
        </p:txBody>
      </p:sp>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Why not just use C++?</a:t>
            </a:r>
          </a:p>
        </p:txBody>
      </p:sp>
      <p:sp>
        <p:nvSpPr>
          <p:cNvPr id="6" name="Appendix bullets"/>
          <p:cNvSpPr txBox="1"/>
          <p:nvPr/>
        </p:nvSpPr>
        <p:spPr>
          <a:xfrm>
            <a:off x="548640" y="1554480"/>
            <a:ext cx="11094720" cy="3472688"/>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The heavy steps already run in compiled code: Open3D and SciPy's KDTree in C++, VTK under PyVista in C++, LAZ decoding in lazrs (Rust).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Python only orchestrates: no step loops over points, and the whole crop runs from load to paint-back in 0.6 s (single run, renders excluded, indicative).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The price is per call, not per language: 439 ns per loop step of slide 19 (several NumPy calls each), 3.4 ns per point inside NumPy, 3.2 µs for the cheapest KDTree call, 9.8 µs for an empty k = 16 query.</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Here only the batched call used all cores: kNN in one call took 1.6 s on 1 thread, 165 ms on 16.</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Compiled code pays off when your step has no batched call: a custom per-point kernel you would otherwise loop over in Python.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It also pays off when Python itself is the constraint: hard real-time budgets, embedded targets without a Python runtime. Not measured here.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NOT TESTED for this talk: Numba, Cython, writing your own C++ extension. No numbers quoted.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The PCL code on slide 2 shows the shape only: NOT RUN (no PCL toolchain on the build machine).</a:t>
            </a:r>
            <a:endParaRPr lang="en-GB" sz="1600"/>
          </a:p>
        </p:txBody>
      </p:sp>
      <p:sp>
        <p:nvSpPr>
          <p:cNvPr id="7" name="Small print"/>
          <p:cNvSpPr txBox="1"/>
          <p:nvPr/>
        </p:nvSpPr>
        <p:spPr>
          <a:xfrm>
            <a:off x="548640" y="5069552"/>
            <a:ext cx="11094720" cy="114808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Timings: median of repeated runs. Pipeline runtime: one run.</a:t>
            </a:r>
            <a:endParaRPr lang="en-GB" sz="1200"/>
          </a:p>
          <a:p>
            <a:pPr marL="0" indent="0" algn="l">
              <a:spcBef>
                <a:spcPts val="40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4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Per-call costs: SciPy KDTree, one query point far outside the cloud (radius query, and kNN with k = 16), median of 7 timeit repeats of 20 000 calls.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does this scale to billions of points?</a:t>
            </a:r>
          </a:p>
        </p:txBody>
      </p:sp>
      <p:sp>
        <p:nvSpPr>
          <p:cNvPr id="6" name="Appendix bullets"/>
          <p:cNvSpPr txBox="1"/>
          <p:nvPr/>
        </p:nvSpPr>
        <p:spPr>
          <a:xfrm>
            <a:off x="548640" y="1554480"/>
            <a:ext cx="11094720" cy="1597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AHN files: 1 km file 135000_455000, 21 013 926 points (130 MB LAZ); 5 × 6.25 km file 2023_C_31HZ2, 926 203 338 points (5.1 GB); its AHN4 edition: 1 290 104 537 points.</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LAS records alone: 25.9 GB at 30 B per point (format 6); our pipeline (slides 11 and 12): 74.2 GB. Computed, not run.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COPC: laspy's CopcReader reads one box over HTTP with .query(Bounds(mins, maxs)). The same box as our crop, read remotely from the AHN5 1 km file: 722 961 points, the same as the local crop, about 16 MB in 33 requests and 1.5 s (single run).</a:t>
            </a:r>
            <a:endParaRPr lang="en-GB" sz="16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GPU options actually help?</a:t>
            </a:r>
          </a:p>
        </p:txBody>
      </p:sp>
      <p:sp>
        <p:nvSpPr>
          <p:cNvPr id="6" name="Appendix bullets"/>
          <p:cNvSpPr txBox="1"/>
          <p:nvPr/>
        </p:nvSpPr>
        <p:spPr>
          <a:xfrm>
            <a:off x="548640" y="1554480"/>
            <a:ext cx="11094720" cy="2386584"/>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The open3d 0.20.0 wheel on PyPI is built with CUDA 12.6; o3d.core.cuda.is_available() is True on the test machine (RTX 3060). A CPU build, open3d-cpu 0.20.0, exists for Linux x86_64.</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Plane fitting and DBSCAN are barely faster (table): their tensor docstrings say they wrap a CPU implementation and copy the data.</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has no documented install for Python 3.13: PyPI's latest is 0.7.4 (2023-05-10, macOS x86_64 wheels only), GitHub has v0.7.9 (2025-11-28), INSTALL.md lists PyTorch 2.1.0 to 2.4.1, and torch has cp313 wheels only from 2.5.0.</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Source build of v0.7.9 against torch 2.14.1 (CPU, gcc 16.2.1) fails: C++20 required. An unofficial -std=c++20 patch builds and runs on CPU. CUDA build UNVERIFIED.</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knn_points on CPU, 100 000 × 100 000 points, k = 8: 29.4 s, against 55 ms for a SciPy KDTree build and query with workers=-1 (single runs).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TESTED: the Open3D wheel without a GPU or driver, Open3D's PyTorch ops, a GPU run of this pipeline.</a:t>
            </a:r>
            <a:endParaRPr lang="en-GB" sz="1400"/>
          </a:p>
        </p:txBody>
      </p:sp>
      <p:sp>
        <p:nvSpPr>
          <p:cNvPr id="7" name="Table caption"/>
          <p:cNvSpPr txBox="1"/>
          <p:nvPr/>
        </p:nvSpPr>
        <p:spPr>
          <a:xfrm>
            <a:off x="548640" y="4050792"/>
            <a:ext cx="11094720"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Open3D tensor API, 1 000 000 float32 points, RTX 3060 against CPU: single runs, indicative</a:t>
            </a:r>
            <a:endParaRPr lang="en-GB" sz="1600"/>
          </a:p>
        </p:txBody>
      </p:sp>
      <p:graphicFrame>
        <p:nvGraphicFramePr>
          <p:cNvPr id="8" name="Appendix table" descr="Open3D tensor API, 1 000 000 float32 points, RTX 3060 against CPU: single runs, indicative. Columns: Operation, CUDA, CPU. 3 rows."/>
          <p:cNvGraphicFramePr>
            <a:graphicFrameLocks noGrp="1"/>
          </p:cNvGraphicFramePr>
          <p:nvPr/>
        </p:nvGraphicFramePr>
        <p:xfrm>
          <a:off x="548640" y="4359656"/>
          <a:ext cx="11094720" cy="1139952"/>
        </p:xfrm>
        <a:graphic>
          <a:graphicData uri="http://schemas.openxmlformats.org/drawingml/2006/table">
            <a:tbl>
              <a:tblPr firstRow="0" bandRow="0">
                <a:tableStyleId>{2D5ABB26-0587-4C30-8999-92F81FD0307C}</a:tableStyleId>
              </a:tblPr>
              <a:tblGrid>
                <a:gridCol w="4538749"/>
                <a:gridCol w="3866342"/>
                <a:gridCol w="2689629"/>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Operation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CUDA</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CPU</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Voxel downsampling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98 ms first call, 4.2 ms second</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250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segment_plane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62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cluster_dbscan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721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748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5486112"/>
            <a:ext cx="11094720"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Single runs on one machine (Ryzen 7 5700X, RTX 3060, Linux/Omarchy), CPython 3.13.15, Open3D 0.20.0 (CUDA 12.6 wheel), SciPy 1.18.1; PyTorch3D v0.7.9 (patched CPU build) on torch 2.14.1+cpu; synthetic point clouds (1 000 000 points for the Open3D table, 100 000 for knn_points); indicative only. No PyTorch3D GPU numbers: CUDA build UNVERIFIED.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can replace a KDTree?</a:t>
            </a:r>
          </a:p>
        </p:txBody>
      </p:sp>
      <p:sp>
        <p:nvSpPr>
          <p:cNvPr id="6" name="Table caption"/>
          <p:cNvSpPr txBox="1"/>
          <p:nvPr/>
        </p:nvSpPr>
        <p:spPr>
          <a:xfrm>
            <a:off x="548640" y="1554480"/>
            <a:ext cx="7033260"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Neighbour search options (Open3D 0.20.0, SciPy 1.18.1)</a:t>
            </a:r>
            <a:endParaRPr lang="en-GB" sz="1600"/>
          </a:p>
        </p:txBody>
      </p:sp>
      <p:graphicFrame>
        <p:nvGraphicFramePr>
          <p:cNvPr id="7" name="Appendix table" descr="Neighbour search options (Open3D 0.20.0, SciPy 1.18.1). Columns: Option, Use it for, Note. 5 rows."/>
          <p:cNvGraphicFramePr>
            <a:graphicFrameLocks noGrp="1"/>
          </p:cNvGraphicFramePr>
          <p:nvPr/>
        </p:nvGraphicFramePr>
        <p:xfrm>
          <a:off x="548640" y="1863344"/>
          <a:ext cx="7033260" cy="3331464"/>
        </p:xfrm>
        <a:graphic>
          <a:graphicData uri="http://schemas.openxmlformats.org/drawingml/2006/table">
            <a:tbl>
              <a:tblPr firstRow="0" bandRow="0">
                <a:tableStyleId>{2D5ABB26-0587-4C30-8999-92F81FD0307C}</a:tableStyleId>
              </a:tblPr>
              <a:tblGrid>
                <a:gridCol w="2338851"/>
                <a:gridCol w="2450225"/>
                <a:gridCol w="2244184"/>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Use it for</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Note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SciPy KDTree, one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All points at once; workers=-1 for all cores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This talk's choice; numbers at right</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Open3D KDTreeFlann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search_knn_vector_3d and friends, one point per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Per point, it is still a Python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Open3D NearestNeighborSearch</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Batched kNN, fixed-radius and hybrid search (tensor API)</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Many threads by default; radius search returns indices, distances, splits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Voxel grid hashing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One int64 key per voxel, then np.unique (slide 25)</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Fixed cell size; np.unique(axis=0) is no faster than a dict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Octree (o3d.geometry.Octree)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Hierarchical cells for level of detail (in memory)</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Not benchmarked here; out-of-core octrees are what COPC files store (B2)</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7856220" y="1554480"/>
            <a:ext cx="3787140" cy="248767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kNN, k = 16, 722 961 points: Python loop 9.6 s, one call 1.6 s (1 thread), 165 ms (16 threads).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 the loop costs 6.2× against one call on one thread, and 58× against all cores.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Fixed cost per call: 3.2 µs for an empty radius query, 9.8 µs for an empty k = 16 query; a typical query takes 14.1 µs.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shown: a brute-force double loop, because it changes the algorithm as well as the number of calls.</a:t>
            </a:r>
            <a:endParaRPr lang="en-GB" sz="1400"/>
          </a:p>
        </p:txBody>
      </p:sp>
      <p:sp>
        <p:nvSpPr>
          <p:cNvPr id="9" name="Small print"/>
          <p:cNvSpPr txBox="1"/>
          <p:nvPr/>
        </p:nvSpPr>
        <p:spPr>
          <a:xfrm>
            <a:off x="548640" y="5303232"/>
            <a:ext cx="11094720" cy="91440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4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Tree build excluded from every timing. Per-call costs: SciPy KDTree, median of 7 timeit repeats of 20 000 calls; empty queries use one point far outside the cloud, typical ones a seeded sample of 20 000 crop points.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Could a classifier replace the labelling rules?</a:t>
            </a:r>
          </a:p>
        </p:txBody>
      </p:sp>
      <p:sp>
        <p:nvSpPr>
          <p:cNvPr id="6" name="Appendix bullets"/>
          <p:cNvSpPr txBox="1"/>
          <p:nvPr/>
        </p:nvSpPr>
        <p:spPr>
          <a:xfrm>
            <a:off x="548640" y="1554480"/>
            <a:ext cx="11094720" cy="108305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Idea from F. Poux (PCA + Random Forest): describe each cluster by the eigenvalues of its covariance matrix (linearity, planarity, sphericity, plus verticality) and let a Random Forest name it.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In Python: one batched np.linalg.eigh over all 1 024 clusters takes 11 ms; a loop over clusters with np.cov takes 53 ms (4.9×), same features.</a:t>
            </a:r>
            <a:endParaRPr lang="en-GB" sz="1600"/>
          </a:p>
        </p:txBody>
      </p:sp>
      <p:sp>
        <p:nvSpPr>
          <p:cNvPr id="7" name="Table caption"/>
          <p:cNvSpPr txBox="1"/>
          <p:nvPr/>
        </p:nvSpPr>
        <p:spPr>
          <a:xfrm>
            <a:off x="548640" y="2747264"/>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Building or not, against AHN class 6, share of points named right (427 853 points in 1 006 clusters)</a:t>
            </a:r>
            <a:endParaRPr lang="en-GB" sz="1800"/>
          </a:p>
        </p:txBody>
      </p:sp>
      <p:graphicFrame>
        <p:nvGraphicFramePr>
          <p:cNvPr id="8" name="Appendix table" descr="Building or not, against AHN class 6, share of points named right (427 853 points in 1 006 clusters). Columns: Labeller, AHN buildings, Everything else, Balanced. 3 rows."/>
          <p:cNvGraphicFramePr>
            <a:graphicFrameLocks noGrp="1"/>
          </p:cNvGraphicFramePr>
          <p:nvPr/>
        </p:nvGraphicFramePr>
        <p:xfrm>
          <a:off x="548640" y="3087878"/>
          <a:ext cx="11094720" cy="1255776"/>
        </p:xfrm>
        <a:graphic>
          <a:graphicData uri="http://schemas.openxmlformats.org/drawingml/2006/table">
            <a:tbl>
              <a:tblPr firstRow="0" bandRow="0">
                <a:tableStyleId>{2D5ABB26-0587-4C30-8999-92F81FD0307C}</a:tableStyleId>
              </a:tblPr>
              <a:tblGrid>
                <a:gridCol w="5575808"/>
                <a:gridCol w="1820672"/>
                <a:gridCol w="1877568"/>
                <a:gridCol w="1820672"/>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Labeller</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AHN buildings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Everything else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Balanced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Four rules of slide 15</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99.3 %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33.2 %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66.3 %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Random Forest, eigenvalue features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68.8 %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92.4 %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80.6 %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Random Forest, + the rules' inputs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94.2 %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63.8 %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79.0 %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5069552"/>
            <a:ext cx="11094720" cy="114808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Forest: scikit-learn, cross-validated on 50 m blocks (5 folds), so no block is in training and test at once. Only building vs not: AHN has no vegetation class. Rules tuned on this crop (in-sample). AHN files many facades as class 1, so facade fragments count against the rules. One area, 104 AHN building clusters: indicative.</a:t>
            </a:r>
            <a:endParaRPr lang="en-GB" sz="1200"/>
          </a:p>
          <a:p>
            <a:pPr marL="0" indent="0" algn="l">
              <a:spcBef>
                <a:spcPts val="40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scikit-learn 1.9.1; N = 139 804 voxels in clusters, 7 runs after 1 warm-up, median and IQR of wall time over the timed runs; governor performance; boost on; measured 2026-10-11 20:07 UTC; data: the AHN5 crop of slide 4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Where can I get my own point cloud?</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Open sources (all carry a licence: cite it)</a:t>
            </a:r>
            <a:endParaRPr lang="en-GB" sz="1800"/>
          </a:p>
        </p:txBody>
      </p:sp>
      <p:graphicFrame>
        <p:nvGraphicFramePr>
          <p:cNvPr id="7" name="Appendix table" descr="Open sources (all carry a licence: cite it). Columns: Source, What you get, Note. 6 rows."/>
          <p:cNvGraphicFramePr>
            <a:graphicFrameLocks noGrp="1"/>
          </p:cNvGraphicFramePr>
          <p:nvPr/>
        </p:nvGraphicFramePr>
        <p:xfrm>
          <a:off x="548640" y="1895094"/>
          <a:ext cx="11094720" cy="2429256"/>
        </p:xfrm>
        <a:graphic>
          <a:graphicData uri="http://schemas.openxmlformats.org/drawingml/2006/table">
            <a:tbl>
              <a:tblPr firstRow="0" bandRow="0">
                <a:tableStyleId>{2D5ABB26-0587-4C30-8999-92F81FD0307C}</a:tableStyleId>
              </a:tblPr>
              <a:tblGrid>
                <a:gridCol w="2324608"/>
                <a:gridCol w="5452262"/>
                <a:gridCol w="3317850"/>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Source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What you get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AHN (ahn.nl)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Airborne LiDAR, all of the Netherlands, classified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This talk; </a:t>
                      </a:r>
                      <a:r>
                        <a:rPr sz="1600" lang="en-GB">
                          <a:solidFill>
                            <a:srgbClr val="263238"/>
                          </a:solidFill>
                          <a:latin typeface="+mn-lt"/>
                          <a:hlinkClick r:id="rId2">
                            <a:extLst>
                              <a:ext uri="{A12FA001-AC4F-418D-AE19-62706E023703}">
                                <ahyp:hlinkClr xmlns:ahyp="http://schemas.microsoft.com/office/drawing/2018/hyperlinkcolor" val="tx"/>
                              </a:ext>
                            </a:extLst>
                          </a:hlinkClick>
                        </a:rPr>
                        <a:t>CC BY 4.0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3DBAG (3dbag.nl)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Every Dutch building as a 3D model, made from AHN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Meshes, not 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OpenTopography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LiDAR and photogrammetry catalogue, mostly 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by method, cut an area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National and city portals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France's LiDAR HD, Vancouver's open data,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Tiles, like AHN files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 Heritage 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Terrestrial laser scans of heritage sites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Licence and citation per data set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Sketchfab, TurboSquid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3D models (meshes)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for free and downloadable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bl>
          </a:graphicData>
        </a:graphic>
      </p:graphicFrame>
      <p:sp>
        <p:nvSpPr>
          <p:cNvPr id="8" name="Appendix bullets"/>
          <p:cNvSpPr txBox="1"/>
          <p:nvPr/>
        </p:nvSpPr>
        <p:spPr>
          <a:xfrm>
            <a:off x="548640" y="4434078"/>
            <a:ext cx="11094720" cy="851408"/>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Your own capture: photogrammetry (phone, camera) gives dense colour but noisy edges; LiDAR measures each pulse.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Only LiDAR returns several echoes per pulse: slide 15's vegetation rule needs them, a photo sees one surface per pixel.</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Sources from F. Poux's beginner video on 3D tools (YouTube, 2025), except 3DBAG. Links checked 2026-10-11.</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libraries have stopped moving?</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Archived or stale: check before you depend on them</a:t>
            </a:r>
            <a:endParaRPr lang="en-GB" sz="1800"/>
          </a:p>
        </p:txBody>
      </p:sp>
      <p:graphicFrame>
        <p:nvGraphicFramePr>
          <p:cNvPr id="7" name="Appendix table" descr="Archived or stale: check before you depend on them. Columns: Library, Status, Latest release, Note. 7 rows."/>
          <p:cNvGraphicFramePr>
            <a:graphicFrameLocks noGrp="1"/>
          </p:cNvGraphicFramePr>
          <p:nvPr/>
        </p:nvGraphicFramePr>
        <p:xfrm>
          <a:off x="548640" y="1895094"/>
          <a:ext cx="11094720" cy="2743200"/>
        </p:xfrm>
        <a:graphic>
          <a:graphicData uri="http://schemas.openxmlformats.org/drawingml/2006/table">
            <a:tbl>
              <a:tblPr firstRow="0" bandRow="0">
                <a:tableStyleId>{2D5ABB26-0587-4C30-8999-92F81FD0307C}</a:tableStyleId>
              </a:tblPr>
              <a:tblGrid>
                <a:gridCol w="1979454"/>
                <a:gridCol w="1564013"/>
                <a:gridCol w="2052768"/>
                <a:gridCol w="5498485"/>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Library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Status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Latest release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python-pcl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2019-05-10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pclpy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2018-08-24</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effectively unmaintained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pylas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2020-10-12</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Use laspy instead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MinkowskiEngine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2021-05-21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TensorFlow Graphics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2021-12-03</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OpenSfM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2020-08-11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still active, no release since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MMDetection3D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2024-01-08</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Check your PyTorch version still works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4748022"/>
            <a:ext cx="11094720" cy="113385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Of 119 libraries and applications checked, 87 released within a year; 11 are stale and 2 archived.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pip install can fetch the wrong thing: PyTorch3D's newest releases are not on PyPI, and the kaolin package on PyPI is only a placeholder.</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A release date is not quality: a finished library may be stable. It is a reason to look, not to reject.</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Status from PyPI release dates and GitHub, checked 2026-10-11. Full list: docs/ECOSYSTEM.md.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ppt/theme/theme2.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36</Slides>
  <Notes>36</Notes>
  <HiddenSlides>7</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Data Science with Python</dc:title>
  <dc:creator>Sergio Peral</dc:creator>
  <cp:lastModifiedBy>Sergio Peral</cp:lastModifiedBy>
  <dc:language>en-GB</dc:language>
  <cp:revision>1</cp:revision>
  <dcterms:created xsi:type="dcterms:W3CDTF">2026-10-12T20:28:39Z</dcterms:created>
  <dcterms:modified xsi:type="dcterms:W3CDTF">2026-10-12T20:28:39Z</dcterms:modified>
</cp:coreProperties>
</file>