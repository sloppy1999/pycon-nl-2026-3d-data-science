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 id="309" r:id="rId74"/>
    <p:sldId id="310" r:id="rId75"/>
    <p:sldId id="311" r:id="rId76"/>
    <p:sldId id="312" r:id="rId77"/>
    <p:sldId id="313" r:id="rId78"/>
    <p:sldId id="314" r:id="rId79"/>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Lst>
        </p14:section>
        <p14:section name="Data" id="{6A9FBBCF-7D32-5799-90B6-29CB5E513BA9}">
          <p14:sldIdLst>
            <p14:sldId id="272"/>
            <p14:sldId id="273"/>
            <p14:sldId id="274"/>
            <p14:sldId id="275"/>
          </p14:sldIdLst>
        </p14:section>
        <p14:section name="Toolbox" id="{12BEED03-FA1E-5636-8D4F-5B1FF3B512FD}">
          <p14:sldIdLst>
            <p14:sldId id="276"/>
            <p14:sldId id="277"/>
            <p14:sldId id="278"/>
          </p14:sldIdLst>
        </p14:section>
        <p14:section name="Pipeline" id="{05E5A3AC-5421-5A88-AD0C-4BD49E0B21BA}">
          <p14:sldIdLst>
            <p14:sldId id="279"/>
            <p14:sldId id="280"/>
            <p14:sldId id="281"/>
            <p14:sldId id="282"/>
            <p14:sldId id="283"/>
            <p14:sldId id="284"/>
            <p14:sldId id="285"/>
            <p14:sldId id="286"/>
            <p14:sldId id="287"/>
          </p14:sldIdLst>
        </p14:section>
        <p14:section name="Memory" id="{BF7E46F6-4ABD-52B5-86E9-295AC042085E}">
          <p14:sldIdLst>
            <p14:sldId id="288"/>
            <p14:sldId id="289"/>
          </p14:sldIdLst>
        </p14:section>
        <p14:section name="Speed" id="{C362375C-B73B-5E64-A57B-8E8962A8D86A}">
          <p14:sldIdLst>
            <p14:sldId id="290"/>
            <p14:sldId id="291"/>
            <p14:sldId id="292"/>
            <p14:sldId id="293"/>
            <p14:sldId id="294"/>
          </p14:sldIdLst>
        </p14:section>
        <p14:section name="Reality" id="{143E4A34-387B-5831-AEE6-26CBC198F875}">
          <p14:sldIdLst>
            <p14:sldId id="295"/>
            <p14:sldId id="296"/>
          </p14:sldIdLst>
        </p14:section>
        <p14:section name="Rules" id="{4EF13D80-1BB4-5097-98C8-BCC8AA40B3F0}">
          <p14:sldIdLst>
            <p14:sldId id="297"/>
            <p14:sldId id="298"/>
          </p14:sldIdLst>
        </p14:section>
        <p14:section name="Close" id="{AEEEB925-C185-5AB3-9680-D0FAD88D7D4B}">
          <p14:sldIdLst>
            <p14:sldId id="299"/>
          </p14:sldIdLst>
        </p14:section>
        <p14:section name="Appendix" id="{3E60DB7E-7D0C-5965-8A18-E35BD8A6BF05}">
          <p14:sldIdLst>
            <p14:sldId id="300"/>
            <p14:sldId id="301"/>
            <p14:sldId id="302"/>
            <p14:sldId id="303"/>
            <p14:sldId id="304"/>
            <p14:sldId id="305"/>
            <p14:sldId id="306"/>
            <p14:sldId id="307"/>
          </p14:sldIdLst>
        </p14:section>
        <p14:section name="Mental models" id="{C1C52CF0-C409-5D3A-999B-DE2E8950CDD6}">
          <p14:sldIdLst>
            <p14:sldId id="308"/>
            <p14:sldId id="309"/>
            <p14:sldId id="310"/>
            <p14:sldId id="311"/>
            <p14:sldId id="312"/>
            <p14:sldId id="313"/>
            <p14:sldId id="31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 Id="rId74" Type="http://schemas.openxmlformats.org/officeDocument/2006/relationships/slide" Target="slides/slide43.xml"/><Relationship Id="rId75" Type="http://schemas.openxmlformats.org/officeDocument/2006/relationships/slide" Target="slides/slide44.xml"/><Relationship Id="rId76" Type="http://schemas.openxmlformats.org/officeDocument/2006/relationships/slide" Target="slides/slide45.xml"/><Relationship Id="rId77" Type="http://schemas.openxmlformats.org/officeDocument/2006/relationships/slide" Target="slides/slide46.xml"/><Relationship Id="rId78" Type="http://schemas.openxmlformats.org/officeDocument/2006/relationships/slide" Target="slides/slide47.xml"/><Relationship Id="rId79"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9CA3AF"/>
              </a:solidFill>
              <a:ln>
                <a:noFill/>
              </a:ln>
            </c:spPr>
          </c:dPt>
          <c:dPt>
            <c:idx val="1"/>
            <c:spPr>
              <a:solidFill>
                <a:srgbClr val="9CA3AF"/>
              </a:solidFill>
              <a:ln>
                <a:noFill/>
              </a:ln>
            </c:spPr>
          </c:dPt>
          <c:dPt>
            <c:idx val="2"/>
            <c:spPr>
              <a:solidFill>
                <a:srgbClr val="2B6797"/>
              </a:solidFill>
              <a:ln>
                <a:noFill/>
              </a:ln>
            </c:spPr>
          </c:dPt>
          <c:dLbls>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LAS records
(computed)</c:v>
                </c:pt>
                <c:pt idx="1">
                  <c:v>+ float64 xyz
(computed)</c:v>
                </c:pt>
                <c:pt idx="2">
                  <c:v>Our pipeline
(computed)</c:v>
                </c:pt>
              </c:strCache>
            </c:strRef>
          </c:cat>
          <c:val>
            <c:numRef>
              <c:f>Sheet1!$B$2:$B$4</c:f>
              <c:numCache>
                <c:formatCode>0.0</c:formatCode>
                <c:ptCount val="3"/>
                <c:pt idx="0">
                  <c:v>25.877822320908308</c:v>
                </c:pt>
                <c:pt idx="1">
                  <c:v>46.580080177634954</c:v>
                </c:pt>
                <c:pt idx="2">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4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400.0"/>
          <c:min val="0.0"/>
        </c:scaling>
        <c:delete/>
        <c:axPos val="l"/>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26.</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 But a shorter program doesn't tell you what to compute; so what's the problem?</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problem. A laser scan of a city is millions of points, and each one is x, y, z and little else: 722 961 of them in this one block, and not one says whether it's a tree, a roof or a lamp post. Cities keep registers of what stands in the street: trees, lamp posts, bollards. So the question for today is: does the scan agree with the register? To answer it, every point needs a class, and nobody names 722 961 points by hand. So here's the goal.</a:t>
            </a:r>
          </a:p>
          <a:p/>
          <a:p>
            <a:r>
              <a:t>TIME: 45 s, ends at 1:40</a:t>
            </a:r>
          </a:p>
          <a:p/>
          <a:p>
            <a:r>
              <a:t>LIKELY QUESTION: Why not just use AHN's own classes?</a:t>
            </a:r>
          </a:p>
          <a:p/>
          <a:p>
            <a:r>
              <a:t>ANSWER: AHN marks ground and buildings and puts almost everything else, trees, poles, cars and facades, in one class called other. That's exactly the part a city register cares about.</a:t>
            </a:r>
          </a:p>
          <a:p/>
          <a:p>
            <a:r>
              <a:t>TRACE:</a:t>
            </a:r>
          </a:p>
          <a:p>
            <a:r>
              <a:t>• renders/f1_load.png (the raw crop, coloured by height)</a:t>
            </a:r>
          </a:p>
          <a:p>
            <a:r>
              <a:t>• results/pipeline.json: crop.points</a:t>
            </a:r>
          </a:p>
          <a:p>
            <a:r>
              <a:t>• results/bgt_street_furniture.json: the register used on slide 29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goal: name every point from x, y and z alone, in plain Python, and say how far to trust the result. In: one LAZ file of 200 by 200 metres. Out: one of four classes per point: ground, buildings, vegetation or street furniture. Checked how? Ground and buildings against AHN's own classes, which I hid from the pipeline; the poles against the city's BGT register; vegetation has no reference, and I'll say so at the end. Along the way you'll see four rules that make this fast, small and trustworthy. Here's the map.</a:t>
            </a:r>
          </a:p>
          <a:p/>
          <a:p>
            <a:r>
              <a:t>TIME: 40 s, ends at 2:20</a:t>
            </a:r>
          </a:p>
          <a:p/>
          <a:p>
            <a:r>
              <a:t>LIKELY QUESTION: [pending]</a:t>
            </a:r>
          </a:p>
          <a:p/>
          <a:p>
            <a:r>
              <a:t>ANSWER: [pending]</a:t>
            </a:r>
          </a:p>
          <a:p/>
          <a:p>
            <a:r>
              <a:t>TRACE:</a:t>
            </a:r>
          </a:p>
          <a:p>
            <a:r>
              <a:t>• Class 1 'overig' mixes vegetation, facades, cars and poles; street furniture goes into it by spec: AHN4 acquisition spec, research: reports/dataset.md</a:t>
            </a:r>
          </a:p>
          <a:p>
            <a:r>
              <a:t>• The map: the BGT register of poles, slide 29 (expectation vs reality)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Eight chapters, and they're the same eight as in the footer, where the current one is always highlighted. First the data and its limits, then the rules and the tools, then the six-step pipeline. After that, three questions about the result: does it fit, is it fast, and is it right? The last column says which rule each part proves. First: where do the points come from?</a:t>
            </a:r>
          </a:p>
          <a:p/>
          <a:p>
            <a:r>
              <a:t>TIME: 40 s, ends at 3:00</a:t>
            </a:r>
          </a:p>
          <a:p/>
          <a:p>
            <a:r>
              <a:t>LIKELY QUESTION: Why is the reality check at the end?</a:t>
            </a:r>
          </a:p>
          <a:p/>
          <a:p>
            <a:r>
              <a:t>ANSWER: Because that's where I learned it: I computed first and looked afterwards. The goal slide already says what it's checked against, so you can watch for the answer.</a:t>
            </a:r>
          </a:p>
          <a:p/>
          <a:p>
            <a:r>
              <a:t>TRACE:</a:t>
            </a:r>
          </a:p>
          <a:p>
            <a:r>
              <a:t>• content.yaml slide 5 (roadmap, 2026-10-14); chapters: content.yaml meta.chapters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Where do these points come from? Not from one spot: from a plane with a scanning laser that sweeps a strip below it; the inset shows that strip from above. The time an echo takes to come back gives the range; GNSS says where the plane is and the IMU how it's tilted, and together they place each echo as one x, y, z point. One pulse can leave up to 7 echoes, mostly in trees, which is how we'll find vegetation. And because the plane looks almost straight down, roofs are dense, walls sparse, and thin poles often get missed: remember that one. This crop is 691 011 pulses from 19.8 s of flight. Here it is.</a:t>
            </a:r>
          </a:p>
          <a:p/>
          <a:p>
            <a:r>
              <a:t>TIME: 55 s, ends at 3:55</a:t>
            </a:r>
          </a:p>
          <a:p/>
          <a:p>
            <a:r>
              <a:t>LIKELY QUESTION: Is this LiDAR or photogrammetry?</a:t>
            </a:r>
          </a:p>
          <a:p/>
          <a:p>
            <a:r>
              <a:t>ANSWER: LiDAR: the points are laser echoes, not matched photos, which is why a pulse can pass through a bare tree and echo several times. AHN5 has no colour; photogrammetry gives colour but no echoes under trees. Backup B6 lists other open sources, including scans from cars and tripods.</a:t>
            </a:r>
          </a:p>
          <a:p/>
          <a:p>
            <a:r>
              <a:t>TRACE:</a:t>
            </a:r>
          </a:p>
          <a:p>
            <a:r>
              <a:t>• Numbers: results/concepts.json acq (deck/concepts/make_figures.py acquisition(), from data/utrecht_jaarbeurs_200m.laz): pulses = distinct GPS times, echoes per pulse = number_of_returns, flight time = GPS time span, scan angle in 0.006 degree steps (1.0 to 12.0 degrees off vertical)</a:t>
            </a:r>
          </a:p>
          <a:p>
            <a:r>
              <a:t>• Figure: deck/assets/concepts/a1_acquisition.png, schematic, not to scale</a:t>
            </a:r>
          </a:p>
          <a:p>
            <a:r>
              <a:t>• Principle (time of flight, GNSS, IMU): general airborne laser scanning; leaf-off flight by AHN spec (research: reports/dataset.md)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722 961 points, about 18 per square metre, from AHN5, flown at night in April 2023 while the trees had no leaves. It's one 4.3 MB LAZ file in RD New coordinates with NAP heights, so everything is in metres, and it's CC BY 4.0, so you can use it too. I hid AHN's labels; the pipeline rebuilds four classes on its own. So what is this thing, as data?</a:t>
            </a:r>
          </a:p>
          <a:p/>
          <a:p>
            <a:r>
              <a:t>TIME: 45 s, ends at 4:40</a:t>
            </a:r>
          </a:p>
          <a:p/>
          <a:p>
            <a:r>
              <a:t>LIKELY QUESTION: Why this square and not a whole AHN file?</a:t>
            </a:r>
          </a:p>
          <a:p/>
          <a:p>
            <a:r>
              <a:t>ANSWER: It's the venue, and it's small enough to run every step live in under a second, which is rule three, make it small first. The whole 1 km file has 21 million points; slide 22 shows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 Before we start: what this talk does, and doesn't.</a:t>
            </a:r>
          </a:p>
          <a:p/>
          <a:p>
            <a:r>
              <a:t>TIME: 40 s, ends at 5:20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you know what not to expect: this is airborne LiDAR from AHN5, one 200 metre urban crop, four classes from hand-written rules, standard Python libraries, and an eye on speed and memory. Not today: deep learning, mobile or terrestrial scans, meshes, registering scans together, coordinate systems in depth, production, or state-of-the-art claims. The assumptions are on the right: coordinates in metres, so every threshold is in metres; ground is one plane per 25 metre tile; and the thresholds were tuned on this crop, so the results hold for this crop. AHN and the BGT are my references, and neither is perfect. Now, the four rules.</a:t>
            </a:r>
          </a:p>
          <a:p/>
          <a:p>
            <a:r>
              <a:t>TIME: 40 s, ends at 6:00</a:t>
            </a:r>
          </a:p>
          <a:p/>
          <a:p>
            <a:r>
              <a:t>LIKELY QUESTION: Would a neural network do better?</a:t>
            </a:r>
          </a:p>
          <a:p/>
          <a:p>
            <a:r>
              <a:t>ANSWER: Probably, with labelled training data; that's out of scope today. Backup B5 compares a classifier with the rules on this crop.</a:t>
            </a:r>
          </a:p>
          <a:p/>
          <a:p>
            <a:r>
              <a:t>TRACE:</a:t>
            </a:r>
          </a:p>
          <a:p>
            <a:r>
              <a:t>• pipeline/run.py: VOXEL, GROUND (tile 25 m, ransac threshold 0.4 m, low percentile 2, window 1.5 m), EPS 0.75, MIN_POINTS 6, MIN_HEIGHT 0.3</a:t>
            </a:r>
          </a:p>
          <a:p>
            <a:r>
              <a:t>• results/pipeline.json: params</a:t>
            </a:r>
          </a:p>
          <a:p/>
          <a:p>
            <a:r>
              <a:t>OFF SLIDE:</a:t>
            </a:r>
          </a:p>
          <a:p>
            <a:r>
              <a:t>• Ground candidates are the points within 1.5 m of the tile's 2nd height percentile</a:t>
            </a:r>
          </a:p>
          <a:p>
            <a:r>
              <a:t>• AHN and BGT are the references, and neither is perfect</a:t>
            </a:r>
          </a:p>
          <a:p>
            <a:r>
              <a:t>• Results hold for this crop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One: think in arrays, not points: a point cloud is a table, so work on whole columns. Two: make it small first: crop, tile and downsample, then scale up. Three: let compiled code do the loops: one call per array or tile, never one per point. Four: look before you compute: render it, check units, coordinates and classes, because most 3D bugs are silent. They're numbered in the order the talk proves them; a badge top right marks each proof, and at the end they come back with the numbers. So which libraries do we have?</a:t>
            </a:r>
          </a:p>
          <a:p/>
          <a:p>
            <a:r>
              <a:t>TIME: 30 s, ends at 6:30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10 rules; the same four rules close the talk on slide 31 with their evidence</a:t>
            </a:r>
          </a:p>
          <a:p/>
          <a:p>
            <a:r>
              <a:t>WHERE IN THE TALK:</a:t>
            </a:r>
          </a:p>
          <a:p>
            <a:r>
              <a:t>• 1 Think in arrays: slides 8 and 15 (N by 3 arrays, copy or view at every hand-off)</a:t>
            </a:r>
          </a:p>
          <a:p>
            <a:r>
              <a:t>• 2 Look before you compute: slides 7, 29, 30 and 22 (AHN classes, street furniture against the BGT register, uneven density, the file size before loading)</a:t>
            </a:r>
          </a:p>
          <a:p>
            <a:r>
              <a:t>• 3 Make it small first: slides 16, 17 and 23 (voxels, tiles, the chunked read's peak)</a:t>
            </a:r>
          </a:p>
          <a:p>
            <a:r>
              <a:t>• 4 Let compiled code loop: slides 24 to 28 (the quiz, the toll, the profiler, free threads)</a:t>
            </a:r>
          </a:p>
          <a:p/>
          <a:p>
            <a:r>
              <a:t>MENTAL MODEL: The rules rest on the hidden mental-models section (C2 to C9, with citations; C1 and C5 are slides 8 and 30; slide B8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toolbox: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 And they all share one trick.</a:t>
            </a:r>
          </a:p>
          <a:p/>
          <a:p>
            <a:r>
              <a:t>TIME: 35 s, ends at 7:05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12.</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Small print: Blue outline: used in today's pipeline. Logos belong to their owners; no endorsement implied. 119 libraries checked on PyPI and GitHub: docs/ECOSYSTEM.md in the repo.</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7; laspy's header.parse_crs() needs it</a:t>
            </a:r>
          </a:p>
          <a:p>
            <a:r>
              <a:t>• Numba (B1, the escape hatch for a kernel that has no batched call) and Dask (arrays bigger than RAM, slide 22)</a:t>
            </a:r>
          </a:p>
          <a:p>
            <a:r>
              <a:t>• trimesh and PyTorch3D: on the slide 11 wall but not in this pipeline; scikit-learn: the Random Forest of backup B5. PyTorch (backup B3) is dropped from the wall, PyTorch3D covers the Learn row</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What you pay for is the number of calls, and we'll measure that in the speed part. So Python writes the plan; here it is, in six steps.</a:t>
            </a:r>
          </a:p>
          <a:p/>
          <a:p>
            <a:r>
              <a:t>TIME: 35 s, ends at 7:40</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15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a:p>
            <a:r>
              <a:t>• Credit (was the slide caption, moved here 2026-10-13): meme template: the Scooby-Doo unmasking scene (Hanna-Barbera). Python and C++ logos belong to their owners; no endorsement implied.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paint-back. It's the same area and the same camera in every frame, so you can watch it change from slide to slide. Under each frame is the library that does the work, and NumPy carries the arrays between them. Step one.</a:t>
            </a:r>
          </a:p>
          <a:p/>
          <a:p>
            <a:r>
              <a:t>TIME: 40 s, ends at 8:20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15),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that short block hides more copies than you'd think.</a:t>
            </a:r>
          </a:p>
          <a:p/>
          <a:p>
            <a:r>
              <a:t>TIME: 55 s, ends at 9:15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15),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Rule one, think in arrays: Python passes whole arrays between the libraries, not points, and every hand-off is either a copy or a view. A copy is new memory, so it costs time and RAM; a view is the same memory, free, but a write through one name shows up in the other. las.xyz builds a brand-new array every time you touch it, so name it once. On the way back, np.asarray(pcd.points) is a writeable view. Off the slide: Open3D's Vector3dVector always copies, and given float32 it is 39× slower, so hand it float64; PyVista's PolyData shares memory with that view. Every extra xyz copy is 24 bytes per point, half a gigabyte for one 1 km AHN file. Step two.</a:t>
            </a:r>
          </a:p>
          <a:p/>
          <a:p>
            <a:r>
              <a:t>TIME: 45 s, ends at 10:00</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14). If skipped, say on slide 16: "between the libraries Python passes whole arrays; las.xyz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are measured here (their slide is removed)</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12, 8.2 ms.</a:t>
            </a:r>
          </a:p>
          <a:p/>
          <a:p>
            <a:r>
              <a:t>WHY IT MATTERS:</a:t>
            </a:r>
          </a:p>
          <a:p>
            <a:r>
              <a:t>• Memory: one float64 xyz copy is 24 B per point (results/memory.json); 21 013 926 points × 24 B = 0.47 GB per copy of a 1 km AHN file, and the load-everything pipeline holds several (slide 27)</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That's rule two, make it small first. Next, the ground.</a:t>
            </a:r>
          </a:p>
          <a:p/>
          <a:p>
            <a:r>
              <a:t>TIME: 50 s, ends at 10:50</a:t>
            </a:r>
          </a:p>
          <a:p/>
          <a:p>
            <a:r>
              <a:t>LIKELY QUESTION: Why average? Why not keep one real point per voxel?</a:t>
            </a:r>
          </a:p>
          <a:p/>
          <a:p>
            <a:r>
              <a:t>ANSWER: You can, and in the chunked read (backup B2) I do exactly that, because it streams. Open3D's voxel_down_sample returns the centroid: I checked that it equals the per-voxel mean, on a grid anchored half a voxel below the minimum corner.</a:t>
            </a:r>
          </a:p>
          <a:p/>
          <a:p>
            <a:r>
              <a:t>TRACE:</a:t>
            </a:r>
          </a:p>
          <a:p>
            <a:r>
              <a:t>• Sketch caption: 0.5 m voxels</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70 s, ends at 12:00</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17 title no longer says 'Utrecht isn't flat': on the Jaarbeurs crop one plane ties with the tiles (results/pipeline.json single_plane); the joke now runs the other way</a:t>
            </a:r>
          </a:p>
          <a:p/>
          <a:p>
            <a:r>
              <a:t>TRACE:</a:t>
            </a:r>
          </a:p>
          <a:p>
            <a:r>
              <a:t>• Sketch caption: one plane per tile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And it's one library call over all voxels: rule three. Naming the blobs is the next step.</a:t>
            </a:r>
          </a:p>
          <a:p/>
          <a:p>
            <a:r>
              <a:t>TIME: 50 s, ends at 12:50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Sketch caption: eps = 0.75 m</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And because these are 1 024 clusters, not 232 180 points, a plain Python loop over them is fine: rule two again. Then one last step paints these labels back onto every original point.</a:t>
            </a:r>
          </a:p>
          <a:p/>
          <a:p>
            <a:r>
              <a:t>TIME: 65 s, ends at 13:55</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Sketch caption: shape → class</a:t>
            </a:r>
          </a:p>
          <a:p>
            <a:r>
              <a:t>• Small print: Street furniture: 3 objects, 53 points, drawn enlarged. Poles nearly vanish.</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20 and 21;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One query for all points: rule three. Let's put all six steps together.</a:t>
            </a:r>
          </a:p>
          <a:p/>
          <a:p>
            <a:r>
              <a:t>TIME: 35 s, ends at 14:30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21: "every render here is PyVista, off-screen, one fixed camera".</a:t>
            </a:r>
          </a:p>
          <a:p/>
          <a:p>
            <a:r>
              <a:t>TRACE:</a:t>
            </a:r>
          </a:p>
          <a:p>
            <a:r>
              <a:t>• Sketch caption: nearest voxel's label</a:t>
            </a:r>
          </a:p>
          <a:p>
            <a:r>
              <a:t>• Small print: Street furniture: 3 objects, 53 points, drawn enlarged. Poles nearly vanish.</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No loop over points: the only Python loop runs over 1 024 clusters. That's 200 metres. Before we scale up, question one: does a whole AHN sheet even fit?</a:t>
            </a:r>
          </a:p>
          <a:p/>
          <a:p>
            <a:r>
              <a:t>TIME: 50 s, ends at 15:20</a:t>
            </a:r>
          </a:p>
          <a:p/>
          <a:p>
            <a:r>
              <a:t>LIKELY QUESTION: Can I run this on my own AHN file?</a:t>
            </a:r>
          </a:p>
          <a:p/>
          <a:p>
            <a:r>
              <a:t>ANSWER: Yes, that's what the repo is for. For a whole 1 km AHN file or larger, start with the chunked read (backup B2), and expect to retune voxel size, tile size and eps for a different point density. Not in the Netherlands? Backup B6 lists other open sources.</a:t>
            </a:r>
          </a:p>
          <a:p/>
          <a:p>
            <a:r>
              <a:t>CHECKPOINT: Skip-first order from here: 28, 27, 22 (20 and 15 are already behind you). Target: leave this slide by 15:20. Leaving after 16:30: skip 22. Further on: reach slide 27 by 21:30, otherwise skip 27 and 28. To skip: one sentence, then click.</a:t>
            </a:r>
          </a:p>
          <a:p/>
          <a:p>
            <a:r>
              <a:t>CHECK BEFORE THE TALK:</a:t>
            </a:r>
          </a:p>
          <a:p>
            <a:r>
              <a:t>• Repo URL is still a placeholder (content.yaml)</a:t>
            </a:r>
          </a:p>
          <a:p>
            <a:r>
              <a:t>• Other open sources (B6): research: reports/videos.md V1</a:t>
            </a:r>
          </a:p>
          <a:p/>
          <a:p>
            <a:r>
              <a:t>TRACE:</a:t>
            </a:r>
          </a:p>
          <a:p>
            <a:r>
              <a:t>• Small print: One run, indicative; renders not included. Street furniture drawn enlarged.</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Question one: does it fit? A 1 km AHN tile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16:15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IF SKIPPED: Skip-first number 3. If skipped, say on slide 23: "a full-size AHN file has 926 203 338 points; at 86 B each that is 74.2 GB".</a:t>
            </a:r>
          </a:p>
          <a:p/>
          <a:p>
            <a:r>
              <a:t>TRACE:</a:t>
            </a:r>
          </a:p>
          <a:p>
            <a:r>
              <a:t>• Small print: Bytes per point measured on the 1 km AHN file 135000_455000 (21 013 926 points); totals for 2023_C_31HZ2.LAZ computed, not run. Our pipeline: load and voxel downsampling (slides 14 and 16), all arrays kept, after gc.collect() and malloc_trim(0); peak 154 B per point.</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14 and 16);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three computed bars for that file: the LAS records alone (30 B per point for point format 6), plus a float64 xyz copy (24 B per point more), and our load and voxel steps with every array kept (86 B per point); the dashed line labelled 32 GB RAM is the limit, the red part of a bar is past it</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14 and 16 peaks at 3.0 GB on top of what the imports already use; this loop peaks at 0.8 GB, and its points are exactly those of a load-everything first-point-per-voxel reference. It keeps the first point per voxel, not the average from slide 16, because a first point is a real point and it streams. I measured this on the 1 km tile; the full sheet I only computed. That's rule two: make it small first. It fits once it's small. Question two: why was the pipeline fast, and when isn't it? With a bet.</a:t>
            </a:r>
          </a:p>
          <a:p/>
          <a:p>
            <a:r>
              <a:t>TIME: 60 s, ends at 17:15</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60 s, ends at 18:15</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grey bar is drawn to scale: that sliver is the whole NumPy run.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70 s, ends at 19:25</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26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14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70 s, ends at 20:35</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50 s, ends at 21:25</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CHECKPOINT: Arrive here by 21:30. Later than that: skip this slide and 28.</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25 gives the loop against the expression</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25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This is a different build from slide 25, so the times differ a little; the footnote says how. Free threading spreads the toll over your cores; it doesn't remove it. Rule three. Small and fast. Now the question from the start: does the scan agree with the register?</a:t>
            </a:r>
          </a:p>
          <a:p/>
          <a:p>
            <a:r>
              <a:t>TIME: 50 s, ends at 22:15</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29: 'free-threaded Python spreads the toll over your cores but doesn't remove it; now, does the scan agree with the register?'</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24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Question three, the one from the start: does the scan agree with the register? A confession about street furniture.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Remember the plane: thin poles often get missed. Rule four, learned the hard way: I computed first and looked afterwards; you should look first. So why do poles get so few points?</a:t>
            </a:r>
          </a:p>
          <a:p/>
          <a:p>
            <a:r>
              <a:t>TIME: 45 s, ends at 23:00</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Photo credit: 2021 · Robot8A · CC BY-SA 4.0</a:t>
            </a:r>
          </a:p>
          <a:p>
            <a:r>
              <a:t>• Photo credit: 2014 · V. van Werkhooven · CC BY 3.0</a:t>
            </a:r>
          </a:p>
          <a:p>
            <a:r>
              <a:t>• Small print: Poles: BGT (Kadaster, CC BY 4.0) via PDOK, 2026-10-12. Points: within 0.6 m, over 1.5 m above ground. Photos: Jaarbeursplein, Wikimedia Commons.</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Slide 30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That's rule four: look before you compute. So here are all four rules, with their numbers.</a:t>
            </a:r>
          </a:p>
          <a:p/>
          <a:p>
            <a:r>
              <a:t>TIME: 30 s, ends at 23:30</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19).</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29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one per click. Think in arrays: every unnecessary copy of the coordinates costs 24 bytes per point, half a gigabyte on one 1 km file, so pass views wherever you can. Make it small first: streaming took the 1 km tile from 3.0 GB to 0.8 GB. Let compiled code loop: the loop over rows was 130× slower. And look before you compute: 61 poles on the register, 3 found, and the data told us why. Before you copy any of it, what it doesn't do yet.</a:t>
            </a:r>
          </a:p>
          <a:p/>
          <a:p>
            <a:r>
              <a:t>TIME: 75 s, ends at 24:45</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31 rules (the rules of slide 10 with evidence; click: true, one tile per click); tokens: results/memory.json tile_1km.bytes_per_point.xyz_float64, results/pipeline.json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this doesn't do yet. My pipeline found 3 of 61 poles. Vegetation has nothing to score it against, because AHN puts trees in its other class. Buildings reach 83 % precision against AHN, a lower bound, because AHN files facades as other. And it's one 200 metre crop with one timed run. Next: ground removal and clustering on tiles with an overlap, a classifier for the labels, and your own data; each has a backup slide. A baseline in plain Python, not production accuracy.</a:t>
            </a:r>
          </a:p>
          <a:p/>
          <a:p>
            <a:r>
              <a:t>TIME: 45 s, ends at 25:30</a:t>
            </a:r>
          </a:p>
          <a:p/>
          <a:p>
            <a:r>
              <a:t>LIKELY QUESTION: What would you do first with more time?</a:t>
            </a:r>
          </a:p>
          <a:p/>
          <a:p>
            <a:r>
              <a:t>ANSWER: Run it on tiles with an overlap over a whole AHN file, because ground removal and clustering need neighbours across tile edges; backup B2 has the numbers.</a:t>
            </a:r>
          </a:p>
          <a:p/>
          <a:p>
            <a:r>
              <a:t>TRACE:</a:t>
            </a:r>
          </a:p>
          <a:p>
            <a:r>
              <a:t>• results/pipeline.json n_objects, buildings (against AHN class 6; note: facades), ground; results/bgt_street_furniture.json collections.paal.n</a:t>
            </a:r>
          </a:p>
          <a:p>
            <a:r>
              <a:t>• Next steps: appendix.yaml B2, B5, B6; notes slides 4, 19 and 23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Try it on your own AHN tile. The point cloud is AHN5 from Het Waterschapshuis under CC BY 4.0, so you can use it too, as long as you credit it. If you keep one line: write the plan in Python, and let compiled code loop. Thank you to the Python community and to all of you for being here. I'm happy to take questions.</a:t>
            </a:r>
          </a:p>
          <a:p/>
          <a:p>
            <a:r>
              <a:t>TIME: 45 s, ends at 26:15</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33: qr.url, contact (the repo is public)</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19":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19's...":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Whatever the data, a 3D project goes round the same ring: acquire it, prepare it, explore it, analyse it, visualise it, ship it. The dark stages get the data, the blue ones understand it, the green ones deliver it. Under each stage is its Python tool: laspy reads, NumPy and Open3D prepare, Open3D and SciPy explore, PyVista shows. The dashed arrows are the real story: you loop back whenever the data surprises you. Today's pipeline is a small version of stages one to five.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14).</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14</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30).</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18 and the...": status judgement; source: judgement; slides 16 and 18</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(B2).</a:t>
            </a:r>
          </a:p>
          <a:p/>
          <a:p>
            <a:r>
              <a:t>LIMITS AND DISAGREEMENTS:</a:t>
            </a:r>
          </a:p>
          <a:p>
            <a:r>
              <a:t>• Complexity classes hide constants: an N log N method with a Python loop per point can still lose (slides 24 to 26).</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(B2).": status verified; source: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15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15; results/python_facts.json; research: reports/mental_models.md section 8</a:t>
            </a:r>
          </a:p>
          <a:p>
            <a:r>
              <a:t>• Bullet 2 "Learn the idea once; map it to whichever library the job...": status judgement; source: judgement; slide 13</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14 and C4 after slide 18;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8 and 10</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16</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19;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creativecommons.org/licenses/by/4.0/" TargetMode="Externa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hyperlink" Target="https://creativecommons.org/licenses/by/4.0/"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hyperlink" Target="https://creativecommons.org/licenses/by/4.0/" TargetMode="Externa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image" Target="../media/image23.png"/><Relationship Id="rId4" Type="http://schemas.openxmlformats.org/officeDocument/2006/relationships/hyperlink" Target="https://creativecommons.org/licenses/by/4.0/"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4.png"/><Relationship Id="rId4" Type="http://schemas.openxmlformats.org/officeDocument/2006/relationships/hyperlink" Target="https://creativecommons.org/licenses/by/4.0/"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5.png"/><Relationship Id="rId4" Type="http://schemas.openxmlformats.org/officeDocument/2006/relationships/hyperlink" Target="https://creativecommons.org/licenses/by/4.0/"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6.png"/><Relationship Id="rId4" Type="http://schemas.openxmlformats.org/officeDocument/2006/relationships/hyperlink" Target="https://creativecommons.org/licenses/by/4.0/" TargetMode="Externa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7.png"/><Relationship Id="rId4" Type="http://schemas.openxmlformats.org/officeDocument/2006/relationships/hyperlink" Target="https://creativecommons.org/licenses/by/4.0/"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28.png"/><Relationship Id="rId4" Type="http://schemas.openxmlformats.org/officeDocument/2006/relationships/hyperlink" Target="https://creativecommons.org/licenses/by/4.0/" TargetMode="Externa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creativecommons.org/licenses/by/4.0/"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image" Target="../media/image29.jpg"/><Relationship Id="rId4" Type="http://schemas.openxmlformats.org/officeDocument/2006/relationships/image" Target="../media/image30.jpg"/><Relationship Id="rId5" Type="http://schemas.openxmlformats.org/officeDocument/2006/relationships/hyperlink" Target="https://creativecommons.org/licenses/by/4.0/" TargetMode="Externa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3.png"/><Relationship Id="rId3" Type="http://schemas.openxmlformats.org/officeDocument/2006/relationships/image" Target="../media/image21.png"/><Relationship Id="rId4" Type="http://schemas.openxmlformats.org/officeDocument/2006/relationships/image" Target="../media/image4.png"/><Relationship Id="rId5" Type="http://schemas.openxmlformats.org/officeDocument/2006/relationships/hyperlink" Target="https://creativecommons.org/licenses/by/4.0/"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meant C++; now Python drives it</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Note box"/>
          <p:cNvSpPr/>
          <p:nvPr/>
        </p:nvSpPr>
        <p:spPr>
          <a:xfrm>
            <a:off x="6324600" y="5120352"/>
            <a:ext cx="5318760" cy="1097280"/>
          </a:xfrm>
          <a:prstGeom prst="roundRect">
            <a:avLst>
              <a:gd name="adj" fmla="val 6666"/>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ote"/>
          <p:cNvSpPr txBox="1"/>
          <p:nvPr/>
        </p:nvSpPr>
        <p:spPr>
          <a:xfrm>
            <a:off x="6489192" y="5257512"/>
            <a:ext cx="4989576" cy="82296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Why do the counts differ? PCL and Open3D anchor the 0.5 m voxel grid differently; both average the points in each voxel.</a:t>
            </a:r>
            <a:endParaRPr lang="en-GB" sz="1800"/>
          </a:p>
        </p:txBody>
      </p:sp>
      <p:sp>
        <p:nvSpPr>
          <p:cNvPr id="19"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2B6797"/>
                </a:solidFill>
                <a:latin typeface="Fira Sans SemiBold"/>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city scan: millions of points, no names</a:t>
            </a:r>
          </a:p>
        </p:txBody>
      </p:sp>
      <p:pic>
        <p:nvPicPr>
          <p:cNvPr id="6" name="Meme" descr="Bird's-eye render of the raw crop around the Jaarbeurs hall, coloured by height only: blue near the ground through sage to white on the roofs. Nothing says which point is a tree, a roof or a lamp post."/>
          <p:cNvPicPr>
            <a:picLocks noChangeAspect="1"/>
          </p:cNvPicPr>
          <p:nvPr/>
        </p:nvPicPr>
        <p:blipFill>
          <a:blip r:embed="rId2"/>
          <a:stretch>
            <a:fillRect/>
          </a:stretch>
        </p:blipFill>
        <p:spPr>
          <a:xfrm>
            <a:off x="548640" y="1554480"/>
            <a:ext cx="3848695" cy="4343112"/>
          </a:xfrm>
          <a:prstGeom prst="rect">
            <a:avLst/>
          </a:prstGeom>
        </p:spPr>
      </p:pic>
      <p:sp>
        <p:nvSpPr>
          <p:cNvPr id="8" name="Meme bullets"/>
          <p:cNvSpPr txBox="1"/>
          <p:nvPr/>
        </p:nvSpPr>
        <p:spPr>
          <a:xfrm>
            <a:off x="4854535" y="2133600"/>
            <a:ext cx="6788825" cy="376399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Each point: x, y, z and little else</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Cities register what stands in the street: trees, lamp posts, bollards</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Naming points by hand doesn't scale</a:t>
            </a:r>
            <a:endParaRPr lang="en-GB" sz="2000"/>
          </a:p>
        </p:txBody>
      </p:sp>
      <p:sp>
        <p:nvSpPr>
          <p:cNvPr id="9" name="Note box"/>
          <p:cNvSpPr/>
          <p:nvPr/>
        </p:nvSpPr>
        <p:spPr>
          <a:xfrm>
            <a:off x="4854535" y="5348952"/>
            <a:ext cx="6788825" cy="548640"/>
          </a:xfrm>
          <a:prstGeom prst="roundRect">
            <a:avLst>
              <a:gd name="adj" fmla="val 13333"/>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ote"/>
          <p:cNvSpPr txBox="1"/>
          <p:nvPr/>
        </p:nvSpPr>
        <p:spPr>
          <a:xfrm>
            <a:off x="5019127" y="5486112"/>
            <a:ext cx="6459641" cy="27432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Today's question: does the scan agree with the register?</a:t>
            </a:r>
            <a:endParaRPr lang="en-GB" sz="1800"/>
          </a:p>
        </p:txBody>
      </p:sp>
      <p:sp>
        <p:nvSpPr>
          <p:cNvPr id="7" name="Support"/>
          <p:cNvSpPr txBox="1"/>
          <p:nvPr/>
        </p:nvSpPr>
        <p:spPr>
          <a:xfrm>
            <a:off x="4854535" y="1554480"/>
            <a:ext cx="6788825"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 one city block; none has a name.</a:t>
            </a:r>
            <a:endParaRPr lang="en-GB" sz="2000"/>
          </a:p>
        </p:txBody>
      </p:sp>
      <p:sp>
        <p:nvSpPr>
          <p:cNvPr id="11"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2"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2B6797"/>
                </a:solidFill>
                <a:latin typeface="Fira Sans SemiBold"/>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goal: name every point, then check it</a:t>
            </a:r>
          </a:p>
        </p:txBody>
      </p:sp>
      <p:sp>
        <p:nvSpPr>
          <p:cNvPr id="6" name="Takeaway" descr="From x, y, z alone, in plain Python, and say how far to trust it."/>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From x, y, z alone, in plain Python, and say how far to trust it.</a:t>
            </a:r>
            <a:endParaRPr lang="en-GB" sz="2400"/>
          </a:p>
        </p:txBody>
      </p:sp>
      <p:sp>
        <p:nvSpPr>
          <p:cNvPr id="7" name="Column tile 1">
            <a:extLst>
              <a:ext uri="{C183D7F6-B498-43B3-948B-1728B52AA6E4}">
                <adec:decorative xmlns:adec="http://schemas.microsoft.com/office/drawing/2017/decorative" val="1"/>
              </a:ext>
            </a:extLst>
          </p:cNvPr>
          <p:cNvSpPr/>
          <p:nvPr/>
        </p:nvSpPr>
        <p:spPr>
          <a:xfrm>
            <a:off x="548640" y="2331720"/>
            <a:ext cx="3484880" cy="3386328"/>
          </a:xfrm>
          <a:prstGeom prst="roundRect">
            <a:avLst>
              <a:gd name="adj" fmla="val 216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lumn head 1"/>
          <p:cNvSpPr txBox="1"/>
          <p:nvPr/>
        </p:nvSpPr>
        <p:spPr>
          <a:xfrm>
            <a:off x="777240" y="253288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In</a:t>
            </a:r>
            <a:endParaRPr lang="en-GB" sz="2800"/>
          </a:p>
        </p:txBody>
      </p:sp>
      <p:sp>
        <p:nvSpPr>
          <p:cNvPr id="9" name="Column bullets 1"/>
          <p:cNvSpPr txBox="1"/>
          <p:nvPr/>
        </p:nvSpPr>
        <p:spPr>
          <a:xfrm>
            <a:off x="777240" y="3096768"/>
            <a:ext cx="3027680" cy="248412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400" lang="en-GB">
                <a:solidFill>
                  <a:srgbClr val="263238"/>
                </a:solidFill>
                <a:latin typeface="+mn-lt"/>
              </a:rPr>
              <a:t>One LAZ file, 200 m × 200 m</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x, y, z per laser echo</a:t>
            </a:r>
            <a:endParaRPr lang="en-GB" sz="2400"/>
          </a:p>
        </p:txBody>
      </p:sp>
      <p:sp>
        <p:nvSpPr>
          <p:cNvPr id="10" name="Column tile 2">
            <a:extLst>
              <a:ext uri="{C183D7F6-B498-43B3-948B-1728B52AA6E4}">
                <adec:decorative xmlns:adec="http://schemas.microsoft.com/office/drawing/2017/decorative" val="1"/>
              </a:ext>
            </a:extLst>
          </p:cNvPr>
          <p:cNvSpPr/>
          <p:nvPr/>
        </p:nvSpPr>
        <p:spPr>
          <a:xfrm>
            <a:off x="4353560" y="2331720"/>
            <a:ext cx="3484880" cy="3386328"/>
          </a:xfrm>
          <a:prstGeom prst="roundRect">
            <a:avLst>
              <a:gd name="adj" fmla="val 216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lumn head 2"/>
          <p:cNvSpPr txBox="1"/>
          <p:nvPr/>
        </p:nvSpPr>
        <p:spPr>
          <a:xfrm>
            <a:off x="4582160" y="253288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Out</a:t>
            </a:r>
            <a:endParaRPr lang="en-GB" sz="2800"/>
          </a:p>
        </p:txBody>
      </p:sp>
      <p:sp>
        <p:nvSpPr>
          <p:cNvPr id="12" name="Column bullets 2"/>
          <p:cNvSpPr txBox="1"/>
          <p:nvPr/>
        </p:nvSpPr>
        <p:spPr>
          <a:xfrm>
            <a:off x="4582160" y="3096768"/>
            <a:ext cx="3027680" cy="248412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400" lang="en-GB">
                <a:solidFill>
                  <a:srgbClr val="263238"/>
                </a:solidFill>
                <a:latin typeface="+mn-lt"/>
              </a:rPr>
              <a:t>A class per point: ground, buildings, vegetation, street furniture</a:t>
            </a:r>
            <a:endParaRPr lang="en-GB" sz="2400"/>
          </a:p>
        </p:txBody>
      </p:sp>
      <p:sp>
        <p:nvSpPr>
          <p:cNvPr id="13" name="Column tile 3">
            <a:extLst>
              <a:ext uri="{C183D7F6-B498-43B3-948B-1728B52AA6E4}">
                <adec:decorative xmlns:adec="http://schemas.microsoft.com/office/drawing/2017/decorative" val="1"/>
              </a:ext>
            </a:extLst>
          </p:cNvPr>
          <p:cNvSpPr/>
          <p:nvPr/>
        </p:nvSpPr>
        <p:spPr>
          <a:xfrm>
            <a:off x="8158480" y="2331720"/>
            <a:ext cx="3484880" cy="3386328"/>
          </a:xfrm>
          <a:prstGeom prst="roundRect">
            <a:avLst>
              <a:gd name="adj" fmla="val 216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lumn head 3"/>
          <p:cNvSpPr txBox="1"/>
          <p:nvPr/>
        </p:nvSpPr>
        <p:spPr>
          <a:xfrm>
            <a:off x="8387080" y="253288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Checked against</a:t>
            </a:r>
            <a:endParaRPr lang="en-GB" sz="2800"/>
          </a:p>
        </p:txBody>
      </p:sp>
      <p:sp>
        <p:nvSpPr>
          <p:cNvPr id="15" name="Column bullets 3"/>
          <p:cNvSpPr txBox="1"/>
          <p:nvPr/>
        </p:nvSpPr>
        <p:spPr>
          <a:xfrm>
            <a:off x="8387080" y="3096768"/>
            <a:ext cx="3027680" cy="248412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400" lang="en-GB">
                <a:solidFill>
                  <a:srgbClr val="263238"/>
                </a:solidFill>
                <a:latin typeface="+mn-lt"/>
              </a:rPr>
              <a:t>Ground, buildings: AHN's own classes</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Poles: the BGT register</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Vegetation: no reference</a:t>
            </a:r>
            <a:endParaRPr lang="en-GB" sz="2400"/>
          </a:p>
        </p:txBody>
      </p:sp>
      <p:sp>
        <p:nvSpPr>
          <p:cNvPr id="16"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2B6797"/>
                </a:solidFill>
                <a:latin typeface="Fira Sans SemiBold"/>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Eight chapters, three questions</a:t>
            </a:r>
          </a:p>
        </p:txBody>
      </p:sp>
      <p:graphicFrame>
        <p:nvGraphicFramePr>
          <p:cNvPr id="6" name="Appendix table" descr="Agenda table with four columns: chapter, what you get, the rule it proves, minutes. Intro: the problem, the goal, this map, 3 minutes. Data: how a plane scans, the case, the scope, 3. Toolbox: four rules and a library for every layer, 2. Pipeline: six steps from LAZ file to labels, proves rules 1 and 2, 8. Memory: does it fit, a full AHN sheet, rule 2, 2. Speed: is it fast, a loop against one call, rule 3, 5. Reality: is it right, the register against the scan, rule 4, 1. Wrap-up: the rules in numbers, limits, next, 3."/>
          <p:cNvGraphicFramePr>
            <a:graphicFrameLocks noGrp="1"/>
          </p:cNvGraphicFramePr>
          <p:nvPr/>
        </p:nvGraphicFramePr>
        <p:xfrm>
          <a:off x="548640" y="1600200"/>
          <a:ext cx="11094721" cy="3346704"/>
        </p:xfrm>
        <a:graphic>
          <a:graphicData uri="http://schemas.openxmlformats.org/drawingml/2006/table">
            <a:tbl>
              <a:tblPr firstRow="0" bandRow="0">
                <a:tableStyleId>{2D5ABB26-0587-4C30-8999-92F81FD0307C}</a:tableStyleId>
              </a:tblPr>
              <a:tblGrid>
                <a:gridCol w="1575582"/>
                <a:gridCol w="6367975"/>
                <a:gridCol w="1575582"/>
                <a:gridCol w="1575582"/>
              </a:tblGrid>
              <a:tr h="371856">
                <a:tc>
                  <a:txBody>
                    <a:bodyPr/>
                    <a:lstStyle/>
                    <a:p>
                      <a:pPr marL="0" indent="0" algn="l">
                        <a:lnSpc>
                          <a:spcPct val="95000"/>
                        </a:lnSpc>
                        <a:spcBef>
                          <a:spcPts val="0"/>
                        </a:spcBef>
                        <a:spcAft>
                          <a:spcPts val="0"/>
                        </a:spcAft>
                        <a:buNone/>
                      </a:pPr>
                      <a:r>
                        <a:rPr sz="2000" lang="en-GB">
                          <a:solidFill>
                            <a:srgbClr val="FFFFFF"/>
                          </a:solidFill>
                          <a:latin typeface="Fira Sans SemiBold"/>
                        </a:rPr>
                        <a:t>Chapter</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2000" lang="en-GB">
                          <a:solidFill>
                            <a:srgbClr val="FFFFFF"/>
                          </a:solidFill>
                          <a:latin typeface="Fira Sans SemiBold"/>
                        </a:rPr>
                        <a:t>What you get</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2000" lang="en-GB">
                          <a:solidFill>
                            <a:srgbClr val="FFFFFF"/>
                          </a:solidFill>
                          <a:latin typeface="Fira Sans SemiBold"/>
                        </a:rPr>
                        <a:t>Rule</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2000" lang="en-GB">
                          <a:solidFill>
                            <a:srgbClr val="FFFFFF"/>
                          </a:solidFill>
                          <a:latin typeface="Fira Sans SemiBold"/>
                        </a:rPr>
                        <a:t>Min</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Intro</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The problem, the goal, this map</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3</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Data</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How a plane scans; the case; the scope</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3</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Toolbox</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Four rules; a library for every layer</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2</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Pipeline</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Six steps from LAZ file to labels</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1, 2</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8</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Memory</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Does it fit? A full AHN sheet</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2</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2</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Speed</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Is it fast? A loop against one call</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3</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5</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Reality</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Is it right? The register against the scan</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4</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2000" lang="en-GB">
                          <a:solidFill>
                            <a:srgbClr val="263238"/>
                          </a:solidFill>
                          <a:latin typeface="+mn-lt"/>
                        </a:rPr>
                        <a:t>1</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71856">
                <a:tc>
                  <a:txBody>
                    <a:bodyPr/>
                    <a:lstStyle/>
                    <a:p>
                      <a:pPr marL="0" indent="0" algn="l">
                        <a:lnSpc>
                          <a:spcPct val="95000"/>
                        </a:lnSpc>
                        <a:spcBef>
                          <a:spcPts val="0"/>
                        </a:spcBef>
                        <a:spcAft>
                          <a:spcPts val="0"/>
                        </a:spcAft>
                        <a:buNone/>
                      </a:pPr>
                      <a:r>
                        <a:rPr sz="2000" lang="en-GB">
                          <a:solidFill>
                            <a:srgbClr val="263238"/>
                          </a:solidFill>
                          <a:latin typeface="+mn-lt"/>
                        </a:rPr>
                        <a:t>Wrap-up</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The rules in numbers; limits; next</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2000" lang="en-GB">
                          <a:solidFill>
                            <a:srgbClr val="263238"/>
                          </a:solidFill>
                          <a:latin typeface="+mn-lt"/>
                        </a:rPr>
                        <a:t>3</a:t>
                      </a:r>
                      <a:endParaRPr lang="en-GB" sz="20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7"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2B6797"/>
                </a:solidFill>
                <a:latin typeface="Fira Sans SemiBold"/>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plane sweeps a strip with a laser</a:t>
            </a:r>
          </a:p>
        </p:txBody>
      </p:sp>
      <p:pic>
        <p:nvPicPr>
          <p:cNvPr id="6" name="Concept figure" descr="Schematic side view: a plane flies over a street; laser rays fan out below it. One ray hits the ground, one passes a leaf-off tree and leaves three echoes on the way down, one hits a pole, two hit a flat roof; the building's wall is hardly hit. Labels: GNSS, where the plane is; IMU, how it is tilted; each dot is one point, x, y, z from range and position. Inset top left, from above: the flight line, and the strip the scanner sweeps in a zigzag."/>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392680"/>
            <a:ext cx="4191000" cy="38249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A scanning laser, not one spot: it sweeps a strip</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One pulse can leave up to 7 echoes, in trees most</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Roofs dense, walls sparse, thin poles often missed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This crop: 691 011 pulses in 19.8 s of flight</a:t>
            </a:r>
            <a:endParaRPr lang="en-GB" sz="2000"/>
          </a:p>
        </p:txBody>
      </p:sp>
      <p:sp>
        <p:nvSpPr>
          <p:cNvPr id="8" name="Support"/>
          <p:cNvSpPr txBox="1"/>
          <p:nvPr/>
        </p:nvSpPr>
        <p:spPr>
          <a:xfrm>
            <a:off x="7452360" y="1554480"/>
            <a:ext cx="419100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x, y, z = range + GNSS position + IMU tilt.</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Schematic side view, inset from above; not to scale.</a:t>
            </a:r>
            <a:endParaRPr lang="en-GB" sz="1200"/>
          </a:p>
        </p:txBody>
      </p:sp>
      <p:sp>
        <p:nvSpPr>
          <p:cNvPr id="10"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2B6797"/>
                </a:solidFill>
                <a:latin typeface="Fira Sans SemiBold"/>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block around the Jaarbeurs</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2941153" cy="3318984"/>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358473" y="1554480"/>
            <a:ext cx="2941153" cy="3318984"/>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668101" y="3012804"/>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35128" y="1760400"/>
            <a:ext cx="1886712" cy="1188720"/>
            <a:chOff x="1135128" y="1760400"/>
            <a:chExt cx="1886712" cy="1188720"/>
          </a:xfrm>
        </p:grpSpPr>
        <p:sp>
          <p:nvSpPr>
            <p:cNvPr id="9" name="Edge arrow"/>
            <p:cNvSpPr/>
            <p:nvPr/>
          </p:nvSpPr>
          <p:spPr>
            <a:xfrm>
              <a:off x="1941324" y="2235888"/>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35128" y="1760400"/>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318984"/>
            <a:chOff x="8031480" y="1554480"/>
            <a:chExt cx="3611880" cy="331898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1740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1740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1740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76827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76827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76827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11913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11913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11913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47000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47000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47000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38208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382086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382086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17173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171734"/>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171734"/>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52259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522599"/>
              <a:ext cx="1672336"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522599"/>
              <a:ext cx="1939544" cy="35086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Note box"/>
          <p:cNvSpPr/>
          <p:nvPr/>
        </p:nvSpPr>
        <p:spPr>
          <a:xfrm>
            <a:off x="548640" y="5056344"/>
            <a:ext cx="6750986"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Note"/>
          <p:cNvSpPr txBox="1"/>
          <p:nvPr/>
        </p:nvSpPr>
        <p:spPr>
          <a:xfrm>
            <a:off x="713232" y="5193504"/>
            <a:ext cx="6421802"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Checked against AHN (ground, buildings) and the BGT pole register (street furniture).</a:t>
            </a:r>
            <a:endParaRPr lang="en-GB" sz="1800"/>
          </a:p>
        </p:txBody>
      </p:sp>
      <p:sp>
        <p:nvSpPr>
          <p:cNvPr id="3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0"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2B6797"/>
                </a:solidFill>
                <a:latin typeface="Fira Sans SemiBold"/>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9"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2B6797"/>
                </a:solidFill>
                <a:latin typeface="Fira Sans SemiBold"/>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this talk does, and doesn't</a:t>
            </a:r>
          </a:p>
        </p:txBody>
      </p:sp>
      <p:sp>
        <p:nvSpPr>
          <p:cNvPr id="6" name="Column tile 1">
            <a:extLst>
              <a:ext uri="{C183D7F6-B498-43B3-948B-1728B52AA6E4}">
                <adec:decorative xmlns:adec="http://schemas.microsoft.com/office/drawing/2017/decorative" val="1"/>
              </a:ext>
            </a:extLst>
          </p:cNvPr>
          <p:cNvSpPr/>
          <p:nvPr/>
        </p:nvSpPr>
        <p:spPr>
          <a:xfrm>
            <a:off x="548640" y="1554480"/>
            <a:ext cx="3484880" cy="4036568"/>
          </a:xfrm>
          <a:prstGeom prst="roundRect">
            <a:avLst>
              <a:gd name="adj" fmla="val 209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lumn head 1"/>
          <p:cNvSpPr txBox="1"/>
          <p:nvPr/>
        </p:nvSpPr>
        <p:spPr>
          <a:xfrm>
            <a:off x="777240" y="175564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In scope</a:t>
            </a:r>
            <a:endParaRPr lang="en-GB" sz="2800"/>
          </a:p>
        </p:txBody>
      </p:sp>
      <p:sp>
        <p:nvSpPr>
          <p:cNvPr id="8" name="Column bullets 1"/>
          <p:cNvSpPr txBox="1"/>
          <p:nvPr/>
        </p:nvSpPr>
        <p:spPr>
          <a:xfrm>
            <a:off x="777240" y="2319528"/>
            <a:ext cx="3027680" cy="31343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Airborne LiDAR, AHN5</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One 200 m × 200 m urban crop</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Four classes, rule-based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Standard Python libraries</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Speed and memory</a:t>
            </a:r>
            <a:endParaRPr lang="en-GB" sz="2000"/>
          </a:p>
        </p:txBody>
      </p:sp>
      <p:sp>
        <p:nvSpPr>
          <p:cNvPr id="9" name="Column tile 2">
            <a:extLst>
              <a:ext uri="{C183D7F6-B498-43B3-948B-1728B52AA6E4}">
                <adec:decorative xmlns:adec="http://schemas.microsoft.com/office/drawing/2017/decorative" val="1"/>
              </a:ext>
            </a:extLst>
          </p:cNvPr>
          <p:cNvSpPr/>
          <p:nvPr/>
        </p:nvSpPr>
        <p:spPr>
          <a:xfrm>
            <a:off x="4353560" y="1554480"/>
            <a:ext cx="3484880" cy="4036568"/>
          </a:xfrm>
          <a:prstGeom prst="roundRect">
            <a:avLst>
              <a:gd name="adj" fmla="val 209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lumn head 2"/>
          <p:cNvSpPr txBox="1"/>
          <p:nvPr/>
        </p:nvSpPr>
        <p:spPr>
          <a:xfrm>
            <a:off x="4582160" y="175564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Not today</a:t>
            </a:r>
            <a:endParaRPr lang="en-GB" sz="2800"/>
          </a:p>
        </p:txBody>
      </p:sp>
      <p:sp>
        <p:nvSpPr>
          <p:cNvPr id="11" name="Column bullets 2"/>
          <p:cNvSpPr txBox="1"/>
          <p:nvPr/>
        </p:nvSpPr>
        <p:spPr>
          <a:xfrm>
            <a:off x="4582160" y="2319528"/>
            <a:ext cx="3027680" cy="31343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Deep learning, trained models</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Mobile or terrestrial scans</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Meshes, registration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CRS in depth, production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State-of-the-art accuracy</a:t>
            </a:r>
            <a:endParaRPr lang="en-GB" sz="2000"/>
          </a:p>
        </p:txBody>
      </p:sp>
      <p:sp>
        <p:nvSpPr>
          <p:cNvPr id="12" name="Column tile 3">
            <a:extLst>
              <a:ext uri="{C183D7F6-B498-43B3-948B-1728B52AA6E4}">
                <adec:decorative xmlns:adec="http://schemas.microsoft.com/office/drawing/2017/decorative" val="1"/>
              </a:ext>
            </a:extLst>
          </p:cNvPr>
          <p:cNvSpPr/>
          <p:nvPr/>
        </p:nvSpPr>
        <p:spPr>
          <a:xfrm>
            <a:off x="8158480" y="1554480"/>
            <a:ext cx="3484880" cy="4036568"/>
          </a:xfrm>
          <a:prstGeom prst="roundRect">
            <a:avLst>
              <a:gd name="adj" fmla="val 2099"/>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lumn head 3"/>
          <p:cNvSpPr txBox="1"/>
          <p:nvPr/>
        </p:nvSpPr>
        <p:spPr>
          <a:xfrm>
            <a:off x="8387080" y="1755648"/>
            <a:ext cx="302768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Assumptions</a:t>
            </a:r>
            <a:endParaRPr lang="en-GB" sz="2800"/>
          </a:p>
        </p:txBody>
      </p:sp>
      <p:sp>
        <p:nvSpPr>
          <p:cNvPr id="14" name="Column bullets 3"/>
          <p:cNvSpPr txBox="1"/>
          <p:nvPr/>
        </p:nvSpPr>
        <p:spPr>
          <a:xfrm>
            <a:off x="8387080" y="2319528"/>
            <a:ext cx="3027680" cy="31343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Metres: RD New + NAP</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Ground: one plane per 25 m tile</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0.5 m; inliers 0.4 m; objects &gt; 0.3 m</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DBSCAN eps 0.75 m, 6 points</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Thresholds tuned on this crop</a:t>
            </a:r>
            <a:endParaRPr lang="en-GB" sz="2000"/>
          </a:p>
        </p:txBody>
      </p:sp>
      <p:sp>
        <p:nvSpPr>
          <p:cNvPr id="15"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2B6797"/>
                </a:solidFill>
                <a:latin typeface="Fira Sans SemiBold"/>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this talk will prove</a:t>
            </a:r>
          </a:p>
        </p:txBody>
      </p:sp>
      <p:grpSp>
        <p:nvGrpSpPr>
          <p:cNvPr id="3" name="Rules of thumb" descr="Four tiles, one rule of thumb each. 1 Think in arrays, not points: a point cloud is an N by 3 table plus attribute columns. 2 Make it small first: crop, tile and downsample; scale up last. 3 Let compiled code loop: one call per array or tile, never per point. 4 Look before you compute: render it; check units, coordinates and classes. Each tile names the part of the talk that proves it: Pipeline; Pipeline and Memory; Speed; Reality."/>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a:p>
              <a:pPr algn="l">
                <a:spcBef>
                  <a:spcPts val="600"/>
                </a:spcBef>
              </a:pPr>
              <a:r>
                <a:rPr sz="2000" b="0" i="0" lang="en-GB">
                  <a:solidFill>
                    <a:srgbClr val="455A64"/>
                  </a:solidFill>
                  <a:latin typeface="Fira Sans"/>
                </a:rPr>
                <a:t>Proof: Pipeline</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71472"/>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3" name="rule text 2"/>
            <p:cNvSpPr txBox="1"/>
            <p:nvPr/>
          </p:nvSpPr>
          <p:spPr>
            <a:xfrm>
              <a:off x="7293864" y="2478024"/>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a:p>
              <a:pPr algn="l">
                <a:spcBef>
                  <a:spcPts val="600"/>
                </a:spcBef>
              </a:pPr>
              <a:r>
                <a:rPr sz="2000" b="0" i="0" lang="en-GB">
                  <a:solidFill>
                    <a:srgbClr val="455A64"/>
                  </a:solidFill>
                  <a:latin typeface="Fira Sans"/>
                </a:rPr>
                <a:t>Proof: Pipeline, Memory</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a:p>
              <a:pPr algn="l">
                <a:spcBef>
                  <a:spcPts val="600"/>
                </a:spcBef>
              </a:pPr>
              <a:r>
                <a:rPr sz="2000" b="0" i="0" lang="en-GB">
                  <a:solidFill>
                    <a:srgbClr val="455A64"/>
                  </a:solidFill>
                  <a:latin typeface="Fira Sans"/>
                </a:rPr>
                <a:t>Proof: Speed</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178664"/>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21" name="rule text 4"/>
            <p:cNvSpPr txBox="1"/>
            <p:nvPr/>
          </p:nvSpPr>
          <p:spPr>
            <a:xfrm>
              <a:off x="7293864" y="5169264"/>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a:p>
              <a:pPr algn="l">
                <a:spcBef>
                  <a:spcPts val="600"/>
                </a:spcBef>
              </a:pPr>
              <a:r>
                <a:rPr sz="2000" b="0" i="0" lang="en-GB">
                  <a:solidFill>
                    <a:srgbClr val="455A64"/>
                  </a:solidFill>
                  <a:latin typeface="Fira Sans"/>
                </a:rPr>
                <a:t>Proof: Reality</a:t>
              </a:r>
            </a:p>
          </p:txBody>
        </p:sp>
      </p:grpSp>
      <p:sp>
        <p:nvSpPr>
          <p:cNvPr id="22"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2B6797"/>
                </a:solidFill>
                <a:latin typeface="Fira Sans SemiBold"/>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already has a library for every layer</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3D."/>
          <p:cNvGrpSpPr/>
          <p:nvPr/>
        </p:nvGrpSpPr>
        <p:grpSpPr>
          <a:xfrm>
            <a:off x="548640" y="1600200"/>
            <a:ext cx="11094720" cy="4617432"/>
            <a:chOff x="548640" y="1600200"/>
            <a:chExt cx="11094720" cy="4617432"/>
          </a:xfrm>
        </p:grpSpPr>
        <p:sp>
          <p:nvSpPr>
            <p:cNvPr id="6" name="wall_label_1"/>
            <p:cNvSpPr txBox="1"/>
            <p:nvPr/>
          </p:nvSpPr>
          <p:spPr>
            <a:xfrm>
              <a:off x="548640" y="160020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821074"/>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41586" y="1691640"/>
              <a:ext cx="422366" cy="429406"/>
            </a:xfrm>
            <a:prstGeom prst="rect">
              <a:avLst/>
            </a:prstGeom>
          </p:spPr>
        </p:pic>
        <p:sp>
          <p:nvSpPr>
            <p:cNvPr id="11" name="tile_ref_1_2"/>
            <p:cNvSpPr txBox="1"/>
            <p:nvPr/>
          </p:nvSpPr>
          <p:spPr>
            <a:xfrm>
              <a:off x="5098542"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541182" y="1691640"/>
              <a:ext cx="1659539" cy="429406"/>
            </a:xfrm>
            <a:prstGeom prst="rect">
              <a:avLst/>
            </a:prstGeom>
          </p:spPr>
        </p:pic>
        <p:sp>
          <p:nvSpPr>
            <p:cNvPr id="14" name="tile_ref_1_3"/>
            <p:cNvSpPr txBox="1"/>
            <p:nvPr/>
          </p:nvSpPr>
          <p:spPr>
            <a:xfrm>
              <a:off x="7316724"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54929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225483" y="2640730"/>
              <a:ext cx="1418208" cy="638194"/>
            </a:xfrm>
            <a:prstGeom prst="rect">
              <a:avLst/>
            </a:prstGeom>
          </p:spPr>
        </p:pic>
        <p:sp>
          <p:nvSpPr>
            <p:cNvPr id="18" name="wall_tile_2_2"/>
            <p:cNvSpPr/>
            <p:nvPr/>
          </p:nvSpPr>
          <p:spPr>
            <a:xfrm>
              <a:off x="5098542"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38066" y="2640730"/>
              <a:ext cx="429406" cy="429406"/>
            </a:xfrm>
            <a:prstGeom prst="rect">
              <a:avLst/>
            </a:prstGeom>
          </p:spPr>
        </p:pic>
        <p:sp>
          <p:nvSpPr>
            <p:cNvPr id="20" name="tile_ref_2_2"/>
            <p:cNvSpPr txBox="1"/>
            <p:nvPr/>
          </p:nvSpPr>
          <p:spPr>
            <a:xfrm>
              <a:off x="5098542"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156248" y="2640730"/>
              <a:ext cx="429406" cy="429406"/>
            </a:xfrm>
            <a:prstGeom prst="rect">
              <a:avLst/>
            </a:prstGeom>
          </p:spPr>
        </p:pic>
        <p:sp>
          <p:nvSpPr>
            <p:cNvPr id="23" name="tile_ref_2_3"/>
            <p:cNvSpPr txBox="1"/>
            <p:nvPr/>
          </p:nvSpPr>
          <p:spPr>
            <a:xfrm>
              <a:off x="7316724"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717879" y="2640730"/>
              <a:ext cx="1742508" cy="638194"/>
            </a:xfrm>
            <a:prstGeom prst="rect">
              <a:avLst/>
            </a:prstGeom>
          </p:spPr>
        </p:pic>
        <p:sp>
          <p:nvSpPr>
            <p:cNvPr id="26" name="wall_label_3"/>
            <p:cNvSpPr txBox="1"/>
            <p:nvPr/>
          </p:nvSpPr>
          <p:spPr>
            <a:xfrm>
              <a:off x="548640" y="349837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49837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665812"/>
              <a:ext cx="1925574" cy="486207"/>
            </a:xfrm>
            <a:prstGeom prst="rect">
              <a:avLst/>
            </a:prstGeom>
          </p:spPr>
        </p:pic>
        <p:sp>
          <p:nvSpPr>
            <p:cNvPr id="29" name="wall_tile_3_2"/>
            <p:cNvSpPr/>
            <p:nvPr/>
          </p:nvSpPr>
          <p:spPr>
            <a:xfrm>
              <a:off x="5098542" y="349837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765701"/>
              <a:ext cx="1925574" cy="286429"/>
            </a:xfrm>
            <a:prstGeom prst="rect">
              <a:avLst/>
            </a:prstGeom>
          </p:spPr>
        </p:pic>
        <p:sp>
          <p:nvSpPr>
            <p:cNvPr id="31" name="wall_label_4"/>
            <p:cNvSpPr txBox="1"/>
            <p:nvPr/>
          </p:nvSpPr>
          <p:spPr>
            <a:xfrm>
              <a:off x="548640" y="444746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44746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185973" y="4538909"/>
              <a:ext cx="1497228" cy="638194"/>
            </a:xfrm>
            <a:prstGeom prst="rect">
              <a:avLst/>
            </a:prstGeom>
          </p:spPr>
        </p:pic>
        <p:sp>
          <p:nvSpPr>
            <p:cNvPr id="34" name="wall_tile_4_2"/>
            <p:cNvSpPr/>
            <p:nvPr/>
          </p:nvSpPr>
          <p:spPr>
            <a:xfrm>
              <a:off x="5098542" y="444746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557717" y="4538909"/>
              <a:ext cx="1190105" cy="638194"/>
            </a:xfrm>
            <a:prstGeom prst="rect">
              <a:avLst/>
            </a:prstGeom>
          </p:spPr>
        </p:pic>
        <p:sp>
          <p:nvSpPr>
            <p:cNvPr id="36" name="wall_label_5"/>
            <p:cNvSpPr txBox="1"/>
            <p:nvPr/>
          </p:nvSpPr>
          <p:spPr>
            <a:xfrm>
              <a:off x="548640" y="5396558"/>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657104" y="5487998"/>
              <a:ext cx="554967" cy="429406"/>
            </a:xfrm>
            <a:prstGeom prst="rect">
              <a:avLst/>
            </a:prstGeom>
          </p:spPr>
        </p:pic>
        <p:sp>
          <p:nvSpPr>
            <p:cNvPr id="39" name="tile_ref_5_1"/>
            <p:cNvSpPr txBox="1"/>
            <p:nvPr/>
          </p:nvSpPr>
          <p:spPr>
            <a:xfrm>
              <a:off x="2880360" y="593569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3D logo"/>
            <p:cNvPicPr>
              <a:picLocks noChangeAspect="1"/>
            </p:cNvPicPr>
            <p:nvPr/>
          </p:nvPicPr>
          <p:blipFill>
            <a:blip r:embed="rId13"/>
            <a:stretch>
              <a:fillRect/>
            </a:stretch>
          </p:blipFill>
          <p:spPr>
            <a:xfrm>
              <a:off x="5189982" y="5561585"/>
              <a:ext cx="1925574" cy="491021"/>
            </a:xfrm>
            <a:prstGeom prst="rect">
              <a:avLst/>
            </a:prstGeom>
          </p:spPr>
        </p:pic>
      </p:grpSp>
      <p:sp>
        <p:nvSpPr>
          <p:cNvPr id="42"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2B6797"/>
                </a:solidFill>
                <a:latin typeface="Fira Sans SemiBold"/>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plans; compiled code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492863" cy="4663152"/>
          </a:xfrm>
          <a:prstGeom prst="rect">
            <a:avLst/>
          </a:prstGeom>
        </p:spPr>
      </p:pic>
      <p:sp>
        <p:nvSpPr>
          <p:cNvPr id="8" name="Meme bullets"/>
          <p:cNvSpPr txBox="1"/>
          <p:nvPr/>
        </p:nvSpPr>
        <p:spPr>
          <a:xfrm>
            <a:off x="4498703" y="2133600"/>
            <a:ext cx="7144657" cy="408403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p:txBody>
      </p:sp>
      <p:sp>
        <p:nvSpPr>
          <p:cNvPr id="7" name="Support"/>
          <p:cNvSpPr txBox="1"/>
          <p:nvPr/>
        </p:nvSpPr>
        <p:spPr>
          <a:xfrm>
            <a:off x="4498703" y="1554480"/>
            <a:ext cx="7144657"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9"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2B6797"/>
                </a:solidFill>
                <a:latin typeface="Fira Sans SemiBold"/>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from LAZ file to labels</a:t>
            </a:r>
          </a:p>
        </p:txBody>
      </p:sp>
      <p:pic>
        <p:nvPicPr>
          <p:cNvPr id="6" name="!!render" descr="Six thumbnails of the same area from the same camera, one per pipeline step: load, voxel downsampling, ground removal, clustering, labelling, paint-back."/>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Paint-back"/>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Paint-back</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30"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 subtract a local origin first</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7461504" cy="266700"/>
            <a:chOff x="402336" y="2400300"/>
            <a:chExt cx="7461504" cy="266700"/>
          </a:xfrm>
        </p:grpSpPr>
        <p:sp>
          <p:nvSpPr>
            <p:cNvPr id="6" name="Key line bar"/>
            <p:cNvSpPr/>
            <p:nvPr/>
          </p:nvSpPr>
          <p:spPr>
            <a:xfrm>
              <a:off x="402336" y="2400300"/>
              <a:ext cx="746150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7461504" cy="201168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pic>
        <p:nvPicPr>
          <p:cNvPr id="9" name="Render" descr="The crop as a point cloud, coloured by height: the hall roof white, the ground blue."/>
          <p:cNvPicPr>
            <a:picLocks noChangeAspect="1"/>
          </p:cNvPicPr>
          <p:nvPr/>
        </p:nvPicPr>
        <p:blipFill>
          <a:blip r:embed="rId2"/>
          <a:stretch>
            <a:fillRect/>
          </a:stretch>
        </p:blipFill>
        <p:spPr>
          <a:xfrm>
            <a:off x="8264642" y="1554480"/>
            <a:ext cx="3378718" cy="3812760"/>
          </a:xfrm>
          <a:prstGeom prst="rect">
            <a:avLst/>
          </a:prstGeom>
        </p:spPr>
      </p:pic>
      <p:pic>
        <p:nvPicPr>
          <p:cNvPr id="10" name="Before and after" descr="The crop's points 135914.6 m from the origin, then after subtracting header.mins: near zero. float32 step 1.6 cm becomes 15 µm."/>
          <p:cNvPicPr>
            <a:picLocks noChangeAspect="1"/>
          </p:cNvPicPr>
          <p:nvPr/>
        </p:nvPicPr>
        <p:blipFill>
          <a:blip r:embed="rId3"/>
          <a:stretch>
            <a:fillRect/>
          </a:stretch>
        </p:blipFill>
        <p:spPr>
          <a:xfrm>
            <a:off x="548640" y="3675888"/>
            <a:ext cx="7487402" cy="1668879"/>
          </a:xfrm>
          <a:prstGeom prst="rect">
            <a:avLst/>
          </a:prstGeom>
        </p:spPr>
      </p:pic>
      <p:sp>
        <p:nvSpPr>
          <p:cNvPr id="11" name="Takeaway bar"/>
          <p:cNvSpPr/>
          <p:nvPr/>
        </p:nvSpPr>
        <p:spPr>
          <a:xfrm>
            <a:off x="548640" y="5458680"/>
            <a:ext cx="64008" cy="5029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731520" y="5458680"/>
            <a:ext cx="10911840" cy="502920"/>
          </a:xfrm>
          <a:prstGeom prst="rect">
            <a:avLst/>
          </a:prstGeom>
          <a:noFill/>
        </p:spPr>
        <p:txBody>
          <a:bodyPr wrap="square" anchor="b" lIns="0" tIns="0" rIns="0" bIns="0">
            <a:noAutofit/>
          </a:bodyPr>
          <a:lstStyle/>
          <a:p>
            <a:pPr marL="0" indent="0" algn="l">
              <a:spcBef>
                <a:spcPts val="0"/>
              </a:spcBef>
              <a:spcAft>
                <a:spcPts val="0"/>
              </a:spcAft>
              <a:buNone/>
            </a:pPr>
            <a:r>
              <a:rPr sz="3000" b="1" lang="en-GB">
                <a:solidFill>
                  <a:srgbClr val="1C325B"/>
                </a:solidFill>
                <a:latin typeface="+mn-lt"/>
              </a:rPr>
              <a:t>laspy hands you NumPy; a local origin keeps float32 precise.</a:t>
            </a:r>
            <a:endParaRPr lang="en-GB" sz="3000"/>
          </a:p>
        </p:txBody>
      </p:sp>
      <p:sp>
        <p:nvSpPr>
          <p:cNvPr id="13"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4" name="Small print rule chip 1" descr="Evidence for rule 1: Think in arrays, not points"/>
          <p:cNvSpPr txBox="1"/>
          <p:nvPr/>
        </p:nvSpPr>
        <p:spPr>
          <a:xfrm>
            <a:off x="9498609" y="182880"/>
            <a:ext cx="2144751" cy="310896"/>
          </a:xfrm>
          <a:prstGeom prst="rect">
            <a:avLst/>
          </a:prstGeom>
          <a:noFill/>
        </p:spPr>
        <p:txBody>
          <a:bodyPr wrap="none" anchor="ctr" lIns="0" tIns="0" rIns="0" bIns="0">
            <a:noAutofit/>
          </a:bodyPr>
          <a:lstStyle/>
          <a:p>
            <a:r>
              <a:rPr sz="1400" lang="en-GB">
                <a:solidFill>
                  <a:srgbClr val="1C325B"/>
                </a:solidFill>
                <a:latin typeface="Fira Sans SemiBold"/>
              </a:rPr>
              <a:t>Think in arrays, not points</a:t>
            </a:r>
            <a:endParaRPr lang="en-GB" sz="1400"/>
          </a:p>
        </p:txBody>
      </p:sp>
      <p:sp>
        <p:nvSpPr>
          <p:cNvPr id="15" name="Small print rule number 1">
            <a:extLst>
              <a:ext uri="{C183D7F6-B498-43B3-948B-1728B52AA6E4}">
                <adec:decorative xmlns:adec="http://schemas.microsoft.com/office/drawing/2017/decorative" val="1"/>
              </a:ext>
            </a:extLst>
          </p:cNvPr>
          <p:cNvSpPr/>
          <p:nvPr/>
        </p:nvSpPr>
        <p:spPr>
          <a:xfrm>
            <a:off x="9114561"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1</a:t>
            </a:r>
            <a:endParaRPr lang="en-GB" sz="1400"/>
          </a:p>
        </p:txBody>
      </p:sp>
      <p:sp>
        <p:nvSpPr>
          <p:cNvPr id="16" name="Small print step tracker" descr="Pipeline step 1 of 6: Load"/>
          <p:cNvSpPr txBox="1"/>
          <p:nvPr/>
        </p:nvSpPr>
        <p:spPr>
          <a:xfrm>
            <a:off x="4712487"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2B6797"/>
                </a:solidFill>
                <a:latin typeface="Fira Sans SemiBold"/>
              </a:rPr>
              <a:t>1 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17"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 pass views, not copies</a:t>
            </a:r>
          </a:p>
        </p:txBody>
      </p:sp>
      <p:sp>
        <p:nvSpPr>
          <p:cNvPr id="7" name="Takeaway" descr="Rule 1: each extra xyz copy costs 24 B per point → 0.5 GB per 1 km AHN file."/>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Rule 1: each extra xyz copy costs 24 B per point → 0.5 GB per 1 km AHN file.</a:t>
            </a:r>
            <a:endParaRPr lang="en-GB" sz="2400"/>
          </a:p>
        </p:txBody>
      </p:sp>
      <p:grpSp>
        <p:nvGrpSpPr>
          <p:cNvPr id="3" name="Copy or view" descr="Legend. Copy: two names, each on its own block of memory; new memory → costs time &amp; RAM. View: two names on one block of memory; same memory → free, writes show through."/>
          <p:cNvGrpSpPr/>
          <p:nvPr/>
        </p:nvGrpSpPr>
        <p:grpSpPr>
          <a:xfrm>
            <a:off x="548640" y="2331720"/>
            <a:ext cx="11094720" cy="1444752"/>
            <a:chOff x="548640" y="2331720"/>
            <a:chExt cx="11094720" cy="1444752"/>
          </a:xfrm>
        </p:grpSpPr>
        <p:cxnSp>
          <p:nvCxnSpPr>
            <p:cNvPr id="8" name="panel rule"/>
            <p:cNvCxnSpPr/>
            <p:nvPr/>
          </p:nvCxnSpPr>
          <p:spPr>
            <a:xfrm>
              <a:off x="6096000" y="2331720"/>
              <a:ext cx="0" cy="1444752"/>
            </a:xfrm>
            <a:prstGeom prst="line">
              <a:avLst/>
            </a:prstGeom>
            <a:ln w="12700">
              <a:solidFill>
                <a:srgbClr val="9CA3AF"/>
              </a:solidFill>
            </a:ln>
          </p:spPr>
          <p:style>
            <a:lnRef idx="2">
              <a:schemeClr val="accent1"/>
            </a:lnRef>
            <a:fillRef idx="0">
              <a:schemeClr val="accent1"/>
            </a:fillRef>
            <a:effectRef idx="1">
              <a:schemeClr val="accent1"/>
            </a:effectRef>
            <a:fontRef idx="minor">
              <a:schemeClr val="tx1"/>
            </a:fontRef>
          </p:style>
        </p:cxnSp>
        <p:sp>
          <p:nvSpPr>
            <p:cNvPr id="9" name="copy title"/>
            <p:cNvSpPr txBox="1"/>
            <p:nvPr/>
          </p:nvSpPr>
          <p:spPr>
            <a:xfrm>
              <a:off x="548640" y="2331720"/>
              <a:ext cx="2605532"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problem: copies</a:t>
              </a:r>
            </a:p>
          </p:txBody>
        </p:sp>
        <p:sp>
          <p:nvSpPr>
            <p:cNvPr id="10" name="copy pill"/>
            <p:cNvSpPr/>
            <p:nvPr/>
          </p:nvSpPr>
          <p:spPr>
            <a:xfrm>
              <a:off x="3154172" y="2331720"/>
              <a:ext cx="1203960" cy="438912"/>
            </a:xfrm>
            <a:prstGeom prst="roundRect">
              <a:avLst>
                <a:gd name="adj" fmla="val 50000"/>
              </a:avLst>
            </a:prstGeom>
            <a:solidFill>
              <a:srgbClr val="FFFFFF"/>
            </a:solidFill>
            <a:ln w="254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1C325B"/>
                  </a:solidFill>
                  <a:latin typeface="Fira Sans SemiBold"/>
                </a:rPr>
                <a:t>copy</a:t>
              </a:r>
            </a:p>
          </p:txBody>
        </p:sp>
        <p:sp>
          <p:nvSpPr>
            <p:cNvPr id="11" name="copy name 1"/>
            <p:cNvSpPr txBox="1"/>
            <p:nvPr/>
          </p:nvSpPr>
          <p:spPr>
            <a:xfrm>
              <a:off x="54864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12" name="copy name 2"/>
            <p:cNvSpPr txBox="1"/>
            <p:nvPr/>
          </p:nvSpPr>
          <p:spPr>
            <a:xfrm>
              <a:off x="54864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13" name="copy cell"/>
            <p:cNvSpPr/>
            <p:nvPr/>
          </p:nvSpPr>
          <p:spPr>
            <a:xfrm>
              <a:off x="118872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46304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73736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201168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228600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118872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py cell"/>
            <p:cNvSpPr/>
            <p:nvPr/>
          </p:nvSpPr>
          <p:spPr>
            <a:xfrm>
              <a:off x="146304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py cell"/>
            <p:cNvSpPr/>
            <p:nvPr/>
          </p:nvSpPr>
          <p:spPr>
            <a:xfrm>
              <a:off x="173736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opy cell"/>
            <p:cNvSpPr/>
            <p:nvPr/>
          </p:nvSpPr>
          <p:spPr>
            <a:xfrm>
              <a:off x="201168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py cell"/>
            <p:cNvSpPr/>
            <p:nvPr/>
          </p:nvSpPr>
          <p:spPr>
            <a:xfrm>
              <a:off x="228600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py ref"/>
            <p:cNvCxnSpPr/>
            <p:nvPr/>
          </p:nvCxnSpPr>
          <p:spPr>
            <a:xfrm>
              <a:off x="841248" y="3072384"/>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py ref"/>
            <p:cNvCxnSpPr/>
            <p:nvPr/>
          </p:nvCxnSpPr>
          <p:spPr>
            <a:xfrm>
              <a:off x="841248" y="3602736"/>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opy meaning"/>
            <p:cNvSpPr txBox="1"/>
            <p:nvPr/>
          </p:nvSpPr>
          <p:spPr>
            <a:xfrm>
              <a:off x="292608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new memory → costs time &amp; RAM</a:t>
              </a:r>
            </a:p>
          </p:txBody>
        </p:sp>
        <p:sp>
          <p:nvSpPr>
            <p:cNvPr id="26" name="view title"/>
            <p:cNvSpPr txBox="1"/>
            <p:nvPr/>
          </p:nvSpPr>
          <p:spPr>
            <a:xfrm>
              <a:off x="6370320" y="2331720"/>
              <a:ext cx="2490978"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solution: views</a:t>
              </a:r>
            </a:p>
          </p:txBody>
        </p:sp>
        <p:sp>
          <p:nvSpPr>
            <p:cNvPr id="27" name="view pill"/>
            <p:cNvSpPr/>
            <p:nvPr/>
          </p:nvSpPr>
          <p:spPr>
            <a:xfrm>
              <a:off x="8861298" y="2331720"/>
              <a:ext cx="1187501" cy="43891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FFFFFF"/>
                  </a:solidFill>
                  <a:latin typeface="Fira Sans SemiBold"/>
                </a:rPr>
                <a:t>view</a:t>
              </a:r>
            </a:p>
          </p:txBody>
        </p:sp>
        <p:sp>
          <p:nvSpPr>
            <p:cNvPr id="28" name="view name 1"/>
            <p:cNvSpPr txBox="1"/>
            <p:nvPr/>
          </p:nvSpPr>
          <p:spPr>
            <a:xfrm>
              <a:off x="637032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9" name="view name 2"/>
            <p:cNvSpPr txBox="1"/>
            <p:nvPr/>
          </p:nvSpPr>
          <p:spPr>
            <a:xfrm>
              <a:off x="637032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30" name="view cell"/>
            <p:cNvSpPr/>
            <p:nvPr/>
          </p:nvSpPr>
          <p:spPr>
            <a:xfrm>
              <a:off x="701040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ew cell"/>
            <p:cNvSpPr/>
            <p:nvPr/>
          </p:nvSpPr>
          <p:spPr>
            <a:xfrm>
              <a:off x="728472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ew cell"/>
            <p:cNvSpPr/>
            <p:nvPr/>
          </p:nvSpPr>
          <p:spPr>
            <a:xfrm>
              <a:off x="755904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ew cell"/>
            <p:cNvSpPr/>
            <p:nvPr/>
          </p:nvSpPr>
          <p:spPr>
            <a:xfrm>
              <a:off x="783336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ew cell"/>
            <p:cNvSpPr/>
            <p:nvPr/>
          </p:nvSpPr>
          <p:spPr>
            <a:xfrm>
              <a:off x="810768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view ref"/>
            <p:cNvCxnSpPr/>
            <p:nvPr/>
          </p:nvCxnSpPr>
          <p:spPr>
            <a:xfrm>
              <a:off x="6662928" y="3072384"/>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view ref"/>
            <p:cNvCxnSpPr/>
            <p:nvPr/>
          </p:nvCxnSpPr>
          <p:spPr>
            <a:xfrm flipV="1">
              <a:off x="6662928" y="3337560"/>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view meaning"/>
            <p:cNvSpPr txBox="1"/>
            <p:nvPr/>
          </p:nvSpPr>
          <p:spPr>
            <a:xfrm>
              <a:off x="874776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same memory → free, writes show through</a:t>
              </a:r>
            </a:p>
          </p:txBody>
        </p:sp>
      </p:grpSp>
      <p:cxnSp>
        <p:nvCxnSpPr>
          <p:cNvPr id="38" name="Legend rule">
            <a:extLst>
              <a:ext uri="{C183D7F6-B498-43B3-948B-1728B52AA6E4}">
                <adec:decorative xmlns:adec="http://schemas.microsoft.com/office/drawing/2017/decorative" val="1"/>
              </a:ext>
            </a:extLst>
          </p:cNvPr>
          <p:cNvCxnSpPr/>
          <p:nvPr/>
        </p:nvCxnSpPr>
        <p:spPr>
          <a:xfrm>
            <a:off x="548640" y="3886200"/>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9" name="Handoffs" descr="Takeaway: every unnecessary xyz copy costs 24 B per point, 0.5 GB per 1 km AHN file. The problem, copies: two names, each on its own block of memory; new memory costs time and RAM. The solution, views: two names on one block; same memory, free, writes show through. Below, four rows, one per hand-off between the libraries. las.xyz: copy, a new array on every access. Vector3dVector of xyz: copy, Open3D gets its own copy. np.asarray of pcd.points: view, writes reach the point cloud. pv.PolyData of pts: view, the same memory as pts."/>
          <p:cNvGrpSpPr/>
          <p:nvPr/>
        </p:nvGrpSpPr>
        <p:grpSpPr>
          <a:xfrm>
            <a:off x="548640" y="4443840"/>
            <a:ext cx="11094720" cy="877824"/>
            <a:chOff x="548640" y="4443840"/>
            <a:chExt cx="11094720" cy="877824"/>
          </a:xfrm>
        </p:grpSpPr>
        <p:sp>
          <p:nvSpPr>
            <p:cNvPr id="40" name="Handoffs_code_1"/>
            <p:cNvSpPr/>
            <p:nvPr/>
          </p:nvSpPr>
          <p:spPr>
            <a:xfrm>
              <a:off x="548640" y="4443840"/>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las.xyz</a:t>
              </a:r>
            </a:p>
          </p:txBody>
        </p:sp>
        <p:sp>
          <p:nvSpPr>
            <p:cNvPr id="41" name="Handoffs_pill_1"/>
            <p:cNvSpPr/>
            <p:nvPr/>
          </p:nvSpPr>
          <p:spPr>
            <a:xfrm>
              <a:off x="4343400" y="4471272"/>
              <a:ext cx="1092962"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2" name="Handoffs_text_1"/>
            <p:cNvSpPr txBox="1"/>
            <p:nvPr/>
          </p:nvSpPr>
          <p:spPr>
            <a:xfrm>
              <a:off x="5847842" y="4443840"/>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new array, every access</a:t>
              </a:r>
            </a:p>
          </p:txBody>
        </p:sp>
        <p:sp>
          <p:nvSpPr>
            <p:cNvPr id="43" name="Handoffs_code_2"/>
            <p:cNvSpPr/>
            <p:nvPr/>
          </p:nvSpPr>
          <p:spPr>
            <a:xfrm>
              <a:off x="548640" y="4919328"/>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np.asarray(pcd.points)</a:t>
              </a:r>
            </a:p>
          </p:txBody>
        </p:sp>
        <p:sp>
          <p:nvSpPr>
            <p:cNvPr id="44" name="Handoffs_pill_2"/>
            <p:cNvSpPr/>
            <p:nvPr/>
          </p:nvSpPr>
          <p:spPr>
            <a:xfrm>
              <a:off x="4343400" y="4946760"/>
              <a:ext cx="1092962"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45" name="Handoffs_text_2"/>
            <p:cNvSpPr txBox="1"/>
            <p:nvPr/>
          </p:nvSpPr>
          <p:spPr>
            <a:xfrm>
              <a:off x="5847842" y="4919328"/>
              <a:ext cx="5795518" cy="402336"/>
            </a:xfrm>
            <a:prstGeom prst="rect">
              <a:avLst/>
            </a:prstGeom>
            <a:noFill/>
          </p:spPr>
          <p:txBody>
            <a:bodyPr wrap="none" anchor="ctr" lIns="0" tIns="0" rIns="0" bIns="0">
              <a:noAutofit/>
            </a:bodyPr>
            <a:lstStyle/>
            <a:p>
              <a:pPr algn="l"/>
              <a:r>
                <a:rPr sz="2000" b="0" i="0" lang="en-GB">
                  <a:solidFill>
                    <a:srgbClr val="263238"/>
                  </a:solidFill>
                  <a:latin typeface="Fira Sans"/>
                </a:rPr>
                <a:t>writes reach the point cloud</a:t>
              </a:r>
            </a:p>
          </p:txBody>
        </p:sp>
      </p:grpSp>
      <p:sp>
        <p:nvSpPr>
          <p:cNvPr id="46" name="Note box">
            <a:extLst>
              <a:ext uri="{C183D7F6-B498-43B3-948B-1728B52AA6E4}">
                <adec:decorative xmlns:adec="http://schemas.microsoft.com/office/drawing/2017/decorative" val="1"/>
              </a:ext>
            </a:extLst>
          </p:cNvPr>
          <p:cNvSpPr/>
          <p:nvPr/>
        </p:nvSpPr>
        <p:spPr>
          <a:xfrm>
            <a:off x="9403080" y="868680"/>
            <a:ext cx="2240280" cy="512064"/>
          </a:xfrm>
          <a:prstGeom prst="rect">
            <a:avLst/>
          </a:prstGeom>
          <a:solidFill>
            <a:srgbClr val="DF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7" name="Small print note"/>
          <p:cNvSpPr txBox="1"/>
          <p:nvPr/>
        </p:nvSpPr>
        <p:spPr>
          <a:xfrm>
            <a:off x="9540240" y="941832"/>
            <a:ext cx="196596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Why 24 B? x, y and z are three float64 values: 3 × 8 B.</a:t>
            </a:r>
            <a:endParaRPr lang="en-GB" sz="1200"/>
          </a:p>
        </p:txBody>
      </p:sp>
      <p:sp>
        <p:nvSpPr>
          <p:cNvPr id="48" name="Small print rule chip 1" descr="Evidence for rule 1: Think in arrays, not points"/>
          <p:cNvSpPr txBox="1"/>
          <p:nvPr/>
        </p:nvSpPr>
        <p:spPr>
          <a:xfrm>
            <a:off x="9498609" y="182880"/>
            <a:ext cx="2144751" cy="310896"/>
          </a:xfrm>
          <a:prstGeom prst="rect">
            <a:avLst/>
          </a:prstGeom>
          <a:noFill/>
        </p:spPr>
        <p:txBody>
          <a:bodyPr wrap="none" anchor="ctr" lIns="0" tIns="0" rIns="0" bIns="0">
            <a:noAutofit/>
          </a:bodyPr>
          <a:lstStyle/>
          <a:p>
            <a:r>
              <a:rPr sz="1400" lang="en-GB">
                <a:solidFill>
                  <a:srgbClr val="1C325B"/>
                </a:solidFill>
                <a:latin typeface="Fira Sans SemiBold"/>
              </a:rPr>
              <a:t>Think in arrays, not points</a:t>
            </a:r>
            <a:endParaRPr lang="en-GB" sz="1400"/>
          </a:p>
        </p:txBody>
      </p:sp>
      <p:sp>
        <p:nvSpPr>
          <p:cNvPr id="49" name="Small print rule number 1">
            <a:extLst>
              <a:ext uri="{C183D7F6-B498-43B3-948B-1728B52AA6E4}">
                <adec:decorative xmlns:adec="http://schemas.microsoft.com/office/drawing/2017/decorative" val="1"/>
              </a:ext>
            </a:extLst>
          </p:cNvPr>
          <p:cNvSpPr/>
          <p:nvPr/>
        </p:nvSpPr>
        <p:spPr>
          <a:xfrm>
            <a:off x="9114561"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1</a:t>
            </a:r>
            <a:endParaRPr lang="en-GB" sz="1400"/>
          </a:p>
        </p:txBody>
      </p:sp>
      <p:sp>
        <p:nvSpPr>
          <p:cNvPr id="50" name="Small print step tracker" descr="Pipeline step 1 of 6: Load"/>
          <p:cNvSpPr txBox="1"/>
          <p:nvPr/>
        </p:nvSpPr>
        <p:spPr>
          <a:xfrm>
            <a:off x="4712487"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2B6797"/>
                </a:solidFill>
                <a:latin typeface="Fira Sans SemiBold"/>
              </a:rPr>
              <a:t>1 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51"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 one average per voxel</a:t>
            </a:r>
          </a:p>
        </p:txBody>
      </p:sp>
      <p:pic>
        <p:nvPicPr>
          <p:cNvPr id="6" name="!!render" descr="Same view as slide 12 after voxel downsampling: fewer points, same size, same area."/>
          <p:cNvPicPr>
            <a:picLocks noChangeAspect="1"/>
          </p:cNvPicPr>
          <p:nvPr/>
        </p:nvPicPr>
        <p:blipFill>
          <a:blip r:embed="rId2"/>
          <a:stretch>
            <a:fillRect/>
          </a:stretch>
        </p:blipFill>
        <p:spPr>
          <a:xfrm>
            <a:off x="8405095" y="1554480"/>
            <a:ext cx="3238265" cy="3654264"/>
          </a:xfrm>
          <a:prstGeom prst="rect">
            <a:avLst/>
          </a:prstGeom>
        </p:spPr>
      </p:pic>
      <p:grpSp>
        <p:nvGrpSpPr>
          <p:cNvPr id="3" name="!!hl">
            <a:extLst>
              <a:ext uri="{C183D7F6-B498-43B3-948B-1728B52AA6E4}">
                <adec:decorative xmlns:adec="http://schemas.microsoft.com/office/drawing/2017/decorative" val="1"/>
              </a:ext>
            </a:extLst>
          </p:cNvPr>
          <p:cNvGrpSpPr/>
          <p:nvPr/>
        </p:nvGrpSpPr>
        <p:grpSpPr>
          <a:xfrm>
            <a:off x="402336" y="1600200"/>
            <a:ext cx="7728439" cy="266700"/>
            <a:chOff x="402336" y="1600200"/>
            <a:chExt cx="7728439" cy="266700"/>
          </a:xfrm>
        </p:grpSpPr>
        <p:sp>
          <p:nvSpPr>
            <p:cNvPr id="7" name="Key line bar"/>
            <p:cNvSpPr/>
            <p:nvPr/>
          </p:nvSpPr>
          <p:spPr>
            <a:xfrm>
              <a:off x="402336" y="1600200"/>
              <a:ext cx="7728439"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16002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554480"/>
            <a:ext cx="7728439" cy="10515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pic>
        <p:nvPicPr>
          <p:cNvPr id="10" name="Voxel before and after" descr="Left, a 3 by 1.5 metre patch of the crop from above, one layer of voxels, with the 0.5 metre cells drawn: 95 points. Right of it, the same patch: the 95 points faded, and one larger average point in each of the 18 cells."/>
          <p:cNvPicPr>
            <a:picLocks noChangeAspect="1"/>
          </p:cNvPicPr>
          <p:nvPr/>
        </p:nvPicPr>
        <p:blipFill>
          <a:blip r:embed="rId3"/>
          <a:stretch>
            <a:fillRect/>
          </a:stretch>
        </p:blipFill>
        <p:spPr>
          <a:xfrm>
            <a:off x="548640" y="2743200"/>
            <a:ext cx="6716482" cy="2465544"/>
          </a:xfrm>
          <a:prstGeom prst="rect">
            <a:avLst/>
          </a:prstGeom>
        </p:spPr>
      </p:pic>
      <p:sp>
        <p:nvSpPr>
          <p:cNvPr id="11" name="Takeaway bar"/>
          <p:cNvSpPr/>
          <p:nvPr/>
        </p:nvSpPr>
        <p:spPr>
          <a:xfrm>
            <a:off x="548640" y="5345904"/>
            <a:ext cx="64008" cy="5791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upport"/>
          <p:cNvSpPr txBox="1"/>
          <p:nvPr/>
        </p:nvSpPr>
        <p:spPr>
          <a:xfrm>
            <a:off x="731520" y="5345904"/>
            <a:ext cx="10911840" cy="579120"/>
          </a:xfrm>
          <a:prstGeom prst="rect">
            <a:avLst/>
          </a:prstGeom>
          <a:noFill/>
        </p:spPr>
        <p:txBody>
          <a:bodyPr wrap="square" anchor="ctr" lIns="0" tIns="0" rIns="0" bIns="0">
            <a:noAutofit/>
          </a:bodyPr>
          <a:lstStyle/>
          <a:p>
            <a:pPr marL="0" indent="0" algn="l">
              <a:spcBef>
                <a:spcPts val="0"/>
              </a:spcBef>
              <a:spcAft>
                <a:spcPts val="0"/>
              </a:spcAft>
              <a:buNone/>
            </a:pPr>
            <a:r>
              <a:rPr sz="3200" b="1" lang="en-GB">
                <a:solidFill>
                  <a:srgbClr val="1C325B"/>
                </a:solidFill>
                <a:latin typeface="+mn-lt"/>
              </a:rPr>
              <a:t>Rule 2: 722 961 points in → 232 180 out at 0.5 m voxels.</a:t>
            </a:r>
            <a:endParaRPr lang="en-GB" sz="3200"/>
          </a:p>
        </p:txBody>
      </p:sp>
      <p:sp>
        <p:nvSpPr>
          <p:cNvPr id="13" name="!!src"/>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4" name="Small print rule chip 2" descr="Evidence for rule 2: Make it small first"/>
          <p:cNvSpPr txBox="1"/>
          <p:nvPr/>
        </p:nvSpPr>
        <p:spPr>
          <a:xfrm>
            <a:off x="10166960" y="182880"/>
            <a:ext cx="1476400" cy="310896"/>
          </a:xfrm>
          <a:prstGeom prst="rect">
            <a:avLst/>
          </a:prstGeom>
          <a:noFill/>
        </p:spPr>
        <p:txBody>
          <a:bodyPr wrap="none" anchor="ctr" lIns="0" tIns="0" rIns="0" bIns="0">
            <a:noAutofit/>
          </a:bodyPr>
          <a:lstStyle/>
          <a:p>
            <a:r>
              <a:rPr sz="1400" lang="en-GB">
                <a:solidFill>
                  <a:srgbClr val="1C325B"/>
                </a:solidFill>
                <a:latin typeface="Fira Sans SemiBold"/>
              </a:rPr>
              <a:t>Make it small first</a:t>
            </a:r>
            <a:endParaRPr lang="en-GB" sz="1400"/>
          </a:p>
        </p:txBody>
      </p:sp>
      <p:sp>
        <p:nvSpPr>
          <p:cNvPr id="15" name="Small print rule number 2">
            <a:extLst>
              <a:ext uri="{C183D7F6-B498-43B3-948B-1728B52AA6E4}">
                <adec:decorative xmlns:adec="http://schemas.microsoft.com/office/drawing/2017/decorative" val="1"/>
              </a:ext>
            </a:extLst>
          </p:cNvPr>
          <p:cNvSpPr/>
          <p:nvPr/>
        </p:nvSpPr>
        <p:spPr>
          <a:xfrm>
            <a:off x="9782912"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2</a:t>
            </a:r>
            <a:endParaRPr lang="en-GB" sz="1400"/>
          </a:p>
        </p:txBody>
      </p:sp>
      <p:sp>
        <p:nvSpPr>
          <p:cNvPr id="16" name="Small print step tracker" descr="Pipeline step 2 of 6: Voxels"/>
          <p:cNvSpPr txBox="1"/>
          <p:nvPr/>
        </p:nvSpPr>
        <p:spPr>
          <a:xfrm>
            <a:off x="5380838"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455A64"/>
                </a:solidFill>
                <a:latin typeface="+mn-lt"/>
              </a:rPr>
              <a:t>Load</a:t>
            </a:r>
            <a:r>
              <a:rPr sz="1200" lang="en-GB">
                <a:solidFill>
                  <a:srgbClr val="455A64"/>
                </a:solidFill>
                <a:latin typeface="+mn-lt"/>
              </a:rPr>
              <a:t>  ·  </a:t>
            </a:r>
            <a:r>
              <a:rPr sz="1200" lang="en-GB">
                <a:solidFill>
                  <a:srgbClr val="2B6797"/>
                </a:solidFill>
                <a:latin typeface="Fira Sans SemiBold"/>
              </a:rPr>
              <a:t>2 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17"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 one plane per tile</a:t>
            </a:r>
          </a:p>
        </p:txBody>
      </p:sp>
      <p:grpSp>
        <p:nvGrpSpPr>
          <p:cNvPr id="3" name="Code key line">
            <a:extLst>
              <a:ext uri="{C183D7F6-B498-43B3-948B-1728B52AA6E4}">
                <adec:decorative xmlns:adec="http://schemas.microsoft.com/office/drawing/2017/decorative" val="1"/>
              </a:ext>
            </a:extLst>
          </p:cNvPr>
          <p:cNvGrpSpPr/>
          <p:nvPr/>
        </p:nvGrpSpPr>
        <p:grpSpPr>
          <a:xfrm>
            <a:off x="402336" y="2133600"/>
            <a:ext cx="6181344" cy="266700"/>
            <a:chOff x="402336" y="2133600"/>
            <a:chExt cx="6181344" cy="266700"/>
          </a:xfrm>
        </p:grpSpPr>
        <p:sp>
          <p:nvSpPr>
            <p:cNvPr id="6" name="Key line bar"/>
            <p:cNvSpPr/>
            <p:nvPr/>
          </p:nvSpPr>
          <p:spPr>
            <a:xfrm>
              <a:off x="402336" y="21336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1336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pic>
        <p:nvPicPr>
          <p:cNvPr id="9" name="Render" descr="Same view: ground points in slate grey, labelled Ground, everything else still coloured by height."/>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Side view: ground points along a gently sloping street, a building and a tree above them, drawn hollow because they are not ground; a dashed line splits two tiles and each tile has its own straight plane through its ground points."/>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Fit one plane per tile;</a:t>
            </a:r>
            <a:endParaRPr lang="en-GB" sz="2800"/>
          </a:p>
          <a:p>
            <a:pPr marL="0" indent="0" algn="l">
              <a:spcBef>
                <a:spcPts val="0"/>
              </a:spcBef>
              <a:spcAft>
                <a:spcPts val="0"/>
              </a:spcAft>
              <a:buNone/>
            </a:pPr>
            <a:r>
              <a:rPr sz="2800" b="1" lang="en-GB">
                <a:solidFill>
                  <a:srgbClr val="1C325B"/>
                </a:solidFill>
                <a:latin typeface="+mn-lt"/>
              </a:rPr>
              <a:t>roofs get none.</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5" name="Small print rule chip 2" descr="Evidence for rule 2: Make it small first"/>
          <p:cNvSpPr txBox="1"/>
          <p:nvPr/>
        </p:nvSpPr>
        <p:spPr>
          <a:xfrm>
            <a:off x="10166960" y="182880"/>
            <a:ext cx="1476400" cy="310896"/>
          </a:xfrm>
          <a:prstGeom prst="rect">
            <a:avLst/>
          </a:prstGeom>
          <a:noFill/>
        </p:spPr>
        <p:txBody>
          <a:bodyPr wrap="none" anchor="ctr" lIns="0" tIns="0" rIns="0" bIns="0">
            <a:noAutofit/>
          </a:bodyPr>
          <a:lstStyle/>
          <a:p>
            <a:r>
              <a:rPr sz="1400" lang="en-GB">
                <a:solidFill>
                  <a:srgbClr val="1C325B"/>
                </a:solidFill>
                <a:latin typeface="Fira Sans SemiBold"/>
              </a:rPr>
              <a:t>Make it small first</a:t>
            </a:r>
            <a:endParaRPr lang="en-GB" sz="1400"/>
          </a:p>
        </p:txBody>
      </p:sp>
      <p:sp>
        <p:nvSpPr>
          <p:cNvPr id="16" name="Small print rule number 2">
            <a:extLst>
              <a:ext uri="{C183D7F6-B498-43B3-948B-1728B52AA6E4}">
                <adec:decorative xmlns:adec="http://schemas.microsoft.com/office/drawing/2017/decorative" val="1"/>
              </a:ext>
            </a:extLst>
          </p:cNvPr>
          <p:cNvSpPr/>
          <p:nvPr/>
        </p:nvSpPr>
        <p:spPr>
          <a:xfrm>
            <a:off x="9782912"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2</a:t>
            </a:r>
            <a:endParaRPr lang="en-GB" sz="1400"/>
          </a:p>
        </p:txBody>
      </p:sp>
      <p:sp>
        <p:nvSpPr>
          <p:cNvPr id="17" name="Small print step tracker" descr="Pipeline step 3 of 6: Ground"/>
          <p:cNvSpPr txBox="1"/>
          <p:nvPr/>
        </p:nvSpPr>
        <p:spPr>
          <a:xfrm>
            <a:off x="5380838"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455A64"/>
                </a:solidFill>
                <a:latin typeface="+mn-lt"/>
              </a:rPr>
              <a:t>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2B6797"/>
                </a:solidFill>
                <a:latin typeface="Fira Sans SemiBold"/>
              </a:rPr>
              <a:t>3 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18"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 DBSCAN groups points that touch</a:t>
            </a:r>
          </a:p>
        </p:txBody>
      </p:sp>
      <p:grpSp>
        <p:nvGrpSpPr>
          <p:cNvPr id="3" name="Code key line">
            <a:extLst>
              <a:ext uri="{C183D7F6-B498-43B3-948B-1728B52AA6E4}">
                <adec:decorative xmlns:adec="http://schemas.microsoft.com/office/drawing/2017/decorative" val="1"/>
              </a:ext>
            </a:extLst>
          </p:cNvPr>
          <p:cNvGrpSpPr/>
          <p:nvPr/>
        </p:nvGrpSpPr>
        <p:grpSpPr>
          <a:xfrm>
            <a:off x="402336" y="2933700"/>
            <a:ext cx="6181344" cy="266700"/>
            <a:chOff x="402336" y="2933700"/>
            <a:chExt cx="6181344" cy="266700"/>
          </a:xfrm>
        </p:grpSpPr>
        <p:sp>
          <p:nvSpPr>
            <p:cNvPr id="6" name="Key line bar"/>
            <p:cNvSpPr/>
            <p:nvPr/>
          </p:nvSpPr>
          <p:spPr>
            <a:xfrm>
              <a:off x="402336" y="29337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9337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pic>
        <p:nvPicPr>
          <p:cNvPr id="9" name="Render" descr="Same view: ground stays slate grey, labelled Ground; the other points are grouped into clusters, each drawn in one of four cycling colours (blue, sage, grey, light grey), with noise dimmed."/>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wo groups of points, each a cluster because every point has neighbours within eps, drawn as a dashed circle; one lone point far away is nois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Neighbours within eps</a:t>
            </a:r>
            <a:endParaRPr lang="en-GB" sz="2800"/>
          </a:p>
          <a:p>
            <a:pPr marL="0" indent="0" algn="l">
              <a:spcBef>
                <a:spcPts val="0"/>
              </a:spcBef>
              <a:spcAft>
                <a:spcPts val="0"/>
              </a:spcAft>
              <a:buNone/>
            </a:pPr>
            <a:r>
              <a:rPr sz="2800" b="1" lang="en-GB">
                <a:solidFill>
                  <a:srgbClr val="1C325B"/>
                </a:solidFill>
                <a:latin typeface="+mn-lt"/>
              </a:rPr>
              <a:t>make a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5" name="Small print step tracker" descr="Pipeline step 4 of 6: Clusters"/>
          <p:cNvSpPr txBox="1"/>
          <p:nvPr/>
        </p:nvSpPr>
        <p:spPr>
          <a:xfrm>
            <a:off x="7515606"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455A64"/>
                </a:solidFill>
                <a:latin typeface="+mn-lt"/>
              </a:rPr>
              <a:t>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2B6797"/>
                </a:solidFill>
                <a:latin typeface="Fira Sans SemiBold"/>
              </a:rPr>
              <a:t>4 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16"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 the first rule that fires wins</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pic>
        <p:nvPicPr>
          <p:cNvPr id="9" name="Render" descr="Same view with four classes, each labelled directly: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cluster shapes, a tree crown with many echoes, a wide flat building and a thin pole, each with an arrow to its class colour: vegetation, buildings, street furnitur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1 024 clusters, not 232 180 points:</a:t>
            </a:r>
            <a:endParaRPr lang="en-GB" sz="2800"/>
          </a:p>
          <a:p>
            <a:pPr marL="0" indent="0" algn="l">
              <a:spcBef>
                <a:spcPts val="0"/>
              </a:spcBef>
              <a:spcAft>
                <a:spcPts val="0"/>
              </a:spcAft>
              <a:buNone/>
            </a:pPr>
            <a:r>
              <a:rPr sz="2800" b="1" lang="en-GB">
                <a:solidFill>
                  <a:srgbClr val="1C325B"/>
                </a:solidFill>
                <a:latin typeface="+mn-lt"/>
              </a:rPr>
              <a:t>a Python loop is fine.</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Height, footprint and echoes decide the class.</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5" name="Small print rule chip 2" descr="Evidence for rule 2: Make it small first"/>
          <p:cNvSpPr txBox="1"/>
          <p:nvPr/>
        </p:nvSpPr>
        <p:spPr>
          <a:xfrm>
            <a:off x="10166960" y="182880"/>
            <a:ext cx="1476400" cy="310896"/>
          </a:xfrm>
          <a:prstGeom prst="rect">
            <a:avLst/>
          </a:prstGeom>
          <a:noFill/>
        </p:spPr>
        <p:txBody>
          <a:bodyPr wrap="none" anchor="ctr" lIns="0" tIns="0" rIns="0" bIns="0">
            <a:noAutofit/>
          </a:bodyPr>
          <a:lstStyle/>
          <a:p>
            <a:r>
              <a:rPr sz="1400" lang="en-GB">
                <a:solidFill>
                  <a:srgbClr val="1C325B"/>
                </a:solidFill>
                <a:latin typeface="Fira Sans SemiBold"/>
              </a:rPr>
              <a:t>Make it small first</a:t>
            </a:r>
            <a:endParaRPr lang="en-GB" sz="1400"/>
          </a:p>
        </p:txBody>
      </p:sp>
      <p:sp>
        <p:nvSpPr>
          <p:cNvPr id="16" name="Small print rule number 2">
            <a:extLst>
              <a:ext uri="{C183D7F6-B498-43B3-948B-1728B52AA6E4}">
                <adec:decorative xmlns:adec="http://schemas.microsoft.com/office/drawing/2017/decorative" val="1"/>
              </a:ext>
            </a:extLst>
          </p:cNvPr>
          <p:cNvSpPr/>
          <p:nvPr/>
        </p:nvSpPr>
        <p:spPr>
          <a:xfrm>
            <a:off x="9782912"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2</a:t>
            </a:r>
            <a:endParaRPr lang="en-GB" sz="1400"/>
          </a:p>
        </p:txBody>
      </p:sp>
      <p:sp>
        <p:nvSpPr>
          <p:cNvPr id="17" name="Small print step tracker" descr="Pipeline step 5 of 6: Labels"/>
          <p:cNvSpPr txBox="1"/>
          <p:nvPr/>
        </p:nvSpPr>
        <p:spPr>
          <a:xfrm>
            <a:off x="5380838"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455A64"/>
                </a:solidFill>
                <a:latin typeface="+mn-lt"/>
              </a:rPr>
              <a:t>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2B6797"/>
                </a:solidFill>
                <a:latin typeface="Fira Sans SemiBold"/>
              </a:rPr>
              <a:t>5 Labels</a:t>
            </a:r>
            <a:r>
              <a:rPr sz="1200" lang="en-GB">
                <a:solidFill>
                  <a:srgbClr val="455A64"/>
                </a:solidFill>
                <a:latin typeface="+mn-lt"/>
              </a:rPr>
              <a:t>  ·  </a:t>
            </a:r>
            <a:r>
              <a:rPr sz="1200" lang="en-GB">
                <a:solidFill>
                  <a:srgbClr val="455A64"/>
                </a:solidFill>
                <a:latin typeface="+mn-lt"/>
              </a:rPr>
              <a:t>Paint-back</a:t>
            </a:r>
            <a:endParaRPr lang="en-GB" sz="1200"/>
          </a:p>
        </p:txBody>
      </p:sp>
      <p:sp>
        <p:nvSpPr>
          <p:cNvPr id="18"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Paint-back: every point takes its voxel's label</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6181344" cy="266700"/>
            <a:chOff x="402336" y="2400300"/>
            <a:chExt cx="6181344" cy="266700"/>
          </a:xfrm>
        </p:grpSpPr>
        <p:sp>
          <p:nvSpPr>
            <p:cNvPr id="6" name="Key line bar"/>
            <p:cNvSpPr/>
            <p:nvPr/>
          </p:nvSpPr>
          <p:spPr>
            <a:xfrm>
              <a:off x="402336" y="24003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pic>
        <p:nvPicPr>
          <p:cNvPr id="9" name="Render" descr="Same view: the four class labels painted back from the 232 180 voxel points onto all 722 961 original points;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large voxel points in their class colours with small original points around them, each joined by a thin line to its nearest voxel point, whose colour it takes."/>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One query labels all</a:t>
            </a:r>
            <a:endParaRPr lang="en-GB" sz="2800"/>
          </a:p>
          <a:p>
            <a:pPr marL="0" indent="0" algn="l">
              <a:spcBef>
                <a:spcPts val="0"/>
              </a:spcBef>
              <a:spcAft>
                <a:spcPts val="0"/>
              </a:spcAft>
              <a:buNone/>
            </a:pPr>
            <a:r>
              <a:rPr sz="2800" b="1" lang="en-GB">
                <a:solidFill>
                  <a:srgbClr val="1C325B"/>
                </a:solidFill>
                <a:latin typeface="+mn-lt"/>
              </a:rPr>
              <a:t>722 961 points.</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KDTree query, then PyVista renders it.</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5" name="Small print step tracker" descr="Pipeline step 6 of 6: Paint-back"/>
          <p:cNvSpPr txBox="1"/>
          <p:nvPr/>
        </p:nvSpPr>
        <p:spPr>
          <a:xfrm>
            <a:off x="7515606" y="182880"/>
            <a:ext cx="4127754" cy="310896"/>
          </a:xfrm>
          <a:prstGeom prst="rect">
            <a:avLst/>
          </a:prstGeom>
          <a:noFill/>
        </p:spPr>
        <p:txBody>
          <a:bodyPr wrap="none" anchor="ctr" lIns="0" tIns="0" rIns="0" bIns="0">
            <a:noAutofit/>
          </a:bodyPr>
          <a:lstStyle/>
          <a:p>
            <a:pPr marL="0" indent="0" algn="r">
              <a:spcBef>
                <a:spcPts val="0"/>
              </a:spcBef>
              <a:spcAft>
                <a:spcPts val="0"/>
              </a:spcAft>
              <a:buNone/>
            </a:pPr>
            <a:r>
              <a:rPr sz="1200" lang="en-GB">
                <a:solidFill>
                  <a:srgbClr val="455A64"/>
                </a:solidFill>
                <a:latin typeface="+mn-lt"/>
              </a:rPr>
              <a:t>Load</a:t>
            </a:r>
            <a:r>
              <a:rPr sz="1200" lang="en-GB">
                <a:solidFill>
                  <a:srgbClr val="455A64"/>
                </a:solidFill>
                <a:latin typeface="+mn-lt"/>
              </a:rPr>
              <a:t>  ·  </a:t>
            </a:r>
            <a:r>
              <a:rPr sz="1200" lang="en-GB">
                <a:solidFill>
                  <a:srgbClr val="455A64"/>
                </a:solidFill>
                <a:latin typeface="+mn-lt"/>
              </a:rPr>
              <a:t>Voxels</a:t>
            </a:r>
            <a:r>
              <a:rPr sz="1200" lang="en-GB">
                <a:solidFill>
                  <a:srgbClr val="455A64"/>
                </a:solidFill>
                <a:latin typeface="+mn-lt"/>
              </a:rPr>
              <a:t>  ·  </a:t>
            </a:r>
            <a:r>
              <a:rPr sz="1200" lang="en-GB">
                <a:solidFill>
                  <a:srgbClr val="455A64"/>
                </a:solidFill>
                <a:latin typeface="+mn-lt"/>
              </a:rPr>
              <a:t>Ground</a:t>
            </a:r>
            <a:r>
              <a:rPr sz="1200" lang="en-GB">
                <a:solidFill>
                  <a:srgbClr val="455A64"/>
                </a:solidFill>
                <a:latin typeface="+mn-lt"/>
              </a:rPr>
              <a:t>  ·  </a:t>
            </a:r>
            <a:r>
              <a:rPr sz="1200" lang="en-GB">
                <a:solidFill>
                  <a:srgbClr val="455A64"/>
                </a:solidFill>
                <a:latin typeface="+mn-lt"/>
              </a:rPr>
              <a:t>Clusters</a:t>
            </a:r>
            <a:r>
              <a:rPr sz="1200" lang="en-GB">
                <a:solidFill>
                  <a:srgbClr val="455A64"/>
                </a:solidFill>
                <a:latin typeface="+mn-lt"/>
              </a:rPr>
              <a:t>  ·  </a:t>
            </a:r>
            <a:r>
              <a:rPr sz="1200" lang="en-GB">
                <a:solidFill>
                  <a:srgbClr val="455A64"/>
                </a:solidFill>
                <a:latin typeface="+mn-lt"/>
              </a:rPr>
              <a:t>Labels</a:t>
            </a:r>
            <a:r>
              <a:rPr sz="1200" lang="en-GB">
                <a:solidFill>
                  <a:srgbClr val="455A64"/>
                </a:solidFill>
                <a:latin typeface="+mn-lt"/>
              </a:rPr>
              <a:t>  ·  </a:t>
            </a:r>
            <a:r>
              <a:rPr sz="1200" lang="en-GB">
                <a:solidFill>
                  <a:srgbClr val="2B6797"/>
                </a:solidFill>
                <a:latin typeface="Fira Sans SemiBold"/>
              </a:rPr>
              <a:t>6 Paint-back</a:t>
            </a:r>
            <a:endParaRPr lang="en-GB" sz="1200"/>
          </a:p>
        </p:txBody>
      </p:sp>
      <p:sp>
        <p:nvSpPr>
          <p:cNvPr id="16"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label every point in 0.6 s</a:t>
            </a:r>
          </a:p>
        </p:txBody>
      </p:sp>
      <p:pic>
        <p:nvPicPr>
          <p:cNvPr id="4" name="Render final" descr="The final labelled area, same view as slides 12 to 18: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944368"/>
            <a:chOff x="548640" y="2011680"/>
            <a:chExt cx="5613882" cy="2944368"/>
          </a:xfrm>
        </p:grpSpPr>
        <p:sp>
          <p:nvSpPr>
            <p:cNvPr id="7" name="table 0.1"/>
            <p:cNvSpPr txBox="1"/>
            <p:nvPr/>
          </p:nvSpPr>
          <p:spPr>
            <a:xfrm>
              <a:off x="548640" y="2011680"/>
              <a:ext cx="121412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420624"/>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420624"/>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32304"/>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32304"/>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32304"/>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32304"/>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32304"/>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52928"/>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52928"/>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52928"/>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52928"/>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5292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73552"/>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73552"/>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73552"/>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73552"/>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73552"/>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694176"/>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694176"/>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694176"/>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694176"/>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694176"/>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4114800"/>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4114800"/>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4114800"/>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4114800"/>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4114800"/>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535424"/>
              <a:ext cx="1214120" cy="420624"/>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535424"/>
              <a:ext cx="904240" cy="420624"/>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535424"/>
              <a:ext cx="1939010" cy="420624"/>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535424"/>
              <a:ext cx="953008" cy="420624"/>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53542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3" name="Label 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el 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el 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5315424"/>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No loop over points: the label rules loop over 1 024 clusters.</a:t>
            </a:r>
            <a:endParaRPr lang="en-GB" sz="2000"/>
          </a:p>
        </p:txBody>
      </p:sp>
      <p:sp>
        <p:nvSpPr>
          <p:cNvPr id="42" name="Source"/>
          <p:cNvSpPr txBox="1"/>
          <p:nvPr/>
        </p:nvSpPr>
        <p:spPr>
          <a:xfrm>
            <a:off x="548640" y="6034752"/>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69"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2B6797"/>
                </a:solidFill>
                <a:latin typeface="Fira Sans SemiBold"/>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full AHN sheet would need 74.2 GB</a:t>
            </a:r>
          </a:p>
        </p:txBody>
      </p:sp>
      <p:graphicFrame>
        <p:nvGraphicFramePr>
          <p:cNvPr id="8" name="chart_memory" descr="Horizontal bar chart in gigabytes for one 5 by 6.25 km AHN5 file with 926 203 338 points: LAS records at 25.9 GB, plus a float64 copy of the coordinates at 46.6 GB, and our load and voxel downsampling steps (slides 14 and 16), all arrays kept, at 74.2 GB; a dashed line labelled 32 GB RAM crosses all three bars, and the part of each bar past it is red; the three data bars are computed, not run."/>
          <p:cNvGraphicFramePr>
            <a:graphicFrameLocks noGrp="1"/>
          </p:cNvGraphicFramePr>
          <p:nvPr/>
        </p:nvGraphicFramePr>
        <p:xfrm>
          <a:off x="548640" y="944880"/>
          <a:ext cx="5023638" cy="4586952"/>
        </p:xfrm>
        <a:graphic>
          <a:graphicData uri="http://schemas.openxmlformats.org/drawingml/2006/chart">
            <c:chart xmlns:c="http://schemas.openxmlformats.org/drawingml/2006/chart" r:id="rId2"/>
          </a:graphicData>
        </a:graphic>
      </p:graphicFrame>
      <p:sp>
        <p:nvSpPr>
          <p:cNvPr id="9" name="Over the limit 1">
            <a:extLst>
              <a:ext uri="{C183D7F6-B498-43B3-948B-1728B52AA6E4}">
                <adec:decorative xmlns:adec="http://schemas.microsoft.com/office/drawing/2017/decorative" val="1"/>
              </a:ext>
            </a:extLst>
          </p:cNvPr>
          <p:cNvSpPr/>
          <p:nvPr/>
        </p:nvSpPr>
        <p:spPr>
          <a:xfrm>
            <a:off x="3102702" y="2732210"/>
            <a:ext cx="406136" cy="1012293"/>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er the limit 2">
            <a:extLst>
              <a:ext uri="{C183D7F6-B498-43B3-948B-1728B52AA6E4}">
                <adec:decorative xmlns:adec="http://schemas.microsoft.com/office/drawing/2017/decorative" val="1"/>
              </a:ext>
            </a:extLst>
          </p:cNvPr>
          <p:cNvSpPr/>
          <p:nvPr/>
        </p:nvSpPr>
        <p:spPr>
          <a:xfrm>
            <a:off x="3102702" y="4200034"/>
            <a:ext cx="1176755" cy="1012293"/>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Threshold line 1">
            <a:extLst>
              <a:ext uri="{C183D7F6-B498-43B3-948B-1728B52AA6E4}">
                <adec:decorative xmlns:adec="http://schemas.microsoft.com/office/drawing/2017/decorative" val="1"/>
              </a:ext>
            </a:extLst>
          </p:cNvPr>
          <p:cNvCxnSpPr/>
          <p:nvPr/>
        </p:nvCxnSpPr>
        <p:spPr>
          <a:xfrm>
            <a:off x="3102702" y="1036619"/>
            <a:ext cx="0" cy="172902"/>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2" name="Threshold line 2">
            <a:extLst>
              <a:ext uri="{C183D7F6-B498-43B3-948B-1728B52AA6E4}">
                <adec:decorative xmlns:adec="http://schemas.microsoft.com/office/drawing/2017/decorative" val="1"/>
              </a:ext>
            </a:extLst>
          </p:cNvPr>
          <p:cNvCxnSpPr/>
          <p:nvPr/>
        </p:nvCxnSpPr>
        <p:spPr>
          <a:xfrm>
            <a:off x="3102702" y="2331542"/>
            <a:ext cx="0" cy="3108551"/>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3" name="Threshold label"/>
          <p:cNvSpPr txBox="1"/>
          <p:nvPr/>
        </p:nvSpPr>
        <p:spPr>
          <a:xfrm>
            <a:off x="1731102" y="640379"/>
            <a:ext cx="2743200" cy="304800"/>
          </a:xfrm>
          <a:prstGeom prst="rect">
            <a:avLst/>
          </a:prstGeom>
          <a:noFill/>
        </p:spPr>
        <p:txBody>
          <a:bodyPr wrap="square" anchor="t" lIns="0" tIns="0" rIns="0" bIns="0">
            <a:noAutofit/>
          </a:bodyPr>
          <a:lstStyle/>
          <a:p>
            <a:pPr marL="0" indent="0" algn="ctr">
              <a:spcBef>
                <a:spcPts val="0"/>
              </a:spcBef>
              <a:spcAft>
                <a:spcPts val="0"/>
              </a:spcAft>
              <a:buNone/>
            </a:pPr>
            <a:r>
              <a:rPr sz="2000" b="0" lang="en-GB">
                <a:solidFill>
                  <a:srgbClr val="263238"/>
                </a:solidFill>
                <a:latin typeface="+mn-lt"/>
              </a:rPr>
              <a:t>32 GB RAM</a:t>
            </a:r>
            <a:endParaRPr lang="en-GB" sz="2000"/>
          </a:p>
        </p:txBody>
      </p:sp>
      <p:sp>
        <p:nvSpPr>
          <p:cNvPr id="16" name="Machine line"/>
          <p:cNvSpPr txBox="1"/>
          <p:nvPr/>
        </p:nvSpPr>
        <p:spPr>
          <a:xfrm>
            <a:off x="6029478" y="39928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4" name="Hero"/>
          <p:cNvSpPr txBox="1"/>
          <p:nvPr/>
        </p:nvSpPr>
        <p:spPr>
          <a:xfrm>
            <a:off x="6029478"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86 B</a:t>
            </a:r>
            <a:r>
              <a:rPr sz="2000" lang="en-GB">
                <a:solidFill>
                  <a:srgbClr val="263238"/>
                </a:solidFill>
                <a:latin typeface="+mn-lt"/>
              </a:rPr>
              <a:t> per point in our pipeline</a:t>
            </a:r>
            <a:endParaRPr lang="en-GB" sz="8000"/>
          </a:p>
        </p:txBody>
      </p:sp>
      <p:sp>
        <p:nvSpPr>
          <p:cNvPr id="15" name="Support"/>
          <p:cNvSpPr txBox="1"/>
          <p:nvPr/>
        </p:nvSpPr>
        <p:spPr>
          <a:xfrm>
            <a:off x="6029478" y="34137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86 B per point measured on the 1 km AHN tile (21 013 926 points); the 926 203 338 points are the AHN5 sheet 2023_C_31HZ2 that holds the crop, computed, not run. 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7" name="Small print rule chip 2" descr="Evidence for rule 2: Make it small first"/>
          <p:cNvSpPr txBox="1"/>
          <p:nvPr/>
        </p:nvSpPr>
        <p:spPr>
          <a:xfrm>
            <a:off x="10166960" y="182880"/>
            <a:ext cx="1476400" cy="310896"/>
          </a:xfrm>
          <a:prstGeom prst="rect">
            <a:avLst/>
          </a:prstGeom>
          <a:noFill/>
        </p:spPr>
        <p:txBody>
          <a:bodyPr wrap="none" anchor="ctr" lIns="0" tIns="0" rIns="0" bIns="0">
            <a:noAutofit/>
          </a:bodyPr>
          <a:lstStyle/>
          <a:p>
            <a:r>
              <a:rPr sz="1400" lang="en-GB">
                <a:solidFill>
                  <a:srgbClr val="1C325B"/>
                </a:solidFill>
                <a:latin typeface="Fira Sans SemiBold"/>
              </a:rPr>
              <a:t>Make it small first</a:t>
            </a:r>
            <a:endParaRPr lang="en-GB" sz="1400"/>
          </a:p>
        </p:txBody>
      </p:sp>
      <p:sp>
        <p:nvSpPr>
          <p:cNvPr id="18" name="Small print rule number 2">
            <a:extLst>
              <a:ext uri="{C183D7F6-B498-43B3-948B-1728B52AA6E4}">
                <adec:decorative xmlns:adec="http://schemas.microsoft.com/office/drawing/2017/decorative" val="1"/>
              </a:ext>
            </a:extLst>
          </p:cNvPr>
          <p:cNvSpPr/>
          <p:nvPr/>
        </p:nvSpPr>
        <p:spPr>
          <a:xfrm>
            <a:off x="9782912"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2</a:t>
            </a:r>
            <a:endParaRPr lang="en-GB" sz="1400"/>
          </a:p>
        </p:txBody>
      </p:sp>
      <p:sp>
        <p:nvSpPr>
          <p:cNvPr id="19"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2B6797"/>
                </a:solidFill>
                <a:latin typeface="Fira Sans SemiBold"/>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721208"/>
            <a:ext cx="4105758" cy="670560"/>
          </a:xfrm>
          <a:prstGeom prst="rect">
            <a:avLst/>
          </a:prstGeom>
          <a:noFill/>
        </p:spPr>
        <p:txBody>
          <a:bodyPr wrap="none" anchor="b" lIns="0" tIns="0" rIns="0" bIns="0">
            <a:noAutofit/>
          </a:bodyPr>
          <a:lstStyle/>
          <a:p>
            <a:pPr marL="0" indent="0" algn="l">
              <a:spcBef>
                <a:spcPts val="0"/>
              </a:spcBef>
              <a:spcAft>
                <a:spcPts val="0"/>
              </a:spcAft>
              <a:buNone/>
            </a:pPr>
            <a:r>
              <a:rPr sz="4400" lang="en-GB">
                <a:solidFill>
                  <a:srgbClr val="2B6797"/>
                </a:solidFill>
                <a:latin typeface="Fira Sans SemiBold"/>
              </a:rPr>
              <a:t>3.0 GB → 0.8 GB</a:t>
            </a:r>
            <a:endParaRPr lang="en-GB" sz="4400"/>
          </a:p>
        </p:txBody>
      </p:sp>
      <p:sp>
        <p:nvSpPr>
          <p:cNvPr id="11" name="Hero label"/>
          <p:cNvSpPr txBox="1"/>
          <p:nvPr/>
        </p:nvSpPr>
        <p:spPr>
          <a:xfrm>
            <a:off x="4837278" y="5006196"/>
            <a:ext cx="680608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tile</a:t>
            </a:r>
            <a:endParaRPr lang="en-GB" sz="2000"/>
          </a:p>
        </p:txBody>
      </p:sp>
      <p:sp>
        <p:nvSpPr>
          <p:cNvPr id="12" name="Support"/>
          <p:cNvSpPr txBox="1"/>
          <p:nvPr/>
        </p:nvSpPr>
        <p:spPr>
          <a:xfrm>
            <a:off x="548640" y="543734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Rule 2: make it small first, then scale up.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Measured on the 1 km AHN tile (21 013 926 points); the full sheet of slide 22 was not run. 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rule chip 2" descr="Evidence for rule 2: Make it small first"/>
          <p:cNvSpPr txBox="1"/>
          <p:nvPr/>
        </p:nvSpPr>
        <p:spPr>
          <a:xfrm>
            <a:off x="10166960" y="182880"/>
            <a:ext cx="1476400" cy="310896"/>
          </a:xfrm>
          <a:prstGeom prst="rect">
            <a:avLst/>
          </a:prstGeom>
          <a:noFill/>
        </p:spPr>
        <p:txBody>
          <a:bodyPr wrap="none" anchor="ctr" lIns="0" tIns="0" rIns="0" bIns="0">
            <a:noAutofit/>
          </a:bodyPr>
          <a:lstStyle/>
          <a:p>
            <a:r>
              <a:rPr sz="1400" lang="en-GB">
                <a:solidFill>
                  <a:srgbClr val="1C325B"/>
                </a:solidFill>
                <a:latin typeface="Fira Sans SemiBold"/>
              </a:rPr>
              <a:t>Make it small first</a:t>
            </a:r>
            <a:endParaRPr lang="en-GB" sz="1400"/>
          </a:p>
        </p:txBody>
      </p:sp>
      <p:sp>
        <p:nvSpPr>
          <p:cNvPr id="14" name="Small print rule number 2">
            <a:extLst>
              <a:ext uri="{C183D7F6-B498-43B3-948B-1728B52AA6E4}">
                <adec:decorative xmlns:adec="http://schemas.microsoft.com/office/drawing/2017/decorative" val="1"/>
              </a:ext>
            </a:extLst>
          </p:cNvPr>
          <p:cNvSpPr/>
          <p:nvPr/>
        </p:nvSpPr>
        <p:spPr>
          <a:xfrm>
            <a:off x="9782912"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2</a:t>
            </a:r>
            <a:endParaRPr lang="en-GB" sz="1400"/>
          </a:p>
        </p:txBody>
      </p:sp>
      <p:sp>
        <p:nvSpPr>
          <p:cNvPr id="15"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2B6797"/>
                </a:solidFill>
                <a:latin typeface="Fira Sans SemiBold"/>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14, column-ordered. plane: one seeded segment_plane on the whole crop.</a:t>
            </a:r>
            <a:endParaRPr lang="en-GB" sz="1200"/>
          </a:p>
        </p:txBody>
      </p:sp>
      <p:sp>
        <p:nvSpPr>
          <p:cNvPr id="22" name="Small print rule chip 3" descr="Evidence for rule 3: Let compiled code loop"/>
          <p:cNvSpPr txBox="1"/>
          <p:nvPr/>
        </p:nvSpPr>
        <p:spPr>
          <a:xfrm>
            <a:off x="9721571" y="182880"/>
            <a:ext cx="1921789" cy="310896"/>
          </a:xfrm>
          <a:prstGeom prst="rect">
            <a:avLst/>
          </a:prstGeom>
          <a:noFill/>
        </p:spPr>
        <p:txBody>
          <a:bodyPr wrap="none" anchor="ctr" lIns="0" tIns="0" rIns="0" bIns="0">
            <a:noAutofit/>
          </a:bodyPr>
          <a:lstStyle/>
          <a:p>
            <a:r>
              <a:rPr sz="1400" lang="en-GB">
                <a:solidFill>
                  <a:srgbClr val="1C325B"/>
                </a:solidFill>
                <a:latin typeface="Fira Sans SemiBold"/>
              </a:rPr>
              <a:t>Let compiled code loop</a:t>
            </a:r>
            <a:endParaRPr lang="en-GB" sz="1400"/>
          </a:p>
        </p:txBody>
      </p:sp>
      <p:sp>
        <p:nvSpPr>
          <p:cNvPr id="23" name="Small print rule number 3">
            <a:extLst>
              <a:ext uri="{C183D7F6-B498-43B3-948B-1728B52AA6E4}">
                <adec:decorative xmlns:adec="http://schemas.microsoft.com/office/drawing/2017/decorative" val="1"/>
              </a:ext>
            </a:extLst>
          </p:cNvPr>
          <p:cNvSpPr/>
          <p:nvPr/>
        </p:nvSpPr>
        <p:spPr>
          <a:xfrm>
            <a:off x="933752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3</a:t>
            </a:r>
            <a:endParaRPr lang="en-GB" sz="1400"/>
          </a:p>
        </p:txBody>
      </p:sp>
      <p:sp>
        <p:nvSpPr>
          <p:cNvPr id="24"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2B6797"/>
                </a:solidFill>
                <a:latin typeface="Fira Sans SemiBold"/>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f the median time per run, linear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11" name="Ops"/>
          <p:cNvSpPr txBox="1"/>
          <p:nvPr/>
        </p:nvSpPr>
        <p:spPr>
          <a:xfrm>
            <a:off x="548640" y="3459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Loop: 12 calls × 722 961 rows = 8.7 million calls</a:t>
            </a:r>
            <a:endParaRPr lang="en-GB" sz="2000"/>
          </a:p>
        </p:txBody>
      </p:sp>
      <p:sp>
        <p:nvSpPr>
          <p:cNvPr id="12" name="Ops"/>
          <p:cNvSpPr txBox="1"/>
          <p:nvPr/>
        </p:nvSpPr>
        <p:spPr>
          <a:xfrm>
            <a:off x="548640" y="385572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1" lang="en-GB">
                <a:solidFill>
                  <a:srgbClr val="263238"/>
                </a:solidFill>
                <a:latin typeface="+mn-lt"/>
              </a:rPr>
              <a:t>One expression: 7 calls in total</a:t>
            </a:r>
            <a:endParaRPr lang="en-GB" sz="2000"/>
          </a:p>
        </p:txBody>
      </p:sp>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130×</a:t>
            </a:r>
            <a:r>
              <a:rPr sz="2000" lang="en-GB">
                <a:solidFill>
                  <a:srgbClr val="263238"/>
                </a:solidFill>
                <a:latin typeface="+mn-lt"/>
              </a:rPr>
              <a:t> slower</a:t>
            </a:r>
            <a:endParaRPr lang="en-GB" sz="80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13" name="Small print rule chip 3" descr="Evidence for rule 3: Let compiled code loop"/>
          <p:cNvSpPr txBox="1"/>
          <p:nvPr/>
        </p:nvSpPr>
        <p:spPr>
          <a:xfrm>
            <a:off x="9721571" y="182880"/>
            <a:ext cx="1921789" cy="310896"/>
          </a:xfrm>
          <a:prstGeom prst="rect">
            <a:avLst/>
          </a:prstGeom>
          <a:noFill/>
        </p:spPr>
        <p:txBody>
          <a:bodyPr wrap="none" anchor="ctr" lIns="0" tIns="0" rIns="0" bIns="0">
            <a:noAutofit/>
          </a:bodyPr>
          <a:lstStyle/>
          <a:p>
            <a:r>
              <a:rPr sz="1400" lang="en-GB">
                <a:solidFill>
                  <a:srgbClr val="1C325B"/>
                </a:solidFill>
                <a:latin typeface="Fira Sans SemiBold"/>
              </a:rPr>
              <a:t>Let compiled code loop</a:t>
            </a:r>
            <a:endParaRPr lang="en-GB" sz="1400"/>
          </a:p>
        </p:txBody>
      </p:sp>
      <p:sp>
        <p:nvSpPr>
          <p:cNvPr id="14" name="Small print rule number 3">
            <a:extLst>
              <a:ext uri="{C183D7F6-B498-43B3-948B-1728B52AA6E4}">
                <adec:decorative xmlns:adec="http://schemas.microsoft.com/office/drawing/2017/decorative" val="1"/>
              </a:ext>
            </a:extLst>
          </p:cNvPr>
          <p:cNvSpPr/>
          <p:nvPr/>
        </p:nvSpPr>
        <p:spPr>
          <a:xfrm>
            <a:off x="933752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3</a:t>
            </a:r>
            <a:endParaRPr lang="en-GB" sz="1400"/>
          </a:p>
        </p:txBody>
      </p:sp>
      <p:sp>
        <p:nvSpPr>
          <p:cNvPr id="15"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2B6797"/>
                </a:solidFill>
                <a:latin typeface="Fira Sans SemiBold"/>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sp>
        <p:nvSpPr>
          <p:cNvPr id="6" name="Takeaway"/>
          <p:cNvSpPr txBox="1"/>
          <p:nvPr/>
        </p:nvSpPr>
        <p:spPr>
          <a:xfrm>
            <a:off x="548640" y="5379432"/>
            <a:ext cx="11094720" cy="426720"/>
          </a:xfrm>
          <a:prstGeom prst="rect">
            <a:avLst/>
          </a:prstGeom>
          <a:noFill/>
        </p:spPr>
        <p:txBody>
          <a:bodyPr wrap="square" anchor="t" lIns="0" tIns="0" rIns="0" bIns="0">
            <a:noAutofit/>
          </a:bodyPr>
          <a:lstStyle/>
          <a:p>
            <a:pPr marL="0" indent="0" algn="l">
              <a:spcBef>
                <a:spcPts val="0"/>
              </a:spcBef>
              <a:spcAft>
                <a:spcPts val="0"/>
              </a:spcAft>
              <a:buNone/>
            </a:pPr>
            <a:r>
              <a:rPr sz="2800" b="1" lang="en-GB">
                <a:solidFill>
                  <a:srgbClr val="263238"/>
                </a:solidFill>
                <a:latin typeface="+mn-lt"/>
              </a:rPr>
              <a:t>Rule 3: one call on the whole array, not N calls on single points.</a:t>
            </a:r>
            <a:endParaRPr lang="en-GB" sz="2800"/>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158728" cy="2599656"/>
            <a:chOff x="548640" y="1600200"/>
            <a:chExt cx="11158728" cy="2599656"/>
          </a:xfrm>
        </p:grpSpPr>
        <p:sp>
          <p:nvSpPr>
            <p:cNvPr id="7" name="toll_lane_top"/>
            <p:cNvSpPr txBox="1"/>
            <p:nvPr/>
          </p:nvSpPr>
          <p:spPr>
            <a:xfrm>
              <a:off x="548640" y="2368900"/>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8" name="toll_lane_bottom"/>
            <p:cNvSpPr txBox="1"/>
            <p:nvPr/>
          </p:nvSpPr>
          <p:spPr>
            <a:xfrm>
              <a:off x="548640" y="2963260"/>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9" name="toll_boundary"/>
            <p:cNvCxnSpPr/>
            <p:nvPr/>
          </p:nvCxnSpPr>
          <p:spPr>
            <a:xfrm>
              <a:off x="548640" y="2871820"/>
              <a:ext cx="11094720" cy="0"/>
            </a:xfrm>
            <a:prstGeom prst="line">
              <a:avLst/>
            </a:prstGeom>
            <a:ln w="28575">
              <a:solidFill>
                <a:srgbClr val="2B6797"/>
              </a:solidFill>
              <a:prstDash val="dash"/>
            </a:ln>
          </p:spPr>
          <p:style>
            <a:lnRef idx="2">
              <a:schemeClr val="accent1"/>
            </a:lnRef>
            <a:fillRef idx="0">
              <a:schemeClr val="accent1"/>
            </a:fillRef>
            <a:effectRef idx="1">
              <a:schemeClr val="accent1"/>
            </a:effectRef>
            <a:fontRef idx="minor">
              <a:schemeClr val="tx1"/>
            </a:fontRef>
          </p:style>
        </p:cxnSp>
        <p:sp>
          <p:nvSpPr>
            <p:cNvPr id="10" name="toll_loop_code"/>
            <p:cNvSpPr/>
            <p:nvPr/>
          </p:nvSpPr>
          <p:spPr>
            <a:xfrm>
              <a:off x="2468880" y="1600200"/>
              <a:ext cx="3291840"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1" name="loop_down_1"/>
            <p:cNvCxnSpPr/>
            <p:nvPr/>
          </p:nvCxnSpPr>
          <p:spPr>
            <a:xfrm>
              <a:off x="265176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loop_work_1"/>
            <p:cNvSpPr/>
            <p:nvPr/>
          </p:nvSpPr>
          <p:spPr>
            <a:xfrm>
              <a:off x="261518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loop_up_1"/>
            <p:cNvCxnSpPr/>
            <p:nvPr/>
          </p:nvCxnSpPr>
          <p:spPr>
            <a:xfrm flipV="1">
              <a:off x="2798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loop_toll_1"/>
            <p:cNvSpPr/>
            <p:nvPr/>
          </p:nvSpPr>
          <p:spPr>
            <a:xfrm>
              <a:off x="250545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loop_down_2"/>
            <p:cNvCxnSpPr/>
            <p:nvPr/>
          </p:nvCxnSpPr>
          <p:spPr>
            <a:xfrm>
              <a:off x="299923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loop_work_2"/>
            <p:cNvSpPr/>
            <p:nvPr/>
          </p:nvSpPr>
          <p:spPr>
            <a:xfrm>
              <a:off x="296265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loop_up_2"/>
            <p:cNvCxnSpPr/>
            <p:nvPr/>
          </p:nvCxnSpPr>
          <p:spPr>
            <a:xfrm flipV="1">
              <a:off x="3145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loop_toll_2"/>
            <p:cNvSpPr/>
            <p:nvPr/>
          </p:nvSpPr>
          <p:spPr>
            <a:xfrm>
              <a:off x="285292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loop_down_3"/>
            <p:cNvCxnSpPr/>
            <p:nvPr/>
          </p:nvCxnSpPr>
          <p:spPr>
            <a:xfrm>
              <a:off x="334670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loop_work_3"/>
            <p:cNvSpPr/>
            <p:nvPr/>
          </p:nvSpPr>
          <p:spPr>
            <a:xfrm>
              <a:off x="331012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loop_up_3"/>
            <p:cNvCxnSpPr/>
            <p:nvPr/>
          </p:nvCxnSpPr>
          <p:spPr>
            <a:xfrm flipV="1">
              <a:off x="349300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loop_toll_3"/>
            <p:cNvSpPr/>
            <p:nvPr/>
          </p:nvSpPr>
          <p:spPr>
            <a:xfrm>
              <a:off x="320040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loop_down_4"/>
            <p:cNvCxnSpPr/>
            <p:nvPr/>
          </p:nvCxnSpPr>
          <p:spPr>
            <a:xfrm>
              <a:off x="369417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oop_work_4"/>
            <p:cNvSpPr/>
            <p:nvPr/>
          </p:nvSpPr>
          <p:spPr>
            <a:xfrm>
              <a:off x="365760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loop_up_4"/>
            <p:cNvCxnSpPr/>
            <p:nvPr/>
          </p:nvCxnSpPr>
          <p:spPr>
            <a:xfrm flipV="1">
              <a:off x="384048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loop_toll_4"/>
            <p:cNvSpPr/>
            <p:nvPr/>
          </p:nvSpPr>
          <p:spPr>
            <a:xfrm>
              <a:off x="354787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loop_down_5"/>
            <p:cNvCxnSpPr/>
            <p:nvPr/>
          </p:nvCxnSpPr>
          <p:spPr>
            <a:xfrm>
              <a:off x="404164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oop_work_5"/>
            <p:cNvSpPr/>
            <p:nvPr/>
          </p:nvSpPr>
          <p:spPr>
            <a:xfrm>
              <a:off x="4005072"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loop_up_5"/>
            <p:cNvCxnSpPr/>
            <p:nvPr/>
          </p:nvCxnSpPr>
          <p:spPr>
            <a:xfrm flipV="1">
              <a:off x="418795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loop_toll_5"/>
            <p:cNvSpPr/>
            <p:nvPr/>
          </p:nvSpPr>
          <p:spPr>
            <a:xfrm>
              <a:off x="3895344"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loop_down_6"/>
            <p:cNvCxnSpPr/>
            <p:nvPr/>
          </p:nvCxnSpPr>
          <p:spPr>
            <a:xfrm>
              <a:off x="438912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loop_work_6"/>
            <p:cNvSpPr/>
            <p:nvPr/>
          </p:nvSpPr>
          <p:spPr>
            <a:xfrm>
              <a:off x="435254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loop_up_6"/>
            <p:cNvCxnSpPr/>
            <p:nvPr/>
          </p:nvCxnSpPr>
          <p:spPr>
            <a:xfrm flipV="1">
              <a:off x="453542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loop_toll_6"/>
            <p:cNvSpPr/>
            <p:nvPr/>
          </p:nvSpPr>
          <p:spPr>
            <a:xfrm>
              <a:off x="424281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loop_down_7"/>
            <p:cNvCxnSpPr/>
            <p:nvPr/>
          </p:nvCxnSpPr>
          <p:spPr>
            <a:xfrm>
              <a:off x="473659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loop_work_7"/>
            <p:cNvSpPr/>
            <p:nvPr/>
          </p:nvSpPr>
          <p:spPr>
            <a:xfrm>
              <a:off x="470001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loop_up_7"/>
            <p:cNvCxnSpPr/>
            <p:nvPr/>
          </p:nvCxnSpPr>
          <p:spPr>
            <a:xfrm flipV="1">
              <a:off x="488289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loop_toll_7"/>
            <p:cNvSpPr/>
            <p:nvPr/>
          </p:nvSpPr>
          <p:spPr>
            <a:xfrm>
              <a:off x="459028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loop_down_8"/>
            <p:cNvCxnSpPr/>
            <p:nvPr/>
          </p:nvCxnSpPr>
          <p:spPr>
            <a:xfrm>
              <a:off x="5084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loop_work_8"/>
            <p:cNvSpPr/>
            <p:nvPr/>
          </p:nvSpPr>
          <p:spPr>
            <a:xfrm>
              <a:off x="504748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loop_up_8"/>
            <p:cNvCxnSpPr/>
            <p:nvPr/>
          </p:nvCxnSpPr>
          <p:spPr>
            <a:xfrm flipV="1">
              <a:off x="523036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loop_toll_8"/>
            <p:cNvSpPr/>
            <p:nvPr/>
          </p:nvSpPr>
          <p:spPr>
            <a:xfrm>
              <a:off x="493776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loop_down_9"/>
            <p:cNvCxnSpPr/>
            <p:nvPr/>
          </p:nvCxnSpPr>
          <p:spPr>
            <a:xfrm>
              <a:off x="5431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loop_work_9"/>
            <p:cNvSpPr/>
            <p:nvPr/>
          </p:nvSpPr>
          <p:spPr>
            <a:xfrm>
              <a:off x="539496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loop_up_9"/>
            <p:cNvCxnSpPr/>
            <p:nvPr/>
          </p:nvCxnSpPr>
          <p:spPr>
            <a:xfrm flipV="1">
              <a:off x="557784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loop_toll_9"/>
            <p:cNvSpPr/>
            <p:nvPr/>
          </p:nvSpPr>
          <p:spPr>
            <a:xfrm>
              <a:off x="528523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oll_times"/>
            <p:cNvSpPr txBox="1"/>
            <p:nvPr/>
          </p:nvSpPr>
          <p:spPr>
            <a:xfrm>
              <a:off x="5742432" y="3477480"/>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48"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49" name="call_down_1"/>
            <p:cNvCxnSpPr/>
            <p:nvPr/>
          </p:nvCxnSpPr>
          <p:spPr>
            <a:xfrm>
              <a:off x="73883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call_work_1"/>
            <p:cNvSpPr/>
            <p:nvPr/>
          </p:nvSpPr>
          <p:spPr>
            <a:xfrm>
              <a:off x="7333488" y="3523200"/>
              <a:ext cx="4264152" cy="292608"/>
            </a:xfrm>
            <a:prstGeom prst="roundRect">
              <a:avLst>
                <a:gd name="adj" fmla="val 25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all_up_1"/>
            <p:cNvCxnSpPr/>
            <p:nvPr/>
          </p:nvCxnSpPr>
          <p:spPr>
            <a:xfrm flipV="1">
              <a:off x="78455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call_toll_1"/>
            <p:cNvSpPr/>
            <p:nvPr/>
          </p:nvSpPr>
          <p:spPr>
            <a:xfrm>
              <a:off x="724204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oll_caption_loop"/>
            <p:cNvSpPr txBox="1"/>
            <p:nvPr/>
          </p:nvSpPr>
          <p:spPr>
            <a:xfrm>
              <a:off x="2468880" y="3870672"/>
              <a:ext cx="4462272" cy="329184"/>
            </a:xfrm>
            <a:prstGeom prst="rect">
              <a:avLst/>
            </a:prstGeom>
            <a:noFill/>
          </p:spPr>
          <p:txBody>
            <a:bodyPr wrap="square" anchor="t" lIns="0" tIns="0" rIns="0" bIns="0">
              <a:noAutofit/>
            </a:bodyPr>
            <a:lstStyle/>
            <a:p>
              <a:pPr algn="l"/>
              <a:r>
                <a:rPr sz="1800" b="0" i="0" lang="en-GB">
                  <a:solidFill>
                    <a:srgbClr val="263238"/>
                  </a:solidFill>
                  <a:latin typeface="Fira Sans"/>
                </a:rPr>
                <a:t>N trips: 317 ms</a:t>
              </a:r>
            </a:p>
          </p:txBody>
        </p:sp>
        <p:sp>
          <p:nvSpPr>
            <p:cNvPr id="54" name="toll_caption_call"/>
            <p:cNvSpPr txBox="1"/>
            <p:nvPr/>
          </p:nvSpPr>
          <p:spPr>
            <a:xfrm>
              <a:off x="7205472" y="3870672"/>
              <a:ext cx="4437888" cy="329184"/>
            </a:xfrm>
            <a:prstGeom prst="rect">
              <a:avLst/>
            </a:prstGeom>
            <a:noFill/>
          </p:spPr>
          <p:txBody>
            <a:bodyPr wrap="square" anchor="t" lIns="0" tIns="0" rIns="0" bIns="0">
              <a:noAutofit/>
            </a:bodyPr>
            <a:lstStyle/>
            <a:p>
              <a:pPr algn="l"/>
              <a:r>
                <a:rPr sz="1800" b="0" i="0" lang="en-GB">
                  <a:solidFill>
                    <a:srgbClr val="263238"/>
                  </a:solidFill>
                  <a:latin typeface="Fira Sans"/>
                </a:rPr>
                <a:t>1 trip: 2.4 ms</a:t>
              </a:r>
            </a:p>
          </p:txBody>
        </p:sp>
        <p:sp>
          <p:nvSpPr>
            <p:cNvPr id="55" name="legend_toll_swatch"/>
            <p:cNvSpPr/>
            <p:nvPr/>
          </p:nvSpPr>
          <p:spPr>
            <a:xfrm>
              <a:off x="8888044" y="1691640"/>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legend_toll"/>
            <p:cNvSpPr txBox="1"/>
            <p:nvPr/>
          </p:nvSpPr>
          <p:spPr>
            <a:xfrm>
              <a:off x="9272092" y="1600200"/>
              <a:ext cx="1760449" cy="310896"/>
            </a:xfrm>
            <a:prstGeom prst="rect">
              <a:avLst/>
            </a:prstGeom>
            <a:noFill/>
          </p:spPr>
          <p:txBody>
            <a:bodyPr wrap="none" anchor="ctr" lIns="0" tIns="0" rIns="0" bIns="0">
              <a:noAutofit/>
            </a:bodyPr>
            <a:lstStyle/>
            <a:p>
              <a:pPr algn="l"/>
              <a:r>
                <a:rPr sz="1800" b="0" i="0" lang="en-GB">
                  <a:solidFill>
                    <a:srgbClr val="263238"/>
                  </a:solidFill>
                  <a:latin typeface="Fira Sans"/>
                </a:rPr>
                <a:t>toll per crossing</a:t>
              </a:r>
            </a:p>
          </p:txBody>
        </p:sp>
        <p:sp>
          <p:nvSpPr>
            <p:cNvPr id="57" name="legend_work_swatch"/>
            <p:cNvSpPr/>
            <p:nvPr/>
          </p:nvSpPr>
          <p:spPr>
            <a:xfrm>
              <a:off x="8888044" y="1984248"/>
              <a:ext cx="292608" cy="164592"/>
            </a:xfrm>
            <a:prstGeom prst="roundRect">
              <a:avLst>
                <a:gd name="adj" fmla="val 44444"/>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legend_work"/>
            <p:cNvSpPr txBox="1"/>
            <p:nvPr/>
          </p:nvSpPr>
          <p:spPr>
            <a:xfrm>
              <a:off x="9272092" y="1911096"/>
              <a:ext cx="2435276" cy="310896"/>
            </a:xfrm>
            <a:prstGeom prst="rect">
              <a:avLst/>
            </a:prstGeom>
            <a:noFill/>
          </p:spPr>
          <p:txBody>
            <a:bodyPr wrap="none" anchor="ctr" lIns="0" tIns="0" rIns="0" bIns="0">
              <a:noAutofit/>
            </a:bodyPr>
            <a:lstStyle/>
            <a:p>
              <a:pPr algn="l"/>
              <a:r>
                <a:rPr sz="1800" b="0" i="0" lang="en-GB">
                  <a:solidFill>
                    <a:srgbClr val="263238"/>
                  </a:solidFill>
                  <a:latin typeface="Fira Sans"/>
                </a:rPr>
                <a:t>work in compiled code</a:t>
              </a:r>
            </a:p>
          </p:txBody>
        </p:sp>
        <p:cxnSp>
          <p:nvCxnSpPr>
            <p:cNvPr id="59" name="legend_arrow_swatch"/>
            <p:cNvCxnSpPr/>
            <p:nvPr/>
          </p:nvCxnSpPr>
          <p:spPr>
            <a:xfrm>
              <a:off x="8888044" y="2377440"/>
              <a:ext cx="292608" cy="0"/>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legend_arrow"/>
            <p:cNvSpPr txBox="1"/>
            <p:nvPr/>
          </p:nvSpPr>
          <p:spPr>
            <a:xfrm>
              <a:off x="9272092" y="2221992"/>
              <a:ext cx="1614373" cy="310896"/>
            </a:xfrm>
            <a:prstGeom prst="rect">
              <a:avLst/>
            </a:prstGeom>
            <a:noFill/>
          </p:spPr>
          <p:txBody>
            <a:bodyPr wrap="none" anchor="ctr" lIns="0" tIns="0" rIns="0" bIns="0">
              <a:noAutofit/>
            </a:bodyPr>
            <a:lstStyle/>
            <a:p>
              <a:pPr algn="l"/>
              <a:r>
                <a:rPr sz="1800" b="0" i="0" lang="en-GB">
                  <a:solidFill>
                    <a:srgbClr val="263238"/>
                  </a:solidFill>
                  <a:latin typeface="Fira Sans"/>
                </a:rPr>
                <a:t>call and return</a:t>
              </a:r>
            </a:p>
          </p:txBody>
        </p:sp>
      </p:grpSp>
      <p:sp>
        <p:nvSpPr>
          <p:cNvPr id="61" name="Hero"/>
          <p:cNvSpPr txBox="1"/>
          <p:nvPr/>
        </p:nvSpPr>
        <p:spPr>
          <a:xfrm>
            <a:off x="548640" y="441931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62" name="Hero label"/>
          <p:cNvSpPr txBox="1"/>
          <p:nvPr/>
        </p:nvSpPr>
        <p:spPr>
          <a:xfrm>
            <a:off x="3077718" y="489429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a:t>
            </a:r>
            <a:endParaRPr lang="en-GB" sz="2000"/>
          </a:p>
        </p:txBody>
      </p:sp>
      <p:sp>
        <p:nvSpPr>
          <p:cNvPr id="6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64" name="Small print rule chip 3" descr="Evidence for rule 3: Let compiled code loop"/>
          <p:cNvSpPr txBox="1"/>
          <p:nvPr/>
        </p:nvSpPr>
        <p:spPr>
          <a:xfrm>
            <a:off x="9721571" y="182880"/>
            <a:ext cx="1921789" cy="310896"/>
          </a:xfrm>
          <a:prstGeom prst="rect">
            <a:avLst/>
          </a:prstGeom>
          <a:noFill/>
        </p:spPr>
        <p:txBody>
          <a:bodyPr wrap="none" anchor="ctr" lIns="0" tIns="0" rIns="0" bIns="0">
            <a:noAutofit/>
          </a:bodyPr>
          <a:lstStyle/>
          <a:p>
            <a:r>
              <a:rPr sz="1400" lang="en-GB">
                <a:solidFill>
                  <a:srgbClr val="1C325B"/>
                </a:solidFill>
                <a:latin typeface="Fira Sans SemiBold"/>
              </a:rPr>
              <a:t>Let compiled code loop</a:t>
            </a:r>
            <a:endParaRPr lang="en-GB" sz="1400"/>
          </a:p>
        </p:txBody>
      </p:sp>
      <p:sp>
        <p:nvSpPr>
          <p:cNvPr id="65" name="Small print rule number 3">
            <a:extLst>
              <a:ext uri="{C183D7F6-B498-43B3-948B-1728B52AA6E4}">
                <adec:decorative xmlns:adec="http://schemas.microsoft.com/office/drawing/2017/decorative" val="1"/>
              </a:ext>
            </a:extLst>
          </p:cNvPr>
          <p:cNvSpPr/>
          <p:nvPr/>
        </p:nvSpPr>
        <p:spPr>
          <a:xfrm>
            <a:off x="933752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3</a:t>
            </a:r>
            <a:endParaRPr lang="en-GB" sz="1400"/>
          </a:p>
        </p:txBody>
      </p:sp>
      <p:sp>
        <p:nvSpPr>
          <p:cNvPr id="66"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2B6797"/>
                </a:solidFill>
                <a:latin typeface="Fira Sans SemiBold"/>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Terminal background">
            <a:extLst>
              <a:ext uri="{C183D7F6-B498-43B3-948B-1728B52AA6E4}">
                <adec:decorative xmlns:adec="http://schemas.microsoft.com/office/drawing/2017/decorative" val="1"/>
              </a:ext>
            </a:extLst>
          </p:cNvPr>
          <p:cNvSpPr/>
          <p:nvPr/>
        </p:nvSpPr>
        <p:spPr>
          <a:xfrm>
            <a:off x="402336" y="1554480"/>
            <a:ext cx="11241024" cy="35814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 profile command"/>
          <p:cNvSpPr txBox="1"/>
          <p:nvPr/>
        </p:nvSpPr>
        <p:spPr>
          <a:xfrm>
            <a:off x="539496" y="1554480"/>
            <a:ext cx="1110386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3070572"/>
            <a:chOff x="548640" y="2186940"/>
            <a:chExt cx="11094720" cy="3070572"/>
          </a:xfrm>
        </p:grpSpPr>
        <p:sp>
          <p:nvSpPr>
            <p:cNvPr id="9" name="legend python swatch"/>
            <p:cNvSpPr/>
            <p:nvPr/>
          </p:nvSpPr>
          <p:spPr>
            <a:xfrm>
              <a:off x="5687619" y="2250948"/>
              <a:ext cx="237744" cy="237744"/>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egend python"/>
            <p:cNvSpPr txBox="1"/>
            <p:nvPr/>
          </p:nvSpPr>
          <p:spPr>
            <a:xfrm>
              <a:off x="5998515" y="2186940"/>
              <a:ext cx="981329" cy="365760"/>
            </a:xfrm>
            <a:prstGeom prst="rect">
              <a:avLst/>
            </a:prstGeom>
            <a:noFill/>
          </p:spPr>
          <p:txBody>
            <a:bodyPr wrap="none" anchor="ctr" lIns="0" tIns="0" rIns="0" bIns="0">
              <a:noAutofit/>
            </a:bodyPr>
            <a:lstStyle/>
            <a:p>
              <a:pPr algn="l"/>
              <a:r>
                <a:rPr sz="2200" b="0" i="0" lang="en-GB">
                  <a:solidFill>
                    <a:srgbClr val="263238"/>
                  </a:solidFill>
                  <a:latin typeface="Fira Sans"/>
                </a:rPr>
                <a:t>Python</a:t>
              </a:r>
            </a:p>
          </p:txBody>
        </p:sp>
        <p:sp>
          <p:nvSpPr>
            <p:cNvPr id="11" name="legend native swatch"/>
            <p:cNvSpPr/>
            <p:nvPr/>
          </p:nvSpPr>
          <p:spPr>
            <a:xfrm>
              <a:off x="7345604" y="2250948"/>
              <a:ext cx="237744" cy="237744"/>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egend native"/>
            <p:cNvSpPr txBox="1"/>
            <p:nvPr/>
          </p:nvSpPr>
          <p:spPr>
            <a:xfrm>
              <a:off x="7656500" y="2186940"/>
              <a:ext cx="2338654" cy="365760"/>
            </a:xfrm>
            <a:prstGeom prst="rect">
              <a:avLst/>
            </a:prstGeom>
            <a:noFill/>
          </p:spPr>
          <p:txBody>
            <a:bodyPr wrap="none" anchor="ctr" lIns="0" tIns="0" rIns="0" bIns="0">
              <a:noAutofit/>
            </a:bodyPr>
            <a:lstStyle/>
            <a:p>
              <a:pPr algn="l"/>
              <a:r>
                <a:rPr sz="2200" b="0" i="0" lang="en-GB">
                  <a:solidFill>
                    <a:srgbClr val="263238"/>
                  </a:solidFill>
                  <a:latin typeface="Fira Sans"/>
                </a:rPr>
                <a:t>native, i.e. NumPy</a:t>
              </a:r>
            </a:p>
          </p:txBody>
        </p:sp>
        <p:sp>
          <p:nvSpPr>
            <p:cNvPr id="13" name="legend system swatch"/>
            <p:cNvSpPr/>
            <p:nvPr/>
          </p:nvSpPr>
          <p:spPr>
            <a:xfrm>
              <a:off x="10360914" y="2250948"/>
              <a:ext cx="237744" cy="237744"/>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gend system"/>
            <p:cNvSpPr txBox="1"/>
            <p:nvPr/>
          </p:nvSpPr>
          <p:spPr>
            <a:xfrm>
              <a:off x="10671810" y="2186940"/>
              <a:ext cx="971550" cy="365760"/>
            </a:xfrm>
            <a:prstGeom prst="rect">
              <a:avLst/>
            </a:prstGeom>
            <a:noFill/>
          </p:spPr>
          <p:txBody>
            <a:bodyPr wrap="none" anchor="ctr" lIns="0" tIns="0" rIns="0" bIns="0">
              <a:noAutofit/>
            </a:bodyPr>
            <a:lstStyle/>
            <a:p>
              <a:pPr algn="l"/>
              <a:r>
                <a:rPr sz="2200" b="0" i="0" lang="en-GB">
                  <a:solidFill>
                    <a:srgbClr val="263238"/>
                  </a:solidFill>
                  <a:latin typeface="Fira Sans"/>
                </a:rPr>
                <a:t>system</a:t>
              </a:r>
            </a:p>
          </p:txBody>
        </p:sp>
        <p:sp>
          <p:nvSpPr>
            <p:cNvPr id="15" name="tag"/>
            <p:cNvSpPr txBox="1"/>
            <p:nvPr/>
          </p:nvSpPr>
          <p:spPr>
            <a:xfrm>
              <a:off x="548640" y="2662428"/>
              <a:ext cx="1038860" cy="616767"/>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6" name="code"/>
            <p:cNvSpPr txBox="1"/>
            <p:nvPr/>
          </p:nvSpPr>
          <p:spPr>
            <a:xfrm>
              <a:off x="1587500" y="2662428"/>
              <a:ext cx="5562600" cy="6167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7" name="share"/>
            <p:cNvSpPr txBox="1"/>
            <p:nvPr/>
          </p:nvSpPr>
          <p:spPr>
            <a:xfrm>
              <a:off x="7259828" y="2662428"/>
              <a:ext cx="986688" cy="6167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8" name="code"/>
            <p:cNvSpPr txBox="1"/>
            <p:nvPr/>
          </p:nvSpPr>
          <p:spPr>
            <a:xfrm>
              <a:off x="1587500" y="3279195"/>
              <a:ext cx="5562600" cy="6167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9" name="share"/>
            <p:cNvSpPr txBox="1"/>
            <p:nvPr/>
          </p:nvSpPr>
          <p:spPr>
            <a:xfrm>
              <a:off x="7259828" y="3279195"/>
              <a:ext cx="986688" cy="6167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20" name="code"/>
            <p:cNvSpPr txBox="1"/>
            <p:nvPr/>
          </p:nvSpPr>
          <p:spPr>
            <a:xfrm>
              <a:off x="1587500" y="3895962"/>
              <a:ext cx="5562600" cy="6167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1" name="bar python"/>
            <p:cNvSpPr/>
            <p:nvPr/>
          </p:nvSpPr>
          <p:spPr>
            <a:xfrm>
              <a:off x="7150100" y="3978258"/>
              <a:ext cx="97941" cy="452175"/>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native"/>
            <p:cNvSpPr/>
            <p:nvPr/>
          </p:nvSpPr>
          <p:spPr>
            <a:xfrm>
              <a:off x="7248041" y="3978258"/>
              <a:ext cx="1984391" cy="4521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 system"/>
            <p:cNvSpPr/>
            <p:nvPr/>
          </p:nvSpPr>
          <p:spPr>
            <a:xfrm>
              <a:off x="9232432" y="3978258"/>
              <a:ext cx="41251" cy="452175"/>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share"/>
            <p:cNvSpPr txBox="1"/>
            <p:nvPr/>
          </p:nvSpPr>
          <p:spPr>
            <a:xfrm>
              <a:off x="9383411" y="3895962"/>
              <a:ext cx="986688" cy="616767"/>
            </a:xfrm>
            <a:prstGeom prst="rect">
              <a:avLst/>
            </a:prstGeom>
            <a:noFill/>
          </p:spPr>
          <p:txBody>
            <a:bodyPr wrap="none" anchor="ctr" lIns="0" tIns="0" rIns="0" bIns="0">
              <a:noAutofit/>
            </a:bodyPr>
            <a:lstStyle/>
            <a:p>
              <a:pPr algn="l"/>
              <a:r>
                <a:rPr sz="2800" b="1" i="0" lang="en-GB">
                  <a:solidFill>
                    <a:srgbClr val="2B6797"/>
                  </a:solidFill>
                  <a:latin typeface="Fira Sans"/>
                </a:rPr>
                <a:t>88 %</a:t>
              </a:r>
            </a:p>
          </p:txBody>
        </p:sp>
        <p:sp>
          <p:nvSpPr>
            <p:cNvPr id="25" name="time"/>
            <p:cNvSpPr txBox="1"/>
            <p:nvPr/>
          </p:nvSpPr>
          <p:spPr>
            <a:xfrm>
              <a:off x="10369235" y="3895962"/>
              <a:ext cx="957072" cy="616767"/>
            </a:xfrm>
            <a:prstGeom prst="rect">
              <a:avLst/>
            </a:prstGeom>
            <a:noFill/>
          </p:spPr>
          <p:txBody>
            <a:bodyPr wrap="none" anchor="ctr" lIns="0" tIns="0" rIns="0" bIns="0">
              <a:noAutofit/>
            </a:bodyPr>
            <a:lstStyle/>
            <a:p>
              <a:pPr algn="l"/>
              <a:r>
                <a:rPr sz="2400" b="0" i="0" lang="en-GB">
                  <a:solidFill>
                    <a:srgbClr val="455A64"/>
                  </a:solidFill>
                  <a:latin typeface="Fira Sans"/>
                </a:rPr>
                <a:t>10.5 s</a:t>
              </a:r>
            </a:p>
          </p:txBody>
        </p:sp>
        <p:cxnSp>
          <p:nvCxnSpPr>
            <p:cNvPr id="26" name="rule"/>
            <p:cNvCxnSpPr/>
            <p:nvPr/>
          </p:nvCxnSpPr>
          <p:spPr>
            <a:xfrm>
              <a:off x="548640" y="4576737"/>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tag"/>
            <p:cNvSpPr txBox="1"/>
            <p:nvPr/>
          </p:nvSpPr>
          <p:spPr>
            <a:xfrm>
              <a:off x="548640" y="4640745"/>
              <a:ext cx="1038860" cy="616767"/>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8" name="code"/>
            <p:cNvSpPr txBox="1"/>
            <p:nvPr/>
          </p:nvSpPr>
          <p:spPr>
            <a:xfrm>
              <a:off x="1587500" y="4640745"/>
              <a:ext cx="5562600" cy="6167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9" name="bar native"/>
            <p:cNvSpPr/>
            <p:nvPr/>
          </p:nvSpPr>
          <p:spPr>
            <a:xfrm>
              <a:off x="7150100" y="4723041"/>
              <a:ext cx="14715" cy="4521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share"/>
            <p:cNvSpPr txBox="1"/>
            <p:nvPr/>
          </p:nvSpPr>
          <p:spPr>
            <a:xfrm>
              <a:off x="7275749" y="4640745"/>
              <a:ext cx="986688" cy="616767"/>
            </a:xfrm>
            <a:prstGeom prst="rect">
              <a:avLst/>
            </a:prstGeom>
            <a:noFill/>
          </p:spPr>
          <p:txBody>
            <a:bodyPr wrap="none" anchor="ctr" lIns="0" tIns="0" rIns="0" bIns="0">
              <a:noAutofit/>
            </a:bodyPr>
            <a:lstStyle/>
            <a:p>
              <a:pPr algn="l"/>
              <a:r>
                <a:rPr sz="2800" b="1" i="0" lang="en-GB">
                  <a:solidFill>
                    <a:srgbClr val="2B6797"/>
                  </a:solidFill>
                  <a:latin typeface="Fira Sans"/>
                </a:rPr>
                <a:t>0.7 %</a:t>
              </a:r>
            </a:p>
          </p:txBody>
        </p:sp>
        <p:sp>
          <p:nvSpPr>
            <p:cNvPr id="31" name="time"/>
            <p:cNvSpPr txBox="1"/>
            <p:nvPr/>
          </p:nvSpPr>
          <p:spPr>
            <a:xfrm>
              <a:off x="8308158" y="4640745"/>
              <a:ext cx="957072" cy="616767"/>
            </a:xfrm>
            <a:prstGeom prst="rect">
              <a:avLst/>
            </a:prstGeom>
            <a:noFill/>
          </p:spPr>
          <p:txBody>
            <a:bodyPr wrap="none" anchor="ctr" lIns="0" tIns="0" rIns="0" bIns="0">
              <a:noAutofit/>
            </a:bodyPr>
            <a:lstStyle/>
            <a:p>
              <a:pPr algn="l"/>
              <a:r>
                <a:rPr sz="2400" b="0" i="0" lang="en-GB">
                  <a:solidFill>
                    <a:srgbClr val="455A64"/>
                  </a:solidFill>
                  <a:latin typeface="Fira Sans"/>
                </a:rPr>
                <a:t>79 ms</a:t>
              </a:r>
            </a:p>
          </p:txBody>
        </p:sp>
      </p:grpSp>
      <p:sp>
        <p:nvSpPr>
          <p:cNvPr id="8" name="Conditions"/>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Different setup: under the profiler, each version runs 30 times; slide 25 holds the baseline timings. 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times are share × the 11.9 s run. Full: results/profile_scalene.json.</a:t>
            </a:r>
            <a:endParaRPr lang="en-GB" sz="1200"/>
          </a:p>
        </p:txBody>
      </p:sp>
      <p:sp>
        <p:nvSpPr>
          <p:cNvPr id="32" name="Small print rule chip 3" descr="Evidence for rule 3: Let compiled code loop"/>
          <p:cNvSpPr txBox="1"/>
          <p:nvPr/>
        </p:nvSpPr>
        <p:spPr>
          <a:xfrm>
            <a:off x="9721571" y="182880"/>
            <a:ext cx="1921789" cy="310896"/>
          </a:xfrm>
          <a:prstGeom prst="rect">
            <a:avLst/>
          </a:prstGeom>
          <a:noFill/>
        </p:spPr>
        <p:txBody>
          <a:bodyPr wrap="none" anchor="ctr" lIns="0" tIns="0" rIns="0" bIns="0">
            <a:noAutofit/>
          </a:bodyPr>
          <a:lstStyle/>
          <a:p>
            <a:r>
              <a:rPr sz="1400" lang="en-GB">
                <a:solidFill>
                  <a:srgbClr val="1C325B"/>
                </a:solidFill>
                <a:latin typeface="Fira Sans SemiBold"/>
              </a:rPr>
              <a:t>Let compiled code loop</a:t>
            </a:r>
            <a:endParaRPr lang="en-GB" sz="1400"/>
          </a:p>
        </p:txBody>
      </p:sp>
      <p:sp>
        <p:nvSpPr>
          <p:cNvPr id="33" name="Small print rule number 3">
            <a:extLst>
              <a:ext uri="{C183D7F6-B498-43B3-948B-1728B52AA6E4}">
                <adec:decorative xmlns:adec="http://schemas.microsoft.com/office/drawing/2017/decorative" val="1"/>
              </a:ext>
            </a:extLst>
          </p:cNvPr>
          <p:cNvSpPr/>
          <p:nvPr/>
        </p:nvSpPr>
        <p:spPr>
          <a:xfrm>
            <a:off x="933752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3</a:t>
            </a:r>
            <a:endParaRPr lang="en-GB" sz="1400"/>
          </a:p>
        </p:txBody>
      </p:sp>
      <p:sp>
        <p:nvSpPr>
          <p:cNvPr id="34"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2B6797"/>
                </a:solidFill>
                <a:latin typeface="Fira Sans SemiBold"/>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f the median time per run, linear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11" name="Ops"/>
          <p:cNvSpPr txBox="1"/>
          <p:nvPr/>
        </p:nvSpPr>
        <p:spPr>
          <a:xfrm>
            <a:off x="548640" y="3459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Loop: 12 calls × 722 961 rows = 8.7 million calls</a:t>
            </a:r>
            <a:endParaRPr lang="en-GB" sz="2000"/>
          </a:p>
        </p:txBody>
      </p:sp>
      <p:sp>
        <p:nvSpPr>
          <p:cNvPr id="12" name="Ops"/>
          <p:cNvSpPr txBox="1"/>
          <p:nvPr/>
        </p:nvSpPr>
        <p:spPr>
          <a:xfrm>
            <a:off x="548640" y="385572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8 threads: same calls, 1.1 million each</a:t>
            </a:r>
            <a:endParaRPr lang="en-GB" sz="2000"/>
          </a:p>
        </p:txBody>
      </p:sp>
      <p:sp>
        <p:nvSpPr>
          <p:cNvPr id="13" name="Ops"/>
          <p:cNvSpPr txBox="1"/>
          <p:nvPr/>
        </p:nvSpPr>
        <p:spPr>
          <a:xfrm>
            <a:off x="548640" y="42519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1" lang="en-GB">
                <a:solidFill>
                  <a:srgbClr val="263238"/>
                </a:solidFill>
                <a:latin typeface="+mn-lt"/>
              </a:rPr>
              <a:t>NumPy: 7 calls in total</a:t>
            </a:r>
            <a:endParaRPr lang="en-GB" sz="2000"/>
          </a:p>
        </p:txBody>
      </p:sp>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5.5×</a:t>
            </a:r>
            <a:r>
              <a:rPr sz="2000" lang="en-GB">
                <a:solidFill>
                  <a:srgbClr val="263238"/>
                </a:solidFill>
                <a:latin typeface="+mn-lt"/>
              </a:rPr>
              <a:t> faster on 8 free threads</a:t>
            </a:r>
            <a:endParaRPr lang="en-GB" sz="8000"/>
          </a:p>
        </p:txBody>
      </p:sp>
      <p:sp>
        <p:nvSpPr>
          <p:cNvPr id="10" name="Support"/>
          <p:cNvSpPr txBox="1"/>
          <p:nvPr/>
        </p:nvSpPr>
        <p:spPr>
          <a:xfrm>
            <a:off x="548640" y="469363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Rule 3: one NumPy call still beats 8 threads by 27×; GIL threads gain nothing.</a:t>
            </a:r>
            <a:endParaRPr lang="en-GB" sz="2000"/>
          </a:p>
        </p:txBody>
      </p:sp>
      <p:sp>
        <p:nvSpPr>
          <p:cNvPr id="9" name="Conditions"/>
          <p:cNvSpPr txBox="1"/>
          <p:nvPr/>
        </p:nvSpPr>
        <p:spPr>
          <a:xfrm>
            <a:off x="548640" y="5303232"/>
            <a:ext cx="5613882"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Different setup: Python 3.14 builds. Loop 336 ms and NumPy 2.3 ms here; 317 ms and 2.4 ms on 3.13 (slide 25). 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14" name="Small print rule chip 3" descr="Evidence for rule 3: Let compiled code loop"/>
          <p:cNvSpPr txBox="1"/>
          <p:nvPr/>
        </p:nvSpPr>
        <p:spPr>
          <a:xfrm>
            <a:off x="9721571" y="182880"/>
            <a:ext cx="1921789" cy="310896"/>
          </a:xfrm>
          <a:prstGeom prst="rect">
            <a:avLst/>
          </a:prstGeom>
          <a:noFill/>
        </p:spPr>
        <p:txBody>
          <a:bodyPr wrap="none" anchor="ctr" lIns="0" tIns="0" rIns="0" bIns="0">
            <a:noAutofit/>
          </a:bodyPr>
          <a:lstStyle/>
          <a:p>
            <a:r>
              <a:rPr sz="1400" lang="en-GB">
                <a:solidFill>
                  <a:srgbClr val="1C325B"/>
                </a:solidFill>
                <a:latin typeface="Fira Sans SemiBold"/>
              </a:rPr>
              <a:t>Let compiled code loop</a:t>
            </a:r>
            <a:endParaRPr lang="en-GB" sz="1400"/>
          </a:p>
        </p:txBody>
      </p:sp>
      <p:sp>
        <p:nvSpPr>
          <p:cNvPr id="15" name="Small print rule number 3">
            <a:extLst>
              <a:ext uri="{C183D7F6-B498-43B3-948B-1728B52AA6E4}">
                <adec:decorative xmlns:adec="http://schemas.microsoft.com/office/drawing/2017/decorative" val="1"/>
              </a:ext>
            </a:extLst>
          </p:cNvPr>
          <p:cNvSpPr/>
          <p:nvPr/>
        </p:nvSpPr>
        <p:spPr>
          <a:xfrm>
            <a:off x="933752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3</a:t>
            </a:r>
            <a:endParaRPr lang="en-GB" sz="1400"/>
          </a:p>
        </p:txBody>
      </p:sp>
      <p:sp>
        <p:nvSpPr>
          <p:cNvPr id="16"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2B6797"/>
                </a:solidFill>
                <a:latin typeface="Fira Sans SemiBold"/>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register has 61 poles; we found 3</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48321" b="16321"/>
          <a:stretch>
            <a:fillRect/>
          </a:stretch>
        </p:blipFill>
        <p:spPr>
          <a:xfrm>
            <a:off x="6029478" y="3770376"/>
            <a:ext cx="2742933" cy="1173192"/>
          </a:xfrm>
          <a:prstGeom prst="rect">
            <a:avLst/>
          </a:prstGeom>
        </p:spPr>
      </p:pic>
      <p:pic>
        <p:nvPicPr>
          <p:cNvPr id="146" name="Photo 2" descr="Photo of Jaarbeursplein at night: tall leaning lamp posts on both sides of the red paved square, lit street lamps behind."/>
          <p:cNvPicPr>
            <a:picLocks noChangeAspect="1"/>
          </p:cNvPicPr>
          <p:nvPr/>
        </p:nvPicPr>
        <p:blipFill>
          <a:blip r:embed="rId4"/>
          <a:srcRect l="38000" t="30080" b="30080"/>
          <a:stretch>
            <a:fillRect/>
          </a:stretch>
        </p:blipFill>
        <p:spPr>
          <a:xfrm>
            <a:off x="8900427" y="3770376"/>
            <a:ext cx="2742933" cy="117319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508987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57755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Photos: Wikimedia Commons, CC BY-SA 4.0 and CC BY 3.0.</a:t>
            </a:r>
            <a:endParaRPr lang="en-GB" sz="1200"/>
          </a:p>
        </p:txBody>
      </p:sp>
      <p:sp>
        <p:nvSpPr>
          <p:cNvPr id="147" name="Source"/>
          <p:cNvSpPr txBox="1"/>
          <p:nvPr/>
        </p:nvSpPr>
        <p:spPr>
          <a:xfrm>
            <a:off x="6029478" y="6034752"/>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148" name="Small print rule chip 4" descr="Evidence for rule 4: Look before you compute"/>
          <p:cNvSpPr txBox="1"/>
          <p:nvPr/>
        </p:nvSpPr>
        <p:spPr>
          <a:xfrm>
            <a:off x="9552661" y="182880"/>
            <a:ext cx="2090699" cy="310896"/>
          </a:xfrm>
          <a:prstGeom prst="rect">
            <a:avLst/>
          </a:prstGeom>
          <a:noFill/>
        </p:spPr>
        <p:txBody>
          <a:bodyPr wrap="none" anchor="ctr" lIns="0" tIns="0" rIns="0" bIns="0">
            <a:noAutofit/>
          </a:bodyPr>
          <a:lstStyle/>
          <a:p>
            <a:r>
              <a:rPr sz="1400" lang="en-GB">
                <a:solidFill>
                  <a:srgbClr val="1C325B"/>
                </a:solidFill>
                <a:latin typeface="Fira Sans SemiBold"/>
              </a:rPr>
              <a:t>Look before you compute</a:t>
            </a:r>
            <a:endParaRPr lang="en-GB" sz="1400"/>
          </a:p>
        </p:txBody>
      </p:sp>
      <p:sp>
        <p:nvSpPr>
          <p:cNvPr id="149" name="Small print rule number 4">
            <a:extLst>
              <a:ext uri="{C183D7F6-B498-43B3-948B-1728B52AA6E4}">
                <adec:decorative xmlns:adec="http://schemas.microsoft.com/office/drawing/2017/decorative" val="1"/>
              </a:ext>
            </a:extLst>
          </p:cNvPr>
          <p:cNvSpPr/>
          <p:nvPr/>
        </p:nvSpPr>
        <p:spPr>
          <a:xfrm>
            <a:off x="916861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4</a:t>
            </a:r>
            <a:endParaRPr lang="en-GB" sz="1400"/>
          </a:p>
        </p:txBody>
      </p:sp>
      <p:sp>
        <p:nvSpPr>
          <p:cNvPr id="150"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2B6797"/>
                </a:solidFill>
                <a:latin typeface="Fira Sans SemiBold"/>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From the air, the city is sampled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Rule 4: density, noise and gaps vary within one file. Measure them before tuning anything.</a:t>
            </a:r>
            <a:endParaRPr lang="en-GB" sz="2000"/>
          </a:p>
        </p:txBody>
      </p:sp>
      <p:sp>
        <p:nvSpPr>
          <p:cNvPr id="9" name="Small print rule chip 4" descr="Evidence for rule 4: Look before you compute"/>
          <p:cNvSpPr txBox="1"/>
          <p:nvPr/>
        </p:nvSpPr>
        <p:spPr>
          <a:xfrm>
            <a:off x="9552661" y="182880"/>
            <a:ext cx="2090699" cy="310896"/>
          </a:xfrm>
          <a:prstGeom prst="rect">
            <a:avLst/>
          </a:prstGeom>
          <a:noFill/>
        </p:spPr>
        <p:txBody>
          <a:bodyPr wrap="none" anchor="ctr" lIns="0" tIns="0" rIns="0" bIns="0">
            <a:noAutofit/>
          </a:bodyPr>
          <a:lstStyle/>
          <a:p>
            <a:r>
              <a:rPr sz="1400" lang="en-GB">
                <a:solidFill>
                  <a:srgbClr val="1C325B"/>
                </a:solidFill>
                <a:latin typeface="Fira Sans SemiBold"/>
              </a:rPr>
              <a:t>Look before you compute</a:t>
            </a:r>
            <a:endParaRPr lang="en-GB" sz="1400"/>
          </a:p>
        </p:txBody>
      </p:sp>
      <p:sp>
        <p:nvSpPr>
          <p:cNvPr id="10" name="Small print rule number 4">
            <a:extLst>
              <a:ext uri="{C183D7F6-B498-43B3-948B-1728B52AA6E4}">
                <adec:decorative xmlns:adec="http://schemas.microsoft.com/office/drawing/2017/decorative" val="1"/>
              </a:ext>
            </a:extLst>
          </p:cNvPr>
          <p:cNvSpPr/>
          <p:nvPr/>
        </p:nvSpPr>
        <p:spPr>
          <a:xfrm>
            <a:off x="9168613" y="182880"/>
            <a:ext cx="310896" cy="310896"/>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1400" lang="en-GB">
                <a:solidFill>
                  <a:srgbClr val="FFFFFF"/>
                </a:solidFill>
                <a:latin typeface="Fira Sans SemiBold"/>
              </a:rPr>
              <a:t>4</a:t>
            </a:r>
            <a:endParaRPr lang="en-GB" sz="1400"/>
          </a:p>
        </p:txBody>
      </p:sp>
      <p:sp>
        <p:nvSpPr>
          <p:cNvPr id="11"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2B6797"/>
                </a:solidFill>
                <a:latin typeface="Fira Sans SemiBold"/>
              </a:rPr>
              <a:t>Reality</a:t>
            </a:r>
            <a:r>
              <a:rPr sz="1200" lang="en-GB">
                <a:solidFill>
                  <a:srgbClr val="455A64"/>
                </a:solidFill>
                <a:latin typeface="+mn-lt"/>
              </a:rPr>
              <a:t>  ·  </a:t>
            </a:r>
            <a:r>
              <a:rPr sz="1200" lang="en-GB">
                <a:solidFill>
                  <a:srgbClr val="455A64"/>
                </a:solidFill>
                <a:latin typeface="+mn-lt"/>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each backed by this talk's numbers</a:t>
            </a:r>
          </a:p>
        </p:txBody>
      </p:sp>
      <p:grpSp>
        <p:nvGrpSpPr>
          <p:cNvPr id="3" name="Rules of thumb 1" descr="Rule 1: Think in arrays, not points; 24 B per point per xyz copy; slides 14, 15"/>
          <p:cNvGrpSpPr/>
          <p:nvPr/>
        </p:nvGrpSpPr>
        <p:grpSpPr>
          <a:xfrm>
            <a:off x="548640" y="1600200"/>
            <a:ext cx="5318760" cy="2102976"/>
            <a:chOff x="548640" y="1600200"/>
            <a:chExt cx="5318760" cy="2102976"/>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24 B per point per xyz copy</a:t>
              </a:r>
            </a:p>
            <a:p>
              <a:pPr algn="l">
                <a:spcBef>
                  <a:spcPts val="600"/>
                </a:spcBef>
              </a:pPr>
              <a:r>
                <a:rPr sz="2000" b="0" i="0" lang="en-GB">
                  <a:solidFill>
                    <a:srgbClr val="455A64"/>
                  </a:solidFill>
                  <a:latin typeface="Fira Sans"/>
                </a:rPr>
                <a:t>slides 14, 15</a:t>
              </a:r>
            </a:p>
          </p:txBody>
        </p:sp>
      </p:grpSp>
      <p:grpSp>
        <p:nvGrpSpPr>
          <p:cNvPr id="10" name="Rules of thumb 2" descr="Rule 2: Make it small first; 3.0 GB → 0.8 GB peak; slides 16, 17, 19, 22, 23"/>
          <p:cNvGrpSpPr/>
          <p:nvPr/>
        </p:nvGrpSpPr>
        <p:grpSpPr>
          <a:xfrm>
            <a:off x="6324600" y="1600200"/>
            <a:ext cx="5318760" cy="2102976"/>
            <a:chOff x="6324600" y="1600200"/>
            <a:chExt cx="5318760" cy="2102976"/>
          </a:xfrm>
        </p:grpSpPr>
        <p:sp>
          <p:nvSpPr>
            <p:cNvPr id="11"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3" name="rule head 2"/>
            <p:cNvSpPr txBox="1"/>
            <p:nvPr/>
          </p:nvSpPr>
          <p:spPr>
            <a:xfrm>
              <a:off x="7293864" y="1871472"/>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4" name="rule text 2"/>
            <p:cNvSpPr txBox="1"/>
            <p:nvPr/>
          </p:nvSpPr>
          <p:spPr>
            <a:xfrm>
              <a:off x="7293864" y="2478024"/>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16, 17, 19, 22, 23</a:t>
              </a:r>
            </a:p>
          </p:txBody>
        </p:sp>
      </p:grpSp>
      <p:grpSp>
        <p:nvGrpSpPr>
          <p:cNvPr id="15" name="Rules of thumb 3" descr="Rule 3: Let compiled code loop; 130× faster than a loop; slides 24 to 28"/>
          <p:cNvGrpSpPr/>
          <p:nvPr/>
        </p:nvGrpSpPr>
        <p:grpSpPr>
          <a:xfrm>
            <a:off x="548640" y="3977496"/>
            <a:ext cx="5318760" cy="2102976"/>
            <a:chOff x="548640" y="3977496"/>
            <a:chExt cx="5318760" cy="2102976"/>
          </a:xfrm>
        </p:grpSpPr>
        <p:sp>
          <p:nvSpPr>
            <p:cNvPr id="16"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8"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19"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24 to 28</a:t>
              </a:r>
            </a:p>
          </p:txBody>
        </p:sp>
      </p:grpSp>
      <p:grpSp>
        <p:nvGrpSpPr>
          <p:cNvPr id="20" name="Rules of thumb 4" descr="Rule 4: Look before you compute; 61 poles on the register, 3 found; slides 29, 30"/>
          <p:cNvGrpSpPr/>
          <p:nvPr/>
        </p:nvGrpSpPr>
        <p:grpSpPr>
          <a:xfrm>
            <a:off x="6324600" y="3977496"/>
            <a:ext cx="5318760" cy="2102976"/>
            <a:chOff x="6324600" y="3977496"/>
            <a:chExt cx="5318760" cy="2102976"/>
          </a:xfrm>
        </p:grpSpPr>
        <p:sp>
          <p:nvSpPr>
            <p:cNvPr id="21"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3" name="rule head 4"/>
            <p:cNvSpPr txBox="1"/>
            <p:nvPr/>
          </p:nvSpPr>
          <p:spPr>
            <a:xfrm>
              <a:off x="7293864" y="4178664"/>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24" name="rule text 4"/>
            <p:cNvSpPr txBox="1"/>
            <p:nvPr/>
          </p:nvSpPr>
          <p:spPr>
            <a:xfrm>
              <a:off x="7293864" y="5169264"/>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register, 3 found</a:t>
              </a:r>
            </a:p>
            <a:p>
              <a:pPr algn="l">
                <a:spcBef>
                  <a:spcPts val="600"/>
                </a:spcBef>
              </a:pPr>
              <a:r>
                <a:rPr sz="2000" b="0" i="0" lang="en-GB">
                  <a:solidFill>
                    <a:srgbClr val="455A64"/>
                  </a:solidFill>
                  <a:latin typeface="Fira Sans"/>
                </a:rPr>
                <a:t>slides 29, 30</a:t>
              </a:r>
            </a:p>
          </p:txBody>
        </p:sp>
      </p:grpSp>
      <p:sp>
        <p:nvSpPr>
          <p:cNvPr id="25"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2B6797"/>
                </a:solidFill>
                <a:latin typeface="Fira Sans SemiBold"/>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0" grpId="0"/>
      <p:bldP spid="15" grpId="0"/>
      <p:bldP spid="2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this doesn't do yet, and what's next</a:t>
            </a:r>
          </a:p>
        </p:txBody>
      </p:sp>
      <p:sp>
        <p:nvSpPr>
          <p:cNvPr id="6" name="Takeaway" descr="A baseline in plain Python, not production accuracy."/>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A baseline in plain Python, not production accuracy.</a:t>
            </a:r>
            <a:endParaRPr lang="en-GB" sz="2400"/>
          </a:p>
        </p:txBody>
      </p:sp>
      <p:sp>
        <p:nvSpPr>
          <p:cNvPr id="7" name="Column tile 1">
            <a:extLst>
              <a:ext uri="{C183D7F6-B498-43B3-948B-1728B52AA6E4}">
                <adec:decorative xmlns:adec="http://schemas.microsoft.com/office/drawing/2017/decorative" val="1"/>
              </a:ext>
            </a:extLst>
          </p:cNvPr>
          <p:cNvSpPr/>
          <p:nvPr/>
        </p:nvSpPr>
        <p:spPr>
          <a:xfrm>
            <a:off x="548640" y="2331720"/>
            <a:ext cx="5387340" cy="3071368"/>
          </a:xfrm>
          <a:prstGeom prst="roundRect">
            <a:avLst>
              <a:gd name="adj" fmla="val 23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olumn head 1"/>
          <p:cNvSpPr txBox="1"/>
          <p:nvPr/>
        </p:nvSpPr>
        <p:spPr>
          <a:xfrm>
            <a:off x="777240" y="2532888"/>
            <a:ext cx="493014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Limits</a:t>
            </a:r>
            <a:endParaRPr lang="en-GB" sz="2800"/>
          </a:p>
        </p:txBody>
      </p:sp>
      <p:sp>
        <p:nvSpPr>
          <p:cNvPr id="9" name="Column bullets 1"/>
          <p:cNvSpPr txBox="1"/>
          <p:nvPr/>
        </p:nvSpPr>
        <p:spPr>
          <a:xfrm>
            <a:off x="777240" y="3096768"/>
            <a:ext cx="4930140" cy="21691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400" lang="en-GB">
                <a:solidFill>
                  <a:srgbClr val="263238"/>
                </a:solidFill>
                <a:latin typeface="+mn-lt"/>
              </a:rPr>
              <a:t>3 of 61 poles found</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Vegetation: not scored</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Buildings: 83 % precision, a lower bound</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One 200 m crop, one timed run</a:t>
            </a:r>
            <a:endParaRPr lang="en-GB" sz="2400"/>
          </a:p>
        </p:txBody>
      </p:sp>
      <p:sp>
        <p:nvSpPr>
          <p:cNvPr id="10" name="Column tile 2">
            <a:extLst>
              <a:ext uri="{C183D7F6-B498-43B3-948B-1728B52AA6E4}">
                <adec:decorative xmlns:adec="http://schemas.microsoft.com/office/drawing/2017/decorative" val="1"/>
              </a:ext>
            </a:extLst>
          </p:cNvPr>
          <p:cNvSpPr/>
          <p:nvPr/>
        </p:nvSpPr>
        <p:spPr>
          <a:xfrm>
            <a:off x="6256020" y="2331720"/>
            <a:ext cx="5387340" cy="3071368"/>
          </a:xfrm>
          <a:prstGeom prst="roundRect">
            <a:avLst>
              <a:gd name="adj" fmla="val 23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lumn head 2"/>
          <p:cNvSpPr txBox="1"/>
          <p:nvPr/>
        </p:nvSpPr>
        <p:spPr>
          <a:xfrm>
            <a:off x="6484620" y="2532888"/>
            <a:ext cx="4930140" cy="426720"/>
          </a:xfrm>
          <a:prstGeom prst="rect">
            <a:avLst/>
          </a:prstGeom>
          <a:noFill/>
        </p:spPr>
        <p:txBody>
          <a:bodyPr wrap="square" anchor="t" lIns="0" tIns="0" rIns="0" bIns="0">
            <a:noAutofit/>
          </a:bodyPr>
          <a:lstStyle/>
          <a:p>
            <a:pPr marL="0" indent="0" algn="l">
              <a:spcBef>
                <a:spcPts val="0"/>
              </a:spcBef>
              <a:spcAft>
                <a:spcPts val="0"/>
              </a:spcAft>
              <a:buNone/>
            </a:pPr>
            <a:r>
              <a:rPr sz="2800" b="0" lang="en-GB">
                <a:solidFill>
                  <a:srgbClr val="1C325B"/>
                </a:solidFill>
                <a:latin typeface="Fira Sans SemiBold"/>
              </a:rPr>
              <a:t>Next</a:t>
            </a:r>
            <a:endParaRPr lang="en-GB" sz="2800"/>
          </a:p>
        </p:txBody>
      </p:sp>
      <p:sp>
        <p:nvSpPr>
          <p:cNvPr id="12" name="Column bullets 2"/>
          <p:cNvSpPr txBox="1"/>
          <p:nvPr/>
        </p:nvSpPr>
        <p:spPr>
          <a:xfrm>
            <a:off x="6484620" y="3096768"/>
            <a:ext cx="4930140" cy="21691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400" lang="en-GB">
                <a:solidFill>
                  <a:srgbClr val="263238"/>
                </a:solidFill>
                <a:latin typeface="+mn-lt"/>
              </a:rPr>
              <a:t>Ground and clusters on tiles with overlap (B2)</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A classifier for the labels (B5)</a:t>
            </a:r>
            <a:endParaRPr lang="en-GB" sz="2400"/>
          </a:p>
          <a:p>
            <a:pPr algn="l" marL="228600" indent="-228600">
              <a:lnSpc>
                <a:spcPct val="95000"/>
              </a:lnSpc>
              <a:spcBef>
                <a:spcPts val="400"/>
              </a:spcBef>
              <a:spcAft>
                <a:spcPts val="0"/>
              </a:spcAft>
              <a:buClr>
                <a:srgbClr val="2B6797"/>
              </a:buClr>
              <a:buFont typeface="Fira Sans"/>
              <a:buChar char="•"/>
            </a:pPr>
            <a:r>
              <a:rPr sz="2400" lang="en-GB">
                <a:solidFill>
                  <a:srgbClr val="263238"/>
                </a:solidFill>
                <a:latin typeface="+mn-lt"/>
              </a:rPr>
              <a:t>Your own point cloud (B6)</a:t>
            </a:r>
            <a:endParaRPr lang="en-GB" sz="2400"/>
          </a:p>
        </p:txBody>
      </p:sp>
      <p:sp>
        <p:nvSpPr>
          <p:cNvPr id="13" name="Small print breadcrumb"/>
          <p:cNvSpPr txBox="1"/>
          <p:nvPr/>
        </p:nvSpPr>
        <p:spPr>
          <a:xfrm>
            <a:off x="4206240" y="6355080"/>
            <a:ext cx="6400800" cy="228600"/>
          </a:xfrm>
          <a:prstGeom prst="rect">
            <a:avLst/>
          </a:prstGeom>
          <a:noFill/>
        </p:spPr>
        <p:txBody>
          <a:bodyPr wrap="none" anchor="b" lIns="0" tIns="0" rIns="0" bIns="0">
            <a:noAutofit/>
          </a:bodyPr>
          <a:lstStyle/>
          <a:p>
            <a:pPr marL="0" indent="0" algn="r">
              <a:spcBef>
                <a:spcPts val="0"/>
              </a:spcBef>
              <a:spcAft>
                <a:spcPts val="0"/>
              </a:spcAft>
              <a:buNone/>
            </a:pPr>
            <a:r>
              <a:rPr sz="1200" lang="en-GB">
                <a:solidFill>
                  <a:srgbClr val="455A64"/>
                </a:solidFill>
                <a:latin typeface="+mn-lt"/>
              </a:rPr>
              <a:t>Intro</a:t>
            </a:r>
            <a:r>
              <a:rPr sz="1200" lang="en-GB">
                <a:solidFill>
                  <a:srgbClr val="455A64"/>
                </a:solidFill>
                <a:latin typeface="+mn-lt"/>
              </a:rPr>
              <a:t>  ·  </a:t>
            </a:r>
            <a:r>
              <a:rPr sz="1200" lang="en-GB">
                <a:solidFill>
                  <a:srgbClr val="455A64"/>
                </a:solidFill>
                <a:latin typeface="+mn-lt"/>
              </a:rPr>
              <a:t>Data</a:t>
            </a:r>
            <a:r>
              <a:rPr sz="1200" lang="en-GB">
                <a:solidFill>
                  <a:srgbClr val="455A64"/>
                </a:solidFill>
                <a:latin typeface="+mn-lt"/>
              </a:rPr>
              <a:t>  ·  </a:t>
            </a:r>
            <a:r>
              <a:rPr sz="1200" lang="en-GB">
                <a:solidFill>
                  <a:srgbClr val="455A64"/>
                </a:solidFill>
                <a:latin typeface="+mn-lt"/>
              </a:rPr>
              <a:t>Toolbox</a:t>
            </a:r>
            <a:r>
              <a:rPr sz="1200" lang="en-GB">
                <a:solidFill>
                  <a:srgbClr val="455A64"/>
                </a:solidFill>
                <a:latin typeface="+mn-lt"/>
              </a:rPr>
              <a:t>  ·  </a:t>
            </a:r>
            <a:r>
              <a:rPr sz="1200" lang="en-GB">
                <a:solidFill>
                  <a:srgbClr val="455A64"/>
                </a:solidFill>
                <a:latin typeface="+mn-lt"/>
              </a:rPr>
              <a:t>Pipeline</a:t>
            </a:r>
            <a:r>
              <a:rPr sz="1200" lang="en-GB">
                <a:solidFill>
                  <a:srgbClr val="455A64"/>
                </a:solidFill>
                <a:latin typeface="+mn-lt"/>
              </a:rPr>
              <a:t>  ·  </a:t>
            </a:r>
            <a:r>
              <a:rPr sz="1200" lang="en-GB">
                <a:solidFill>
                  <a:srgbClr val="455A64"/>
                </a:solidFill>
                <a:latin typeface="+mn-lt"/>
              </a:rPr>
              <a:t>Memory</a:t>
            </a:r>
            <a:r>
              <a:rPr sz="1200" lang="en-GB">
                <a:solidFill>
                  <a:srgbClr val="455A64"/>
                </a:solidFill>
                <a:latin typeface="+mn-lt"/>
              </a:rPr>
              <a:t>  ·  </a:t>
            </a:r>
            <a:r>
              <a:rPr sz="1200" lang="en-GB">
                <a:solidFill>
                  <a:srgbClr val="455A64"/>
                </a:solidFill>
                <a:latin typeface="+mn-lt"/>
              </a:rPr>
              <a:t>Speed</a:t>
            </a:r>
            <a:r>
              <a:rPr sz="1200" lang="en-GB">
                <a:solidFill>
                  <a:srgbClr val="455A64"/>
                </a:solidFill>
                <a:latin typeface="+mn-lt"/>
              </a:rPr>
              <a:t>  ·  </a:t>
            </a:r>
            <a:r>
              <a:rPr sz="1200" lang="en-GB">
                <a:solidFill>
                  <a:srgbClr val="455A64"/>
                </a:solidFill>
                <a:latin typeface="+mn-lt"/>
              </a:rPr>
              <a:t>Reality</a:t>
            </a:r>
            <a:r>
              <a:rPr sz="1200" lang="en-GB">
                <a:solidFill>
                  <a:srgbClr val="455A64"/>
                </a:solidFill>
                <a:latin typeface="+mn-lt"/>
              </a:rPr>
              <a:t>  ·  </a:t>
            </a:r>
            <a:r>
              <a:rPr sz="1200" lang="en-GB">
                <a:solidFill>
                  <a:srgbClr val="2B6797"/>
                </a:solidFill>
                <a:latin typeface="Fira Sans SemiBold"/>
              </a:rPr>
              <a:t>Wrap-up</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Thank you</a:t>
            </a:r>
          </a:p>
        </p:txBody>
      </p:sp>
      <p:sp>
        <p:nvSpPr>
          <p:cNvPr id="3" name="Contact"/>
          <p:cNvSpPr>
            <a:spLocks noGrp="1"/>
          </p:cNvSpPr>
          <p:nvPr>
            <p:ph type="body" idx="15"/>
          </p:nvPr>
        </p:nvSpPr>
        <p:spPr/>
        <p:txBody>
          <a:bodyPr/>
          <a:lstStyle/>
          <a:p>
            <a:pPr marL="0" indent="0" algn="l">
              <a:spcBef>
                <a:spcPts val="0"/>
              </a:spcBef>
              <a:spcAft>
                <a:spcPts val="1400"/>
              </a:spcAft>
              <a:buNone/>
            </a:pPr>
            <a:r>
              <a:rPr sz="2400" b="0" lang="en-GB">
                <a:solidFill>
                  <a:srgbClr val="B1CAC5"/>
                </a:solidFill>
                <a:latin typeface="+mn-lt"/>
              </a:rPr>
              <a:t>Try it on your own AHN tile.</a:t>
            </a:r>
            <a:endParaRPr lang="en-GB" sz="24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Write the plan in Python; let compiled code loop.</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Data: AHN5,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24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14 and 16):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19</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19's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today's pipeline sits in a 3D project</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18 and the voxel on slide 16 are the same choice.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(B2).</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15).</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13).</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61289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8)</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8,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16 to 18</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30,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22, rule 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8,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60184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8 and 30; the workflow ring is backup B8)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48</Slides>
  <Notes>48</Notes>
  <HiddenSlides>15</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2026-10-13T23:03:32Z</dcterms:created>
  <dcterms:modified xsi:type="dcterms:W3CDTF">2026-10-13T23:03:32Z</dcterms:modified>
</cp:coreProperties>
</file>