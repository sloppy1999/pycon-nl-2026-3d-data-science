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embedTrueTypeFonts="1">
  <p:sldMasterIdLst>
    <p:sldMasterId id="2147483648" r:id="rId1"/>
  </p:sldMasterIdLst>
  <p:notesMasterIdLst>
    <p:notesMasterId r:id="rId2"/>
  </p:notesMasterIdLst>
  <p:sldIdLst>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8" r:id="rId73"/>
    <p:sldId id="309" r:id="rId74"/>
    <p:sldId id="310" r:id="rId75"/>
    <p:sldId id="311" r:id="rId76"/>
    <p:sldId id="312" r:id="rId77"/>
    <p:sldId id="313" r:id="rId78"/>
    <p:sldId id="314" r:id="rId79"/>
  </p:sldIdLst>
  <p:sldSz cx="12192000" cy="6858000"/>
  <p:notesSz cx="6858000" cy="9144000"/>
  <p:defaultTextStyle>
    <a:defPPr>
      <a:defRPr lang="en-GB"/>
    </a:defPPr>
    <a:lvl1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1pPr>
    <a:lvl2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2pPr>
    <a:lvl3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3pPr>
    <a:lvl4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4pPr>
    <a:lvl5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5pPr>
    <a:lvl6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6pPr>
    <a:lvl7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7pPr>
    <a:lvl8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8pPr>
    <a:lvl9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42BA9F01-9AAF-523B-A1FF-D7CD8E092C9A}">
          <p14:sldIdLst>
            <p14:sldId id="267"/>
            <p14:sldId id="268"/>
            <p14:sldId id="269"/>
            <p14:sldId id="270"/>
            <p14:sldId id="271"/>
          </p14:sldIdLst>
        </p14:section>
        <p14:section name="Data" id="{6A9FBBCF-7D32-5799-90B6-29CB5E513BA9}">
          <p14:sldIdLst>
            <p14:sldId id="272"/>
            <p14:sldId id="273"/>
            <p14:sldId id="274"/>
            <p14:sldId id="275"/>
          </p14:sldIdLst>
        </p14:section>
        <p14:section name="Toolbox" id="{12BEED03-FA1E-5636-8D4F-5B1FF3B512FD}">
          <p14:sldIdLst>
            <p14:sldId id="276"/>
            <p14:sldId id="277"/>
            <p14:sldId id="278"/>
          </p14:sldIdLst>
        </p14:section>
        <p14:section name="Pipeline" id="{05E5A3AC-5421-5A88-AD0C-4BD49E0B21BA}">
          <p14:sldIdLst>
            <p14:sldId id="279"/>
            <p14:sldId id="280"/>
            <p14:sldId id="281"/>
            <p14:sldId id="282"/>
            <p14:sldId id="283"/>
            <p14:sldId id="284"/>
            <p14:sldId id="285"/>
            <p14:sldId id="286"/>
            <p14:sldId id="287"/>
          </p14:sldIdLst>
        </p14:section>
        <p14:section name="Memory" id="{BF7E46F6-4ABD-52B5-86E9-295AC042085E}">
          <p14:sldIdLst>
            <p14:sldId id="288"/>
            <p14:sldId id="289"/>
          </p14:sldIdLst>
        </p14:section>
        <p14:section name="Speed" id="{C362375C-B73B-5E64-A57B-8E8962A8D86A}">
          <p14:sldIdLst>
            <p14:sldId id="290"/>
            <p14:sldId id="291"/>
            <p14:sldId id="292"/>
            <p14:sldId id="293"/>
            <p14:sldId id="294"/>
          </p14:sldIdLst>
        </p14:section>
        <p14:section name="Reality" id="{143E4A34-387B-5831-AEE6-26CBC198F875}">
          <p14:sldIdLst>
            <p14:sldId id="295"/>
            <p14:sldId id="296"/>
          </p14:sldIdLst>
        </p14:section>
        <p14:section name="Rules" id="{4EF13D80-1BB4-5097-98C8-BCC8AA40B3F0}">
          <p14:sldIdLst>
            <p14:sldId id="297"/>
            <p14:sldId id="298"/>
          </p14:sldIdLst>
        </p14:section>
        <p14:section name="Close" id="{AEEEB925-C185-5AB3-9680-D0FAD88D7D4B}">
          <p14:sldIdLst>
            <p14:sldId id="299"/>
          </p14:sldIdLst>
        </p14:section>
        <p14:section name="Appendix" id="{3E60DB7E-7D0C-5965-8A18-E35BD8A6BF05}">
          <p14:sldIdLst>
            <p14:sldId id="300"/>
            <p14:sldId id="301"/>
            <p14:sldId id="302"/>
            <p14:sldId id="303"/>
            <p14:sldId id="304"/>
            <p14:sldId id="305"/>
            <p14:sldId id="306"/>
            <p14:sldId id="307"/>
          </p14:sldIdLst>
        </p14:section>
        <p14:section name="Mental models" id="{C1C52CF0-C409-5D3A-999B-DE2E8950CDD6}">
          <p14:sldIdLst>
            <p14:sldId id="308"/>
            <p14:sldId id="309"/>
            <p14:sldId id="310"/>
            <p14:sldId id="311"/>
            <p14:sldId id="312"/>
            <p14:sldId id="313"/>
            <p14:sldId id="31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23.xml"/><Relationship Id="rId55" Type="http://schemas.openxmlformats.org/officeDocument/2006/relationships/slide" Target="slides/slide24.xml"/><Relationship Id="rId56" Type="http://schemas.openxmlformats.org/officeDocument/2006/relationships/slide" Target="slides/slide25.xml"/><Relationship Id="rId57" Type="http://schemas.openxmlformats.org/officeDocument/2006/relationships/slide" Target="slides/slide26.xml"/><Relationship Id="rId58" Type="http://schemas.openxmlformats.org/officeDocument/2006/relationships/slide" Target="slides/slide27.xml"/><Relationship Id="rId59" Type="http://schemas.openxmlformats.org/officeDocument/2006/relationships/slide" Target="slides/slide28.xml"/><Relationship Id="rId60" Type="http://schemas.openxmlformats.org/officeDocument/2006/relationships/slide" Target="slides/slide29.xml"/><Relationship Id="rId61" Type="http://schemas.openxmlformats.org/officeDocument/2006/relationships/slide" Target="slides/slide30.xml"/><Relationship Id="rId62" Type="http://schemas.openxmlformats.org/officeDocument/2006/relationships/slide" Target="slides/slide31.xml"/><Relationship Id="rId63" Type="http://schemas.openxmlformats.org/officeDocument/2006/relationships/slide" Target="slides/slide32.xml"/><Relationship Id="rId64" Type="http://schemas.openxmlformats.org/officeDocument/2006/relationships/slide" Target="slides/slide33.xml"/><Relationship Id="rId65" Type="http://schemas.openxmlformats.org/officeDocument/2006/relationships/slide" Target="slides/slide34.xml"/><Relationship Id="rId66" Type="http://schemas.openxmlformats.org/officeDocument/2006/relationships/slide" Target="slides/slide35.xml"/><Relationship Id="rId67" Type="http://schemas.openxmlformats.org/officeDocument/2006/relationships/slide" Target="slides/slide36.xml"/><Relationship Id="rId68" Type="http://schemas.openxmlformats.org/officeDocument/2006/relationships/slide" Target="slides/slide37.xml"/><Relationship Id="rId69"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41.xml"/><Relationship Id="rId73" Type="http://schemas.openxmlformats.org/officeDocument/2006/relationships/slide" Target="slides/slide42.xml"/><Relationship Id="rId74" Type="http://schemas.openxmlformats.org/officeDocument/2006/relationships/slide" Target="slides/slide43.xml"/><Relationship Id="rId75" Type="http://schemas.openxmlformats.org/officeDocument/2006/relationships/slide" Target="slides/slide44.xml"/><Relationship Id="rId76" Type="http://schemas.openxmlformats.org/officeDocument/2006/relationships/slide" Target="slides/slide4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layout>
        <c:manualLayout>
          <c:layoutTarget val="inner"/>
          <c:xMode val="edge"/>
          <c:yMode val="edge"/>
          <c:x val="0.3310"/>
          <c:y val="0.0200"/>
          <c:w val="0.6654"/>
          <c:h val="0.9600"/>
        </c:manualLayout>
      </c:layout>
      <c:barChart>
        <c:barDir val="bar"/>
        <c:grouping val="clustered"/>
        <c:varyColors val="0"/>
        <c:ser>
          <c:idx val="0"/>
          <c:order val="0"/>
          <c:tx>
            <c:strRef>
              <c:f>Sheet1!$B$1</c:f>
              <c:strCache>
                <c:ptCount val="1"/>
                <c:pt idx="0">
                  <c:v>GB (2^30 bytes)</c:v>
                </c:pt>
              </c:strCache>
            </c:strRef>
          </c:tx>
          <c:invertIfNegative val="0"/>
          <c:dPt>
            <c:idx val="0"/>
            <c:spPr>
              <a:solidFill>
                <a:srgbClr val="9CA3AF"/>
              </a:solidFill>
              <a:ln>
                <a:noFill/>
              </a:ln>
            </c:spPr>
          </c:dPt>
          <c:dPt>
            <c:idx val="1"/>
            <c:spPr>
              <a:solidFill>
                <a:srgbClr val="9CA3AF"/>
              </a:solidFill>
              <a:ln>
                <a:noFill/>
              </a:ln>
            </c:spPr>
          </c:dPt>
          <c:dPt>
            <c:idx val="2"/>
            <c:spPr>
              <a:solidFill>
                <a:srgbClr val="2B6797"/>
              </a:solidFill>
              <a:ln>
                <a:noFill/>
              </a:ln>
            </c:spPr>
          </c:dPt>
          <c:dLbls>
            <c:numFmt formatCode="0.0&quot; GB&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Sheet1!$A$2:$A$4</c:f>
              <c:strCache>
                <c:ptCount val="3"/>
                <c:pt idx="0">
                  <c:v>LAS records
(computed)</c:v>
                </c:pt>
                <c:pt idx="1">
                  <c:v>+ float64 xyz
(computed)</c:v>
                </c:pt>
                <c:pt idx="2">
                  <c:v>Our pipeline
(computed)</c:v>
                </c:pt>
              </c:strCache>
            </c:strRef>
          </c:cat>
          <c:val>
            <c:numRef>
              <c:f>Sheet1!$B$2:$B$4</c:f>
              <c:numCache>
                <c:formatCode>0.0</c:formatCode>
                <c:ptCount val="3"/>
                <c:pt idx="0">
                  <c:v>25.877822320908308</c:v>
                </c:pt>
                <c:pt idx="1">
                  <c:v>46.580080177634954</c:v>
                </c:pt>
                <c:pt idx="2">
                  <c:v>74.24490390114173</c:v>
                </c:pt>
              </c:numCache>
            </c:numRef>
          </c:val>
        </c:ser>
        <c:gapWidth val="45"/>
        <c:axId val="-2068027336"/>
        <c:axId val="-2113994440"/>
      </c:barChart>
      <c:catAx>
        <c:axId val="-2068027336"/>
        <c:scaling>
          <c:orientation val="maxMin"/>
        </c:scaling>
        <c:delete val="0"/>
        <c:axPos val="l"/>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max val="120.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barChart>
        <c:barDir val="col"/>
        <c:grouping val="clustered"/>
        <c:varyColors val="0"/>
        <c:ser>
          <c:idx val="0"/>
          <c:order val="0"/>
          <c:tx>
            <c:strRef>
              <c:f>Sheet1!$B$1</c:f>
              <c:strCache>
                <c:ptCount val="1"/>
                <c:pt idx="0">
                  <c:v>Median time (ms)</c:v>
                </c:pt>
              </c:strCache>
            </c:strRef>
          </c:tx>
          <c:invertIfNegative val="0"/>
          <c:dPt>
            <c:idx val="0"/>
            <c:spPr>
              <a:solidFill>
                <a:srgbClr val="2B6797"/>
              </a:solidFill>
              <a:ln>
                <a:noFill/>
              </a:ln>
            </c:spPr>
          </c:dPt>
          <c:dPt>
            <c:idx val="1"/>
            <c:spPr>
              <a:solidFill>
                <a:srgbClr val="9CA3AF"/>
              </a:solidFill>
              <a:ln>
                <a:noFill/>
              </a:ln>
            </c:spPr>
          </c:dPt>
          <c:dLbls>
            <c:numFmt formatCode="[&lt;10]0.0&quot; ms&quot;;[&lt;1000]0&quot; ms&quot;;0.0,&quot; s&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Sheet1!$A$2:$A$3</c:f>
              <c:strCache>
                <c:ptCount val="2"/>
                <c:pt idx="0">
                  <c:v>Loop over NumPy rows</c:v>
                </c:pt>
                <c:pt idx="1">
                  <c:v>One NumPy expression</c:v>
                </c:pt>
              </c:strCache>
            </c:strRef>
          </c:cat>
          <c:val>
            <c:numRef>
              <c:f>Sheet1!$B$2:$B$3</c:f>
              <c:numCache>
                <c:formatCode>0.000</c:formatCode>
                <c:ptCount val="2"/>
                <c:pt idx="0">
                  <c:v>317.0335899994825</c:v>
                </c:pt>
                <c:pt idx="1">
                  <c:v>2.440463002130855</c:v>
                </c:pt>
              </c:numCache>
            </c:numRef>
          </c:val>
        </c:ser>
        <c:gapWidth val="60"/>
        <c:axId val="-2068027336"/>
        <c:axId val="-2113994440"/>
      </c:barChart>
      <c:catAx>
        <c:axId val="-2068027336"/>
        <c:scaling>
          <c:orientation val="minMax"/>
        </c:scaling>
        <c:delete val="0"/>
        <c:axPos val="b"/>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max val="4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0"/>
  <c:chart>
    <c:autoTitleDeleted val="1"/>
    <c:plotArea>
      <c:barChart>
        <c:barDir val="col"/>
        <c:grouping val="clustered"/>
        <c:varyColors val="0"/>
        <c:ser>
          <c:idx val="0"/>
          <c:order val="0"/>
          <c:tx>
            <c:strRef>
              <c:f>Sheet1!$B$1</c:f>
              <c:strCache>
                <c:ptCount val="1"/>
                <c:pt idx="0">
                  <c:v>Median time (ms)</c:v>
                </c:pt>
              </c:strCache>
            </c:strRef>
          </c:tx>
          <c:invertIfNegative val="0"/>
          <c:dPt>
            <c:idx val="0"/>
            <c:spPr>
              <a:solidFill>
                <a:srgbClr val="9CA3AF"/>
              </a:solidFill>
              <a:ln>
                <a:noFill/>
              </a:ln>
            </c:spPr>
          </c:dPt>
          <c:dPt>
            <c:idx val="1"/>
            <c:spPr>
              <a:solidFill>
                <a:srgbClr val="2B6797"/>
              </a:solidFill>
              <a:ln>
                <a:noFill/>
              </a:ln>
            </c:spPr>
          </c:dPt>
          <c:dPt>
            <c:idx val="2"/>
            <c:spPr>
              <a:solidFill>
                <a:srgbClr val="9CA3AF"/>
              </a:solidFill>
              <a:ln>
                <a:noFill/>
              </a:ln>
            </c:spPr>
          </c:dPt>
          <c:dLbls>
            <c:numFmt formatCode="[&lt;10]0.0&quot; ms&quot;;[&lt;1000]0&quot; ms&quot;;0.0,&quot; s&quot;" sourceLinked="0"/>
            <c:txPr>
              <a:bodyPr/>
              <a:lstStyle/>
              <a:p>
                <a:pPr>
                  <a:defRPr sz="2000">
                    <a:solidFill>
                      <a:srgbClr val="263238"/>
                    </a:solidFill>
                    <a:latin typeface="Fira Sans"/>
                  </a:defRPr>
                </a:pPr>
              </a:p>
            </c:txPr>
            <c:dLblPos val="outEnd"/>
            <c:showLegendKey val="0"/>
            <c:showVal val="1"/>
            <c:showCatName val="0"/>
            <c:showSerName val="0"/>
            <c:showPercent val="0"/>
            <c:showBubbleSize val="0"/>
            <c:showLeaderLines val="1"/>
          </c:dLbls>
          <c:cat>
            <c:strRef>
              <c:f>Sheet1!$A$2:$A$4</c:f>
              <c:strCache>
                <c:ptCount val="3"/>
                <c:pt idx="0">
                  <c:v>Loop,
1 thread</c:v>
                </c:pt>
                <c:pt idx="1">
                  <c:v>Loop,
threads</c:v>
                </c:pt>
                <c:pt idx="2">
                  <c:v>NumPy,
1 call</c:v>
                </c:pt>
              </c:strCache>
            </c:strRef>
          </c:cat>
          <c:val>
            <c:numRef>
              <c:f>Sheet1!$B$2:$B$4</c:f>
              <c:numCache>
                <c:formatCode>0.000</c:formatCode>
                <c:ptCount val="3"/>
                <c:pt idx="0">
                  <c:v>335.80125799926464</c:v>
                </c:pt>
                <c:pt idx="1">
                  <c:v>61.14176099799806</c:v>
                </c:pt>
                <c:pt idx="2">
                  <c:v>2.2707629977958277</c:v>
                </c:pt>
              </c:numCache>
            </c:numRef>
          </c:val>
        </c:ser>
        <c:gapWidth val="60"/>
        <c:axId val="-2068027336"/>
        <c:axId val="-2113994440"/>
      </c:barChart>
      <c:catAx>
        <c:axId val="-2068027336"/>
        <c:scaling>
          <c:orientation val="minMax"/>
        </c:scaling>
        <c:delete val="0"/>
        <c:axPos val="b"/>
        <c:majorTickMark val="none"/>
        <c:minorTickMark val="none"/>
        <c:tickLblPos val="nextTo"/>
        <c:spPr>
          <a:ln w="9525">
            <a:solidFill>
              <a:srgbClr val="9CA3AF"/>
            </a:solidFill>
          </a:ln>
        </c:spPr>
        <c:txPr>
          <a:bodyPr rot="0" vert="horz"/>
          <a:lstStyle/>
          <a:p>
            <a:pPr>
              <a:defRPr sz="2000">
                <a:solidFill>
                  <a:srgbClr val="263238"/>
                </a:solidFill>
                <a:latin typeface="Fira Sans"/>
              </a:defRPr>
            </a:pPr>
          </a:p>
        </c:txPr>
        <c:crossAx val="-2113994440"/>
        <c:crosses val="autoZero"/>
        <c:auto val="1"/>
        <c:lblAlgn val="ctr"/>
        <c:lblOffset val="100"/>
        <c:noMultiLvlLbl val="0"/>
      </c:catAx>
      <c:valAx>
        <c:axId val="-2113994440"/>
        <c:scaling>
          <c:max val="4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2000">
          <a:solidFill>
            <a:srgbClr val="263238"/>
          </a:solidFill>
          <a:latin typeface="Fira Sans"/>
        </a:defRPr>
      </a:pPr>
      <a:endParaRPr lang="en-GB"/>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image"/>
          <p:cNvSpPr>
            <a:spLocks noGrp="1" noRot="1" noChangeAspect="1"/>
          </p:cNvSpPr>
          <p:nvPr>
            <p:ph type="sldImg" idx="2"/>
          </p:nvPr>
        </p:nvSpPr>
        <p:spPr>
          <a:xfrm>
            <a:off x="381000" y="685800"/>
            <a:ext cx="6096000" cy="3429000"/>
          </a:xfrm>
          <a:prstGeom prst="rect">
            <a:avLst/>
          </a:prstGeom>
          <a:noFill/>
          <a:ln w="12700">
            <a:solidFill>
              <a:schemeClr val="accent5"/>
            </a:solidFill>
          </a:ln>
        </p:spPr>
      </p:sp>
      <p:sp>
        <p:nvSpPr>
          <p:cNvPr id="3" name="Notes"/>
          <p:cNvSpPr>
            <a:spLocks noGrp="1"/>
          </p:cNvSpPr>
          <p:nvPr>
            <p:ph type="body" sz="quarter" idx="3"/>
          </p:nvPr>
        </p:nvSpPr>
        <p:spPr>
          <a:xfrm>
            <a:off x="685800" y="4343400"/>
            <a:ext cx="5486400" cy="4114800"/>
          </a:xfrm>
          <a:prstGeom prst="rect">
            <a:avLst/>
          </a:prstGeom>
        </p:spPr>
        <p:txBody>
          <a:bodyPr vert="horz" lIns="91440" tIns="45720" rIns="91440" bIns="45720" rtlCol="0"/>
          <a:lstStyle/>
          <a:p>
            <a:r>
              <a:rPr lang="en-GB" dirty="0"/>
              <a:t>Speaker notes: talk track, time, traceability</a:t>
            </a:r>
            <a:endParaRPr lang="en-GB" dirty="0"/>
          </a:p>
        </p:txBody>
      </p:sp>
      <p:sp>
        <p:nvSpPr>
          <p:cNvPr id="4" name="Slide number"/>
          <p:cNvSpPr>
            <a:spLocks noGrp="1"/>
          </p:cNvSpPr>
          <p:nvPr>
            <p:ph type="sldNum" sz="quarter" idx="5"/>
          </p:nvPr>
        </p:nvSpPr>
        <p:spPr>
          <a:xfrm>
            <a:off x="3884613" y="8685213"/>
            <a:ext cx="2971800" cy="458787"/>
          </a:xfrm>
          <a:prstGeom prst="rect">
            <a:avLst/>
          </a:prstGeom>
        </p:spPr>
        <p:txBody>
          <a:bodyPr vert="horz" lIns="91440" tIns="45720" rIns="91440" bIns="45720" rtlCol="0"/>
          <a:lstStyle/>
          <a:p>
            <a:pPr algn="r"/>
            <a:fld id="{B6F15528-21DE-4FAA-801E-634DDDAF4B2B}" type="slidenum">
              <a:rPr lang="en-GB"/>
              <a:t>‹#›</a:t>
            </a:fld>
            <a:endParaRPr lang="en-GB" dirty="0"/>
          </a:p>
        </p:txBody>
      </p:sp>
    </p:spTree>
  </p:cSld>
  <p:clrMap bg1="lt1" tx1="dk1" bg2="lt2" tx2="dk2" accent1="accent1" accent2="accent2" accent3="accent3" accent4="accent4" accent5="accent5" accent6="accent6" hlink="hlink" folHlink="folHlink"/>
  <p:hf hdr="0" dt="0" ftr="0"/>
  <p:notesStyle>
    <a:lvl1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1pPr>
    <a:lvl2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2pPr>
    <a:lvl3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3pPr>
    <a:lvl4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4pPr>
    <a:lvl5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5pPr>
    <a:lvl6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6pPr>
    <a:lvl7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7pPr>
    <a:lvl8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8pPr>
    <a:lvl9pPr marL="0" indent="0" algn="l" defTabSz="457200" rtl="0" eaLnBrk="1" latinLnBrk="0" hangingPunct="1">
      <a:lnSpc>
        <a:spcPct val="110000"/>
      </a:lnSpc>
      <a:spcBef>
        <a:spcPts val="0"/>
      </a:spcBef>
      <a:spcAft>
        <a:spcPts val="400"/>
      </a:spcAft>
      <a:buNone/>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Quick show of hands: who has written this loop? Keep it up if it finished before your coffee went cold. In 30 minutes you get a pipeline you can copy and the gotchas that cost me weeks; first, a confession about C++.</a:t>
            </a:r>
          </a:p>
          <a:p/>
          <a:p>
            <a:r>
              <a:t>TIME: 20 s, ends at 0:20</a:t>
            </a:r>
          </a:p>
          <a:p/>
          <a:p>
            <a:r>
              <a:t>LIKELY QUESTION: Does that loop really take until tomorrow on 12 million points?</a:t>
            </a:r>
          </a:p>
          <a:p/>
          <a:p>
            <a:r>
              <a:t>ANSWER: The 12 million is the abstract's joke, not our data: this crop has 722 961 points and the 1 km AHN file 21 013 926. I haven't timed a 12 million point loop, so I don't quote a time; what I did measure is the cost per loop step, on slide 26.</a:t>
            </a:r>
          </a:p>
          <a:p/>
          <a:p>
            <a:r>
              <a:t>CHECK BEFORE THE TALK:</a:t>
            </a:r>
          </a:p>
          <a:p>
            <a:r>
              <a:t>• The code line is the abstract's joke word for word, as the speaker asked (it is a joke, not runnable: a loop body of only a comment would raise IndentationError). Fira Mono has no cup glyph: PowerPoint falls back to an emoji font; check the cup renders on the presenting laptop</a:t>
            </a:r>
          </a:p>
          <a:p/>
          <a:p>
            <a:r>
              <a:t>TRACE:</a:t>
            </a:r>
          </a:p>
          <a:p>
            <a:r>
              <a:t>• Code line: the talk abstract, with '...' as the loop body; shown, not run</a:t>
            </a:r>
          </a:p>
          <a:p>
            <a:r>
              <a:t>• results/pipeline.json: points_in</a:t>
            </a:r>
          </a:p>
          <a:p>
            <a:r>
              <a:t>• results/memory.json: tile_1km.points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For years, serious 3D work meant C++, like the greyed-out code on the left. Both programs on this slide are real: I compiled the PCL one and ran both on the same file from today's case, and the output under each is what they printed. Twelve lines of C++ against three of Python for the same job: load the cloud and keep one average point per half-metre voxel. The C++ is still there underneath; you just stopped writing it, and if that feels like flying, you're not the first. But a shorter program doesn't tell you what to compute; so what's the problem?</a:t>
            </a:r>
          </a:p>
          <a:p/>
          <a:p>
            <a:r>
              <a:t>TIME: 35 s, ends at 0:55</a:t>
            </a:r>
          </a:p>
          <a:p/>
          <a:p>
            <a:r>
              <a:t>LIKELY QUESTION: Why do the two counts differ?</a:t>
            </a:r>
          </a:p>
          <a:p/>
          <a:p>
            <a:r>
              <a:t>ANSWER: Both average the points in each 0.5 m voxel, but the grids sit in different places: PCL anchors its voxels at multiples of the leaf size, Open3D at the minimum corner minus half a voxel. Redoing both rules in NumPy on the same file gives exactly the two counts on the slide. Neither is wrong; it's a reminder that 'voxel downsampling' is a family of algorithms.</a:t>
            </a:r>
          </a:p>
          <a:p/>
          <a:p>
            <a:r>
              <a:t>CHECK BEFORE THE TALK:</a:t>
            </a:r>
          </a:p>
          <a:p>
            <a:r>
              <a:t>• To rerun the C++ side: PCL_PREFIX=&lt;micromamba env&gt; uv run python snippets/run_all.py (docs/HOW_TO_UPDATE.md step 4); without PCL_PREFIX the .cpp is listed as NOT RUN and the left output box would still show the last recorded line</a:t>
            </a:r>
          </a:p>
          <a:p/>
          <a:p>
            <a:r>
              <a:t>TRACE:</a:t>
            </a:r>
          </a:p>
          <a:p>
            <a:r>
              <a:t>• snippets/s02_pcl.cpp: compiled and run on 2026-10-12, PCL 1.15.1 and g++ 15.3.0 from conda-forge in a user-space micromamba env; build: g++ -std=c++17 -O2 -Wall -Wextra s02_pcl.cpp $(pkg-config --cflags --libs pcl_io pcl_filters), no warnings</a:t>
            </a:r>
          </a:p>
          <a:p>
            <a:r>
              <a:t>• snippets/s02_python.py; both read the same crop.pcd, written by snippets/_setup.py write_crop_pcd (local coordinates, float32 in the file)</a:t>
            </a:r>
          </a:p>
          <a:p>
            <a:r>
              <a:t>• results/snippets.json: s02_pcl.cpp.output_line, s02_python.py.output_line (the two output boxes), compiler, pcl_version, build_cmd</a:t>
            </a:r>
          </a:p>
          <a:p>
            <a:r>
              <a:t>• Grid anchoring: PCL filters/impl/voxel_grid.hpp floor(p * inverse_leaf); Open3D PointCloud::VoxelDownSample, GetMinBound() - voxel_size / 2; both re-implemented in NumPy on crop.pcd give the same counts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Here's the problem. A laser scan of a city is millions of points, and each one is x, y, z and little else: 722 961 of them in this one block, and not one says whether it's a tree, a roof or a lamp post. Cities keep registers of what stands in the street: trees, lamp posts, bollards. So the question for today is: does the scan agree with the register? To answer it, every point needs a class, and nobody names 722 961 points by hand. So here's the goal.</a:t>
            </a:r>
          </a:p>
          <a:p/>
          <a:p>
            <a:r>
              <a:t>TIME: 45 s, ends at 1:40</a:t>
            </a:r>
          </a:p>
          <a:p/>
          <a:p>
            <a:r>
              <a:t>LIKELY QUESTION: Why not just use AHN's own classes?</a:t>
            </a:r>
          </a:p>
          <a:p/>
          <a:p>
            <a:r>
              <a:t>ANSWER: AHN marks ground and buildings and puts almost everything else, trees, poles, cars and facades, in one class called other. That's exactly the part a city register cares about.</a:t>
            </a:r>
          </a:p>
          <a:p/>
          <a:p>
            <a:r>
              <a:t>TRACE:</a:t>
            </a:r>
          </a:p>
          <a:p>
            <a:r>
              <a:t>• renders/f1_load.png (the raw crop, coloured by height)</a:t>
            </a:r>
          </a:p>
          <a:p>
            <a:r>
              <a:t>• results/pipeline.json: crop.points</a:t>
            </a:r>
          </a:p>
          <a:p>
            <a:r>
              <a:t>• results/bgt_street_furniture.json: the register used on slide 29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goal: name every point from x, y and z alone, in plain Python, and say how far to trust the result. In: one LAZ file of 200 by 200 metres. Out: one of four classes per point: ground, buildings, vegetation or street furniture. Checked how? Ground and buildings against AHN's own classes, which I hid from the pipeline; the poles against the city's BGT register; vegetation has no reference, and I'll say so at the end. Along the way you'll see four rules that make this fast, small and trustworthy. Here's the map.</a:t>
            </a:r>
          </a:p>
          <a:p/>
          <a:p>
            <a:r>
              <a:t>TIME: 40 s, ends at 2:20</a:t>
            </a:r>
          </a:p>
          <a:p/>
          <a:p>
            <a:r>
              <a:t>LIKELY QUESTION: [pending]</a:t>
            </a:r>
          </a:p>
          <a:p/>
          <a:p>
            <a:r>
              <a:t>ANSWER: [pending]</a:t>
            </a:r>
          </a:p>
          <a:p/>
          <a:p>
            <a:r>
              <a:t>TRACE:</a:t>
            </a:r>
          </a:p>
          <a:p>
            <a:r>
              <a:t>• Class 1 'overig' mixes vegetation, facades, cars and poles; street furniture goes into it by spec: AHN4 acquisition spec, research: reports/dataset.md</a:t>
            </a:r>
          </a:p>
          <a:p>
            <a:r>
              <a:t>• The map: the BGT register of poles, slide 29 (expectation vs reality)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Eight chapters, and they're the same eight as in the footer, where the current one is always highlighted. First the data and its limits, then the rules and the tools, then the six-step pipeline. After that, three questions about the result: does it fit, is it fast, and is it right? The last column says which rule each part proves. First: where do the points come from?</a:t>
            </a:r>
          </a:p>
          <a:p/>
          <a:p>
            <a:r>
              <a:t>TIME: 40 s, ends at 3:00</a:t>
            </a:r>
          </a:p>
          <a:p/>
          <a:p>
            <a:r>
              <a:t>LIKELY QUESTION: Why is the reality check at the end?</a:t>
            </a:r>
          </a:p>
          <a:p/>
          <a:p>
            <a:r>
              <a:t>ANSWER: Because that's where I learned it: I computed first and looked afterwards. The goal slide already says what it's checked against, so you can watch for the answer.</a:t>
            </a:r>
          </a:p>
          <a:p/>
          <a:p>
            <a:r>
              <a:t>TRACE:</a:t>
            </a:r>
          </a:p>
          <a:p>
            <a:r>
              <a:t>• content.yaml slide 5 (roadmap, 2026-10-14); chapters: content.yaml meta.chapters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Where do these points come from? Not from one spot: from a plane with a scanning laser that sweeps a strip below it; the inset shows that strip from above. The time an echo takes to come back gives the range; GNSS says where the plane is and the IMU how it's tilted, and together they place each echo as one x, y, z point. One pulse can leave up to 7 echoes, mostly in trees, which is how we'll find vegetation. And because the plane looks almost straight down, roofs are dense, walls sparse, and thin poles often get missed: remember that one. This crop is 691 011 pulses from 19.8 s of flight. Here it is.</a:t>
            </a:r>
          </a:p>
          <a:p/>
          <a:p>
            <a:r>
              <a:t>TIME: 55 s, ends at 3:55</a:t>
            </a:r>
          </a:p>
          <a:p/>
          <a:p>
            <a:r>
              <a:t>LIKELY QUESTION: Is this LiDAR or photogrammetry?</a:t>
            </a:r>
          </a:p>
          <a:p/>
          <a:p>
            <a:r>
              <a:t>ANSWER: LiDAR: the points are laser echoes, not matched photos, which is why a pulse can pass through a bare tree and echo several times. AHN5 has no colour; photogrammetry gives colour but no echoes under trees. Backup B6 lists other open sources, including scans from cars and tripods.</a:t>
            </a:r>
          </a:p>
          <a:p/>
          <a:p>
            <a:r>
              <a:t>TRACE:</a:t>
            </a:r>
          </a:p>
          <a:p>
            <a:r>
              <a:t>• Numbers: results/concepts.json acq (deck/concepts/make_figures.py acquisition(), from data/utrecht_jaarbeurs_200m.laz): pulses = distinct GPS times, echoes per pulse = number_of_returns, flight time = GPS time span, scan angle in 0.006 degree steps (1.0 to 12.0 degrees off vertical)</a:t>
            </a:r>
          </a:p>
          <a:p>
            <a:r>
              <a:t>• Figure: deck/assets/concepts/a1_acquisition.png, schematic, not to scale</a:t>
            </a:r>
          </a:p>
          <a:p>
            <a:r>
              <a:t>• Principle (time of flight, GNSS, IMU): general airborne laser scanning; leaf-off flight by AHN spec (research: reports/dataset.md)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is our case for the whole talk: a 200 by 200 metre square of Utrecht around the Jaarbeurs hall, the big flat roof under the arrow. 722 961 points, about 18 per square metre, from AHN5, flown at night in April 2023 while the trees had no leaves. It's one 4.3 MB LAZ file in RD New coordinates with NAP heights, so everything is in metres, and it's CC BY 4.0, so you can use it too. I hid AHN's labels; the pipeline rebuilds four classes on its own. So what is this thing, as data?</a:t>
            </a:r>
          </a:p>
          <a:p/>
          <a:p>
            <a:r>
              <a:t>TIME: 45 s, ends at 4:40</a:t>
            </a:r>
          </a:p>
          <a:p/>
          <a:p>
            <a:r>
              <a:t>LIKELY QUESTION: Why this square and not a whole AHN file?</a:t>
            </a:r>
          </a:p>
          <a:p/>
          <a:p>
            <a:r>
              <a:t>ANSWER: It's the venue, and it's small enough to run every step live in under a second, which is rule three, make it small first. The whole 1 km file has 21 million points; slide 22 shows what happens to memory when you load it, and how to stream it instead.</a:t>
            </a:r>
          </a:p>
          <a:p/>
          <a:p>
            <a:r>
              <a:t>CHECK BEFORE THE TALK:</a:t>
            </a:r>
          </a:p>
          <a:p>
            <a:r>
              <a:t>• Confirm which Jaarbeurs building the talk room is in. If it is this one, say 'the building we're sitting in'; the name of the building (Beatrixgebouw?) is UNVERIFIED, so the talk says only 'the Jaarbeurs hall at Jaarbeursplein 6'</a:t>
            </a:r>
          </a:p>
          <a:p/>
          <a:p>
            <a:r>
              <a:t>TRACE:</a:t>
            </a:r>
          </a:p>
          <a:p>
            <a:r>
              <a:t>• renders/f1_load.png (left frame), renders/f6_final.png (right frame)</a:t>
            </a:r>
          </a:p>
          <a:p>
            <a:r>
              <a:t>• renders/render_spec.json</a:t>
            </a:r>
          </a:p>
          <a:p>
            <a:r>
              <a:t>• renders/labels.json: f6_final (label chips), f1_load.jaarbeurs_edge (edge arrow position)</a:t>
            </a:r>
          </a:p>
          <a:p>
            <a:r>
              <a:t>• results/pipeline.json: ground, buildings, crop.bbox_rd</a:t>
            </a:r>
          </a:p>
          <a:p>
            <a:r>
              <a:t>• data/utrecht_jaarbeurs_200m.laz (crop box: data/fetch_ahn5.py CROP_BBOX_RD, RD 135715, 455475 to 135915, 455675)</a:t>
            </a:r>
          </a:p>
          <a:p>
            <a:r>
              <a:t>• The hall: BAG pand 0344100000077882 (Jaarbeursplein 6, built 1970, use: bijeenkomstfunctie), footprint bbox RD 135747.7, 455512.5 to 135905.8, 455654.0, from the PDOK BAG WFS and locatieserver, checked 2026-10-11 (pipeline/render.py HALL_BBOX_RD)</a:t>
            </a:r>
          </a:p>
          <a:p>
            <a:r>
              <a:t>• Arrow on the roof: renders/labels.json f1_load.jaarbeurs_hall; evidence in renders/render_spec.json labels.detail.f1_load.jaarbeurs_hall_note</a:t>
            </a:r>
          </a:p>
          <a:p>
            <a:r>
              <a:t>• Class 1 definition ('overig'): AHN4 acquisition spec, research: reports/dataset.md</a:t>
            </a:r>
          </a:p>
          <a:p>
            <a:r>
              <a:t>• Venue: Jaarbeurs Utrecht is the PyCon NL 2026 venue, confirmed on pycon-nl.org (research: reports/dataset.md); which building the talk room is in is UNVERIFIED</a:t>
            </a:r>
          </a:p>
          <a:p>
            <a:r>
              <a:t>• Data set table: data/README.md (crop box, classes, flight time, file size), results/pipeline.json crop (points, classes); density computed from points and area</a:t>
            </a:r>
          </a:p>
          <a:p/>
          <a:p>
            <a:r>
              <a:t>DATA SET:</a:t>
            </a:r>
          </a:p>
          <a:p>
            <a:r>
              <a:t>• Area: RD New box x 135715 to 135915, y 455475 to 455675 (200 m by 200 m, 4 ha), cut from the 1 km AHN5 file 135000_455000 (21 013 926 points, 130 MB COPC LAZ)</a:t>
            </a:r>
          </a:p>
          <a:p>
            <a:r>
              <a:t>• Points: 722 961; density 722 961 / 40 000 m2 = 18.1 points per m2 (all returns)</a:t>
            </a:r>
          </a:p>
          <a:p>
            <a:r>
              <a:t>• Flown: one strip, GPS time about 23:51 UTC on 5 April 2023 (01:51 CEST on 6 April), leaf-off as AHN's spec asks</a:t>
            </a:r>
          </a:p>
          <a:p>
            <a:r>
              <a:t>• File: LAS 1.4, point format 6 (x, y, z, intensity, return number, number of returns, classification, scan angle, GPS time); no colour; 4 336 320 bytes</a:t>
            </a:r>
          </a:p>
          <a:p>
            <a:r>
              <a:t>• Coordinates: RD New (EPSG:28992), heights in m NAP; z from about -0.8 m to 101.6 m; the WKT record is in the file</a:t>
            </a:r>
          </a:p>
          <a:p>
            <a:r>
              <a:t>• AHN classes in the crop: 1 other 109 363, 2 ground 262 712, 6 building 338 943, 26 civil structure 11 943; hidden from the pipeline, used only to score</a:t>
            </a:r>
          </a:p>
          <a:p>
            <a:r>
              <a:t>• Licence: CC BY 4.0, Het Waterschapshuis; attribution on every slide that shows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What is this thing, as data? One house, drawn three ways. A scanner gives you the left one, a point cloud: an N by 3 array of x, y and z plus a column per attribute, samples of the surface with nothing joining them. A mesh adds the connections, so area and volume exist. A voxel grid trades exact positions for a regular index of space. Today's pipeline stays with points and uses voxels only to downsample. Each of the three trades something. Before we start: what this talk does, and doesn't.</a:t>
            </a:r>
          </a:p>
          <a:p/>
          <a:p>
            <a:r>
              <a:t>TIME: 40 s, ends at 5:20</a:t>
            </a:r>
          </a:p>
          <a:p/>
          <a:p>
            <a:r>
              <a:t>LIKELY QUESTION: Should I turn my point cloud into a mesh or voxels first?</a:t>
            </a:r>
          </a:p>
          <a:p/>
          <a:p>
            <a:r>
              <a:t>ANSWER: Only when the question needs it: area, volume or a solid render want a mesh; occupancy and neighbour lookups like voxels. Every conversion loses detail and adds a parameter you then have to defend, such as the voxel size or the meshing depth. This pipeline stays with points.</a:t>
            </a:r>
          </a:p>
          <a:p/>
          <a:p>
            <a:r>
              <a:t>TRACE:</a:t>
            </a:r>
          </a:p>
          <a:p>
            <a:r>
              <a:t>• deck/appendix.yaml C1 (bullets, figure, citations; shown here as a main slide)</a:t>
            </a:r>
          </a:p>
          <a:p>
            <a:r>
              <a:t>• deck/concepts/make_figures.py: deck/assets/concepts/c1_representations.png, results/concepts.json c1</a:t>
            </a:r>
          </a:p>
          <a:p>
            <a:r>
              <a:t>• research: reports/mental_models.md section 1</a:t>
            </a:r>
          </a:p>
          <a:p/>
          <a:p>
            <a:r>
              <a:t>WHY IT MATTERS: Choosing the representation decides which questions are cheap. Converting costs detail and adds a parameter you now have to justify.</a:t>
            </a:r>
          </a:p>
          <a:p/>
          <a:p>
            <a:r>
              <a:t>EXAMPLE: Open3D: o3d.geometry.VoxelGrid.create_from_point_cloud(pcd, voxel_size) and TriangleMesh.create_from_point_cloud_poisson(pcd); PyVista: PolyData for points and meshes, ImageData for regular grids; trimesh: mesh.voxelized(pitch). Analogy: a dot-to-dot puzzle before the lines (points), after the lines (mesh), and as pixel art (voxels).</a:t>
            </a:r>
          </a:p>
          <a:p/>
          <a:p>
            <a:r>
              <a:t>LIMITS AND DISAGREEMENTS:</a:t>
            </a:r>
          </a:p>
          <a:p>
            <a:r>
              <a:t>• The figure is synthetic and tiny; real meshes from scans need cleaning and are rarely watertight.</a:t>
            </a:r>
          </a:p>
          <a:p>
            <a:r>
              <a:t>• Dense voxel grids grow with the cube of the resolution; sparse structures (hashing, octrees) avoid that. Which is best depends on the task.</a:t>
            </a:r>
          </a:p>
          <a:p>
            <a:r>
              <a:t>• Deep learning uses all three (point-based, mesh-based, voxel or sparse convolution); no representation wins everywhere (Guo et al. survey).</a:t>
            </a:r>
          </a:p>
          <a:p/>
          <a:p>
            <a:r>
              <a:t>CITATIONS:</a:t>
            </a:r>
          </a:p>
          <a:p>
            <a:r>
              <a:t>• Qi, Su, Mo, Guibas: PointNet, CVPR 2017 (arXiv 1612.00593, v2 10 Apr 2017), point sets are unordered</a:t>
            </a:r>
          </a:p>
          <a:p>
            <a:r>
              <a:t>• Open3D 0.20.0 docs: PointCloud, TriangleMesh, voxelization tutorial (open3d.org/docs/latest, no date shown)</a:t>
            </a:r>
          </a:p>
          <a:p>
            <a:r>
              <a:t>• PyVista 0.49.1 docs: What Is a Mesh? (docs.pyvista.org/user-guide/what-is-a-mesh.html, no date shown): a point cloud is a mesh without connectivity</a:t>
            </a:r>
          </a:p>
          <a:p>
            <a:r>
              <a:t>• trimesh 5.1.1 docs (trimesh.org; PyPI 2026-10-02)</a:t>
            </a:r>
          </a:p>
          <a:p>
            <a:r>
              <a:t>• Choy, Gwak, Savarese: Minkowski CNNs, CVPR 2019 (arXiv 1904.08755), sparse voxels</a:t>
            </a:r>
          </a:p>
          <a:p>
            <a:r>
              <a:t>• Guo et al.: Deep Learning for 3D Point Clouds: A Survey, IEEE TPAMI 43(12), Dec 2021, doi 10.1109/TPAMI.2020.3005434</a:t>
            </a:r>
          </a:p>
          <a:p>
            <a:r>
              <a:t>• Poux: 3D Data Science with Python, O'Reilly, 2025 (ISBN 9781098161330)</a:t>
            </a:r>
          </a:p>
          <a:p/>
          <a:p>
            <a:r>
              <a:t>SOURCES AND STATUS:</a:t>
            </a:r>
          </a:p>
          <a:p>
            <a:r>
              <a:t>• Bullet 1 "Point cloud: an unordered N×3 array plus attributes; no...": status verified; source: research: reports/mental_models.md section 1 (PointNet, Open3D PointCloud)</a:t>
            </a:r>
          </a:p>
          <a:p>
            <a:r>
              <a:t>• Bullet 2 "Mesh: vertices plus faces, so surfaces, normals and areas...": status verified; source: research: reports/mental_models.md section 1 (Open3D TriangleMesh, PyVista data model, trimesh)</a:t>
            </a:r>
          </a:p>
          <a:p>
            <a:r>
              <a:t>• Bullet 3 "Voxel grid: occupied cells at one resolution; detail below...": status verified; source: research: reports/mental_models.md section 1 (Open3D VoxelGrid; sparse voxels)</a:t>
            </a:r>
          </a:p>
          <a:p/>
          <a:p>
            <a:r>
              <a:t>STATUS KEY: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So you know what not to expect: this is airborne LiDAR from AHN5, one 200 metre urban crop, four classes from hand-written rules, standard Python libraries, and an eye on speed and memory. Not today: deep learning, mobile or terrestrial scans, meshes, registering scans together, coordinate systems in depth, production, or state-of-the-art claims. The assumptions are on the right: coordinates in metres, so every threshold is in metres; ground is one plane per 25 metre tile; and the thresholds were tuned on this crop, so the results hold for this crop. AHN and the BGT are my references, and neither is perfect. Now, the four rules.</a:t>
            </a:r>
          </a:p>
          <a:p/>
          <a:p>
            <a:r>
              <a:t>TIME: 40 s, ends at 6:00</a:t>
            </a:r>
          </a:p>
          <a:p/>
          <a:p>
            <a:r>
              <a:t>LIKELY QUESTION: Would a neural network do better?</a:t>
            </a:r>
          </a:p>
          <a:p/>
          <a:p>
            <a:r>
              <a:t>ANSWER: Probably, with labelled training data; that's out of scope today. Backup B5 compares a classifier with the rules on this crop.</a:t>
            </a:r>
          </a:p>
          <a:p/>
          <a:p>
            <a:r>
              <a:t>TRACE:</a:t>
            </a:r>
          </a:p>
          <a:p>
            <a:r>
              <a:t>• pipeline/run.py: VOXEL, GROUND (tile 25 m, ransac threshold 0.4 m, low percentile 2, window 1.5 m), EPS 0.75, MIN_POINTS 6, MIN_HEIGHT 0.3</a:t>
            </a:r>
          </a:p>
          <a:p>
            <a:r>
              <a:t>• results/pipeline.json: params</a:t>
            </a:r>
          </a:p>
          <a:p/>
          <a:p>
            <a:r>
              <a:t>OFF SLIDE:</a:t>
            </a:r>
          </a:p>
          <a:p>
            <a:r>
              <a:t>• Ground candidates are the points within 1.5 m of the tile's 2nd height percentile</a:t>
            </a:r>
          </a:p>
          <a:p>
            <a:r>
              <a:t>• AHN and BGT are the references, and neither is perfect</a:t>
            </a:r>
          </a:p>
          <a:p>
            <a:r>
              <a:t>• Results hold for this crop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Four rules of thumb for 3D data; they're the mental model for the rest of the talk. One: think in arrays, not points: a point cloud is a table, so work on whole columns. Two: make it small first: crop, tile and downsample, then scale up. Three: let compiled code do the loops: one call per array or tile, never one per point. Four: look before you compute: render it, check units, coordinates and classes, because most 3D bugs are silent. They're numbered in the order the talk proves them; a badge top right marks each proof, and at the end they come back with the numbers. So which libraries do we have?</a:t>
            </a:r>
          </a:p>
          <a:p/>
          <a:p>
            <a:r>
              <a:t>TIME: 30 s, ends at 6:30</a:t>
            </a:r>
          </a:p>
          <a:p/>
          <a:p>
            <a:r>
              <a:t>LIKELY QUESTION: Aren't these just general data science rules?</a:t>
            </a:r>
          </a:p>
          <a:p/>
          <a:p>
            <a:r>
              <a:t>ANSWER: Mostly, yes, and that's the point: 3D data is less exotic than it looks. What changes is the scale and the silence: a wrong coordinate system or float32 rounding doesn't raise an error, it just moves your points by centimetres, and a loop over points is a loop over millions.</a:t>
            </a:r>
          </a:p>
          <a:p/>
          <a:p>
            <a:r>
              <a:t>TRACE:</a:t>
            </a:r>
          </a:p>
          <a:p>
            <a:r>
              <a:t>• content.yaml slide 10 rules; the same four rules close the talk on slide 31 with their evidence</a:t>
            </a:r>
          </a:p>
          <a:p/>
          <a:p>
            <a:r>
              <a:t>WHERE IN THE TALK:</a:t>
            </a:r>
          </a:p>
          <a:p>
            <a:r>
              <a:t>• 1 Think in arrays: slides 8 and 15 (N by 3 arrays, copy or view at every hand-off)</a:t>
            </a:r>
          </a:p>
          <a:p>
            <a:r>
              <a:t>• 2 Look before you compute: slides 7, 29, 30 and 22 (AHN classes, street furniture against the BGT register, uneven density, the file size before loading)</a:t>
            </a:r>
          </a:p>
          <a:p>
            <a:r>
              <a:t>• 3 Make it small first: slides 16, 17 and 23 (voxels, tiles, the chunked read's peak)</a:t>
            </a:r>
          </a:p>
          <a:p>
            <a:r>
              <a:t>• 4 Let compiled code loop: slides 24 to 28 (the quiz, the toll, the profiler, free threads)</a:t>
            </a:r>
          </a:p>
          <a:p/>
          <a:p>
            <a:r>
              <a:t>MENTAL MODEL: The rules rest on the hidden mental-models section (C2 to C9, with citations; C1 and C5 are slides 8 and 30; slide B8 is the workflow); C8 ranks the ideas and says where each joins the talk.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Here's the toolbox: the Python 3D ecosystem, one row per layer, and only what this talk uses or names. The five with a blue outline are today's pipeline: laspy, NumPy, SciPy, Open3D and PyVista. The rest come up later: PDAL and pyproj for AHN files and Dutch coordinates, Numba and Dask when NumPy or RAM runs out, trimesh for meshes, and scikit-learn and PyTorch when rules stop being enough. The repo lists every library I checked, with status and licence. And they all share one trick.</a:t>
            </a:r>
          </a:p>
          <a:p/>
          <a:p>
            <a:r>
              <a:t>TIME: 35 s, ends at 7:05</a:t>
            </a:r>
          </a:p>
          <a:p/>
          <a:p>
            <a:r>
              <a:t>LIKELY QUESTION: Why is my favourite library not on the wall?</a:t>
            </a:r>
          </a:p>
          <a:p/>
          <a:p>
            <a:r>
              <a:t>ANSWER: The wall is the selection this talk uses or mentions, from the 119 libraries and applications I checked. The full list is docs/ECOSYSTEM.md in the repo, with status, licence and release date per library. Open an issue or a pull request if one is missing.</a:t>
            </a:r>
          </a:p>
          <a:p/>
          <a:p>
            <a:r>
              <a:t>IF SKIPPED: Not on the skip list (30 s); if very late at the start, say 'photograph this' and click on to slide 12.</a:t>
            </a:r>
          </a:p>
          <a:p/>
          <a:p>
            <a:r>
              <a:t>CHECK BEFORE THE TALK:</a:t>
            </a:r>
          </a:p>
          <a:p>
            <a:r>
              <a:t>• Logo use: logos are shown to identify projects; brand policies per file in deck/assets/logos/SOURCES.md and docs/OPEN_ITEMS.md. No company logos are on the wall. If one is not acceptable, remove its id from the wall row in content.yaml; the row closes up</a:t>
            </a:r>
          </a:p>
          <a:p>
            <a:r>
              <a:t>• Logos are in their own colours (an exception to the palette, docs/DESIGN.md); the tiles are white or light grey so each logo stays legible</a:t>
            </a:r>
          </a:p>
          <a:p/>
          <a:p>
            <a:r>
              <a:t>TRACE:</a:t>
            </a:r>
          </a:p>
          <a:p>
            <a:r>
              <a:t>• Small print: Blue outline: used in today's pipeline. Logos belong to their owners; no endorsement implied. 119 libraries checked on PyPI and GitHub: docs/ECOSYSTEM.md in the repo.</a:t>
            </a:r>
          </a:p>
          <a:p>
            <a:r>
              <a:t>• deck/ecosystem/ecosystem.yaml (merged by deck/ecosystem/merge.py from part1 to part3; each entry's evidence list: PyPI JSON and GitHub API, 2026-10-11)</a:t>
            </a:r>
          </a:p>
          <a:p>
            <a:r>
              <a:t>• results/ecosystem.json: n_entries</a:t>
            </a:r>
          </a:p>
          <a:p>
            <a:r>
              <a:t>• docs/ECOSYSTEM.md (same data); logo sources and brand-policy notes: deck/assets/logos/SOURCES.md</a:t>
            </a:r>
          </a:p>
          <a:p>
            <a:r>
              <a:t>• Layers as the ecosystem map in Matthew Turk's SciPy 2016 talk on yt: research: reports/videos.md V4</a:t>
            </a:r>
          </a:p>
          <a:p/>
          <a:p>
            <a:r>
              <a:t>RELEVANCE:</a:t>
            </a:r>
          </a:p>
          <a:p>
            <a:r>
              <a:t>• Used in the pipeline (blue outline): laspy (load), NumPy (every step), SciPy (KDTree: height above ground, distances, paint-back), Open3D (voxels, RANSAC, DBSCAN), PyVista (renders)</a:t>
            </a:r>
          </a:p>
          <a:p>
            <a:r>
              <a:t>• VTK: PyVista's engine, drawn under it</a:t>
            </a:r>
          </a:p>
          <a:p>
            <a:r>
              <a:t>• PDAL: the standard LiDAR pipeline tool for AHN and COPC files (backup B2 territory); pyproj: RD New (EPSG:28992) to and from WGS84, slide 7; laspy's header.parse_crs() needs it</a:t>
            </a:r>
          </a:p>
          <a:p>
            <a:r>
              <a:t>• Numba (B1, the escape hatch for a kernel that has no batched call) and Dask (arrays bigger than RAM, slide 22)</a:t>
            </a:r>
          </a:p>
          <a:p>
            <a:r>
              <a:t>• trimesh and PyTorch3D: on the slide 11 wall but not in this pipeline; scikit-learn: the Random Forest of backup B5. PyTorch (backup B3) is dropped from the wall, PyTorch3D covers the Learn row</a:t>
            </a:r>
          </a:p>
          <a:p>
            <a:r>
              <a:t>• Dropped on 2026-10-12 as not relevant to this talk: Potree, CloudCompare and QGIS (not Python libraries), GDAL (rasters), OpenCV, COLMAP and nerfstudio (images and photogrammetry), Matplotlib (not used), PyG and Pointcept (deep learning on point clouds, not covered)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Let's see who's really behind the mask. Python is the interface. Take NumPy: when you add two arrays, a compiled C core does the loop, with some C++ in parts. Open3D is C++, PyVista draws with VTK, also C++, and laspy decodes with Rust. So the C++ never went away; you just call it from Python. What you pay for is the number of calls, and we'll measure that in the speed part. So Python writes the plan; here it is, in six steps.</a:t>
            </a:r>
          </a:p>
          <a:p/>
          <a:p>
            <a:r>
              <a:t>TIME: 35 s, ends at 7:40</a:t>
            </a:r>
          </a:p>
          <a:p/>
          <a:p>
            <a:r>
              <a:t>LIKELY QUESTION: Is Python really just a wrapper?</a:t>
            </a:r>
          </a:p>
          <a:p/>
          <a:p>
            <a:r>
              <a:t>ANSWER: For the heavy 3D libraries, yes: Open3D and VTK (under PyVista) are C++, NumPy's core is C with some C++, and the lazrs decoder behind laspy is Rust; Python calls compiled code. That is also why the hand-off between libraries on slide 15 costs something.</a:t>
            </a:r>
          </a:p>
          <a:p/>
          <a:p>
            <a:r>
              <a:t>CHECK BEFORE THE TALK:</a:t>
            </a:r>
          </a:p>
          <a:p>
            <a:r>
              <a:t>• NumPy is mostly C (its core), with C++ in parts and BLAS/LAPACK underneath; the slide says "a compiled C core, with some C++" on purpose. Say "C++" for Open3D and VTK, which are C++ throughout</a:t>
            </a:r>
          </a:p>
          <a:p>
            <a:r>
              <a:t>• Legibility: the caption and both logos should read from the back of the room (check on the presenting projector). The template and the logos belong to their owners; no endorsement is implied (small print on the slide)</a:t>
            </a:r>
          </a:p>
          <a:p/>
          <a:p>
            <a:r>
              <a:t>TRACE:</a:t>
            </a:r>
          </a:p>
          <a:p>
            <a:r>
              <a:t>• deck/assets/meme/python_cpp_unmasking.png: the Scooby-Doo unmasking template with the Python and C++ logos added</a:t>
            </a:r>
          </a:p>
          <a:p>
            <a:r>
              <a:t>• Logos: Wikimedia Commons, Python-logo-notext.svg and ISO_C++_Logo.svg</a:t>
            </a:r>
          </a:p>
          <a:p>
            <a:r>
              <a:t>• Credit (was the slide caption, moved here 2026-10-13): meme template: the Scooby-Doo unmasking scene (Hanna-Barbera). Python and C++ logos belong to their owners; no endorsement implied.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Six steps turn this point cloud into labels: load, voxel downsampling, ground removal, clustering, labelling and paint-back. It's the same area and the same camera in every frame, so you can watch it change from slide to slide. Under each frame is the library that does the work, and NumPy carries the arrays between them. Step one.</a:t>
            </a:r>
          </a:p>
          <a:p/>
          <a:p>
            <a:r>
              <a:t>TIME: 40 s, ends at 8:20</a:t>
            </a:r>
          </a:p>
          <a:p/>
          <a:p>
            <a:r>
              <a:t>LIKELY QUESTION: Why remove the ground before clustering?</a:t>
            </a:r>
          </a:p>
          <a:p/>
          <a:p>
            <a:r>
              <a:t>ANSWER: Because DBSCAN groups whatever touches, and the ground touches everything: left in, it would link the whole scene together through the road. That is reasoning; I didn't benchmark the other order.</a:t>
            </a:r>
          </a:p>
          <a:p/>
          <a:p>
            <a:r>
              <a:t>TRACE:</a:t>
            </a:r>
          </a:p>
          <a:p>
            <a:r>
              <a:t>• renders/f1_load.png, f2_voxel.png, f3_ground.png, f4_clusters.png, f5_labels.png, f6_final.png</a:t>
            </a:r>
          </a:p>
          <a:p>
            <a:r>
              <a:t>• renders/render_spec.json (one camera for all frames)</a:t>
            </a:r>
          </a:p>
          <a:p/>
          <a:p>
            <a:r>
              <a:t>WHY SEVERAL TOOLS IN ONE STEP:</a:t>
            </a:r>
          </a:p>
          <a:p>
            <a:r>
              <a:t>• No library has a fast, batched call for every part of a step, so each part goes to the library that has one; because they all take and give NumPy arrays (slide 15), mixing them costs at most one copy</a:t>
            </a:r>
          </a:p>
          <a:p>
            <a:r>
              <a:t>• Clustering, Open3D and SciPy: DBSCAN is Open3D's cluster_dbscan, but first SciPy's KDTree answers 'how high is each voxel above the ground?' (height_above, one query on all cores), so only voxels clearly above the ground go into DBSCAN; left in, the ground would link the whole scene into one cluster</a:t>
            </a:r>
          </a:p>
          <a:p>
            <a:r>
              <a:t>• Labelling, NumPy and SciPy: NumPy computes every cluster's features at once with np.bincount over the cluster ids (top height, footprint, share of multiple returns); SciPy's KDTree gives each cluster its distance to the nearest building and tree for rules 3 and 4 (facade, free-standing)</a:t>
            </a:r>
          </a:p>
          <a:p>
            <a:r>
              <a:t>• Visualisation, SciPy and PyVista: SciPy's KDTree paints the labels from the 232 180 voxels back onto all 722 961 points in one query; PyVista then renders them off-screen</a:t>
            </a:r>
          </a:p>
          <a:p>
            <a:r>
              <a:t>• Load and ground removal use one library each for the work (laspy, Open3D), with NumPy for the arithmetic around the calls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one: laspy reads the LAZ file and gives you plain NumPy arrays. The first thing I do is subtract a local origin, the minimum corner from the file header. Dutch RD coordinates run to hundreds of thousands of metres, and at that size float32 can only step 1.6 cm in x and 3.1 cm in y; Open3D's PointCloud.from_legacy, for one, converts to float32 by default. After that it's one copy into Open3D as float64. And that short block hides more copies than you'd think.</a:t>
            </a:r>
          </a:p>
          <a:p/>
          <a:p>
            <a:r>
              <a:t>TIME: 55 s, ends at 9:15</a:t>
            </a:r>
          </a:p>
          <a:p/>
          <a:p>
            <a:r>
              <a:t>LIKELY QUESTION: Why not keep RD coordinates and stay in float64 everywhere?</a:t>
            </a:r>
          </a:p>
          <a:p/>
          <a:p>
            <a:r>
              <a:t>ANSWER: You can, as long as nothing on the way casts to float32, and some tools do that quietly. Subtracting header.mins once makes it harmless, and fitted plane coefficients become readable numbers too.</a:t>
            </a:r>
          </a:p>
          <a:p/>
          <a:p>
            <a:r>
              <a:t>TRACE:</a:t>
            </a:r>
          </a:p>
          <a:p>
            <a:r>
              <a:t>• snippets/s08_load.py</a:t>
            </a:r>
          </a:p>
          <a:p>
            <a:r>
              <a:t>• results/snippets.json: s08_load.py.ok</a:t>
            </a:r>
          </a:p>
          <a:p>
            <a:r>
              <a:t>• renders/f1_load.png</a:t>
            </a:r>
          </a:p>
          <a:p>
            <a:r>
              <a:t>• renders/render_spec.json (local origin = header.mins)</a:t>
            </a:r>
          </a:p>
          <a:p>
            <a:r>
              <a:t>• data/utrecht_jaarbeurs_200m.laz</a:t>
            </a:r>
          </a:p>
          <a:p>
            <a:r>
              <a:t>• float32 steps: np.spacing(np.float32(v)) at the crop's RD origin, deterministic; run it to check (results/research_facts.json float32_step_m, written by docs/research/research_facts.py)</a:t>
            </a:r>
          </a:p>
          <a:p>
            <a:r>
              <a:t>• from_legacy defaults to float32 (dtype=Float32 in its signature; a tensor point cloud built from a float64 tensor stays float64): research: reports/libraries.md (03_open3d_tensor.py)</a:t>
            </a:r>
          </a:p>
          <a:p/>
          <a:p>
            <a:r>
              <a:t>LINE BY LINE:</a:t>
            </a:r>
          </a:p>
          <a:p>
            <a:r>
              <a:t>• import laspy / import open3d as o3d: the reader for LAS and LAZ, and the processing library</a:t>
            </a:r>
          </a:p>
          <a:p>
            <a:r>
              <a:t>• las = laspy.read("crop.laz"): decompresses the whole file (lazrs backend) into a LasData object; every dimension becomes a NumPy array</a:t>
            </a:r>
          </a:p>
          <a:p>
            <a:r>
              <a:t>• xyz = las.xyz - las.header.mins (key line): an N by 3 float64 array in metres, shifted so the minimum corner of the file is the origin; las.xyz is already a new array (slide 15), the subtraction makes one more</a:t>
            </a:r>
          </a:p>
          <a:p>
            <a:r>
              <a:t>• v = o3d.utility.Vector3dVector(xyz): copies the array into Open3D's own C++ vector of 3D points (float64, fastest from a C-ordered array)</a:t>
            </a:r>
          </a:p>
          <a:p>
            <a:r>
              <a:t>• pcd = o3d.geometry.PointCloud(v): the point cloud object every later Open3D call works on</a:t>
            </a:r>
          </a:p>
          <a:p/>
          <a:p>
            <a:r>
              <a:t>SKETCH: The first point's x in RD is 135914.6 m; float32 can only step 1.6 cm at that size. After subtracting header.mins it is 199.6 m, where float32 steps 15 micrometres (np.spacing). That is why the origin comes off first: some tools cast to float32 without telling you.</a:t>
            </a:r>
          </a:p>
          <a:p/>
          <a:p>
            <a:r>
              <a:t>MENTAL MODEL: Hidden C2 (every array needs a frame) and C3 (a transform is a matrix, order matters) go deeper on the local origin.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Rule one, think in arrays: Python passes whole arrays between the libraries, not points, and every hand-off is either a copy or a view. A copy is new memory, so it costs time and RAM; a view is the same memory, free, but a write through one name shows up in the other. las.xyz builds a brand-new array every time you touch it, so name it once. On the way back, np.asarray(pcd.points) is a writeable view. Off the slide: Open3D's Vector3dVector always copies, and given float32 it is 39× slower, so hand it float64; PyVista's PolyData shares memory with that view. Every extra xyz copy is 24 bytes per point, half a gigabyte for one 1 km AHN file. Step two.</a:t>
            </a:r>
          </a:p>
          <a:p/>
          <a:p>
            <a:r>
              <a:t>TIME: 45 s, ends at 10:00</a:t>
            </a:r>
          </a:p>
          <a:p/>
          <a:p>
            <a:r>
              <a:t>LIKELY QUESTION: Why does Vector3dVector copy at all?</a:t>
            </a:r>
          </a:p>
          <a:p/>
          <a:p>
            <a:r>
              <a:t>ANSWER: Open3D keeps its points in its own C++ vector, which is what the name says, so it has to own that memory; np.asarray on the way back is a view into it, which is why writes reach the cloud. The fast way in is a C-ordered float64 array: 1.7 ms, against 8.2 ms for laspy's column-ordered one and 317 ms for float32.</a:t>
            </a:r>
          </a:p>
          <a:p/>
          <a:p>
            <a:r>
              <a:t>IF SKIPPED: Skip-first number 5 (decide at the end of slide 14). If skipped, say on slide 16: "between the libraries Python passes whole arrays; las.xyz copies, np.asarray gives you a view".</a:t>
            </a:r>
          </a:p>
          <a:p/>
          <a:p>
            <a:r>
              <a:t>TRACE:</a:t>
            </a:r>
          </a:p>
          <a:p>
            <a:r>
              <a:t>• bench/python_facts.py (copy or view: write to one side, read the other, and np.shares_memory; timings 1 warm-up and 7 runs, median and IQR, idle check)</a:t>
            </a:r>
          </a:p>
          <a:p>
            <a:r>
              <a:t>• results/python_facts.json: las_xyz.fresh_copy_each_access, las_xyz.f_contiguous, vector3dvector.copies, asarray_points.view, asarray_points.writeable, polydata.shares_memory_open3d_view, polydata.shares_memory_c_float64, timings.*, factor_v3d_float32_vs_float64_f, conditions</a:t>
            </a:r>
          </a:p>
          <a:p>
            <a:r>
              <a:t>• snippets/s06b_handoffs.py (the four calls on the crop, with asserts); results/snippets.json: s06b_handoffs.py.ok</a:t>
            </a:r>
          </a:p>
          <a:p>
            <a:r>
              <a:t>• pv.PolyData of laspy's F-ordered array does not share memory (results/python_facts.json polydata.shares_memory_f_float64); the slide's pts is Open3D's C-ordered view</a:t>
            </a:r>
          </a:p>
          <a:p>
            <a:r>
              <a:t>• Candidate gotchas 'las.xyz' and 'Vector3dVector(float32)' are measured here (their slide is removed)</a:t>
            </a:r>
          </a:p>
          <a:p/>
          <a:p>
            <a:r>
              <a:t>CONDITIONS IN FULL (the slide shows the short line): Conditions: Ryzen 7 5700X, 8 cores / 16 threads, 31.3 GiB RAM; Linux (Omarchy, kernel 7.2.5-3-omarchy); Python 3.13.15, NumPy 2.5.3, SciPy 1.18.1, Open3D 0.20.0, laspy 2.7.0, PyVista 0.49.0; N = 722 961 points, 7 runs after 1 warm-up, median and IQR of wall time over the timed runs; governor performance; boost on; measured 2026-10-11 20:06 UTC; data: the AHN5 crop of slide 5 (ahn.nl, Het Waterschapshuis, CC BY 4.0). Copy or view: checked by writing to one side and reading the other, and with np.shares_memory. float32: Vector3dVector of a float32 copy, 317 ms, against the float64 xyz of slide 12, 8.2 ms.</a:t>
            </a:r>
          </a:p>
          <a:p/>
          <a:p>
            <a:r>
              <a:t>WHY IT MATTERS:</a:t>
            </a:r>
          </a:p>
          <a:p>
            <a:r>
              <a:t>• Memory: one float64 xyz copy is 24 B per point (results/memory.json); 21 013 926 points × 24 B = 0.47 GB per copy of a 1 km AHN file, and the load-everything pipeline holds several (slide 27)</a:t>
            </a:r>
          </a:p>
          <a:p>
            <a:r>
              <a:t>• Time: copying the crop into Open3D takes 1.7 ms from a C-ordered float64 array, 8.2 ms from laspy's column-ordered one and 317 ms from float32; np.asarray(pcd.points) takes 15 µs, because it copies nothing</a:t>
            </a:r>
          </a:p>
          <a:p>
            <a:r>
              <a:t>• Correctness: a write through a view changes the point cloud behind it (np.asarray(pcd.points) -= origin moves Open3D's points); a write to a copy is silently lost (las.xyz[:] = 0 changes nothing in the file data)</a:t>
            </a:r>
          </a:p>
          <a:p>
            <a:r>
              <a:t>• Rule of thumb: name an array once, pass it on, and copy only on purpose (astype, np.ascontiguousarray)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two: lay a grid of 0.5 m voxels over the crop and replace all the points inside each voxel with their average. That leaves 32.1 % as many points, and every step after this gets cheaper. One catch: the average is a new point, not one of yours, and LAS attributes such as returns and class are dropped unless you carry them along. I store the multiple-return flag as a colour, so each voxel keeps its share of multiple returns for step five. That's rule two, make it small first. Next, the ground.</a:t>
            </a:r>
          </a:p>
          <a:p/>
          <a:p>
            <a:r>
              <a:t>TIME: 50 s, ends at 10:50</a:t>
            </a:r>
          </a:p>
          <a:p/>
          <a:p>
            <a:r>
              <a:t>LIKELY QUESTION: Why average? Why not keep one real point per voxel?</a:t>
            </a:r>
          </a:p>
          <a:p/>
          <a:p>
            <a:r>
              <a:t>ANSWER: You can, and in the chunked read (backup B2) I do exactly that, because it streams. Open3D's voxel_down_sample returns the centroid: I checked that it equals the per-voxel mean, on a grid anchored half a voxel below the minimum corner.</a:t>
            </a:r>
          </a:p>
          <a:p/>
          <a:p>
            <a:r>
              <a:t>TRACE:</a:t>
            </a:r>
          </a:p>
          <a:p>
            <a:r>
              <a:t>• Sketch caption: 0.5 m voxels</a:t>
            </a:r>
          </a:p>
          <a:p>
            <a:r>
              <a:t>• snippets/s09_voxel.py</a:t>
            </a:r>
          </a:p>
          <a:p>
            <a:r>
              <a:t>• results/snippets.json: s09_voxel.py.ok</a:t>
            </a:r>
          </a:p>
          <a:p>
            <a:r>
              <a:t>• results/pipeline.json: points_in, points_after_voxel, kept_share, params.voxel</a:t>
            </a:r>
          </a:p>
          <a:p>
            <a:r>
              <a:t>• renders/f2_voxel.png</a:t>
            </a:r>
          </a:p>
          <a:p>
            <a:r>
              <a:t>• Centroid and grid anchor: research: reports/critic.md section 2, reports/review/honesty.md row 9, notes/verify_facts.json</a:t>
            </a:r>
          </a:p>
          <a:p>
            <a:r>
              <a:t>• Attributes dropped: research: reports/review/honesty.md rows 9 and 12</a:t>
            </a:r>
          </a:p>
          <a:p>
            <a:r>
              <a:t>• results/pipeline.json: params.rules.features.multi</a:t>
            </a:r>
          </a:p>
          <a:p>
            <a:r>
              <a:t>• Flag kept as colour: pipeline/steps.py to_open3d and multi_share; research: reports/review/honesty.md row 12 (review/honesty/run_extra.out)</a:t>
            </a:r>
          </a:p>
          <a:p/>
          <a:p>
            <a:r>
              <a:t>LINE BY LINE:</a:t>
            </a:r>
          </a:p>
          <a:p>
            <a:r>
              <a:t>• down = pcd.voxel_down_sample(0.5) (key line): lays a grid of 0.5 m cubes over the cloud (anchored at the minimum corner minus half a voxel) and replaces the points in each occupied cube by their average; colours, our multiple-return flag, are averaged too</a:t>
            </a:r>
          </a:p>
          <a:p>
            <a:r>
              <a:t>• P = np.asarray(down.points): a view of the 232 180 voxel points as an N by 3 NumPy array, no copy</a:t>
            </a:r>
          </a:p>
          <a:p>
            <a:r>
              <a:t>• print(len(xyz), "-&gt;", len(P)): 722 961 points in, 232 180 out, 32.1 % kept</a:t>
            </a:r>
          </a:p>
          <a:p/>
          <a:p>
            <a:r>
              <a:t>SKETCH: A grid of cells, the small white dots are original points, the large sage dot in each occupied cell is their average: one new point per voxel, and empty cells give nothing. Dense areas shrink most, which is why every later step gets cheaper.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three. Every Dutch person in this room will tell you Utrecht is flat, and around the Jaarbeurs they are right: one plane for this whole crop scores 94.6 % recall against AHN's ground, the tiles 94.3 %, a tie. On the street where I built this, one plane scored 82.7 % and the tiles 94.5 %, so the code fits one RANSAC plane per 25 m tile, and the last line gives no ground to the 20 tiles under a roof, where RANSAC fits the roof. Note `probability=1.0`: without it, two seeded runs differ. Or, as import this puts it: flat is better than nested. With the ground gone, let's group what's left.</a:t>
            </a:r>
          </a:p>
          <a:p/>
          <a:p>
            <a:r>
              <a:t>TIME: 70 s, ends at 12:00</a:t>
            </a:r>
          </a:p>
          <a:p/>
          <a:p>
            <a:r>
              <a:t>LIKELY QUESTION: Why RANSAC per tile and not a dedicated ground filter such as CSF or SMRF?</a:t>
            </a:r>
          </a:p>
          <a:p/>
          <a:p>
            <a:r>
              <a:t>ANSWER: I haven't benchmarked dedicated ground filters for this talk, so I won't claim they are better or worse. RANSAC per tile is one Open3D call you can read on a slide, and its inner test, distance to a plane, is exactly the benchmark in the next section.</a:t>
            </a:r>
          </a:p>
          <a:p/>
          <a:p>
            <a:r>
              <a:t>CHECK BEFORE THE TALK:</a:t>
            </a:r>
          </a:p>
          <a:p>
            <a:r>
              <a:t>• The slide 17 title no longer says 'Utrecht isn't flat': on the Jaarbeurs crop one plane ties with the tiles (results/pipeline.json single_plane); the joke now runs the other way</a:t>
            </a:r>
          </a:p>
          <a:p/>
          <a:p>
            <a:r>
              <a:t>TRACE:</a:t>
            </a:r>
          </a:p>
          <a:p>
            <a:r>
              <a:t>• Sketch caption: one plane per tile</a:t>
            </a:r>
          </a:p>
          <a:p>
            <a:r>
              <a:t>• snippets/s10_ground.py</a:t>
            </a:r>
          </a:p>
          <a:p>
            <a:r>
              <a:t>• results/snippets.json: s10_ground.py.ok</a:t>
            </a:r>
          </a:p>
          <a:p>
            <a:r>
              <a:t>• results/pipeline.json: ground.precision, ground.recall, n_tiles, params.tile, params.ransac_threshold, params.ransac_n, params.ransac_iterations, params.ransac_probability, params.seed</a:t>
            </a:r>
          </a:p>
          <a:p>
            <a:r>
              <a:t>• renders/f3_ground.png</a:t>
            </a:r>
          </a:p>
          <a:p>
            <a:r>
              <a:t>• results/pipeline.json: checks.ransac_default_probability (seeded runs identical at 1.0, different at the default)</a:t>
            </a:r>
          </a:p>
          <a:p>
            <a:r>
              <a:t>• results/pipeline.json: params_why.tile</a:t>
            </a:r>
          </a:p>
          <a:p>
            <a:r>
              <a:t>• results/bench_cliff.json: plane.plane_fit (one plane on the whole crop)</a:t>
            </a:r>
          </a:p>
          <a:p>
            <a:r>
              <a:t>• One plane against 25 m tiles, on this crop and on the first example street (data/previous/, Graadt van Roggenweg): results/pipeline.json single_plane, previous_street, params_why.tile; the roof tiles: tiles_flagged, snippets/s10_ground.py (z0 &lt; 5 rule = the plausibility check on every accepted tile)</a:t>
            </a:r>
          </a:p>
          <a:p>
            <a:r>
              <a:t>• Seeded runs differ without probability=1.0: research: review/honesty/snippets/s10_default_probability.py, reports/libraries.md FLAG 1</a:t>
            </a:r>
          </a:p>
          <a:p>
            <a:r>
              <a:t>• Callout: 'Flat is better than nested.' is line 7 of `python -c "import this"` (checked by snippets/s10b_zen.py; results/snippets.json: s10b_zen.py.ok)</a:t>
            </a:r>
          </a:p>
          <a:p/>
          <a:p>
            <a:r>
              <a:t>LINE BY LINE:</a:t>
            </a:r>
          </a:p>
          <a:p>
            <a:r>
              <a:t>• o3d.utility.random.seed(0): RANSAC draws random points; a fixed seed makes the planes reproducible (together with probability=1.0, see below)</a:t>
            </a:r>
          </a:p>
          <a:p>
            <a:r>
              <a:t>• ground = np.zeros(len(P), bool): one flag per voxel, nothing is ground yet</a:t>
            </a:r>
          </a:p>
          <a:p>
            <a:r>
              <a:t>• for i in tiles(P, 25) (key line): splits the voxels into 25 m squares in plan view and loops over the 64 tiles, never over points; i holds the indices of one tile</a:t>
            </a:r>
          </a:p>
          <a:p>
            <a:r>
              <a:t>• z0 = np.percentile(P[i, 2], 2): the tile's low height, the 2nd percentile, robust to a few points below the ground</a:t>
            </a:r>
          </a:p>
          <a:p>
            <a:r>
              <a:t>• low = i[P[i, 2] &lt; z0 + 1.5]: candidate ground, the voxels within 1.5 m of that low height (roofs and treetops are out before RANSAC starts)</a:t>
            </a:r>
          </a:p>
          <a:p>
            <a:r>
              <a:t>• t = down.select_by_index(low): the candidates as their own Open3D point cloud</a:t>
            </a:r>
          </a:p>
          <a:p>
            <a:r>
              <a:t>• _, inl = t.segment_plane(0.4, 3, 300, probability=1.0): RANSAC fits one plane: a voxel within 0.4 m of the plane is an inlier, each try uses 3 points, at most 300 tries; probability=1.0 turns off the early stop, without it two seeded runs differ</a:t>
            </a:r>
          </a:p>
          <a:p>
            <a:r>
              <a:t>• ground[low[inl]] = z0 &lt; 5: the inliers become ground, unless the tile's low point is more than 5 m up: then the tile is all roof and gets no ground (20 tiles)</a:t>
            </a:r>
          </a:p>
          <a:p/>
          <a:p>
            <a:r>
              <a:t>SKETCH: A side view of two tiles: sage ground points along a gentle slope, a building and a tree above them in white. Each tile fits its own straight plane through its ground points, so the line can bend at the tile edge where the street does.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four: DBSCAN chains together points that sit within 0.75 m of each other, so 'touches' really means 'closer than eps'. On the voxels that aren't ground and sit more than 0.3 m above it, I get 1 024 clusters, and 10 % of those voxels are noise that belong to no cluster. A cluster is just a blob, not yet a building or a tree. And it's one library call over all voxels: rule three. Naming the blobs is the next step.</a:t>
            </a:r>
          </a:p>
          <a:p/>
          <a:p>
            <a:r>
              <a:t>TIME: 50 s, ends at 12:50</a:t>
            </a:r>
          </a:p>
          <a:p/>
          <a:p>
            <a:r>
              <a:t>LIKELY QUESTION: How do you choose eps and min_points?</a:t>
            </a:r>
          </a:p>
          <a:p/>
          <a:p>
            <a:r>
              <a:t>ANSWER: By looking, plus one rule from testing: eps has to be clearly larger than the voxel size. Too small and most points become noise, too large and buildings fuse with their trees; prototype runs showed both. Here it is eps 0.75 m with min_points 6 on 0.5 m voxels.</a:t>
            </a:r>
          </a:p>
          <a:p/>
          <a:p>
            <a:r>
              <a:t>TRACE:</a:t>
            </a:r>
          </a:p>
          <a:p>
            <a:r>
              <a:t>• Sketch caption: eps = 0.75 m</a:t>
            </a:r>
          </a:p>
          <a:p>
            <a:r>
              <a:t>• snippets/s11_cluster.py</a:t>
            </a:r>
          </a:p>
          <a:p>
            <a:r>
              <a:t>• results/snippets.json: s11_cluster.py.ok</a:t>
            </a:r>
          </a:p>
          <a:p>
            <a:r>
              <a:t>• results/pipeline.json: n_clusters, noise_share, params.eps, params.min_points, params.voxel</a:t>
            </a:r>
          </a:p>
          <a:p>
            <a:r>
              <a:t>• renders/f4_clusters.png</a:t>
            </a:r>
          </a:p>
          <a:p>
            <a:r>
              <a:t>• results/pipeline.json: params.cluster_min_height_m, noise_share_note, params_why.eps, params_why.min_points, param_choice</a:t>
            </a:r>
          </a:p>
          <a:p>
            <a:r>
              <a:t>• eps against voxel size: research: reports/review/honesty.md row 11, reports/review/feasibility.md section 2 (prototype runs)</a:t>
            </a:r>
          </a:p>
          <a:p/>
          <a:p>
            <a:r>
              <a:t>LINE BY LINE:</a:t>
            </a:r>
          </a:p>
          <a:p>
            <a:r>
              <a:t>• hag = height_above(P, ground): for every voxel, its height above the nearest ground voxel in plan view (one SciPy KDTree query on all cores)</a:t>
            </a:r>
          </a:p>
          <a:p>
            <a:r>
              <a:t>• up = ~ground &amp; (hag &gt; 0.3): the voxels that are not ground and stand more than 0.3 m above it, so kerbs and noise near the road stay out</a:t>
            </a:r>
          </a:p>
          <a:p>
            <a:r>
              <a:t>• rest = down.select_by_index(np.flatnonzero(up)): those voxels as their own point cloud</a:t>
            </a:r>
          </a:p>
          <a:p>
            <a:r>
              <a:t>• lab = rest.cluster_dbscan(eps=0.75, min_points=6) (key line): DBSCAN: a voxel with at least 6 neighbours within 0.75 m is a core point, clusters grow from core to core, and whatever no cluster reaches gets -1, noise</a:t>
            </a:r>
          </a:p>
          <a:p>
            <a:r>
              <a:t>• ids = np.asarray(lab): one cluster id per voxel, as NumPy</a:t>
            </a:r>
          </a:p>
          <a:p>
            <a:r>
              <a:t>• print(ids.max() + 1, "clusters"): ids start at 0, so the largest plus one is the count, 1 024</a:t>
            </a:r>
          </a:p>
          <a:p/>
          <a:p>
            <a:r>
              <a:t>SKETCH: Two groups of points, each a cluster because every point has neighbours within eps, the dashed circle; the lone grey point has none and is noise. DBSCAN needs no number of clusters, only how close is close.</a:t>
            </a:r>
          </a:p>
          <a:p/>
          <a:p>
            <a:r>
              <a:t>MENTAL MODEL: Hidden C4 (neighbourhood size changes the answer): eps, the voxel size and normal radii are the same kind of choice.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five names the blobs with a few rules per cluster: how tall it is, how big its footprint is, and what share of its points had more than one return. That last one is the clue for trees: AHN's spec asks for a leaf-off flight, and this one was flown in early April, so pulses slip between bare branches and a tree echoes several times, while roads and roofs mostly echo once. Street furniture is the honest weak spot: from the air a lamp post is a few dozen points at most, and DBSCAN drops objects of fewer than 6 voxels as noise, so my rules find 3 objects, 53 points in all. Cars fail the street furniture rule because they are not twice as tall as they are wide, so they stay unlabelled. And because these are 1 024 clusters, not 232 180 points, a plain Python loop over them is fine: rule two again. Then one last step paints these labels back onto every original point.</a:t>
            </a:r>
          </a:p>
          <a:p/>
          <a:p>
            <a:r>
              <a:t>TIME: 65 s, ends at 13:55</a:t>
            </a:r>
          </a:p>
          <a:p/>
          <a:p>
            <a:r>
              <a:t>LIKELY QUESTION: Why hand-written rules and not machine learning?</a:t>
            </a:r>
          </a:p>
          <a:p/>
          <a:p>
            <a:r>
              <a:t>ANSWER: Rules fit on a slide and you can debug them. Machine learning needs training labels, and for vegetation and street furniture AHN has none: they are all inside class 1. Buildings, which AHN does label, score 83 % precision and 99 % recall against class 6. I did try Florent Poux's PCA plus Random Forest idea on these clusters (backup B5): against AHN's building class it scores 81 % balanced accuracy, my rules 66 %. But AHN files facades under class 1 and my rules call them building, so part of that gap is the forest copying AHN's convention.</a:t>
            </a:r>
          </a:p>
          <a:p/>
          <a:p>
            <a:r>
              <a:t>TRACE:</a:t>
            </a:r>
          </a:p>
          <a:p>
            <a:r>
              <a:t>• Sketch caption: shape → class</a:t>
            </a:r>
          </a:p>
          <a:p>
            <a:r>
              <a:t>• Small print: Street furniture: 3 objects, 53 points, drawn enlarged. Poles nearly vanish.</a:t>
            </a:r>
          </a:p>
          <a:p>
            <a:r>
              <a:t>• snippets/s12_label.py</a:t>
            </a:r>
          </a:p>
          <a:p>
            <a:r>
              <a:t>• ML alternative: bench/eigen_features.py; results/eigen_features.json rules, forest_eigen_plus_rule_inputs (balanced accuracy weighted by points, spatial cross-validation); idea: research: reports/videos.md V3</a:t>
            </a:r>
          </a:p>
          <a:p>
            <a:r>
              <a:t>• results/snippets.json: s12_label.py.ok</a:t>
            </a:r>
          </a:p>
          <a:p>
            <a:r>
              <a:t>• results/pipeline.json: params.rules, n_objects, label_points, buildings.precision, buildings.recall</a:t>
            </a:r>
          </a:p>
          <a:p>
            <a:r>
              <a:t>• renders/f5_labels.png</a:t>
            </a:r>
          </a:p>
          <a:p>
            <a:r>
              <a:t>• renders/labels.json: f6_final (the same chip anchors as slides 20 and 21; checked on f5_labels.png)</a:t>
            </a:r>
          </a:p>
          <a:p>
            <a:r>
              <a:t>• Leaf-off flight: AHN5 acquisition spec not checked; the AHN4 spec requires a leaf-off flight ('bladloze seizoen'); this crop was flown in the night of 2023-04-05 to 2023-04-06, about 01:51 CEST, one strip (point source id 1110; GPS time of the crop's points, checked 2026-10-11; the first example street was about 01:35, research: reports/dataset.md)</a:t>
            </a:r>
          </a:p>
          <a:p>
            <a:r>
              <a:t>• Multiple-return share per AHN class on the crop: research: review/honesty/inspect_crop.out</a:t>
            </a:r>
          </a:p>
          <a:p>
            <a:r>
              <a:t>• Lamp posts as a few dozen points: research: reports/dataset.md (pole_analysis.json, measured on the first example street, not on this crop)</a:t>
            </a:r>
          </a:p>
          <a:p>
            <a:r>
              <a:t>• Cars fail rule 4: research: reports/build/pipeline.md; results/pipeline.json params.rules.slender (a car fails 'twice as tall as wide')</a:t>
            </a:r>
          </a:p>
          <a:p>
            <a:r>
              <a:t>• Objects below min_points dropped as noise: results/pipeline.json street_furniture_note, params.min_points</a:t>
            </a:r>
          </a:p>
          <a:p>
            <a:r>
              <a:t>• Street furniture drawn enlarged: renders/render_spec.json point_size_px</a:t>
            </a:r>
          </a:p>
          <a:p>
            <a:r>
              <a:t>• What the 3 objects (53 points) are on the ground is UNVERIFIED (results/pipeline.json street_furniture_note: no imagery checked); do not call it a lamp post</a:t>
            </a:r>
          </a:p>
          <a:p/>
          <a:p>
            <a:r>
              <a:t>LINE BY LINE:</a:t>
            </a:r>
          </a:p>
          <a:p>
            <a:r>
              <a:t>• def name(c): the rules, applied to one cluster c with its features (computed for all clusters at once with np.bincount); the first rule that fires wins</a:t>
            </a:r>
          </a:p>
          <a:p>
            <a:r>
              <a:t>• if c.multi &gt; 0.4 and c.top &gt; 1 (key line): more than 40 % of its points had several returns and its top is over 1 m: VEGETATION (leaf-off, the pulses pass between bare branches)</a:t>
            </a:r>
          </a:p>
          <a:p>
            <a:r>
              <a:t>• if c.foot &gt; 25 and c.top &gt; 2.5: footprint over 25 m2 and taller than 2.5 m: BUILDINGS (roofs)</a:t>
            </a:r>
          </a:p>
          <a:p>
            <a:r>
              <a:t>• if c.to_building &lt; 2: within 2 m of a building in plan view: BUILDINGS too (facade fragments that DBSCAN split off their roof)</a:t>
            </a:r>
          </a:p>
          <a:p>
            <a:r>
              <a:t>• if c.slender and c.free: at most 1.5 m wide, 1.5 to 15 m tall and at least twice as tall as wide, more than 2 m from buildings and 1 m from trees: STREET_FURNITURE</a:t>
            </a:r>
          </a:p>
          <a:p>
            <a:r>
              <a:t>• return UNLABELLED: everything else, cars included (not twice as tall as wide)</a:t>
            </a:r>
          </a:p>
          <a:p/>
          <a:p>
            <a:r>
              <a:t>SKETCH: Three cluster shapes and the class each one gets: a crown with many echoes becomes vegetation, a wide flat block a building, a thin pole street furniture. The rules only look at shape and echoes, never at AHN's labels.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Step six: the labels live on the 232 180 voxel points, so one KDTree query gives each of the 722 961 original points the label of its nearest voxel point. PyVista then renders off-screen with one fixed camera, one PNG per step, which is why every frame in this talk lines up. One query for all points: rule three. Let's put all six steps together.</a:t>
            </a:r>
          </a:p>
          <a:p/>
          <a:p>
            <a:r>
              <a:t>TIME: 35 s, ends at 14:30</a:t>
            </a:r>
          </a:p>
          <a:p/>
          <a:p>
            <a:r>
              <a:t>LIKELY QUESTION: Why not Open3D's own viewer?</a:t>
            </a:r>
          </a:p>
          <a:p/>
          <a:p>
            <a:r>
              <a:t>ANSWER: Open3D's draw_geometries opens a window and blocks until you close it. I needed identical frames from a script, without a window, and PyVista does that off-screen; in testing it also rendered headless, through EGL.</a:t>
            </a:r>
          </a:p>
          <a:p/>
          <a:p>
            <a:r>
              <a:t>IF SKIPPED: Skip-first number 4. If skipped, say on slide 21: "every render here is PyVista, off-screen, one fixed camera".</a:t>
            </a:r>
          </a:p>
          <a:p/>
          <a:p>
            <a:r>
              <a:t>TRACE:</a:t>
            </a:r>
          </a:p>
          <a:p>
            <a:r>
              <a:t>• Sketch caption: nearest voxel's label</a:t>
            </a:r>
          </a:p>
          <a:p>
            <a:r>
              <a:t>• Small print: Street furniture: 3 objects, 53 points, drawn enlarged. Poles nearly vanish.</a:t>
            </a:r>
          </a:p>
          <a:p>
            <a:r>
              <a:t>• snippets/s13_render.py</a:t>
            </a:r>
          </a:p>
          <a:p>
            <a:r>
              <a:t>• results/snippets.json: s13_render.py.ok</a:t>
            </a:r>
          </a:p>
          <a:p>
            <a:r>
              <a:t>• results/labels_crop.npz</a:t>
            </a:r>
          </a:p>
          <a:p>
            <a:r>
              <a:t>• results/pipeline.json: points_in, points_after_voxel</a:t>
            </a:r>
          </a:p>
          <a:p>
            <a:r>
              <a:t>• renders/f6_final.png</a:t>
            </a:r>
          </a:p>
          <a:p>
            <a:r>
              <a:t>• pipeline/render.py (makes the frame shown; draws the street furniture objects enlarged, renders/render_spec.json point_size_px)</a:t>
            </a:r>
          </a:p>
          <a:p>
            <a:r>
              <a:t>• renders/render_spec.json</a:t>
            </a:r>
          </a:p>
          <a:p>
            <a:r>
              <a:t>• renders/labels.json: f6_final</a:t>
            </a:r>
          </a:p>
          <a:p>
            <a:r>
              <a:t>• Headless PyVista: research: reports/libraries.md (04_pyvista_render.py); draw_geometries blocks: research: reports/book.md</a:t>
            </a:r>
          </a:p>
          <a:p/>
          <a:p>
            <a:r>
              <a:t>LINE BY LINE:</a:t>
            </a:r>
          </a:p>
          <a:p>
            <a:r>
              <a:t>• P = np.asarray(down.points): the voxel points, a view</a:t>
            </a:r>
          </a:p>
          <a:p>
            <a:r>
              <a:t>• _, j = KDTree(P).query(xyz, workers=-1): for each of the 722 961 original points, the index of its nearest voxel point; one query on all cores</a:t>
            </a:r>
          </a:p>
          <a:p>
            <a:r>
              <a:t>• pl = pv.Plotter(off_screen=True) (key line): a renderer without a window, so a script can make the images, also headless</a:t>
            </a:r>
          </a:p>
          <a:p>
            <a:r>
              <a:t>• pl.add_points(xyz, point_size=3, scalars=RGB[cls[j]], rgb=True): every original point coloured by the class of its nearest voxel; cls[j] is NumPy fancy indexing, one call</a:t>
            </a:r>
          </a:p>
          <a:p>
            <a:r>
              <a:t>• pl.camera_position = CAM: the one fixed camera (renders/render_spec.json), never reset_camera, so every frame lines up</a:t>
            </a:r>
          </a:p>
          <a:p>
            <a:r>
              <a:t>• pl.screenshot("f6_final.png"): writes the PNG you see on the right</a:t>
            </a:r>
          </a:p>
          <a:p/>
          <a:p>
            <a:r>
              <a:t>SKETCH: Three large voxel points with their class colours and many small original points; each small point takes the colour of its nearest voxel point, the grey lines. That is the paint-back: the labels were computed on 232 180 voxels and land on all 722 961 points.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So what did the six steps do? laspy loaded 722 961 points, Open3D cut them to 232 180 voxels, fitted the ground at 98 % precision against AHN and found 1 024 clusters, NumPy's rules turned the clusters into four classes, and SciPy painted those back onto every point. From file to labels that's 0.6 seconds on this crop, one run, so take it as indicative. No loop over points: the only Python loop runs over 1 024 clusters. That's 200 metres. Before we scale up, question one: does a whole AHN sheet even fit?</a:t>
            </a:r>
          </a:p>
          <a:p/>
          <a:p>
            <a:r>
              <a:t>TIME: 50 s, ends at 15:20</a:t>
            </a:r>
          </a:p>
          <a:p/>
          <a:p>
            <a:r>
              <a:t>LIKELY QUESTION: Can I run this on my own AHN file?</a:t>
            </a:r>
          </a:p>
          <a:p/>
          <a:p>
            <a:r>
              <a:t>ANSWER: Yes, that's what the repo is for. For a whole 1 km AHN file or larger, start with the chunked read (backup B2), and expect to retune voxel size, tile size and eps for a different point density. Not in the Netherlands? Backup B6 lists other open sources.</a:t>
            </a:r>
          </a:p>
          <a:p/>
          <a:p>
            <a:r>
              <a:t>CHECKPOINT: Skip-first order from here: 28, 27, 22 (20 and 15 are already behind you). Target: leave this slide by 15:20. Leaving after 16:30: skip 22. Further on: reach slide 27 by 21:30, otherwise skip 27 and 28. To skip: one sentence, then click.</a:t>
            </a:r>
          </a:p>
          <a:p/>
          <a:p>
            <a:r>
              <a:t>CHECK BEFORE THE TALK:</a:t>
            </a:r>
          </a:p>
          <a:p>
            <a:r>
              <a:t>• Repo URL is still a placeholder (content.yaml)</a:t>
            </a:r>
          </a:p>
          <a:p>
            <a:r>
              <a:t>• Other open sources (B6): research: reports/videos.md V1</a:t>
            </a:r>
          </a:p>
          <a:p/>
          <a:p>
            <a:r>
              <a:t>TRACE:</a:t>
            </a:r>
          </a:p>
          <a:p>
            <a:r>
              <a:t>• Small print: One run, indicative; renders not included. Street furniture drawn enlarged.</a:t>
            </a:r>
          </a:p>
          <a:p>
            <a:r>
              <a:t>• snippets/s14_pipeline.py</a:t>
            </a:r>
          </a:p>
          <a:p>
            <a:r>
              <a:t>• pipeline/run.py</a:t>
            </a:r>
          </a:p>
          <a:p>
            <a:r>
              <a:t>• results/snippets.json: s14_pipeline.py.ok</a:t>
            </a:r>
          </a:p>
          <a:p>
            <a:r>
              <a:t>• results/pipeline.json: runtime_s (single run, indicative), versions</a:t>
            </a:r>
          </a:p>
          <a:p>
            <a:r>
              <a:t>• results/pipeline.json: runtime_note</a:t>
            </a:r>
          </a:p>
          <a:p>
            <a:r>
              <a:t>• No per-point Python loop: the loops in pipeline/steps.py run over tiles (remove_ground) and clusters (label)</a:t>
            </a:r>
          </a:p>
          <a:p>
            <a:r>
              <a:t>• renders/f6_final.png</a:t>
            </a:r>
          </a:p>
          <a:p>
            <a:r>
              <a:t>• renders/labels.json: f6_final</a:t>
            </a:r>
          </a:p>
          <a:p>
            <a:r>
              <a:t>• Table: results/pipeline.json points_in, points_after_voxel, ground.precision, n_clusters, timings_s; '4 classes' = ground, buildings, vegetation, street furniture</a:t>
            </a:r>
          </a:p>
          <a:p/>
          <a:p>
            <a:r>
              <a:t>THE SEVEN CALLS:</a:t>
            </a:r>
          </a:p>
          <a:p>
            <a:r>
              <a:t>• The whole pipeline is seven calls in the repo (snippets/s14_pipeline.py, pipeline/run.py):</a:t>
            </a:r>
          </a:p>
          <a:p>
            <a:r>
              <a:t>• las, xyz, _ = load("crop.laz") / multi = las.number_of_returns &gt; 1 / pcd = to_open3d(xyz, multi) / down = downsample(pcd, 0.5) / ground, _ = remove_ground(down, 25) / ids = cluster(down, ground, 0.75, 6) / cls, _ = label(down, ground, ids) / full = paint_back(xyz, down, cls)</a:t>
            </a:r>
          </a:p>
          <a:p>
            <a:r>
              <a:t>• Times per step (results/pipeline.json timings_s, one run): load 57 ms, copy into Open3D 16 ms, voxels 84 ms, ground 81 ms, clusters 137 ms, labels 151 ms, paint-back 99 ms; total 624 ms, renders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Question one: does it fit? A 1 km AHN tile has 21 013 926 points, but the full-size files are 5 by 6.25 km, and the one with this area, 2023_C_31HZ2, has 926 203 338. At the 86 bytes per point I measured for our pipeline, that's about 74.2 GB, against 25.9 GB for the LAS records alone; both computed, not run. It works on my machine, just not for this file. So how do we get through it anyway?</a:t>
            </a:r>
          </a:p>
          <a:p/>
          <a:p>
            <a:r>
              <a:t>TIME: 55 s, ends at 16:15</a:t>
            </a:r>
          </a:p>
          <a:p/>
          <a:p>
            <a:r>
              <a:t>LIKELY QUESTION: The LAS record is 30 bytes. Why do you need so many more?</a:t>
            </a:r>
          </a:p>
          <a:p/>
          <a:p>
            <a:r>
              <a:t>ANSWER: Because a working pipeline holds more than the record. Measured on the 1 km file: laspy.read peaks at 38 and keeps 30 bytes per point, the float64 xyz array adds 24, Open3D's own copy adds 24, and the downsampled cloud makes up the rest. Scaling to billions of points is on backup slide B2.</a:t>
            </a:r>
          </a:p>
          <a:p/>
          <a:p>
            <a:r>
              <a:t>IF SKIPPED: Skip-first number 3. If skipped, say on slide 23: "a full-size AHN file has 926 203 338 points; at 86 B each that is 74.2 GB".</a:t>
            </a:r>
          </a:p>
          <a:p/>
          <a:p>
            <a:r>
              <a:t>TRACE:</a:t>
            </a:r>
          </a:p>
          <a:p>
            <a:r>
              <a:t>• Small print: Bytes per point measured on the 1 km AHN file 135000_455000 (21 013 926 points); totals for 2023_C_31HZ2.LAZ computed, not run. Our pipeline: load and voxel downsampling (slides 14 and 16), all arrays kept, after gc.collect() and malloc_trim(0); peak 154 B per point.</a:t>
            </a:r>
          </a:p>
          <a:p>
            <a:r>
              <a:t>• bench/bench_memory.py</a:t>
            </a:r>
          </a:p>
          <a:p>
            <a:r>
              <a:t>• results/memory.json: tile_1km.points, tile_1km.bytes_per_point (all five keys), big_file.points, big_file.computed_gb, ram_reference_gb</a:t>
            </a:r>
          </a:p>
          <a:p>
            <a:r>
              <a:t>• results/memory.json: big_file.formulas (las_records uses the record size, our_pipeline the measured bytes per point)</a:t>
            </a:r>
          </a:p>
          <a:p>
            <a:r>
              <a:t>• Our pipeline = bench/bench_memory.py case 'pipeline': laspy.read, xyz, Open3D copy, voxel_down_sample, everything kept (slides 14 and 16); the rest of the 86 B per point: the kept centroids, results/memory.json tile_1km.naive_kept_open3d_centroids</a:t>
            </a:r>
          </a:p>
          <a:p>
            <a:r>
              <a:t>• big_file.points: LAS header via a 64 KB range request; the header bounds contain the crop (research: dataset/top_tile_headers.txt; size in km: results/research_facts.json ahn5_c_31hz2)</a:t>
            </a:r>
          </a:p>
          <a:p>
            <a:r>
              <a:t>• Record size for point format 6: results/memory.json tile_1km.record_bytes; LAS 1.4 R16 and laspy.PointFormat(6).size (research: reports/memory.md, notes/verify_facts.json)</a:t>
            </a:r>
          </a:p>
          <a:p>
            <a:r>
              <a:t>• Machine line: results/memory.json conditions.ram_gib (the machine all measurements ran on)</a:t>
            </a:r>
          </a:p>
          <a:p/>
          <a:p>
            <a:r>
              <a:t>CONDITIONS IN FULL (the slide shows the short line): Conditions: Ryzen 7 5700X, 8 cores / 16 threads, 31.3 GiB RAM; Linux (Omarchy, kernel 7.2.5-3-omarchy); Python 3.13.15, NumPy 2.5.3, SciPy 1.18.1, Open3D 0.20.0, laspy 2.7.0; N = 21 013 926 points, median of 3 runs, each in a fresh subprocess; governor performance; boost on; measured 2026-10-11 20:10 UTC; data: AHN file 135000_455000 (AHN5, ahn.nl, Het Waterschapshuis, CC BY 4.0). Memory: increase over the process after imports; 1 GB = 2³⁰ bytes.</a:t>
            </a:r>
          </a:p>
          <a:p/>
          <a:p>
            <a:r>
              <a:t>WHAT IS ON THE SLIDE:</a:t>
            </a:r>
          </a:p>
          <a:p>
            <a:r>
              <a:t>• Title: the AHN5 file that holds this area, 2023_C_31HZ2, is 5 by 6.25 km with 926 203 338 points; loading it whole needs more than the 32 GB of a big laptop</a:t>
            </a:r>
          </a:p>
          <a:p>
            <a:r>
              <a:t>• Bars: three computed bars for that file: the LAS records alone (30 B per point for point format 6), plus a float64 xyz copy (24 B per point more), and our load and voxel steps with every array kept (86 B per point); the dashed line labelled 32 GB RAM is the limit, the red part of a bar is past it</a:t>
            </a:r>
          </a:p>
          <a:p>
            <a:r>
              <a:t>• Computed, not run: bytes per point measured on the 1 km file (21 013 926 points), multiplied by the big file's point count</a:t>
            </a:r>
          </a:p>
          <a:p>
            <a:r>
              <a:t>• Hero: 86 B per point; where they go: laspy.read keeps 30, xyz adds 24, Open3D's copy 24, the voxel centroids the rest; the peak while running is 154 B per point</a:t>
            </a:r>
          </a:p>
          <a:p>
            <a:r>
              <a:t>• Machine line: the RAM of the machine everything ran on, 31.3 GiB</a:t>
            </a:r>
          </a:p>
          <a:p>
            <a:r>
              <a:t>• Units: GB = 2^30 bytes; memory figures are the increase over the process after its imports</a:t>
            </a:r>
          </a:p>
          <a:p/>
          <a:p>
            <a:r>
              <a:t>MENTAL MODEL: Hidden C6 (memory follows N and the algorithm): linear storage against quadratic pairwise distances.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fix is to never hold the whole file: laspy reads it in chunks of 1 000 000 points, each chunk keeps one point per 0.5 m voxel, and one np.unique at the end merges the chunks. On the 1 km file the load-everything pipeline from slides 14 and 16 peaks at 3.0 GB on top of what the imports already use; this loop peaks at 0.8 GB, and its points are exactly those of a load-everything first-point-per-voxel reference. It keeps the first point per voxel, not the average from slide 16, because a first point is a real point and it streams. I measured this on the 1 km tile; the full sheet I only computed. That's rule two: make it small first. It fits once it's small. Question two: why was the pipeline fast, and when isn't it? With a bet.</a:t>
            </a:r>
          </a:p>
          <a:p/>
          <a:p>
            <a:r>
              <a:t>TIME: 60 s, ends at 17:15</a:t>
            </a:r>
          </a:p>
          <a:p/>
          <a:p>
            <a:r>
              <a:t>LIKELY QUESTION: Does that always keep memory small?</a:t>
            </a:r>
          </a:p>
          <a:p/>
          <a:p>
            <a:r>
              <a:t>ANSWER: No, there are two limits. It only helps if the voxel removes most points: on aerial data like AHN, very fine voxels keep almost everything, so output and memory stay large. And it only works for per-point steps; ground removal or clustering need neighbours, so those run on tiles with an overlap. More on B2.</a:t>
            </a:r>
          </a:p>
          <a:p/>
          <a:p>
            <a:r>
              <a:t>CHECK BEFORE THE TALK:</a:t>
            </a:r>
          </a:p>
          <a:p>
            <a:r>
              <a:t>• Checked: memory.tile_1km.chunked_equals_reference = true (results/memory.json), so 'exactly those of' may be said</a:t>
            </a:r>
          </a:p>
          <a:p/>
          <a:p>
            <a:r>
              <a:t>TRACE:</a:t>
            </a:r>
          </a:p>
          <a:p>
            <a:r>
              <a:t>• snippets/s21_chunked.py</a:t>
            </a:r>
          </a:p>
          <a:p>
            <a:r>
              <a:t>• results/snippets.json: s21_chunked.py.ok</a:t>
            </a:r>
          </a:p>
          <a:p>
            <a:r>
              <a:t>• bench/bench_memory.py</a:t>
            </a:r>
          </a:p>
          <a:p>
            <a:r>
              <a:t>• results/memory.json: tile_1km.chunk_size, tile_1km.voxel, tile_1km.naive_peak_mb, tile_1km.chunked_peak_mb, tile_1km.chunked_equals_reference</a:t>
            </a:r>
          </a:p>
          <a:p>
            <a:r>
              <a:t>• Fine voxels keep almost everything on AHN: research: reports/critic.md C3 and C4 (pilot)</a:t>
            </a:r>
          </a:p>
          <a:p>
            <a:r>
              <a:t>• results/memory.json: tile_1km.cases.pipeline (the naive peak), tile_1km.naive_kept_open3d_centroids, tile_1km.chunked_kept_first_points</a:t>
            </a:r>
          </a:p>
          <a:p>
            <a:r>
              <a:t>• Peaks are increases over the process after imports (results/memory.json tile_1km.units, conditions.extra.rss_method; tile_1km.baseline_mb_after_imports)</a:t>
            </a:r>
          </a:p>
          <a:p/>
          <a:p>
            <a:r>
              <a:t>CONDITIONS IN FULL (the slide shows the short line): Conditions: Ryzen 7 5700X, 8 cores / 16 threads, 31.3 GiB RAM; Linux (Omarchy, kernel 7.2.5-3-omarchy); Python 3.13.15, NumPy 2.5.3, SciPy 1.18.1, Open3D 0.20.0, laspy 2.7.0; N = 21 013 926 points, median of 3 runs, each in a fresh subprocess; governor performance; boost on; measured 2026-10-11 20:10 UTC; data: AHN file 135000_455000 (AHN5, ahn.nl, Het Waterschapshuis, CC BY 4.0). Memory: increase over the process after imports; 1 GB = 2³⁰ bytes.</a:t>
            </a:r>
          </a:p>
          <a:p/>
          <a:p>
            <a:r>
              <a:t>LINE BY LINE:</a:t>
            </a:r>
          </a:p>
          <a:p>
            <a:r>
              <a:t>• v, keys, pts = 0.5, [], []: the voxel size, and two lists that collect each chunk's voxel keys and points</a:t>
            </a:r>
          </a:p>
          <a:p>
            <a:r>
              <a:t>• with laspy.open(path) as f: opens the file without reading the points</a:t>
            </a:r>
          </a:p>
          <a:p>
            <a:r>
              <a:t>• lo, hi = f.header.mins, f.header.maxs: the local origin and the extent, from the header alone</a:t>
            </a:r>
          </a:p>
          <a:p>
            <a:r>
              <a:t>• dims = ((hi - lo) // v).astype(np.int64) + 1: the number of voxels along x, y and z</a:t>
            </a:r>
          </a:p>
          <a:p>
            <a:r>
              <a:t>• for c in f.chunk_iterator(1_000_000) (key line): decompresses one million points at a time; only one chunk is in memory</a:t>
            </a:r>
          </a:p>
          <a:p>
            <a:r>
              <a:t>• xyz = np.c_[c.x, c.y, c.z] - lo: the chunk's coordinates, local (a chunk has no .xyz, gotcha)</a:t>
            </a:r>
          </a:p>
          <a:p>
            <a:r>
              <a:t>• ijk = (xyz // v).astype(np.int64).T: each point's voxel index per axis</a:t>
            </a:r>
          </a:p>
          <a:p>
            <a:r>
              <a:t>• key = np.ravel_multi_index(ijk, dims): one int64 per voxel, so voxels compare as single numbers (faster than np.unique on rows)</a:t>
            </a:r>
          </a:p>
          <a:p>
            <a:r>
              <a:t>• k, first = np.unique(key, return_index=True): the chunk's voxels and the first point in each</a:t>
            </a:r>
          </a:p>
          <a:p>
            <a:r>
              <a:t>• keys.append(k); pts.append(xyz[first]): keep only those, the rest of the chunk is freed</a:t>
            </a:r>
          </a:p>
          <a:p>
            <a:r>
              <a:t>• k, first = np.unique(np.concatenate(keys), return_index=True): merge the chunks; a voxel split over two chunks keeps its first occurrence</a:t>
            </a:r>
          </a:p>
          <a:p>
            <a:r>
              <a:t>• points = np.concatenate(pts)[first]: the result, one real point per voxel; the earliest chunk wins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Quiz time. Both blocks compute the same thing: the distance of all 722 961 points to the ground plane, and they give exactly the same numbers. A loops over the rows in Python; B is one NumPy expression on whole columns. Hands up if you think A is faster. And B? Now the real question: by how much, roughly 2, 10, 100 or 1000 times? Keep your answer in mind.</a:t>
            </a:r>
          </a:p>
          <a:p/>
          <a:p>
            <a:r>
              <a:t>TIME: 60 s, ends at 18:15</a:t>
            </a:r>
          </a:p>
          <a:p/>
          <a:p>
            <a:r>
              <a:t>LIKELY QUESTION: Why not P @ (a, b, c) + d? That's the idiomatic way.</a:t>
            </a:r>
          </a:p>
          <a:p/>
          <a:p>
            <a:r>
              <a:t>ANSWER: In real code, use it. In my final run it even matched the loop bit for bit, but I left it out of the comparison: in my pilot runs OpenBLAS ran it on several threads, while the element-wise form runs on 1 thread, so the factor would mix the boundary with parallelism.</a:t>
            </a:r>
          </a:p>
          <a:p/>
          <a:p>
            <a:r>
              <a:t>TRACE:</a:t>
            </a:r>
          </a:p>
          <a:p>
            <a:r>
              <a:t>• snippets/s16_loop.py</a:t>
            </a:r>
          </a:p>
          <a:p>
            <a:r>
              <a:t>• snippets/s16_vec.py</a:t>
            </a:r>
          </a:p>
          <a:p>
            <a:r>
              <a:t>• results/snippets.json: s16_loop.py.ok, s16_vec.py.ok</a:t>
            </a:r>
          </a:p>
          <a:p>
            <a:r>
              <a:t>• bench/bench_cliff.py</a:t>
            </a:r>
          </a:p>
          <a:p>
            <a:r>
              <a:t>• results/bench_cliff.json: plane.equal, plane.vectorised.threads</a:t>
            </a:r>
          </a:p>
          <a:p>
            <a:r>
              <a:t>• results/bench_cliff.json: plane.matmul_reference (expr, equal, max_abs_diff)</a:t>
            </a:r>
          </a:p>
          <a:p>
            <a:r>
              <a:t>• results/bench_cliff.json: plane.n, plane.array.how (P = las.xyz - las.header.mins, the full crop)</a:t>
            </a:r>
          </a:p>
          <a:p>
            <a:r>
              <a:t>• OpenBLAS threads for @ at 1M points (pilot only): research: reports/perf.md</a:t>
            </a:r>
          </a:p>
          <a:p/>
          <a:p>
            <a:r>
              <a:t>LINE BY LINE:</a:t>
            </a:r>
          </a:p>
          <a:p>
            <a:r>
              <a:t>• A: a, b, c, d = plane (the plane's coefficients from segment_plane); h = np.empty(len(P)) (one result per point); for i, p in enumerate(P) (key line: one Python iteration per point, each p is a row view); x, y, z = p[0], p[1], p[2] (three NumPy scalar lookups); h[i] = abs(a*x + b*y + c*z + d) (scalar arithmetic and one store)</a:t>
            </a:r>
          </a:p>
          <a:p>
            <a:r>
              <a:t>• B: x, y, z = P.T (three column views, no copy); h = np.abs(a*x + b*y + c*z + d) (key line: a handful of NumPy calls, each on all points)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answer: on 722 961 points the loop takes 317 ms and the single expression 2.4 ms: (click) that's 130×, so if you said 100, you win. The grey bar is drawn to scale: that sliver is the whole NumPy run. Same data, same machine, same result; what changed most is how many times we call into compiled code, and memory layout does the rest. Even a loop over plain Python floats, which avoids NumPy scalars, takes 78 ms, plus 107 ms to build those lists with P.tolist(). So where does the time go?</a:t>
            </a:r>
          </a:p>
          <a:p/>
          <a:p>
            <a:r>
              <a:t>TIME: 70 s, ends at 19:25</a:t>
            </a:r>
          </a:p>
          <a:p/>
          <a:p>
            <a:r>
              <a:t>LIKELY QUESTION: The abstract promised two orders of magnitude. Is that what you measured?</a:t>
            </a:r>
          </a:p>
          <a:p/>
          <a:p>
            <a:r>
              <a:t>ANSWER: For this per-point arithmetic: 130×, with an IQR-bounded range of 128× to 131×. For KDTree queries the cliff is smaller, 6.2× on one thread, because each call does more real work; it grows to 58× once the single call uses all cores. More on slide 26 and B4. That is on the column-ordered array laspy gives you; on a row-ordered copy the expression slows to 3.6 ms and the factor drops to 88× (85× to 94×).</a:t>
            </a:r>
          </a:p>
          <a:p/>
          <a:p>
            <a:r>
              <a:t>CHECK BEFORE THE TALK:</a:t>
            </a:r>
          </a:p>
          <a:p>
            <a:r>
              <a:t>• Checked: bench.plane.factor.iqr_low = 128×, at least 100×, so 'two orders of magnitude' may be said, for this loop over NumPy rows only (it is not on the slide)</a:t>
            </a:r>
          </a:p>
          <a:p>
            <a:r>
              <a:t>• The 130× hero holds for laspy's column-ordered array (slide 14 code), not for a C-ordered copy</a:t>
            </a:r>
          </a:p>
          <a:p/>
          <a:p>
            <a:r>
              <a:t>TRACE:</a:t>
            </a:r>
          </a:p>
          <a:p>
            <a:r>
              <a:t>• bench/bench_cliff.py</a:t>
            </a:r>
          </a:p>
          <a:p>
            <a:r>
              <a:t>• results/bench_cliff.json: plane.n, plane.loop_numpy_rows, plane.vectorised, plane.loop_python_floats, plane.factor (median, iqr_low, iqr_high), knn.factor_loop_vs_1t, knn.factor_loop_vs_all, conditions (small print)</a:t>
            </a:r>
          </a:p>
          <a:p>
            <a:r>
              <a:t>• results/bench_cliff.json: plane.sensitivity (vectorised_c_contiguous, factor_c_contiguous, tolist), plane.array (how, dtype, layout: the conditions line)</a:t>
            </a:r>
          </a:p>
          <a:p>
            <a:r>
              <a:t>• Chart data embedded by deck/build_deck.py from these keys</a:t>
            </a:r>
          </a:p>
          <a:p/>
          <a:p>
            <a:r>
              <a:t>CONDITIONS IN FULL (the slide shows the short line): Conditions: Ryzen 7 5700X, 8 cores / 16 threads, 31.3 GiB RAM; Linux (Omarchy, kernel 7.2.5-3-omarchy); Python 3.13.15, NumPy 2.5.3, SciPy 1.18.1, Open3D 0.20.0, laspy 2.7.0; N = 722 961 points, 7 runs after 1 warm-up, median and IQR of wall time over the timed runs; plane loop and expression on 1 thread each (CPU/wall 1.0); governor performance; boost on; measured 2026-10-11 20:08 UTC; data: the AHN5 crop of slide 5 (ahn.nl, Het Waterschapshuis, CC BY 4.0). Array: las.xyz − las.header.mins, float64, column-ordered as laspy returns it; on a row-ordered copy the factor is 88×.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Here's where the time goes: Python above the line, compiled code below. Each loop step makes several small calls into NumPy, a row, three elements, a few scalar operations, and together they cost about 439 ns per point; the same loop on plain Python floats, one NumPy call per step, still costs 107 ns; the work itself costs 3.4 ns per point inside NumPy. It's like sending every point through the toll booth in its own car, when NumPy puts them all on one bus. C++ libraries are no exception: the KDTree query the loop uses costs 9.8 µs even when it finds nothing, against 2.1 µs per point inside one call, so the kNN loop is 6.2× slower than one call. So how do you find such a loop in your own code?</a:t>
            </a:r>
          </a:p>
          <a:p/>
          <a:p>
            <a:r>
              <a:t>TIME: 70 s, ends at 20:35</a:t>
            </a:r>
          </a:p>
          <a:p/>
          <a:p>
            <a:r>
              <a:t>LIKELY QUESTION: Why is the KDTree cliff so much smaller than the plane cliff?</a:t>
            </a:r>
          </a:p>
          <a:p/>
          <a:p>
            <a:r>
              <a:t>ANSWER: Because the factor is roughly toll plus work, divided by work. A KDTree query does microseconds of real work, so a toll of a few microseconds only multiplies the time a few times; plane distance does nanoseconds of work, so the toll dominates. In the synthetic pilot, queries with more neighbours had a smaller cliff.</a:t>
            </a:r>
          </a:p>
          <a:p/>
          <a:p>
            <a:r>
              <a:t>TRACE:</a:t>
            </a:r>
          </a:p>
          <a:p>
            <a:r>
              <a:t>• bench/bench_cliff.py</a:t>
            </a:r>
          </a:p>
          <a:p>
            <a:r>
              <a:t>• results/bench_cliff.json: plane.per_step_ns_loop, plane.per_step_ns_python_floats, plane.per_point_ns_vectorised, knn.k, knn.per_query_us_far_knn, knn.per_query_desc.per_query_us_far_knn (the call: query with k and distance_upper_bound), knn.per_point_us_one_call_1t, knn.factor_loop_vs_1t</a:t>
            </a:r>
          </a:p>
          <a:p>
            <a:r>
              <a:t>• Toll model and neighbour-count sweep: research: reports/perf.md (synthetic pilot)</a:t>
            </a:r>
          </a:p>
          <a:p>
            <a:r>
              <a:t>• Diagram drawn natively by deck/build_deck.py</a:t>
            </a:r>
          </a:p>
          <a:p/>
          <a:p>
            <a:r>
              <a:t>CONDITIONS IN FULL (the slide shows the short line): Conditions: Ryzen 7 5700X, 8 cores / 16 threads, 31.3 GiB RAM; Linux (Omarchy, kernel 7.2.5-3-omarchy); Python 3.13.15, NumPy 2.5.3, SciPy 1.18.1, Open3D 0.20.0, laspy 2.7.0; N = 722 961 points, 7 runs after 1 warm-up, median and IQR of wall time over the timed runs; governor performance; boost on; measured 2026-10-11 20:08 UTC; data: the AHN5 crop of slide 5 (ahn.nl, Het Waterschapshuis, CC BY 4.0). KDTree query: SciPy KDTree.query with k = 16 and distance_upper_bound, one query point far outside the cloud (no neighbour found), median of 7 timeit repeats of 20 000 calls.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You don't guess where the time goes; you ask a profiler. I used Scalene, a profiler for Python that shows time per line. One command, on the loop from the quiz. Each bar is one line of code, and its length is its share of the whole run: navy for time in the Python interpreter, blue for time in native code, here NumPy. The line that computes the distance takes 88 percent of the run, and almost all of it is NumPy, one value at a time. The same arithmetic as one expression takes 0.7 percent. So, could threads rescue the loop?</a:t>
            </a:r>
          </a:p>
          <a:p/>
          <a:p>
            <a:r>
              <a:t>TIME: 50 s, ends at 21:25</a:t>
            </a:r>
          </a:p>
          <a:p/>
          <a:p>
            <a:r>
              <a:t>LIKELY QUESTION: Why do the for line and the indexing line show 0 %?</a:t>
            </a:r>
          </a:p>
          <a:p/>
          <a:p>
            <a:r>
              <a:t>ANSWER: Scalene samples the program with a timer and bills each sample to the line the interpreter is executing when it gets to handle it. A long call into C, such as NumPy arithmetic on scalars, is handled once it returns, so the time of the whole loop turn lands on the last line, the one with abs(). The three lines are one loop turn; read the 0 % lines as part of the 88 %. For a cross-check I also ran cProfile (bench/profile_loop.py), which gives the loop function 66 % of its run and abs() called 722 961 times, once per point.</a:t>
            </a:r>
          </a:p>
          <a:p/>
          <a:p>
            <a:r>
              <a:t>CHECKPOINT: Arrive here by 21:30. Later than that: skip this slide and 28.</a:t>
            </a:r>
          </a:p>
          <a:p/>
          <a:p>
            <a:r>
              <a:t>IF SKIPPED: Skip-first number 2. If skipped, say on the next slide shown: "a profiler finds such loops: Scalene puts one line at 88 percent".</a:t>
            </a:r>
          </a:p>
          <a:p/>
          <a:p>
            <a:r>
              <a:t>TRACE:</a:t>
            </a:r>
          </a:p>
          <a:p>
            <a:r>
              <a:t>• bench/profile_loop_scalene.py (runs `scalene run --cpu-only --cpu-sampling-rate 0.001 bench/cpuprof/loop.py --- 30` three times and stores the run with the median loop-line share)</a:t>
            </a:r>
          </a:p>
          <a:p>
            <a:r>
              <a:t>• bench/cpuprof/loop.py (the slide lines of snippets/s16_loop.py and s16_vec.py as two functions, checked by the script itself; the plane from results/bench_cliff.json plane.coefficients; each function called 30 times so Scalene gets enough samples)</a:t>
            </a:r>
          </a:p>
          <a:p>
            <a:r>
              <a:t>• results/profile_scalene.json (label FINAL): lines.for, lines.unpack, lines.loop_body, lines.vectorised (python, native, system, total, samples), loop_native_fraction, factor_loop_vs_vectorised, rest_percent, conditions</a:t>
            </a:r>
          </a:p>
          <a:p>
            <a:r>
              <a:t>• Cross-check, not on the slide: cProfile, results/profile_loop.json and .txt (bench/profile_loop.py). The loop is 0.4 s of a 0.6 s run there; unprofiled, slide 25 gives the loop against the expression</a:t>
            </a:r>
          </a:p>
          <a:p/>
          <a:p>
            <a:r>
              <a:t>HOW TO READ IT:</a:t>
            </a:r>
          </a:p>
          <a:p>
            <a:r>
              <a:t>• Rows: the lines of the slide-18 loop (for, unpack, distance) and the one-expression version; bars: percent of the whole profiled run, 100 % being the full bar width</a:t>
            </a:r>
          </a:p>
          <a:p>
            <a:r>
              <a:t>• Colours: navy = time in the Python interpreter, blue = time in native code that the line calls (NumPy here), grey = system (waiting, I/O)</a:t>
            </a:r>
          </a:p>
          <a:p>
            <a:r>
              <a:t>• The distance line: 88 % of the run, of which 4.1 % Python, 82.3 % native, 1.7 % system. Native is NumPy arithmetic and abs on single np.float64 values: compiled code, but called 722 961 times, one point per call, which is the toll</a:t>
            </a:r>
          </a:p>
          <a:p>
            <a:r>
              <a:t>• The rest of the run (11.3 %) is imports and reading the LAZ file</a:t>
            </a:r>
          </a:p>
          <a:p>
            <a:r>
              <a:t>• The NumPy expression: 0.7 % of the run; Scalene says the loop line is 133 times the expression line, slide 25 measured 130×</a:t>
            </a:r>
          </a:p>
          <a:p>
            <a:r>
              <a:t>• Sampling: every 1.0 ms, 30 repeats of both functions; loop line shares of the three runs 87.9, 88.0 and 88.4 %</a:t>
            </a:r>
          </a:p>
          <a:p>
            <a:r>
              <a:t>• Run it: uv run --group profile scalene run --cpu-only -o out.json bench/cpuprof/loop.py, then scalene view out.json. Scalene skips any path with "scalene" in it; the directory is cpuprof for that reason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Python 3.14 ships a free-threaded build, so I split the same loop over threads. With the GIL, 8 threads gain nothing; on Python 3.14t, without the GIL, they make the loop 5.5× faster. One NumPy call on one thread is still 27× faster than that. This is a different build from slide 25, so the times differ a little; the footnote says how. Free threading spreads the toll over your cores; it doesn't remove it. Rule three. Small and fast. Now the question from the start: does the scan agree with the register?</a:t>
            </a:r>
          </a:p>
          <a:p/>
          <a:p>
            <a:r>
              <a:t>TIME: 50 s, ends at 22:15</a:t>
            </a:r>
          </a:p>
          <a:p/>
          <a:p>
            <a:r>
              <a:t>LIKELY QUESTION: What about more threads, or multiprocessing?</a:t>
            </a:r>
          </a:p>
          <a:p/>
          <a:p>
            <a:r>
              <a:t>ANSWER: On this CPU with 8 cores, 8 threads were the fastest I measured, 61 ms; all 16 hardware threads took 75 ms. I didn't benchmark multiprocessing; it would also have to copy or share the array.</a:t>
            </a:r>
          </a:p>
          <a:p/>
          <a:p>
            <a:r>
              <a:t>IF SKIPPED: Skip-first number 1. If skipped, say on slide 29: 'free-threaded Python spreads the toll over your cores but doesn't remove it; now, does the scan agree with the register?'</a:t>
            </a:r>
          </a:p>
          <a:p/>
          <a:p>
            <a:r>
              <a:t>CHECK BEFORE THE TALK:</a:t>
            </a:r>
          </a:p>
          <a:p>
            <a:r>
              <a:t>• Say 'free-threaded build' (3.14t). The default CPython build still has the GIL</a:t>
            </a:r>
          </a:p>
          <a:p/>
          <a:p>
            <a:r>
              <a:t>TRACE:</a:t>
            </a:r>
          </a:p>
          <a:p>
            <a:r>
              <a:t>• bench/bench_freethreaded.py (driver in the project venv; workers in two throw-away venvs: CPython 3.14.7 free-threaded and default build, numpy and laspy[lazrs] only)</a:t>
            </a:r>
          </a:p>
          <a:p>
            <a:r>
              <a:t>• results/bench_freethreaded.json: builds.free_threaded.timings (loop, threads_1 to threads_16, vectorised), builds.gil.timings, summary (best_threads_ft, ft_speedup_best_vs_loop, ft_vectorised_vs_best_threads, gil_speedup_vs_loop), builds.*.gil_enabled_at_end, builds.*.equal_to_vectorised, conditions</a:t>
            </a:r>
          </a:p>
          <a:p>
            <a:r>
              <a:t>• Loop: the slide region of snippets/s16_loop.py compiled verbatim; threads: the same body over contiguous slices of P, ThreadPoolExecutor; vectorised: snippets/s16_vec.py</a:t>
            </a:r>
          </a:p>
          <a:p>
            <a:r>
              <a:t>• 1 warm-up round and 7 timed rounds, variants in a seeded random order per round; load average below 1.0 before each build</a:t>
            </a:r>
          </a:p>
          <a:p/>
          <a:p>
            <a:r>
              <a:t>CONDITIONS IN FULL (the slide shows the short line): Conditions: Ryzen 7 5700X, 8 cores / 16 threads, 31.3 GiB RAM; Linux (Omarchy, kernel 7.2.5-3-omarchy); CPython 3.14.7 free-threaded build (sys._is_gil_enabled() returns False) and the default build 3.14.7, NumPy 2.5.4, laspy 2.7.0; N = 722 961 points, 7 runs after 1 warm-up, median and IQR of wall time over the timed runs; governor performance; boost on; measured 2026-10-11 20:07 UTC; data: the AHN5 crop of slide 5 (ahn.nl, Het Waterschapshuis, CC BY 4.0). Loop: the slide 24 loop. Threads: the same loop body over N slices of P, concurrent.futures.ThreadPoolExecutor. Default build with the GIL: loop 327 ms, 8 threads 347 ms.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Question three, the one from the start: does the scan agree with the register? A confession about street furniture. Expectation versus reality. The expectation isn't made up: the BGT, the Dutch large-scale topography register kept by the municipality, lists 61 poles inside this exact square, 51 lamp posts and 10 bollards, the small rings. Reality: my pipeline found 3 objects, the big rings, and two of them do stand on a registered lamp post. The data explains it: 42 of the 61 poles don't get a single LiDAR point more than 1.5 metres above the ground, and only 10 leave DBSCAN the six voxels it needs. Remember the plane: thin poles often get missed. Rule four, learned the hard way: I computed first and looked afterwards; you should look first. So why do poles get so few points?</a:t>
            </a:r>
          </a:p>
          <a:p/>
          <a:p>
            <a:r>
              <a:t>TIME: 45 s, ends at 23:00</a:t>
            </a:r>
          </a:p>
          <a:p/>
          <a:p>
            <a:r>
              <a:t>LIKELY QUESTION: Isn't the register out of date, or the flight too old?</a:t>
            </a:r>
          </a:p>
          <a:p/>
          <a:p>
            <a:r>
              <a:t>ANSWER: Partly: 3 of the poles were first registered after the April 2023 flight, so they may not have existed yet. That doesn't change the picture: most poles that did exist are a few points or none from the air. The municipality's own 2021 street-light export disagrees with the BGT too, so registers aren't ground truth either.</a:t>
            </a:r>
          </a:p>
          <a:p/>
          <a:p>
            <a:r>
              <a:t>TRACE:</a:t>
            </a:r>
          </a:p>
          <a:p>
            <a:r>
              <a:t>• Photo credit: 2021 · Robot8A · CC BY-SA 4.0</a:t>
            </a:r>
          </a:p>
          <a:p>
            <a:r>
              <a:t>• Photo credit: 2014 · V. van Werkhooven · CC BY 3.0</a:t>
            </a:r>
          </a:p>
          <a:p>
            <a:r>
              <a:t>• Small print: Poles: BGT (Kadaster, CC BY 4.0) via PDOK, 2026-10-12. Points: within 0.6 m, over 1.5 m above ground. Photos: Jaarbeursplein, Wikimedia Commons.</a:t>
            </a:r>
          </a:p>
          <a:p>
            <a:r>
              <a:t>• bench/bgt_street_furniture.py, results/bgt_street_furniture.json (label FINAL)</a:t>
            </a:r>
          </a:p>
          <a:p>
            <a:r>
              <a:t>• BGT licence: CC BY 4.0 per the national geo register record (attribution Kadaster, BGT), CC0 1.0 on the PDOK API landing page; the slide credits Kadaster, BGT</a:t>
            </a:r>
          </a:p>
          <a:p>
            <a:r>
              <a:t>• Rings: build_deck.py slide_expectation_map; poles projected with the stored camera (renders/render_spec.json), our objects at renders/render_spec.json frames[f6_final.png].street_furniture_visible patches</a:t>
            </a:r>
          </a:p>
          <a:p>
            <a:r>
              <a:t>• results/pipeline.json: n_objects.street_furniture, street_furniture_objects</a:t>
            </a:r>
          </a:p>
          <a:p/>
          <a:p>
            <a:r>
              <a:t>EVIDENCE:</a:t>
            </a:r>
          </a:p>
          <a:p>
            <a:r>
              <a:t>• BGT via PDOK OGC API Features, queried 2026-10-12 08:04 UTC: paal 61 (lichtmast 51, afsluitpaal 10), straatmeubilair 29 (26 benches, 3 play objects), kast 4; current versions only, strictly inside the crop box</a:t>
            </a:r>
          </a:p>
          <a:p>
            <a:r>
              <a:t>• Points within 0.6 m of each pole and more than 1.5 m above the local ground: 0 points 42, 1 to 5 4, 6 to 20 15, more than 20 none</a:t>
            </a:r>
          </a:p>
          <a:p>
            <a:r>
              <a:t>• Poles with at least 6 occupied 0.5 m voxels above 1.5 m: 10, all lamp posts; half of them sit under building or viaduct points</a:t>
            </a:r>
          </a:p>
          <a:p>
            <a:r>
              <a:t>• Our objects against the BGT: clusters 435 and 710 within 0.51 m and 0.49 m of a lamp post; cluster 719 is 4.97 m from the nearest one</a:t>
            </a:r>
          </a:p>
          <a:p>
            <a:r>
              <a:t>• Map: 60 of the 61 poles project inside the render (one falls just outside the frame)</a:t>
            </a:r>
          </a:p>
          <a:p/>
          <a:p>
            <a:r>
              <a:t>MENTAL MODEL: Slide 30 (a point cloud samples the surface unevenly) follows: the density map of this crop explains why poles get few points.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Why so few points on a pole? Because a scanner doesn't see the city, it samples it. This map counts points per square metre in our crop, median 18. Walls and tree crowns stack points into bright lines and spots, and some bands are thin, so a thin pole can fall between the samples. A radius tuned in one corner can fail in the next: measure density and error before you tune anything. That's rule four: look before you compute. So here are all four rules, with their numbers.</a:t>
            </a:r>
          </a:p>
          <a:p/>
          <a:p>
            <a:r>
              <a:t>TIME: 30 s, ends at 23:30</a:t>
            </a:r>
          </a:p>
          <a:p/>
          <a:p>
            <a:r>
              <a:t>LIKELY QUESTION: Is the density on the map the density of the surface?</a:t>
            </a:r>
          </a:p>
          <a:p/>
          <a:p>
            <a:r>
              <a:t>ANSWER: Not quite: a map cell counts every point above it, so walls and tree crowns look denser than they are as surfaces; a per-surface density needs normals. And the published accuracy is a specification for the whole data set, not a guarantee for each point.</a:t>
            </a:r>
          </a:p>
          <a:p/>
          <a:p>
            <a:r>
              <a:t>TRACE:</a:t>
            </a:r>
          </a:p>
          <a:p>
            <a:r>
              <a:t>• deck/appendix.yaml C5 (bullets, figure, citations; shown here as a main slide)</a:t>
            </a:r>
          </a:p>
          <a:p>
            <a:r>
              <a:t>• deck/concepts/make_figures.py: deck/assets/concepts/c5_density.png, results/concepts.json c5</a:t>
            </a:r>
          </a:p>
          <a:p>
            <a:r>
              <a:t>• data/utrecht_jaarbeurs_200m.laz</a:t>
            </a:r>
          </a:p>
          <a:p>
            <a:r>
              <a:t>• research: reports/mental_models.md section 6</a:t>
            </a:r>
          </a:p>
          <a:p/>
          <a:p>
            <a:r>
              <a:t>WHY IT MATTERS: Thresholds, radii and quality scores all assume a density and an error level; uneven sampling makes them wrong in parts of the same file.</a:t>
            </a:r>
          </a:p>
          <a:p/>
          <a:p>
            <a:r>
              <a:t>EXAMPLE: NumPy: np.histogram2d(x, y, bins=100, range=[[0, 200], [0, 200]]) gives this density map in one call. laspy: las.return_number and las.number_of_returns tell multiple echoes apart (slide 19).</a:t>
            </a:r>
          </a:p>
          <a:p/>
          <a:p>
            <a:r>
              <a:t>LIMITS AND DISAGREEMENTS:</a:t>
            </a:r>
          </a:p>
          <a:p>
            <a:r>
              <a:t>• Density per map cell mixes surface density with geometry: walls and canopies inflate it. A per-surface density needs normals (C4).</a:t>
            </a:r>
          </a:p>
          <a:p>
            <a:r>
              <a:t>• Published accuracy is a specification for the whole data set, not a guarantee for each point; local errors near edges and on dark or wet surfaces can be larger.</a:t>
            </a:r>
          </a:p>
          <a:p>
            <a:r>
              <a:t>• Which density is enough depends on the object size: lamp posts on slide 29 got few or no points.</a:t>
            </a:r>
          </a:p>
          <a:p/>
          <a:p>
            <a:r>
              <a:t>CITATIONS:</a:t>
            </a:r>
          </a:p>
          <a:p>
            <a:r>
              <a:t>• AHN Kwaliteitsbeschrijving (ahn.nl/kwaliteitsbeschrijving, no date shown, written before 2020): AHN4 height error at most 5 cm systematic and 5 cm stochastic; about 10 to 14 points per m2</a:t>
            </a:r>
          </a:p>
          <a:p>
            <a:r>
              <a:t>• AHN5 tender, Nota van inlichtingen, 2022-08-18 (TenderNed 275983): base requirement 10 points per m2; no AHN5 accuracy figures published</a:t>
            </a:r>
          </a:p>
          <a:p>
            <a:r>
              <a:t>• AHN: The making of (ahn.nl/ahn-making, no date shown, AHN3 process): flight strips overlap about 20 to 35 %, vegetation gives first or intermediate returns</a:t>
            </a:r>
          </a:p>
          <a:p>
            <a:r>
              <a:t>• Manders: AHN3 vs AHN4 for 3D buildings, MSc thesis, 2023 (gdmc.nl; not peer reviewed): facade occlusion</a:t>
            </a:r>
          </a:p>
          <a:p>
            <a:r>
              <a:t>• ASPRS Positional Accuracy Standards, Edition 2, Version 2, approved 2024-06-24 (via Geo Week News, 2024-07-03; ASPRS PDF not fetched)</a:t>
            </a:r>
          </a:p>
          <a:p/>
          <a:p>
            <a:r>
              <a:t>SOURCES AND STATUS:</a:t>
            </a:r>
          </a:p>
          <a:p>
            <a:r>
              <a:t>• Bullet 1 "Here the middle 80 % of cells hold 9 to 22 points per m²...": status token; source: results/concepts.json c5 (data/utrecht_jaarbeurs_200m.laz, 2 m cells)</a:t>
            </a:r>
          </a:p>
          <a:p>
            <a:r>
              <a:t>• Bullet 2 "Occlusion, flight-strip overlap, angle and material decide...": status verified; source: research: reports/mental_models.md section 6</a:t>
            </a:r>
          </a:p>
          <a:p>
            <a:r>
              <a:t>• Bullet 3 "Every point carries error: AHN4 specifies at most 5 cm in...": status verified; source: research: reports/mental_models.md section 6 (AHN Kwaliteitsbeschrijving; AHN5 tender)</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So, the four rules again, now with the evidence from this talk, one per click. Think in arrays: every unnecessary copy of the coordinates costs 24 bytes per point, half a gigabyte on one 1 km file, so pass views wherever you can. Make it small first: streaming took the 1 km tile from 3.0 GB to 0.8 GB. Let compiled code loop: the loop over rows was 130× slower. And look before you compute: 61 poles on the register, 3 found, and the data told us why. Before you copy any of it, what it doesn't do yet.</a:t>
            </a:r>
          </a:p>
          <a:p/>
          <a:p>
            <a:r>
              <a:t>TIME: 75 s, ends at 24:45</a:t>
            </a:r>
          </a:p>
          <a:p/>
          <a:p>
            <a:r>
              <a:t>LIKELY QUESTION: Do these rules apply outside 3D?</a:t>
            </a:r>
          </a:p>
          <a:p/>
          <a:p>
            <a:r>
              <a:t>ANSWER: Three of them are plain data engineering, and the compiled-loop one holds wherever Python calls into compiled code, because the toll is per call. But I only measured them in this pipeline, so that's the evidence I can show.</a:t>
            </a:r>
          </a:p>
          <a:p/>
          <a:p>
            <a:r>
              <a:t>TRACE:</a:t>
            </a:r>
          </a:p>
          <a:p>
            <a:r>
              <a:t>• content.yaml slide 31 rules (the rules of slide 10 with evidence; click: true, one tile per click); tokens: results/memory.json tile_1km.bytes_per_point.xyz_float64, results/pipeline.json n_objects, results/bgt_street_furniture.json collections.paal.n, results/memory.json tile_1km peaks, results/bench_cliff.json plane.factor</a:t>
            </a:r>
          </a:p>
          <a:p>
            <a:r>
              <a:t>• Replaces the old 'Three habits' tiles and the 'Loop over tiles, never over points' statement slide (both removed on 2026-10-12)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What this doesn't do yet. My pipeline found 3 of 61 poles. Vegetation has nothing to score it against, because AHN puts trees in its other class. Buildings reach 83 % precision against AHN, a lower bound, because AHN files facades as other. And it's one 200 metre crop with one timed run. Next: ground removal and clustering on tiles with an overlap, a classifier for the labels, and your own data; each has a backup slide. A baseline in plain Python, not production accuracy.</a:t>
            </a:r>
          </a:p>
          <a:p/>
          <a:p>
            <a:r>
              <a:t>TIME: 45 s, ends at 25:30</a:t>
            </a:r>
          </a:p>
          <a:p/>
          <a:p>
            <a:r>
              <a:t>LIKELY QUESTION: What would you do first with more time?</a:t>
            </a:r>
          </a:p>
          <a:p/>
          <a:p>
            <a:r>
              <a:t>ANSWER: Run it on tiles with an overlap over a whole AHN file, because ground removal and clustering need neighbours across tile edges; backup B2 has the numbers.</a:t>
            </a:r>
          </a:p>
          <a:p/>
          <a:p>
            <a:r>
              <a:t>TRACE:</a:t>
            </a:r>
          </a:p>
          <a:p>
            <a:r>
              <a:t>• results/pipeline.json n_objects, buildings (against AHN class 6; note: facades), ground; results/bgt_street_furniture.json collections.paal.n</a:t>
            </a:r>
          </a:p>
          <a:p>
            <a:r>
              <a:t>• Next steps: appendix.yaml B2, B5, B6; notes slides 4, 19 and 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Everything you saw is in the repo behind this QR code: the pipeline, the snippets and the benchmarks. Try it on your own AHN tile. The point cloud is AHN5 from Het Waterschapshuis under CC BY 4.0, so you can use it too, as long as you credit it. If you keep one line: write the plan in Python, and let compiled code loop. Thank you to the Python community and to all of you for being here. I'm happy to take questions.</a:t>
            </a:r>
          </a:p>
          <a:p/>
          <a:p>
            <a:r>
              <a:t>TIME: 45 s, ends at 26:15</a:t>
            </a:r>
          </a:p>
          <a:p/>
          <a:p>
            <a:r>
              <a:t>LIKELY QUESTION: Is this talk based on the O'Reilly book with the same title?</a:t>
            </a:r>
          </a:p>
          <a:p/>
          <a:p>
            <a:r>
              <a:t>ANSWER: No. The title is shared with Florent Poux's O'Reilly book from 2025; this talk and its code are independent. His YouTube channel is a good next step: backup B5 tests his PCA plus Random Forest idea on this area, and B6 lists the data sources from his beginner video.</a:t>
            </a:r>
          </a:p>
          <a:p/>
          <a:p>
            <a:r>
              <a:t>CHECK BEFORE THE TALK:</a:t>
            </a:r>
          </a:p>
          <a:p>
            <a:r>
              <a:t>• Publish the repo URL and QR only after the repo clean-up listed in the open items (docs/OPEN_ITEMS.md, section f)</a:t>
            </a:r>
          </a:p>
          <a:p>
            <a:r>
              <a:t>• If the optional book-credit small print is dropped from the slide, say the credit aloud</a:t>
            </a:r>
          </a:p>
          <a:p/>
          <a:p>
            <a:r>
              <a:t>TRACE:</a:t>
            </a:r>
          </a:p>
          <a:p>
            <a:r>
              <a:t>• content.yaml slide 33: qr.url, contact (the repo is public)</a:t>
            </a:r>
          </a:p>
          <a:p>
            <a:r>
              <a:t>• content.yaml meta.source_ahn (licence: research: reports/dataset.md)</a:t>
            </a:r>
          </a:p>
          <a:p>
            <a:r>
              <a:t>• Book title and year: research: reports/book.md</a:t>
            </a:r>
          </a:p>
          <a:p>
            <a:r>
              <a:t>• Poux's videos used for B5 and B6: research: reports/videos.md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you can, and the libraries here already did; Open3D, SciPy's KDTree and VTK are C++ under the hood. What you pay in Python is a toll per call, so the question is not "Python or C++" but "how many calls". Write compiled code yourself only when there is no batched call for your step, or when you can't ship a Python runtime. Checked: the loops in pipeline/steps.py run over tiles and clusters, never over points.</a:t>
            </a:r>
          </a:p>
          <a:p/>
          <a:p>
            <a:r>
              <a:t>SOURCES AND STATUS:</a:t>
            </a:r>
          </a:p>
          <a:p>
            <a:r>
              <a:t>• Bullet 1 "The heavy steps already run in compiled code: Open3D and...": status verified; source: research: reports/libraries.md section 1 (native core column)</a:t>
            </a:r>
          </a:p>
          <a:p>
            <a:r>
              <a:t>• Bullet 2 "Python only orchestrates: no step loops over points, and...": status token; source: pipeline/run.py; results/pipeline.json runtime_s, runtime_note (load to paint-back, renders not included)</a:t>
            </a:r>
          </a:p>
          <a:p>
            <a:r>
              <a:t>• Bullet 3 "The price is per call, not per language: 439 ns per loop...": status token; source: results/bench_cliff.json plane.per_step_ns_loop, plane.per_point_ns_vectorised, knn.per_query_us_far, knn.per_query_us_far_knn, knn.k</a:t>
            </a:r>
          </a:p>
          <a:p>
            <a:r>
              <a:t>• Bullet 4 "Here only the batched call used all cores: kNN in one call...": status token; source: results/bench_cliff.json knn.one_call_1t, knn.one_call_all; research: reports/perf.md ('only the batched form can use workers=-1')</a:t>
            </a:r>
          </a:p>
          <a:p>
            <a:r>
              <a:t>• Bullet 5 "Compiled code pays off when your step has no batched call...": status judgement; source: storyboard.md B1; follows from the measured toll above, not benchmarked separately</a:t>
            </a:r>
          </a:p>
          <a:p>
            <a:r>
              <a:t>• Bullet 6 "It also pays off when Python itself is the constraint: hard...": status judgement; source: storyboard.md B1</a:t>
            </a:r>
          </a:p>
          <a:p>
            <a:r>
              <a:t>• Bullet 7 "NOT TESTED for this talk: Numba, Cython, writing your own...": status not_tested; source: scope of this talk; none of the research reports benchmarked them</a:t>
            </a:r>
          </a:p>
          <a:p>
            <a:r>
              <a:t>• Bullet 8 "The PCL code on slide 2 shows the shape only: NOT RUN (no...": status not_run; source: CONTRACTS.md (s02_pcl.cpp NOT RUN)</a:t>
            </a:r>
          </a:p>
          <a:p/>
          <a:p>
            <a:r>
              <a:t>STATUS KEY: judgement = reasoning, not a measurement; not_run = not run; not_tested = not tested;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Billions are real in AHN: the AHN4 edition of the file that contains this area has 1 290 104 537 points. The answer is the same three moves: read only the box you need (COPC), stream per-point work in chunks, and run neighbour steps on tiles with an overlap. The chunked read keeps exactly the points of a load-everything first-point reference (memory.json tile_1km.chunked_equals_reference: yes). The 0.1 m share is measured on the crop (pipeline.json); the memory pilot's own percentages were synthetic data and are not used here.</a:t>
            </a:r>
          </a:p>
          <a:p/>
          <a:p>
            <a:r>
              <a:t>SOURCES AND STATUS:</a:t>
            </a:r>
          </a:p>
          <a:p>
            <a:r>
              <a:t>• Bullet 1 "AHN files: 1 km file 135000_455000, 21 013 926 points (130...": status verified; source: results/memory.json tile_1km.points, big_file.points; results/research_facts.json tile_1km_file (local file size, research: notes/verify_facts.json), ahn5_c_31hz2 (HTTP Content-Range total and LAS header bounds), ahn4_c_31hz2 (LAS header; research: dataset/top_tile_headers.txt, reports/dataset.md)</a:t>
            </a:r>
          </a:p>
          <a:p>
            <a:r>
              <a:t>• Bullet 2 "LAS records alone: 25.9 GB at 30 B per point (format 6)...": status token; source: results/memory.json big_file.computed_gb, tile_1km.record_bytes, tile_1km.point_format; LAS 1.4 R16 and laspy.PointFormat(6).size (research: reports/memory.md, notes/verify_facts.json)</a:t>
            </a:r>
          </a:p>
          <a:p>
            <a:r>
              <a:t>• Bullet 3 "COPC: laspy's CopcReader reads one box over HTTP with...": status token; source: results/copc_remote.json points_half_open, same_points_as_local_crop, classes_equal_local, mb, requests, seconds (bench/copc_remote.py: the crop's RD box from the AHN5 file the talk uses); signatures re-checked in research: notes/verify_facts.json. The file's total size is in research_facts tile_1km_file</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for this pipeline, the GPU did not pay off. Only voxel downsampling got clearly faster on CUDA: 98 ms on the first call and 4.2 ms on the second, against 250 ms on CPU. Gotchas if you try it: .numpy() on a CUDA tensor raises RuntimeError (use .cpu().numpy()); PointCloud.from_legacy converts to float32 by default; the tensor segment_plane defaults (0.01, 3, 100, 0.999) differ from the legacy API. PyTorch3D is for training models on GPU tensors, not for a CPU pipeline on Python 3.13. All timings here are research single runs, not the final benchmark.</a:t>
            </a:r>
          </a:p>
          <a:p/>
          <a:p>
            <a:r>
              <a:t>SOURCES AND STATUS:</a:t>
            </a:r>
          </a:p>
          <a:p>
            <a:r>
              <a:t>• Bullet 1 "The open3d 0.20.0 wheel on PyPI is built with CUDA 12.6...": status verified; source: research: reports/libraries.md section 1; o3d._build_config re-checked in research: notes/verify_facts.json</a:t>
            </a:r>
          </a:p>
          <a:p>
            <a:r>
              <a:t>• Bullet 2 "Plane fitting and DBSCAN are barely faster (table): their...": status verified; source: research: reports/libraries.md (Open3D tensor API section)</a:t>
            </a:r>
          </a:p>
          <a:p>
            <a:r>
              <a:t>• Bullet 3 "PyTorch3D has no documented install for Python 3.13: PyPI's...": status verified; source: research: reports/libraries.md (PyPI JSON libraries/pypi/pytorch3d.json and torch.json, libraries/web/pt3d_INSTALL.md, libraries/web/pt3d_releases.json, fetched 2026-10-01)</a:t>
            </a:r>
          </a:p>
          <a:p>
            <a:r>
              <a:t>• Bullet 4 "Source build of v0.7.9 against torch 2.14.1 (CPU, gcc...": status verified; source: research: libraries/pt3d_build2.log, pt3d_build3_cxx20.log, pt3d_cxx20.patch (reports/libraries.md)</a:t>
            </a:r>
          </a:p>
          <a:p>
            <a:r>
              <a:t>• Bullet 5 "PyTorch3D knn_points on CPU, 100 000 × 100 000 points, k =...": status synthetic; source: results/research_facts.json pytorch3d_knn (research: libraries/07_torch_pytorch3d_interop.py, reports/libraries.md; a later single run in libraries/out_07_torch.txt gives similar values)</a:t>
            </a:r>
          </a:p>
          <a:p>
            <a:r>
              <a:t>• Bullet 6 "NOT TESTED: the Open3D wheel without a GPU or driver...": status not_tested; source: research: reports/libraries.md FLAG 4 and 7</a:t>
            </a:r>
          </a:p>
          <a:p>
            <a:r>
              <a:t>• Table row 1 "Voxel downsampling": status synthetic; source: results/research_facts.json open3d_tensor (research: libraries/03_open3d_tensor.py, out_03_open3d_tensor.txt, reports/libraries.md)</a:t>
            </a:r>
          </a:p>
          <a:p>
            <a:r>
              <a:t>• Table row 2 "segment_plane": status synthetic; source: results/research_facts.json open3d_tensor (research: libraries/03_open3d_tensor.py, out_03_open3d_tensor.txt, reports/libraries.md)</a:t>
            </a:r>
          </a:p>
          <a:p>
            <a:r>
              <a:t>• Table row 3 "cluster_dbscan": status synthetic; source: results/research_facts.json open3d_tensor (research: libraries/03_open3d_tensor.py, out_03_open3d_tensor.txt, reports/libraries.md)</a:t>
            </a:r>
          </a:p>
          <a:p/>
          <a:p>
            <a:r>
              <a:t>STATUS KEY: not_tested = not tested; synthetic = measured in a research run on generated data (a synthetic street or point cloud), not AHN;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the data structure matters less than the number of calls and the threads. In the synthetic pilot, Open3D's KDTreeFlann had a much cheaper call than SciPy, so a per-point loop over it was only modestly slower than Open3D's batched search on one thread; the big gap came from the batched search's default threads, so compare at equal threads. A uniform grid hash answers radius queries in the same complexity class as a tree (the pure-Python baseline of the synthetic pilot used one); it was not benchmarked as a vectorised method.</a:t>
            </a:r>
          </a:p>
          <a:p/>
          <a:p>
            <a:r>
              <a:t>SOURCES AND STATUS:</a:t>
            </a:r>
          </a:p>
          <a:p>
            <a:r>
              <a:t>• Table row 1 "SciPy KDTree, one call": status verified; source: results/bench_cliff.json knn; signatures in research: notes/verify_facts.json</a:t>
            </a:r>
          </a:p>
          <a:p>
            <a:r>
              <a:t>• Table row 2 "Open3D KDTreeFlann": status verified; source: methods re-checked in research: notes/verify_facts.json; per-point loop timings in research: reports/perf.md (synthetic)</a:t>
            </a:r>
          </a:p>
          <a:p>
            <a:r>
              <a:t>• Table row 3 "Open3D NearestNeighborSearch": status verified; source: research: reports/perf.md (variants E2 and E2_1t, verified gotchas); methods in notes/verify_facts.json</a:t>
            </a:r>
          </a:p>
          <a:p>
            <a:r>
              <a:t>• Table row 4 "Voxel grid hashing": status verified; source: research: reports/critic.md section 2 (1 M points), reports/perf.md voxel table; snippets/s21_chunked.py</a:t>
            </a:r>
          </a:p>
          <a:p>
            <a:r>
              <a:t>• Table row 5 "Octree (o3d.geometry.Octree)": status not_tested; source: API re-checked in research: notes/verify_facts.json (max_depth=8 accepted); in memory: the Open3D 0.20.0 Octree API is convert_from_point_cloud, insert_point, traverse, locate_leaf_node, to_voxel_grid, plus o3d.io.read_octree and write_octree (checked in the project venv, QA final round); out-of-core storage is the book's general octree material (research: reports/book.md), not Open3D; COPC stores an octree: laspy 2.7.0 laspy/copc.py (CopcInfo holds the octree centre, halved at each level; CopcReader.query takes a level); the book's octree timings state no hardware (UNVERIFIED, not used)</a:t>
            </a:r>
          </a:p>
          <a:p>
            <a:r>
              <a:t>• Bullet 1 "kNN, k = 16, 722 961 points: Python loop 9.6 s, one call...": status token; source: results/bench_cliff.json knn.k, knn.n, knn.loop, knn.one_call_1t, knn.one_call_all</a:t>
            </a:r>
          </a:p>
          <a:p>
            <a:r>
              <a:t>• Bullet 2 "So the loop costs 6.2× against one call on one thread, and...": status token; source: results/bench_cliff.json knn.factor_loop_vs_1t, knn.factor_loop_vs_all</a:t>
            </a:r>
          </a:p>
          <a:p>
            <a:r>
              <a:t>• Bullet 3 "Fixed cost per call: 3.2 µs for an empty radius query, 9.8...": status token; source: results/bench_cliff.json knn.per_query_us_far, knn.per_query_us_far_knn, knn.k, knn.per_query_us_typical</a:t>
            </a:r>
          </a:p>
          <a:p>
            <a:r>
              <a:t>• Bullet 4 "Not shown: a brute-force double loop, because it changes...": status verified; source: research: reports/critic.md C2</a:t>
            </a:r>
          </a:p>
          <a:p/>
          <a:p>
            <a:r>
              <a:t>STATUS KEY: not_tested = not tested;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against AHN's building class, on this area the forest scores higher, but read the table with the caveat. Balanced accuracy is 81 % for the forest with the eigenvalue features alone and 79 % with the rules' inputs added, against 66 % for the rules. Most of the gap is one thing: AHN files facades, and the horizontal stripes along the hall's floors, under class 1 ("other"), while my facade rule calls them building, so they count as errors. The forest learns AHN's convention from AHN's labels, which the rules never see: "the model copies AHN" is a fairer reading than "the model sees better". Poux's idea is still the right next step once you have labelled data from many places, and the eigenvalue features need no tuning per city. In this run the weights were: planarity 26 %, linearity 19 %, multiple return share 18 %, verticality 15 %. The Python lesson is the talk's lesson again: compute the features for all clusters in one batched eigh call, not in a loop. And remember Poux's box: a classifier trained on three classes will name a fourth thing with full confidence.</a:t>
            </a:r>
          </a:p>
          <a:p/>
          <a:p>
            <a:r>
              <a:t>SOURCES AND STATUS:</a:t>
            </a:r>
          </a:p>
          <a:p>
            <a:r>
              <a:t>• Bullet 1 "Idea from F. Poux (PCA + Random Forest): describe each...": status verified; source: research: reports/videos.md V3 (10:10 to 25:00); bench/eigen_features.py</a:t>
            </a:r>
          </a:p>
          <a:p>
            <a:r>
              <a:t>• Bullet 2 "In Python: one batched np.linalg.eigh over all 1 024...": status token; source: results/eigen_features.json n_clusters, timing.batched, timing.loop_over_clusters, timing.factor, features_identical_loop_vs_batched (verticality differs only where the eigenvector is arbitrary: verticality_differs_clusters)</a:t>
            </a:r>
          </a:p>
          <a:p>
            <a:r>
              <a:t>• Table row 1 "Four rules of slide 19": status token; source: results/eigen_features.json rules (rule 2 or 3 = building; tuned on this crop, in-sample)</a:t>
            </a:r>
          </a:p>
          <a:p>
            <a:r>
              <a:t>• Table row 2 "Random Forest, eigenvalue features": status token; source: results/eigen_features.json forest_eigen_only (GroupKFold on 50 m blocks, point weights)</a:t>
            </a:r>
          </a:p>
          <a:p>
            <a:r>
              <a:t>• Table row 3 "Random Forest, + the rules' inputs": status token; source: results/eigen_features.json forest_eigen_plus_rule_inputs (top, footprint, multiple return share added)</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start with AHN if your area is in the Netherlands; data/fetch_ahn5.py downloads one AHN file and cuts the crop, so change its tile name, expected size and crop box constants. Outside the Netherlands, OpenTopography and national portals such as France's LiDAR HD have the same kind of airborne LiDAR. Florent Poux's beginner video lists these and more. If you capture yourself with a phone, you get photogrammetry: dense and coloured, but one surface per pixel, so the multiple-return rule for trees will not work and you need another feature.</a:t>
            </a:r>
          </a:p>
          <a:p/>
          <a:p>
            <a:r>
              <a:t>SOURCES AND STATUS:</a:t>
            </a:r>
          </a:p>
          <a:p>
            <a:r>
              <a:t>• Table row 1 "AHN (ahn.nl)": status verified; source: data/DATA_LICENSE.md; research: reports/videos.md V1 (07:00, AHN viewer)</a:t>
            </a:r>
          </a:p>
          <a:p>
            <a:r>
              <a:t>• Table row 2 "3DBAG (3dbag.nl)": status judgement; source: 3dbag.nl reachable 2026-10-11; added for a Dutch audience, not from research: reports/videos.md</a:t>
            </a:r>
          </a:p>
          <a:p>
            <a:r>
              <a:t>• Table row 3 "OpenTopography": status verified; source: research: reports/videos.md V1 (04:50 to 06:00); opentopography.org reachable 2026-10-11</a:t>
            </a:r>
          </a:p>
          <a:p>
            <a:r>
              <a:t>• Table row 4 "National and city portals": status verified; source: research: reports/videos.md V1 (06:00 to 07:00); geoservices.ign.fr/lidarhd and opendata.vancouver.ca reachable 2026-10-11</a:t>
            </a:r>
          </a:p>
          <a:p>
            <a:r>
              <a:t>• Table row 5 "Open Heritage 3D": status verified; source: research: reports/videos.md V1 (07:00 to 07:40); openheritage3d.org reachable 2026-10-11</a:t>
            </a:r>
          </a:p>
          <a:p>
            <a:r>
              <a:t>• Table row 6 "Sketchfab, TurboSquid": status verified; source: research: reports/videos.md V1 (08:37 to 10:20)</a:t>
            </a:r>
          </a:p>
          <a:p>
            <a:r>
              <a:t>• Bullet 1 "Your own capture: photogrammetry (phone, camera) gives...": status verified; source: research: reports/videos.md V1 (12:30 to 16:00)</a:t>
            </a:r>
          </a:p>
          <a:p>
            <a:r>
              <a:t>• Bullet 2 "Only LiDAR returns several echoes per pulse: slide 19's...": status judgement; source: research: reports/videos.md V1 (photogrammetry matches images); pipeline/steps.py name, rule 1 (number_of_returns)</a:t>
            </a:r>
          </a:p>
          <a:p/>
          <a:p>
            <a:r>
              <a:t>STATUS KEY: judgement = reasoning, not a measurement;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Short answer: look at the date before you install. python-pcl and pylas are archived, pclpy has not moved for years, and several deep learning libraries for sparse point clouds have had no release for a long time. This is from release dates and the archived flag, not from trying them. Two install traps I found while checking: the newest PyTorch3D is not on PyPI, and the kaolin name on PyPI is a placeholder. If your pipeline needs one of the stale ones, pin the version and check the repository's issues first.</a:t>
            </a:r>
          </a:p>
          <a:p/>
          <a:p>
            <a:r>
              <a:t>SOURCES AND STATUS:</a:t>
            </a:r>
          </a:p>
          <a:p>
            <a:r>
              <a:t>• Table row 1 "python-pcl": status token; source: results/ecosystem.json by_id.python-pcl; deck/ecosystem/ecosystem.yaml python-pcl (GitHub archived flag, PyPI release date)</a:t>
            </a:r>
          </a:p>
          <a:p>
            <a:r>
              <a:t>• Table row 2 "pclpy": status token; source: results/ecosystem.json by_id.pclpy; ecosystem.yaml pclpy note (last push, last PyPI release)</a:t>
            </a:r>
          </a:p>
          <a:p>
            <a:r>
              <a:t>• Table row 3 "pylas": status token; source: results/ecosystem.json by_id.pylas; ecosystem.yaml pylas (archived, superseded by laspy)</a:t>
            </a:r>
          </a:p>
          <a:p>
            <a:r>
              <a:t>• Table row 4 "MinkowskiEngine": status token; source: results/ecosystem.json by_id.minkowskiengine; ecosystem.yaml minkowskiengine note</a:t>
            </a:r>
          </a:p>
          <a:p>
            <a:r>
              <a:t>• Table row 5 "TensorFlow Graphics": status token; source: results/ecosystem.json by_id.tf-graphics; ecosystem.yaml tf-graphics note</a:t>
            </a:r>
          </a:p>
          <a:p>
            <a:r>
              <a:t>• Table row 6 "OpenSfM": status token; source: results/ecosystem.json by_id.opensfm; ecosystem.yaml opensfm note (GitHub release against last push)</a:t>
            </a:r>
          </a:p>
          <a:p>
            <a:r>
              <a:t>• Table row 7 "MMDetection3D": status judgement; source: results/ecosystem.json by_id.mmdet3d; ecosystem.yaml mmdet3d note; the PyTorch compatibility advice is judgement, not tested</a:t>
            </a:r>
          </a:p>
          <a:p>
            <a:r>
              <a:t>• Bullet 1 "Of 119 libraries and applications checked, 87 released...": status token; source: results/ecosystem.json n_entries, by_status (12 months = active, 12 to 30 months = maintenance, older = stale; docs/ECOSYSTEM.md)</a:t>
            </a:r>
          </a:p>
          <a:p>
            <a:r>
              <a:t>• Bullet 2 "pip install can fetch the wrong thing: PyTorch3D's newest...": status verified; source: deck/ecosystem/ecosystem.yaml pytorch3d and kaolin notes (PyPI JSON against GitHub releases, checked 2026-10-11)</a:t>
            </a:r>
          </a:p>
          <a:p>
            <a:r>
              <a:t>• Bullet 3 "A release date is not quality: a finished library may be...": status judgement; source: judgement</a:t>
            </a:r>
          </a:p>
          <a:p/>
          <a:p>
            <a:r>
              <a:t>STATUS KEY: judgement = reasoning, not a measurement;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 Q&amp;A: Whatever the data, a 3D project goes round the same ring: acquire it, prepare it, explore it, analyse it, visualise it, ship it. The dark stages get the data, the blue ones understand it, the green ones deliver it. Under each stage is its Python tool: laspy reads, NumPy and Open3D prepare, Open3D and SciPy explore, PyVista shows. The dashed arrows are the real story: you loop back whenever the data surprises you. Today's pipeline is a small version of stages one to five.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A coordinate is three numbers plus a contract: which reference system, which units, which origin, which axis points up. Here the contract is RD New with NAP heights, in metres, and the file says so. The first point of our crop sits about a hundred and thirty-six kilometres east of RD's origin; subtract the header minimum and it's two hundred metres from ours. Same point, same metres, but now float32 can still resolve it to micrometres. The other silent trap is convention: LAS, GIS data and Blender are Z up, Unity is Y up and left-handed, and pyproj follows the authority's axis order unless you ask for x, y.</a:t>
            </a:r>
          </a:p>
          <a:p/>
          <a:p>
            <a:r>
              <a:t>WHY IT MATTERS: Frame errors raise no exception: points land in the wrong place, mirrored, or rounded to centimetres, and the code still runs.</a:t>
            </a:r>
          </a:p>
          <a:p/>
          <a:p>
            <a:r>
              <a:t>EXAMPLE: pyproj: Transformer.from_crs('EPSG:28992', 'EPSG:4326', always_xy=True) returns lon, lat; without always_xy, EPSG:4326 returns lat, lon. laspy: las.header.parse_crs() reads the CRS record; xyz = las.xyz - las.header.mins sets the local origin (slide 14).</a:t>
            </a:r>
          </a:p>
          <a:p/>
          <a:p>
            <a:r>
              <a:t>LIMITS AND DISAGREEMENTS:</a:t>
            </a:r>
          </a:p>
          <a:p>
            <a:r>
              <a:t>• Which axis is up, and handedness, differ between tools and file formats; read the docs of each tool you hand data to.</a:t>
            </a:r>
          </a:p>
          <a:p>
            <a:r>
              <a:t>• A local origin is only safe if you keep it with the data to go back to RD.</a:t>
            </a:r>
          </a:p>
          <a:p>
            <a:r>
              <a:t>• Whether float32 is enough depends on the extent and the precision you need, not on a rule.</a:t>
            </a:r>
          </a:p>
          <a:p/>
          <a:p>
            <a:r>
              <a:t>CITATIONS:</a:t>
            </a:r>
          </a:p>
          <a:p>
            <a:r>
              <a:t>• pyproj 3.7.2 Gotchas, Axis order changes in PROJ 6+ (pyproj4.github.io/pyproj/stable/gotchas.html, no date shown); Transformer always_xy</a:t>
            </a:r>
          </a:p>
          <a:p>
            <a:r>
              <a:t>• EPSG:7415 Amersfoort / RD New + NAP height (epsg.io/7415, a mirror of the EPSG dataset; epsg.org not fetched)</a:t>
            </a:r>
          </a:p>
          <a:p>
            <a:r>
              <a:t>• Unity 6.5 Manual, Quaternion: left-handed, Y up (docs.unity3d.com, no date shown); Blender Manual 2.91, Viewpoint: Z up (old manual version)</a:t>
            </a:r>
          </a:p>
          <a:p>
            <a:r>
              <a:t>• ASPRS LAS 1.4 R16, 2025-08-27 (github.com/ASPRSorg/LAS releases): int32 coordinates with scale and offset; laspy docs: X is raw, x is scaled</a:t>
            </a:r>
          </a:p>
          <a:p>
            <a:r>
              <a:t>• UNVERIFIED and left off the slide: Open3D's camera axis convention (not stated in the 0.20.0 API page)</a:t>
            </a:r>
          </a:p>
          <a:p/>
          <a:p>
            <a:r>
              <a:t>SOURCES AND STATUS:</a:t>
            </a:r>
          </a:p>
          <a:p>
            <a:r>
              <a:t>• Bullet 1 "AHN: RD New metres plus NAP heights, EPSG:7415, stored in...": status verified; source: results/pipeline.json crop.crs; research: reports/mental_models.md section 3</a:t>
            </a:r>
          </a:p>
          <a:p>
            <a:r>
              <a:t>• Bullet 2 "Subtract a local origin: float32 then resolves micrometres...": status token; source: results/concepts.json c2 (np.spacing of float32 at the first point's x); slide 14</a:t>
            </a:r>
          </a:p>
          <a:p>
            <a:r>
              <a:t>• Bullet 3 "Tools disagree on the up axis and on lat, lon order: check...": status verified; source: research: reports/mental_models.md section 3 (pyproj axis order; Unity Y up, Blender Z up)</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Registration, camera poses, georeferencing: they're all the same object, a rotation plus a shift, packed into one four by four matrix so you can chain them by multiplying. The catch is the order. Rotating then shifting puts the house to the right; shifting then rotating swings it around the origin and it ends up somewhere else. Same two numbers, different answer, no error. Write down which frame each matrix maps from and to, and apply it to the whole array in one call.</a:t>
            </a:r>
          </a:p>
          <a:p/>
          <a:p>
            <a:r>
              <a:t>WHY IT MATTERS: Every alignment step (registration, sensor to world, scan to map) is a chain of transforms; a swapped order or angle convention moves the data silently.</a:t>
            </a:r>
          </a:p>
          <a:p/>
          <a:p>
            <a:r>
              <a:t>EXAMPLE: NumPy: P_world = P @ R.T + t. Open3D: pcd.transform(T) with a 4 by 4 array; ICP returns such a T. SciPy: Rotation.from_euler('xyz', angles, degrees=True).as_matrix(), where lowercase means extrinsic axes and uppercase intrinsic.</a:t>
            </a:r>
          </a:p>
          <a:p/>
          <a:p>
            <a:r>
              <a:t>LIMITS AND DISAGREEMENTS:</a:t>
            </a:r>
          </a:p>
          <a:p>
            <a:r>
              <a:t>• Row-vector code (P @ M) and column-vector maths (M @ p) write the same transform transposed; mixing them is a classic bug.</a:t>
            </a:r>
          </a:p>
          <a:p>
            <a:r>
              <a:t>• Scale and shear make a transform affine, not rigid; normals then need the inverse transpose.</a:t>
            </a:r>
          </a:p>
          <a:p/>
          <a:p>
            <a:r>
              <a:t>CITATIONS:</a:t>
            </a:r>
          </a:p>
          <a:p>
            <a:r>
              <a:t>• Open3D 0.20.0 transformation tutorial and Geometry3D.transform (4 by 4 matrix), open3d.org/docs/latest (no date shown)</a:t>
            </a:r>
          </a:p>
          <a:p>
            <a:r>
              <a:t>• SciPy 1.18.0 Rotation.from_euler: uppercase intrinsic, lowercase extrinsic, no mixing (docs.scipy.org)</a:t>
            </a:r>
          </a:p>
          <a:p>
            <a:r>
              <a:t>• SciPy RigidTransform, added in SciPy 1.16.0 (2025-06-22): when composing transforms, the order is important</a:t>
            </a:r>
          </a:p>
          <a:p/>
          <a:p>
            <a:r>
              <a:t>SOURCES AND STATUS:</a:t>
            </a:r>
          </a:p>
          <a:p>
            <a:r>
              <a:t>• Bullet 1 "Rigid transform: rotation R and shift t in one homogeneous...": status verified; source: research: reports/mental_models.md section 4</a:t>
            </a:r>
          </a:p>
          <a:p>
            <a:r>
              <a:t>• Bullet 2 "Apply it to all points at once: P @ R.T + t, or...": status verified; source: research: reports/mental_models.md section 4 (Open3D transform)</a:t>
            </a:r>
          </a:p>
          <a:p>
            <a:r>
              <a:t>• Bullet 3 "Euler angles hide a convention: SciPy's 'xyz' and 'XYZ'...": status verified; source: research: reports/mental_models.md section 4 (SciPy Rotation, extrinsic and intrinsic)</a:t>
            </a:r>
          </a:p>
          <a:p/>
          <a:p>
            <a:r>
              <a:t>STATUS KEY: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A point cloud stores no neighbours, so every normal, curvature or eigenvalue feature starts with a choice: which points count as near. This chart is a synthetic roof at our density. Far from the ridge, a bigger neighbourhood just averages the noise away. Near the ridge, it helps up to about half a metre and then starts mixing in the other roof face, and the normal tilts. There is no universal radius: it depends on point spacing, noise and the size of the things you care about. DBSCAN's eps and the voxel size are the same decision in disguise.</a:t>
            </a:r>
          </a:p>
          <a:p/>
          <a:p>
            <a:r>
              <a:t>WHY IT MATTERS: Normals, features, clustering and ground filters all depend on the neighbourhood; a radius tuned on one data set can fail on another density.</a:t>
            </a:r>
          </a:p>
          <a:p/>
          <a:p>
            <a:r>
              <a:t>EXAMPLE: Open3D: pcd.estimate_normals(o3d.geometry.KDTreeSearchParamHybrid(radius=0.5, max_nn=30)); SciPy: KDTree(P).query_ball_point(P, r) for all points in one call. Analogy: judging the slope of a street from one paving stone versus the whole neighbourhood.</a:t>
            </a:r>
          </a:p>
          <a:p/>
          <a:p>
            <a:r>
              <a:t>LIMITS AND DISAGREEMENTS:</a:t>
            </a:r>
          </a:p>
          <a:p>
            <a:r>
              <a:t>• Synthetic data: the best radius here (about 0.5 m) is not a recommendation for other scans.</a:t>
            </a:r>
          </a:p>
          <a:p>
            <a:r>
              <a:t>• Demantke et al. (2011) and Mitra and Nguyen (2003) choose the neighbourhood size per point instead of one global value; Weinmann et al. (2015) build on this for classification (their method detail UNVERIFIED here, paywalled).</a:t>
            </a:r>
          </a:p>
          <a:p>
            <a:r>
              <a:t>• kNN neighbourhoods adapt to density, radius neighbourhoods keep a physical size; which is better depends on how uneven the density is (slide 30).</a:t>
            </a:r>
          </a:p>
          <a:p/>
          <a:p>
            <a:r>
              <a:t>CITATIONS:</a:t>
            </a:r>
          </a:p>
          <a:p>
            <a:r>
              <a:t>• Mitra and Nguyen: Estimating surface normals in noisy point cloud data, SoCG 2003, doi 10.1145/777792.777840: accuracy depends on noise, curvature, density and neighbourhood size</a:t>
            </a:r>
          </a:p>
          <a:p>
            <a:r>
              <a:t>• Hoppe et al.: Surface reconstruction from unorganized points, SIGGRAPH 1992, doi 10.1145/142920.134011: normal from a plane fit to k neighbours</a:t>
            </a:r>
          </a:p>
          <a:p>
            <a:r>
              <a:t>• Demantke et al.: Dimensionality based scale selection in 3D LiDAR point clouds, ISPRS Archives XXXVIII-5/W12, 2011</a:t>
            </a:r>
          </a:p>
          <a:p>
            <a:r>
              <a:t>• Weinmann et al.: optimal neighborhoods, ISPRS J. 105, July 2015, doi 10.1016/j.isprsjprs.2015.01.016 (metadata verified; method summary UNVERIFIED, paywalled)</a:t>
            </a:r>
          </a:p>
          <a:p>
            <a:r>
              <a:t>• Open3D point cloud tutorial, estimate_normals with KDTreeSearchParamHybrid (its 0.1 m radius suits indoor scans, not AHN spacing)</a:t>
            </a:r>
          </a:p>
          <a:p/>
          <a:p>
            <a:r>
              <a:t>SOURCES AND STATUS:</a:t>
            </a:r>
          </a:p>
          <a:p>
            <a:r>
              <a:t>• Bullet 1 "Too small: a few noisy points, unstable normals and...": status token; source: results/concepts.json c4.error_smallest_radius_deg; research: reports/mental_models.md section 5</a:t>
            </a:r>
          </a:p>
          <a:p>
            <a:r>
              <a:t>• Bullet 2 "Too large: the neighbourhood crosses edges and blurs them.": status token; source: results/concepts.json c4.ridge_error_largest_radius_deg; research: reports/mental_models.md section 5 (Mitra and Nguyen)</a:t>
            </a:r>
          </a:p>
          <a:p>
            <a:r>
              <a:t>• Bullet 3 "Tie the radius to point spacing; eps on slide 18 and the...": status judgement; source: judgement; slides 16 and 18</a:t>
            </a:r>
          </a:p>
          <a:p/>
          <a:p>
            <a:r>
              <a:t>STATUS KEY: judgement = reasoning, not a measurement; token = filled from results/*.json.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Before you ask how fast, ask how it grows. Storing the points is linear: twenty-four bytes per point for float64 xyz, so even the big AHN file is about twenty gigabytes. Anything that compares every point with every other point is quadratic, and that line crosses our RAM before a hundred thousand points; for this crop it would be terabytes. That's why neighbour search goes through a tree or a grid, and why the RAM section of the talk streams chunks instead of loading everything. Big-O first, then the constant factors from the performance section.</a:t>
            </a:r>
          </a:p>
          <a:p/>
          <a:p>
            <a:r>
              <a:t>WHY IT MATTERS: Scale decides feasibility before speed does; a correct method that is quadratic in N simply cannot run on real scans.</a:t>
            </a:r>
          </a:p>
          <a:p/>
          <a:p>
            <a:r>
              <a:t>EXAMPLE: scipy.spatial.distance.pdist(P) on the crop would need terabytes; KDTree(P).query(P, k=8, workers=-1) does the neighbour job in one batched call. laspy.open(path).chunk_iterator(1_000_000) streams a file (B2).</a:t>
            </a:r>
          </a:p>
          <a:p/>
          <a:p>
            <a:r>
              <a:t>LIMITS AND DISAGREEMENTS:</a:t>
            </a:r>
          </a:p>
          <a:p>
            <a:r>
              <a:t>• Complexity classes hide constants: an N log N method with a Python loop per point can still lose (slides 24 to 26).</a:t>
            </a:r>
          </a:p>
          <a:p>
            <a:r>
              <a:t>• KD-trees degrade towards linear query time in high dimensions; in 3D they behave well.</a:t>
            </a:r>
          </a:p>
          <a:p/>
          <a:p>
            <a:r>
              <a:t>CITATIONS:</a:t>
            </a:r>
          </a:p>
          <a:p>
            <a:r>
              <a:t>• Bentley: Multidimensional binary search trees, CACM 18(9), Sept 1975, doi 10.1145/361002.361007</a:t>
            </a:r>
          </a:p>
          <a:p>
            <a:r>
              <a:t>• Friedman, Bentley, Finkel: logarithmic expected time best matches, ACM TOMS 3(3), 1977, doi 10.1145/355744.355745</a:t>
            </a:r>
          </a:p>
          <a:p>
            <a:r>
              <a:t>• SciPy 1.18.0 KDTree docs: no Big-O stated; do not expect speed-ups in high dimensions</a:t>
            </a:r>
          </a:p>
          <a:p>
            <a:r>
              <a:t>• laspy docs, chunk_iterator; PDAL docs, Pipeline stream mode (pdal.io, no date shown)</a:t>
            </a:r>
          </a:p>
          <a:p>
            <a:r>
              <a:t>• Pairwise memory N squared × 8 B: arithmetic, no citation needed</a:t>
            </a:r>
          </a:p>
          <a:p/>
          <a:p>
            <a:r>
              <a:t>SOURCES AND STATUS:</a:t>
            </a:r>
          </a:p>
          <a:p>
            <a:r>
              <a:t>• Bullet 1 "This crop's pairwise distances: 3 894 GB. Its xyz: well...": status token; source: results/concepts.json c6.pairwise_gb_crop (crop points squared × 8 B)</a:t>
            </a:r>
          </a:p>
          <a:p>
            <a:r>
              <a:t>• Bullet 2 "Trees and grids keep neighbour search near N log N.": status verified; source: research: reports/mental_models.md section 7 (KD-tree complexity)</a:t>
            </a:r>
          </a:p>
          <a:p>
            <a:r>
              <a:t>• Bullet 3 "Past RAM, stream: chunks, tiles and COPC boxes (B2).": status verified; source: B2; research: reports/mental_models.md section 7 (laspy chunk_iterator, PDAL streaming)</a:t>
            </a:r>
          </a:p>
          <a:p/>
          <a:p>
            <a:r>
              <a:t>STATUS KEY: token = filled from results/*.json;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This is the slide that separates what lasts from what changes. Points, surfaces, grids, transforms and neighbourhoods are the ideas; each library spells them differently. If you know the idea, switching from Open3D to PyVista or trimesh is a lookup, not a relearning. And NumPy arrays are how they talk to each other, with the copy or view question from slide 15 at every hand-off.</a:t>
            </a:r>
          </a:p>
          <a:p/>
          <a:p>
            <a:r>
              <a:t>WHY IT MATTERS: Tools come and go (backup B7 lists the stale ones); the concepts transfer, and they are what you debug with.</a:t>
            </a:r>
          </a:p>
          <a:p/>
          <a:p>
            <a:r>
              <a:t>EXAMPLE: The same 4 by 4 matrix T works in Open3D pcd.transform(T), PyVista mesh.transform(T) and trimesh mesh.apply_transform(T).</a:t>
            </a:r>
          </a:p>
          <a:p/>
          <a:p>
            <a:r>
              <a:t>LIMITS AND DISAGREEMENTS:</a:t>
            </a:r>
          </a:p>
          <a:p>
            <a:r>
              <a:t>• Not a ranking: each library has strengths the table does not show (Open3D: registration and reconstruction; PyVista: VTK filters and rendering; trimesh: mesh repair and queries).</a:t>
            </a:r>
          </a:p>
          <a:p>
            <a:r>
              <a:t>• PyVista's transform returns a new object or works in place depending on version and arguments; check the docs of your version.</a:t>
            </a:r>
          </a:p>
          <a:p/>
          <a:p>
            <a:r>
              <a:t>CITATIONS:</a:t>
            </a:r>
          </a:p>
          <a:p>
            <a:r>
              <a:t>• NumPy 2.5 manual, Interoperability with NumPy (buffer protocol, __array_interface__, DLPack)</a:t>
            </a:r>
          </a:p>
          <a:p>
            <a:r>
              <a:t>• PyPI release dates checked 2026-10-12: Open3D 0.20.0 (2026-09-16, 20 months after 0.19.0), PyVista 0.49.1 (2026-10-11), laspy 2.7.0 (2026-01-14), trimesh 5.1.1 (2026-10-02), pdal 3.5.5 (2026-07-31)</a:t>
            </a:r>
          </a:p>
          <a:p>
            <a:r>
              <a:t>• Zhou, Park, Koltun: Open3D, arXiv 1801.09847, 2018-01-30; Sullivan and Kaszynski: PyVista, JOSS 4(37) 1450, 2019-05-19</a:t>
            </a:r>
          </a:p>
          <a:p/>
          <a:p>
            <a:r>
              <a:t>SOURCES AND STATUS:</a:t>
            </a:r>
          </a:p>
          <a:p>
            <a:r>
              <a:t>• Table row 1 "Points as an N×3 array": status verified; source: checked in the project venv 2026-10-12 (open3d 0.20.0, pyvista 0.49.0, trimesh 5.1.0); research: reports/mental_models.md section 8</a:t>
            </a:r>
          </a:p>
          <a:p>
            <a:r>
              <a:t>• Table row 2 "Surface with connectivity": status verified; source: checked in the project venv 2026-10-12; research: reports/mental_models.md section 1</a:t>
            </a:r>
          </a:p>
          <a:p>
            <a:r>
              <a:t>• Table row 3 "Regular grid of cells": status verified; source: checked in the project venv 2026-10-12 (hasattr on each name)</a:t>
            </a:r>
          </a:p>
          <a:p>
            <a:r>
              <a:t>• Table row 4 "Rigid transform, 4 by 4": status verified; source: checked in the project venv 2026-10-12 (hasattr on each name)</a:t>
            </a:r>
          </a:p>
          <a:p>
            <a:r>
              <a:t>• Table row 5 "Neighbourhoods": status verified; source: Open3D and trimesh names checked in the project venv; research: reports/mental_models.md section 5</a:t>
            </a:r>
          </a:p>
          <a:p>
            <a:r>
              <a:t>• Bullet 1 "NumPy is the common language: every row converts with...": status verified; source: slide 15; results/python_facts.json; research: reports/mental_models.md section 8</a:t>
            </a:r>
          </a:p>
          <a:p>
            <a:r>
              <a:t>• Bullet 2 "Learn the idea once; map it to whichever library the job...": status judgement; source: judgement; slide 13</a:t>
            </a:r>
          </a:p>
          <a:p/>
          <a:p>
            <a:r>
              <a:t>STATUS KEY: judgement = reasoning, not a measurement;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How to use this section. The ranking is for a mixed audience: first the ideas without which the pipeline makes no sense, last the ones that matter once you build your own. In a longer slot, unhide C2 after slide 14 and C4 after slide 18; each needs about a minute. In the 30 minute version, use them in Q&amp;A, and say the one line in the third column at the slide named in the last column.</a:t>
            </a:r>
          </a:p>
          <a:p/>
          <a:p>
            <a:r>
              <a:t>LIMITS AND DISAGREEMENTS:</a:t>
            </a:r>
          </a:p>
          <a:p>
            <a:r>
              <a:t>• The ranking is judgement for an introductory audience; a robotics or graphics audience would put transforms (C3) and meshes (C1) first.</a:t>
            </a:r>
          </a:p>
          <a:p/>
          <a:p>
            <a:r>
              <a:t>CITATIONS:</a:t>
            </a:r>
          </a:p>
          <a:p>
            <a:r>
              <a:t>• Poux: 3D Data Science with Python, O'Reilly, 2025, for a book-length treatment (retailers disagree on the exact date)</a:t>
            </a:r>
          </a:p>
          <a:p>
            <a:r>
              <a:t>• Guo et al. survey, TPAMI Dec 2021, for the deep learning side not covered here</a:t>
            </a:r>
          </a:p>
          <a:p/>
          <a:p>
            <a:r>
              <a:t>SOURCES AND STATUS:</a:t>
            </a:r>
          </a:p>
          <a:p>
            <a:r>
              <a:t>• Table row 1 "1": status judgement; source: slides 8 and 10</a:t>
            </a:r>
          </a:p>
          <a:p>
            <a:r>
              <a:t>• Table row 2 "2": status judgement; source: C2</a:t>
            </a:r>
          </a:p>
          <a:p>
            <a:r>
              <a:t>• Table row 3 "3": status judgement; source: C4</a:t>
            </a:r>
          </a:p>
          <a:p>
            <a:r>
              <a:t>• Table row 4 "4": status judgement; source: C5</a:t>
            </a:r>
          </a:p>
          <a:p>
            <a:r>
              <a:t>• Table row 5 "5": status judgement; source: C6</a:t>
            </a:r>
          </a:p>
          <a:p>
            <a:r>
              <a:t>• Table row 6 "6": status judgement; source: C1</a:t>
            </a:r>
          </a:p>
          <a:p>
            <a:r>
              <a:t>• Table row 7 "7": status judgement; source: C3</a:t>
            </a:r>
          </a:p>
          <a:p>
            <a:r>
              <a:t>• Bullet 1 "Narrative: what the data is (1, 6), where it is (2, 7)...": status judgement; source: judgement</a:t>
            </a:r>
          </a:p>
          <a:p>
            <a:r>
              <a:t>• Bullet 2 "In the 30 minute slot the main deck carries 1, 4 and 6 in...": status judgement; source: docs/TIMING.md; judgement</a:t>
            </a:r>
          </a:p>
          <a:p/>
          <a:p>
            <a:r>
              <a:t>STATUS KEY: judgement = reasoning,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Reference slide for Q&amp;A and for the handout. Every term is used with exactly this meaning in the talk; tile means the processing squares only, and AHN file means a download.</a:t>
            </a:r>
          </a:p>
          <a:p/>
          <a:p>
            <a:r>
              <a:t>CITATIONS:</a:t>
            </a:r>
          </a:p>
          <a:p>
            <a:r>
              <a:t>• COPC 1.0 specification (copc.io, 2021, no exact date): a LAZ 1.4 file organised as a clustered octree</a:t>
            </a:r>
          </a:p>
          <a:p>
            <a:r>
              <a:t>• ASPRS LAS 1.4 R16 (2025-08-27); LAS 1.5 R00 approved Aug 2025 (lasformat.org)</a:t>
            </a:r>
          </a:p>
          <a:p/>
          <a:p>
            <a:r>
              <a:t>SOURCES AND STATUS:</a:t>
            </a:r>
          </a:p>
          <a:p>
            <a:r>
              <a:t>• Table row 1 "Point cloud": status verified; source: research: reports/mental_models.md section 1</a:t>
            </a:r>
          </a:p>
          <a:p>
            <a:r>
              <a:t>• Table row 2 "Mesh": status verified; source: research: reports/mental_models.md section 1</a:t>
            </a:r>
          </a:p>
          <a:p>
            <a:r>
              <a:t>• Table row 3 "Voxel": status verified; source: research: reports/mental_models.md section 1; slide 16</a:t>
            </a:r>
          </a:p>
          <a:p>
            <a:r>
              <a:t>• Table row 4 "CRS": status verified; source: research: reports/mental_models.md section 3</a:t>
            </a:r>
          </a:p>
          <a:p>
            <a:r>
              <a:t>• Table row 5 "Rigid transform": status verified; source: research: reports/mental_models.md section 4</a:t>
            </a:r>
          </a:p>
          <a:p>
            <a:r>
              <a:t>• Table row 6 "Neighbourhood": status verified; source: research: reports/mental_models.md section 5</a:t>
            </a:r>
          </a:p>
          <a:p>
            <a:r>
              <a:t>• Table row 7 "Normal": status verified; source: research: reports/mental_models.md section 5</a:t>
            </a:r>
          </a:p>
          <a:p>
            <a:r>
              <a:t>• Table row 8 "Density": status verified; source: research: reports/mental_models.md section 6</a:t>
            </a:r>
          </a:p>
          <a:p>
            <a:r>
              <a:t>• Table row 9 "LAS, LAZ, COPC": status verified; source: research: reports/mental_models.md section 2</a:t>
            </a:r>
          </a:p>
          <a:p>
            <a:r>
              <a:t>• Table row 10 "Return": status verified; source: slide 19; research: reports/mental_models.md section 6</a:t>
            </a:r>
          </a:p>
          <a:p/>
          <a:p>
            <a:r>
              <a:t>STATUS KEY: verified = checked in a research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type="title">
  <p:cSld name="Title">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1600200"/>
            <a:ext cx="502920" cy="64008"/>
          </a:xfrm>
          <a:prstGeom prst="rect">
            <a:avLst/>
          </a:prstGeom>
          <a:solidFill>
            <a:schemeClr val="accent2"/>
          </a:solidFill>
          <a:ln>
            <a:noFill/>
          </a:ln>
        </p:spPr>
      </p:sp>
      <p:sp>
        <p:nvSpPr>
          <p:cNvPr id="3" name="Title"/>
          <p:cNvSpPr>
            <a:spLocks noGrp="1"/>
          </p:cNvSpPr>
          <p:nvPr>
            <p:ph type="ctrTitle"/>
          </p:nvPr>
        </p:nvSpPr>
        <p:spPr>
          <a:xfrm>
            <a:off x="548640" y="1783080"/>
            <a:ext cx="11094720" cy="91440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5400">
                <a:solidFill>
                  <a:schemeClr val="bg1"/>
                </a:solidFill>
              </a:defRPr>
            </a:lvl1pPr>
          </a:lstStyle>
          <a:p>
            <a:r>
              <a:rPr lang="en-GB" dirty="0"/>
              <a:t>Talk title</a:t>
            </a:r>
            <a:endParaRPr lang="en-GB" dirty="0"/>
          </a:p>
        </p:txBody>
      </p:sp>
      <p:sp>
        <p:nvSpPr>
          <p:cNvPr id="4" name="Subtitle"/>
          <p:cNvSpPr>
            <a:spLocks noGrp="1"/>
          </p:cNvSpPr>
          <p:nvPr>
            <p:ph type="subTitle" idx="1"/>
          </p:nvPr>
        </p:nvSpPr>
        <p:spPr>
          <a:xfrm>
            <a:off x="548640" y="2926080"/>
            <a:ext cx="9601200" cy="86868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400">
                <a:solidFill>
                  <a:schemeClr val="accent2"/>
                </a:solidFill>
                <a:latin typeface="Fira Mono" panose="020B0509050000020004" pitchFamily="49" charset="0"/>
              </a:defRPr>
            </a:lvl1pPr>
          </a:lstStyle>
          <a:p>
            <a:r>
              <a:rPr lang="en-GB" dirty="0"/>
              <a:t>Subtitle or code line, two lines of Fira Mono 24 pt</a:t>
            </a:r>
            <a:endParaRPr lang="en-GB" dirty="0"/>
          </a:p>
        </p:txBody>
      </p:sp>
      <p:sp>
        <p:nvSpPr>
          <p:cNvPr id="5" name="Presenter"/>
          <p:cNvSpPr>
            <a:spLocks noGrp="1"/>
          </p:cNvSpPr>
          <p:nvPr>
            <p:ph type="body" idx="13"/>
          </p:nvPr>
        </p:nvSpPr>
        <p:spPr>
          <a:xfrm>
            <a:off x="548640" y="5212080"/>
            <a:ext cx="8168640" cy="10972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600"/>
              </a:spcAft>
              <a:buNone/>
              <a:defRPr lang="en-GB" sz="2400">
                <a:solidFill>
                  <a:schemeClr val="bg1"/>
                </a:solidFill>
              </a:defRPr>
            </a:lvl1pPr>
          </a:lstStyle>
          <a:p>
            <a:r>
              <a:rPr lang="en-GB" dirty="0"/>
              <a:t>Speaker name · role · repo URL</a:t>
            </a:r>
            <a:endParaRPr lang="en-GB" dirty="0"/>
          </a:p>
        </p:txBody>
      </p:sp>
      <p:sp>
        <p:nvSpPr>
          <p:cNvPr id="6" name="Logo zone"/>
          <p:cNvSpPr>
            <a:spLocks noGrp="1"/>
          </p:cNvSpPr>
          <p:nvPr>
            <p:ph type="pic" idx="16"/>
          </p:nvPr>
        </p:nvSpPr>
        <p:spPr>
          <a:xfrm>
            <a:off x="8991600" y="5120640"/>
            <a:ext cx="2651760" cy="118872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PyCon NL logo (file and permission pending)</a:t>
            </a:r>
            <a:endParaRPr lang="en-GB" dirty="0"/>
          </a:p>
        </p:txBody>
      </p:sp>
    </p:spTree>
  </p:cSld>
  <p:clrMapOvr>
    <a:overrideClrMapping bg1="lt1" tx1="dk1" bg2="lt2" tx2="dk2" accent1="accent1" accent2="accent2" accent3="accent3" accent4="accent4" accent5="accent5" accent6="accent6" hlink="accent2" folHlink="accent2"/>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Agenda list"/>
          <p:cNvSpPr>
            <a:spLocks noGrp="1"/>
          </p:cNvSpPr>
          <p:nvPr>
            <p:ph idx="1"/>
          </p:nvPr>
        </p:nvSpPr>
        <p:spPr>
          <a:xfrm>
            <a:off x="548640" y="1554480"/>
            <a:ext cx="11094720" cy="4663152"/>
          </a:xfrm>
        </p:spPr>
        <p:txBody>
          <a:bodyPr vert="horz" wrap="square" lIns="0" tIns="0" rIns="0" bIns="0" rtlCol="0" anchor="t">
            <a:noAutofit/>
          </a:bodyPr>
          <a:lstStyle>
            <a:lvl1pPr marL="457200" indent="-457200" algn="l" defTabSz="457200" rtl="0" eaLnBrk="1" latinLnBrk="0" hangingPunct="1">
              <a:lnSpc>
                <a:spcPct val="100000"/>
              </a:lnSpc>
              <a:spcBef>
                <a:spcPts val="0"/>
              </a:spcBef>
              <a:spcAft>
                <a:spcPts val="1000"/>
              </a:spcAft>
              <a:buClr>
                <a:schemeClr val="accent1"/>
              </a:buClr>
              <a:buFont typeface="+mj-lt"/>
              <a:buAutoNum type="arabicPeriod"/>
              <a:defRPr lang="en-GB" sz="2400"/>
            </a:lvl1pPr>
          </a:lstStyle>
          <a:p>
            <a:r>
              <a:rPr lang="en-GB" dirty="0"/>
              <a:t>Agenda item</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type="secHead">
  <p:cSld name="Section">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2377440"/>
            <a:ext cx="502920" cy="64008"/>
          </a:xfrm>
          <a:prstGeom prst="rect">
            <a:avLst/>
          </a:prstGeom>
          <a:solidFill>
            <a:schemeClr val="accent2"/>
          </a:solidFill>
          <a:ln>
            <a:noFill/>
          </a:ln>
        </p:spPr>
      </p:sp>
      <p:sp>
        <p:nvSpPr>
          <p:cNvPr id="3" name="Title"/>
          <p:cNvSpPr>
            <a:spLocks noGrp="1"/>
          </p:cNvSpPr>
          <p:nvPr>
            <p:ph type="title"/>
          </p:nvPr>
        </p:nvSpPr>
        <p:spPr>
          <a:xfrm>
            <a:off x="548640" y="2560320"/>
            <a:ext cx="11094720" cy="91440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4400">
                <a:solidFill>
                  <a:schemeClr val="bg1"/>
                </a:solidFill>
              </a:defRPr>
            </a:lvl1pPr>
          </a:lstStyle>
          <a:p>
            <a:r>
              <a:rPr lang="en-GB" dirty="0"/>
              <a:t>Section title</a:t>
            </a:r>
            <a:endParaRPr lang="en-GB" dirty="0"/>
          </a:p>
        </p:txBody>
      </p:sp>
      <p:sp>
        <p:nvSpPr>
          <p:cNvPr id="4" name="Section line"/>
          <p:cNvSpPr>
            <a:spLocks noGrp="1"/>
          </p:cNvSpPr>
          <p:nvPr>
            <p:ph type="body" idx="1"/>
          </p:nvPr>
        </p:nvSpPr>
        <p:spPr>
          <a:xfrm>
            <a:off x="548640" y="3611880"/>
            <a:ext cx="11094720" cy="82296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400">
                <a:solidFill>
                  <a:schemeClr val="accent2"/>
                </a:solidFill>
              </a:defRPr>
            </a:lvl1pPr>
          </a:lstStyle>
          <a:p>
            <a:r>
              <a:rPr lang="en-GB" dirty="0"/>
              <a:t>What this section answers</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2"/>
                </a:solidFill>
              </a:defRPr>
            </a:lvl1pPr>
          </a:lstStyle>
          <a:p>
            <a:fld id="{B6F15528-21DE-4FAA-801E-634DDDAF4B2B}" type="slidenum">
              <a:rPr lang="en-GB"/>
              <a:t>‹#›</a:t>
            </a:fld>
            <a:endParaRPr lang="en-GB" dirty="0"/>
          </a:p>
        </p:txBody>
      </p:sp>
    </p:spTree>
  </p:cSld>
  <p:clrMapOvr>
    <a:overrideClrMapping bg1="lt1" tx1="dk1" bg2="lt2" tx2="dk2" accent1="accent1" accent2="accent2" accent3="accent3" accent4="accent4" accent5="accent5" accent6="accent6" hlink="accent2" folHlink="accent2"/>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type="obj">
  <p:cSld name="Title and conten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Content"/>
          <p:cNvSpPr>
            <a:spLocks noGrp="1"/>
          </p:cNvSpPr>
          <p:nvPr>
            <p:ph idx="1"/>
          </p:nvPr>
        </p:nvSpPr>
        <p:spPr>
          <a:xfrm>
            <a:off x="548640" y="1554480"/>
            <a:ext cx="11094720" cy="4663152"/>
          </a:xfrm>
        </p:spPr>
        <p:txBody>
          <a:bodyPr vert="horz" wrap="square" lIns="0" tIns="0" rIns="0" bIns="0" rtlCol="0" anchor="t">
            <a:noAutofit/>
          </a:bodyPr>
          <a:lstStyle/>
          <a:p>
            <a:r>
              <a:rPr lang="en-GB" dirty="0"/>
              <a:t>Content: one visual, or body text at 24 pt</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type="twoObj">
  <p:cSld name="Two columns">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Left column"/>
          <p:cNvSpPr>
            <a:spLocks noGrp="1"/>
          </p:cNvSpPr>
          <p:nvPr>
            <p:ph idx="1"/>
          </p:nvPr>
        </p:nvSpPr>
        <p:spPr>
          <a:xfrm>
            <a:off x="548640" y="1554480"/>
            <a:ext cx="5318760" cy="4663152"/>
          </a:xfrm>
        </p:spPr>
        <p:txBody>
          <a:bodyPr vert="horz" wrap="square" lIns="0" tIns="0" rIns="0" bIns="0" rtlCol="0" anchor="t">
            <a:noAutofit/>
          </a:bodyPr>
          <a:lstStyle/>
          <a:p>
            <a:r>
              <a:rPr lang="en-GB" dirty="0"/>
              <a:t>Left column</a:t>
            </a:r>
            <a:endParaRPr lang="en-GB" dirty="0"/>
          </a:p>
        </p:txBody>
      </p:sp>
      <p:sp>
        <p:nvSpPr>
          <p:cNvPr id="5" name="Right column"/>
          <p:cNvSpPr>
            <a:spLocks noGrp="1"/>
          </p:cNvSpPr>
          <p:nvPr>
            <p:ph idx="2"/>
          </p:nvPr>
        </p:nvSpPr>
        <p:spPr>
          <a:xfrm>
            <a:off x="6324600" y="1554480"/>
            <a:ext cx="5318760" cy="4663152"/>
          </a:xfrm>
        </p:spPr>
        <p:txBody>
          <a:bodyPr vert="horz" wrap="square" lIns="0" tIns="0" rIns="0" bIns="0" rtlCol="0" anchor="t">
            <a:noAutofit/>
          </a:bodyPr>
          <a:lstStyle/>
          <a:p>
            <a:r>
              <a:rPr lang="en-GB" dirty="0"/>
              <a:t>Right column</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1874520"/>
            <a:ext cx="502920" cy="64008"/>
          </a:xfrm>
          <a:prstGeom prst="rect">
            <a:avLst/>
          </a:prstGeom>
          <a:solidFill>
            <a:schemeClr val="accent2"/>
          </a:solidFill>
          <a:ln>
            <a:noFill/>
          </a:ln>
        </p:spPr>
      </p:sp>
      <p:sp>
        <p:nvSpPr>
          <p:cNvPr id="3" name="Statement"/>
          <p:cNvSpPr>
            <a:spLocks noGrp="1"/>
          </p:cNvSpPr>
          <p:nvPr>
            <p:ph type="title"/>
          </p:nvPr>
        </p:nvSpPr>
        <p:spPr>
          <a:xfrm>
            <a:off x="548640" y="2057400"/>
            <a:ext cx="10058400" cy="155448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4800">
                <a:solidFill>
                  <a:schemeClr val="bg1"/>
                </a:solidFill>
              </a:defRPr>
            </a:lvl1pPr>
          </a:lstStyle>
          <a:p>
            <a:r>
              <a:rPr lang="en-GB" dirty="0"/>
              <a:t>One statement, max 8 words</a:t>
            </a:r>
            <a:endParaRPr lang="en-GB" dirty="0"/>
          </a:p>
        </p:txBody>
      </p:sp>
      <p:sp>
        <p:nvSpPr>
          <p:cNvPr id="4" name="Support"/>
          <p:cNvSpPr>
            <a:spLocks noGrp="1"/>
          </p:cNvSpPr>
          <p:nvPr>
            <p:ph type="body" idx="1"/>
          </p:nvPr>
        </p:nvSpPr>
        <p:spPr>
          <a:xfrm>
            <a:off x="548640" y="3794760"/>
            <a:ext cx="10058400" cy="128016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800">
                <a:solidFill>
                  <a:schemeClr val="accent2"/>
                </a:solidFill>
              </a:defRPr>
            </a:lvl1pPr>
          </a:lstStyle>
          <a:p>
            <a:r>
              <a:rPr lang="en-GB" dirty="0"/>
              <a:t>Optional support line or code</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2"/>
                </a:solidFill>
              </a:defRPr>
            </a:lvl1pPr>
          </a:lstStyle>
          <a:p>
            <a:fld id="{B6F15528-21DE-4FAA-801E-634DDDAF4B2B}" type="slidenum">
              <a:rPr lang="en-GB"/>
              <a:t>‹#›</a:t>
            </a:fld>
            <a:endParaRPr lang="en-GB" dirty="0"/>
          </a:p>
        </p:txBody>
      </p:sp>
    </p:spTree>
  </p:cSld>
  <p:clrMapOvr>
    <a:overrideClrMapping bg1="lt1" tx1="dk1" bg2="lt2" tx2="dk2" accent1="accent1" accent2="accent2" accent3="accent3" accent4="accent4" accent5="accent5" accent6="accent6" hlink="accent2" folHlink="accent2"/>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left, media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5613882" cy="1005840"/>
          </a:xfrm>
        </p:spPr>
        <p:txBody>
          <a:bodyPr vert="horz" wrap="square" lIns="0" tIns="0" rIns="0" bIns="0" rtlCol="0" anchor="t">
            <a:noAutofit/>
          </a:bodyPr>
          <a:lstStyle/>
          <a:p>
            <a:r>
              <a:rPr lang="en-GB" dirty="0"/>
              <a:t>Title in sentence case, max 8 words</a:t>
            </a:r>
            <a:endParaRPr lang="en-GB" dirty="0"/>
          </a:p>
        </p:txBody>
      </p:sp>
      <p:sp>
        <p:nvSpPr>
          <p:cNvPr id="4" name="Text column"/>
          <p:cNvSpPr>
            <a:spLocks noGrp="1"/>
          </p:cNvSpPr>
          <p:nvPr>
            <p:ph idx="14"/>
          </p:nvPr>
        </p:nvSpPr>
        <p:spPr>
          <a:xfrm>
            <a:off x="548640" y="1965960"/>
            <a:ext cx="5613882" cy="425167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Code (18 pt) or text (20 pt), support line, source line</a:t>
            </a:r>
            <a:endParaRPr lang="en-GB" dirty="0"/>
          </a:p>
        </p:txBody>
      </p:sp>
      <p:sp>
        <p:nvSpPr>
          <p:cNvPr id="5" name="Media"/>
          <p:cNvSpPr>
            <a:spLocks noGrp="1"/>
          </p:cNvSpPr>
          <p:nvPr>
            <p:ph type="pic" idx="18"/>
          </p:nvPr>
        </p:nvSpPr>
        <p:spPr>
          <a:xfrm>
            <a:off x="6619722" y="548640"/>
            <a:ext cx="5023638" cy="566899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Render, 1588 × 1792 px</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edia left, text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6029478" y="548640"/>
            <a:ext cx="502920" cy="64008"/>
          </a:xfrm>
          <a:prstGeom prst="rect">
            <a:avLst/>
          </a:prstGeom>
          <a:solidFill>
            <a:schemeClr val="accent1"/>
          </a:solidFill>
          <a:ln>
            <a:noFill/>
          </a:ln>
        </p:spPr>
      </p:sp>
      <p:sp>
        <p:nvSpPr>
          <p:cNvPr id="3" name="Title"/>
          <p:cNvSpPr>
            <a:spLocks noGrp="1"/>
          </p:cNvSpPr>
          <p:nvPr>
            <p:ph type="title"/>
          </p:nvPr>
        </p:nvSpPr>
        <p:spPr>
          <a:xfrm>
            <a:off x="6029478" y="731520"/>
            <a:ext cx="5613882" cy="1005840"/>
          </a:xfrm>
        </p:spPr>
        <p:txBody>
          <a:bodyPr vert="horz" wrap="square" lIns="0" tIns="0" rIns="0" bIns="0" rtlCol="0" anchor="t">
            <a:noAutofit/>
          </a:bodyPr>
          <a:lstStyle/>
          <a:p>
            <a:r>
              <a:rPr lang="en-GB" dirty="0"/>
              <a:t>Title in sentence case, max 8 words</a:t>
            </a:r>
            <a:endParaRPr lang="en-GB" dirty="0"/>
          </a:p>
        </p:txBody>
      </p:sp>
      <p:sp>
        <p:nvSpPr>
          <p:cNvPr id="4" name="Text column"/>
          <p:cNvSpPr>
            <a:spLocks noGrp="1"/>
          </p:cNvSpPr>
          <p:nvPr>
            <p:ph idx="14"/>
          </p:nvPr>
        </p:nvSpPr>
        <p:spPr>
          <a:xfrm>
            <a:off x="6029478" y="1965960"/>
            <a:ext cx="5613882" cy="425167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Code (18 pt) or text (20 pt), support line, source line</a:t>
            </a:r>
            <a:endParaRPr lang="en-GB" dirty="0"/>
          </a:p>
        </p:txBody>
      </p:sp>
      <p:sp>
        <p:nvSpPr>
          <p:cNvPr id="5" name="Media"/>
          <p:cNvSpPr>
            <a:spLocks noGrp="1"/>
          </p:cNvSpPr>
          <p:nvPr>
            <p:ph type="pic" idx="18"/>
          </p:nvPr>
        </p:nvSpPr>
        <p:spPr>
          <a:xfrm>
            <a:off x="548640" y="548640"/>
            <a:ext cx="5023638" cy="566899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Render, 1588 × 1792 px</a:t>
            </a:r>
            <a:endParaRPr lang="en-GB" dirty="0"/>
          </a:p>
        </p:txBody>
      </p:sp>
      <p:sp>
        <p:nvSpPr>
          <p:cNvPr id="6"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7"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media">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4" name="Media"/>
          <p:cNvSpPr>
            <a:spLocks noGrp="1"/>
          </p:cNvSpPr>
          <p:nvPr>
            <p:ph type="pic" idx="18"/>
          </p:nvPr>
        </p:nvSpPr>
        <p:spPr>
          <a:xfrm>
            <a:off x="548640" y="1554480"/>
            <a:ext cx="11094720" cy="4663152"/>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Picture, chart or diagram</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eft, content right">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1"/>
          </a:solidFill>
          <a:ln>
            <a:noFill/>
          </a:ln>
        </p:spPr>
      </p:sp>
      <p:sp>
        <p:nvSpPr>
          <p:cNvPr id="3" name="Title"/>
          <p:cNvSpPr>
            <a:spLocks noGrp="1"/>
          </p:cNvSpPr>
          <p:nvPr>
            <p:ph type="title"/>
          </p:nvPr>
        </p:nvSpPr>
        <p:spPr>
          <a:xfrm>
            <a:off x="548640" y="731520"/>
            <a:ext cx="3566160" cy="2377440"/>
          </a:xfrm>
        </p:spPr>
        <p:txBody>
          <a:bodyPr vert="horz" wrap="square" lIns="0" tIns="0" rIns="0" bIns="0" rtlCol="0" anchor="t">
            <a:noAutofit/>
          </a:bodyPr>
          <a:lstStyle/>
          <a:p>
            <a:r>
              <a:rPr lang="en-GB" dirty="0"/>
              <a:t>Title in sentence case, max 8 words</a:t>
            </a:r>
            <a:endParaRPr lang="en-GB" dirty="0"/>
          </a:p>
        </p:txBody>
      </p:sp>
      <p:sp>
        <p:nvSpPr>
          <p:cNvPr id="4" name="Content"/>
          <p:cNvSpPr>
            <a:spLocks noGrp="1"/>
          </p:cNvSpPr>
          <p:nvPr>
            <p:ph idx="1"/>
          </p:nvPr>
        </p:nvSpPr>
        <p:spPr>
          <a:xfrm>
            <a:off x="4572000" y="731520"/>
            <a:ext cx="7071360" cy="5486112"/>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2000"/>
            </a:lvl1pPr>
          </a:lstStyle>
          <a:p>
            <a:r>
              <a:rPr lang="en-GB" dirty="0"/>
              <a:t>Content: table, list or visual, body 20 pt</a:t>
            </a:r>
            <a:endParaRPr lang="en-GB" dirty="0"/>
          </a:p>
        </p:txBody>
      </p:sp>
      <p:sp>
        <p:nvSpPr>
          <p:cNvPr id="5"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6"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userDrawn="1"/>
        </p:nvSpPr>
        <p:spPr>
          <a:xfrm>
            <a:off x="548640" y="548640"/>
            <a:ext cx="502920" cy="64008"/>
          </a:xfrm>
          <a:prstGeom prst="rect">
            <a:avLst/>
          </a:prstGeom>
          <a:solidFill>
            <a:schemeClr val="accent2"/>
          </a:solidFill>
          <a:ln>
            <a:noFill/>
          </a:ln>
        </p:spPr>
      </p:sp>
      <p:sp>
        <p:nvSpPr>
          <p:cNvPr id="3" name="QR tile">
            <a:extLst>
              <a:ext uri="{C183D7F6-B498-43B3-948B-1728B52AA6E4}">
                <adec:decorative xmlns:adec="http://schemas.microsoft.com/office/drawing/2017/decorative" val="1"/>
              </a:ext>
            </a:extLst>
          </p:cNvPr>
          <p:cNvSpPr/>
          <p:nvPr userDrawn="1"/>
        </p:nvSpPr>
        <p:spPr>
          <a:xfrm>
            <a:off x="8991600" y="2834640"/>
            <a:ext cx="2651760" cy="2651760"/>
          </a:xfrm>
          <a:prstGeom prst="roundRect">
            <a:avLst>
              <a:gd name="adj" fmla="val 6000"/>
            </a:avLst>
          </a:prstGeom>
          <a:solidFill>
            <a:schemeClr val="bg1"/>
          </a:solidFill>
          <a:ln>
            <a:noFill/>
          </a:ln>
        </p:spPr>
      </p:sp>
      <p:sp>
        <p:nvSpPr>
          <p:cNvPr id="4" name="Title"/>
          <p:cNvSpPr>
            <a:spLocks noGrp="1"/>
          </p:cNvSpPr>
          <p:nvPr>
            <p:ph type="title"/>
          </p:nvPr>
        </p:nvSpPr>
        <p:spPr>
          <a:xfrm>
            <a:off x="548640" y="731520"/>
            <a:ext cx="8168640" cy="1005840"/>
          </a:xfrm>
        </p:spPr>
        <p:txBody>
          <a:bodyPr vert="horz" wrap="square" lIns="0" tIns="0" rIns="0" bIns="0" rtlCol="0" anchor="t">
            <a:noAutofit/>
          </a:bodyPr>
          <a:lstStyle>
            <a:lvl1pPr marL="0" indent="0" algn="l" defTabSz="457200" rtl="0" eaLnBrk="1" latinLnBrk="0" hangingPunct="1">
              <a:lnSpc>
                <a:spcPct val="100000"/>
              </a:lnSpc>
              <a:spcBef>
                <a:spcPts val="0"/>
              </a:spcBef>
              <a:spcAft>
                <a:spcPts val="600"/>
              </a:spcAft>
              <a:buNone/>
              <a:defRPr lang="en-GB" sz="6000">
                <a:solidFill>
                  <a:schemeClr val="bg1"/>
                </a:solidFill>
              </a:defRPr>
            </a:lvl1pPr>
          </a:lstStyle>
          <a:p>
            <a:r>
              <a:rPr lang="en-GB" dirty="0"/>
              <a:t>Closing title</a:t>
            </a:r>
            <a:endParaRPr lang="en-GB" dirty="0"/>
          </a:p>
        </p:txBody>
      </p:sp>
      <p:sp>
        <p:nvSpPr>
          <p:cNvPr id="5" name="Contact"/>
          <p:cNvSpPr>
            <a:spLocks noGrp="1"/>
          </p:cNvSpPr>
          <p:nvPr>
            <p:ph type="body" idx="15"/>
          </p:nvPr>
        </p:nvSpPr>
        <p:spPr>
          <a:xfrm>
            <a:off x="548640" y="2103120"/>
            <a:ext cx="8168640" cy="33832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400"/>
              </a:spcAft>
              <a:buNone/>
              <a:defRPr lang="en-GB" sz="2400">
                <a:solidFill>
                  <a:schemeClr val="bg1"/>
                </a:solidFill>
              </a:defRPr>
            </a:lvl1pPr>
          </a:lstStyle>
          <a:p>
            <a:r>
              <a:rPr lang="en-GB" dirty="0"/>
              <a:t>Repo URL, name, contact</a:t>
            </a:r>
            <a:endParaRPr lang="en-GB" dirty="0"/>
          </a:p>
        </p:txBody>
      </p:sp>
      <p:sp>
        <p:nvSpPr>
          <p:cNvPr id="6" name="Small print"/>
          <p:cNvSpPr>
            <a:spLocks noGrp="1"/>
          </p:cNvSpPr>
          <p:nvPr>
            <p:ph type="body" idx="19"/>
          </p:nvPr>
        </p:nvSpPr>
        <p:spPr>
          <a:xfrm>
            <a:off x="548640" y="5669280"/>
            <a:ext cx="11094720" cy="64008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2"/>
                </a:solidFill>
              </a:defRPr>
            </a:lvl1pPr>
          </a:lstStyle>
          <a:p>
            <a:r>
              <a:rPr lang="en-GB" dirty="0"/>
              <a:t>Source and licence lines, 12 pt</a:t>
            </a:r>
            <a:endParaRPr lang="en-GB" dirty="0"/>
          </a:p>
        </p:txBody>
      </p:sp>
      <p:sp>
        <p:nvSpPr>
          <p:cNvPr id="7" name="Logo zone"/>
          <p:cNvSpPr>
            <a:spLocks noGrp="1"/>
          </p:cNvSpPr>
          <p:nvPr>
            <p:ph type="pic" idx="16"/>
          </p:nvPr>
        </p:nvSpPr>
        <p:spPr>
          <a:xfrm>
            <a:off x="8991600" y="548640"/>
            <a:ext cx="2651760" cy="118872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PyCon NL logo (file and permission pending)</a:t>
            </a:r>
            <a:endParaRPr lang="en-GB" dirty="0"/>
          </a:p>
        </p:txBody>
      </p:sp>
      <p:sp>
        <p:nvSpPr>
          <p:cNvPr id="8" name="QR code"/>
          <p:cNvSpPr>
            <a:spLocks noGrp="1"/>
          </p:cNvSpPr>
          <p:nvPr>
            <p:ph type="pic" idx="17"/>
          </p:nvPr>
        </p:nvSpPr>
        <p:spPr>
          <a:xfrm>
            <a:off x="9174480" y="3017520"/>
            <a:ext cx="2286000" cy="2286000"/>
          </a:xfrm>
          <a:prstGeom prst="rect">
            <a:avLst/>
          </a:prstGeom>
          <a:noFill/>
        </p:spPr>
        <p:txBody>
          <a:bodyPr vert="horz" wrap="square" lIns="0" tIns="0" rIns="0" bIns="0" rtlCol="0" anchor="ctr">
            <a:noAutofit/>
          </a:bodyPr>
          <a:lstStyle>
            <a:lvl1pPr marL="0" indent="0" algn="ctr" defTabSz="457200" rtl="0" eaLnBrk="1" latinLnBrk="0" hangingPunct="1">
              <a:lnSpc>
                <a:spcPct val="100000"/>
              </a:lnSpc>
              <a:spcBef>
                <a:spcPts val="0"/>
              </a:spcBef>
              <a:spcAft>
                <a:spcPts val="0"/>
              </a:spcAft>
              <a:buNone/>
              <a:defRPr lang="en-GB" sz="1400">
                <a:solidFill>
                  <a:schemeClr val="accent5"/>
                </a:solidFill>
              </a:defRPr>
            </a:lvl1pPr>
          </a:lstStyle>
          <a:p>
            <a:r>
              <a:rPr lang="en-GB" dirty="0"/>
              <a:t>QR code</a:t>
            </a:r>
            <a:endParaRPr lang="en-GB" dirty="0"/>
          </a:p>
        </p:txBody>
      </p:sp>
    </p:spTree>
  </p:cSld>
  <p:clrMapOvr>
    <a:overrideClrMapping bg1="lt1" tx1="dk1" bg2="lt2" tx2="dk2" accent1="accent1" accent2="accent2" accent3="accent3" accent4="accent4" accent5="accent5" accent6="accent6" hlink="accent2" folHlink="accent2"/>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548640" y="731520"/>
            <a:ext cx="11094720" cy="548640"/>
          </a:xfrm>
        </p:spPr>
        <p:txBody>
          <a:bodyPr vert="horz" wrap="square" lIns="0" tIns="0" rIns="0" bIns="0" rtlCol="0" anchor="t">
            <a:noAutofit/>
          </a:bodyPr>
          <a:lstStyle/>
          <a:p>
            <a:r>
              <a:rPr lang="en-GB" dirty="0"/>
              <a:t>Title in sentence case, max 8 words</a:t>
            </a:r>
            <a:endParaRPr lang="en-GB" dirty="0"/>
          </a:p>
        </p:txBody>
      </p:sp>
      <p:sp>
        <p:nvSpPr>
          <p:cNvPr id="3" name="Body"/>
          <p:cNvSpPr>
            <a:spLocks noGrp="1"/>
          </p:cNvSpPr>
          <p:nvPr>
            <p:ph type="body" idx="1"/>
          </p:nvPr>
        </p:nvSpPr>
        <p:spPr>
          <a:xfrm>
            <a:off x="548640" y="1554480"/>
            <a:ext cx="11094720" cy="4663152"/>
          </a:xfrm>
        </p:spPr>
        <p:txBody>
          <a:bodyPr vert="horz" wrap="square" lIns="0" tIns="0" rIns="0" bIns="0" rtlCol="0" anchor="t">
            <a:noAutofit/>
          </a:bodyPr>
          <a:lstStyle/>
          <a:p>
            <a:r>
              <a:rPr lang="en-GB" dirty="0"/>
              <a:t>Body text at 24 pt</a:t>
            </a:r>
            <a:endParaRPr lang="en-GB" dirty="0"/>
          </a:p>
          <a:p>
            <a:pPr lvl="1"/>
            <a:r>
              <a:rPr lang="en-GB" dirty="0"/>
              <a:t>Second level at 20 pt</a:t>
            </a:r>
            <a:endParaRPr lang="en-GB" dirty="0"/>
          </a:p>
          <a:p>
            <a:pPr lvl="2"/>
            <a:r>
              <a:rPr lang="en-GB" dirty="0"/>
              <a:t>Third level at 20 pt</a:t>
            </a:r>
            <a:endParaRPr lang="en-GB" dirty="0"/>
          </a:p>
        </p:txBody>
      </p:sp>
      <p:sp>
        <p:nvSpPr>
          <p:cNvPr id="4" name="Footer"/>
          <p:cNvSpPr>
            <a:spLocks noGrp="1"/>
          </p:cNvSpPr>
          <p:nvPr>
            <p:ph type="ftr" sz="quarter" idx="11"/>
          </p:nvPr>
        </p:nvSpPr>
        <p:spPr>
          <a:xfrm>
            <a:off x="548640" y="6355080"/>
            <a:ext cx="7315200" cy="228600"/>
          </a:xfrm>
        </p:spPr>
        <p:txBody>
          <a:bodyPr vert="horz" wrap="square" lIns="0" tIns="0" rIns="0" bIns="0" rtlCol="0" anchor="b">
            <a:noAutofit/>
          </a:bodyPr>
          <a:lstStyle>
            <a:lvl1pPr marL="0" indent="0" algn="l" defTabSz="457200" rtl="0" eaLnBrk="1" latinLnBrk="0" hangingPunct="1">
              <a:lnSpc>
                <a:spcPct val="100000"/>
              </a:lnSpc>
              <a:spcBef>
                <a:spcPts val="0"/>
              </a:spcBef>
              <a:spcAft>
                <a:spcPts val="0"/>
              </a:spcAft>
              <a:buNone/>
              <a:defRPr lang="en-GB" sz="1200">
                <a:solidFill>
                  <a:schemeClr val="accent4"/>
                </a:solidFill>
              </a:defRPr>
            </a:lvl1pPr>
          </a:lstStyle>
          <a:p>
            <a:r>
              <a:rPr lang="en-GB" dirty="0"/>
              <a:t>3D Data Science with Python | PyCon NL 2026</a:t>
            </a:r>
            <a:endParaRPr lang="en-GB" dirty="0"/>
          </a:p>
        </p:txBody>
      </p:sp>
      <p:sp>
        <p:nvSpPr>
          <p:cNvPr id="5" name="Slide number"/>
          <p:cNvSpPr>
            <a:spLocks noGrp="1"/>
          </p:cNvSpPr>
          <p:nvPr>
            <p:ph type="sldNum" sz="quarter" idx="12"/>
          </p:nvPr>
        </p:nvSpPr>
        <p:spPr>
          <a:xfrm>
            <a:off x="10728960" y="6355080"/>
            <a:ext cx="914400" cy="228600"/>
          </a:xfrm>
        </p:spPr>
        <p:txBody>
          <a:bodyPr vert="horz" wrap="square" lIns="0" tIns="0" rIns="0" bIns="0" rtlCol="0" anchor="b">
            <a:noAutofit/>
          </a:bodyPr>
          <a:lstStyle>
            <a:lvl1pPr marL="0" indent="0" algn="r" defTabSz="457200" rtl="0" eaLnBrk="1" latinLnBrk="0" hangingPunct="1">
              <a:lnSpc>
                <a:spcPct val="100000"/>
              </a:lnSpc>
              <a:spcBef>
                <a:spcPts val="0"/>
              </a:spcBef>
              <a:spcAft>
                <a:spcPts val="0"/>
              </a:spcAft>
              <a:buNone/>
              <a:defRPr lang="en-GB" sz="1200">
                <a:solidFill>
                  <a:schemeClr val="accent4"/>
                </a:solidFill>
              </a:defRPr>
            </a:lvl1pPr>
          </a:lstStyle>
          <a:p>
            <a:fld id="{B6F15528-21DE-4FAA-801E-634DDDAF4B2B}" type="slidenum">
              <a:rPr lang="en-GB"/>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marL="0" indent="0" algn="l" defTabSz="457200" rtl="0" eaLnBrk="1" latinLnBrk="0" hangingPunct="1">
        <a:lnSpc>
          <a:spcPct val="100000"/>
        </a:lnSpc>
        <a:spcBef>
          <a:spcPts val="0"/>
        </a:spcBef>
        <a:spcAft>
          <a:spcPts val="0"/>
        </a:spcAft>
        <a:buNone/>
        <a:defRPr lang="en-GB" sz="3200" b="0" kern="1200">
          <a:solidFill>
            <a:schemeClr val="tx2"/>
          </a:solidFill>
          <a:latin typeface="Fira Sans SemiBold" panose="020B0603050000020004" pitchFamily="34" charset="0"/>
        </a:defRPr>
      </a:lvl1pPr>
    </p:titleStyle>
    <p:bodyStyle>
      <a:lvl1pPr marL="0" indent="0" algn="l" defTabSz="457200" rtl="0" eaLnBrk="1" latinLnBrk="0" hangingPunct="1">
        <a:lnSpc>
          <a:spcPct val="100000"/>
        </a:lnSpc>
        <a:spcBef>
          <a:spcPts val="0"/>
        </a:spcBef>
        <a:spcAft>
          <a:spcPts val="600"/>
        </a:spcAft>
        <a:buNone/>
        <a:defRPr lang="en-GB" sz="2400" kern="1200">
          <a:solidFill>
            <a:schemeClr val="tx1"/>
          </a:solidFill>
          <a:latin typeface="+mn-lt"/>
          <a:ea typeface="+mn-ea"/>
          <a:cs typeface="+mn-cs"/>
        </a:defRPr>
      </a:lvl1pPr>
      <a:lvl2pPr marL="285750" indent="-285750" algn="l" defTabSz="457200" rtl="0" eaLnBrk="1" latinLnBrk="0" hangingPunct="1">
        <a:lnSpc>
          <a:spcPct val="100000"/>
        </a:lnSpc>
        <a:spcBef>
          <a:spcPts val="0"/>
        </a:spcBef>
        <a:spcAft>
          <a:spcPts val="600"/>
        </a:spcAft>
        <a:buClr>
          <a:schemeClr val="accent1"/>
        </a:buClr>
        <a:buFont typeface="Fira Sans"/>
        <a:buChar char="•"/>
        <a:defRPr lang="en-GB" sz="2000" kern="1200">
          <a:solidFill>
            <a:schemeClr val="tx1"/>
          </a:solidFill>
          <a:latin typeface="+mn-lt"/>
          <a:ea typeface="+mn-ea"/>
          <a:cs typeface="+mn-cs"/>
        </a:defRPr>
      </a:lvl2pPr>
      <a:lvl3pPr marL="5715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3pPr>
      <a:lvl4pPr marL="8572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4pPr>
      <a:lvl5pPr marL="11430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5pPr>
      <a:lvl6pPr marL="14287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6pPr>
      <a:lvl7pPr marL="17145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7pPr>
      <a:lvl8pPr marL="200025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8pPr>
      <a:lvl9pPr marL="2286000" indent="-285750" algn="l" defTabSz="457200" rtl="0" eaLnBrk="1" latinLnBrk="0" hangingPunct="1">
        <a:lnSpc>
          <a:spcPct val="100000"/>
        </a:lnSpc>
        <a:spcBef>
          <a:spcPts val="0"/>
        </a:spcBef>
        <a:spcAft>
          <a:spcPts val="600"/>
        </a:spcAft>
        <a:buClr>
          <a:schemeClr val="accent5"/>
        </a:buClr>
        <a:buFont typeface="Fira Sans"/>
        <a:buChar char="•"/>
        <a:defRPr lang="en-GB" sz="2000" kern="1200">
          <a:solidFill>
            <a:schemeClr val="tx1"/>
          </a:solidFill>
          <a:latin typeface="+mn-lt"/>
          <a:ea typeface="+mn-ea"/>
          <a:cs typeface="+mn-cs"/>
        </a:defRPr>
      </a:lvl9pPr>
    </p:bodyStyle>
    <p:otherStyle>
      <a:defPPr>
        <a:defRPr lang="en-GB"/>
      </a:defPPr>
      <a:lvl1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1pPr>
      <a:lvl2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2pPr>
      <a:lvl3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3pPr>
      <a:lvl4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4pPr>
      <a:lvl5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5pPr>
      <a:lvl6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6pPr>
      <a:lvl7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7pPr>
      <a:lvl8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8pPr>
      <a:lvl9pPr marL="0" indent="0" algn="l" defTabSz="457200" rtl="0" eaLnBrk="1" latinLnBrk="0" hangingPunct="1">
        <a:lnSpc>
          <a:spcPct val="100000"/>
        </a:lnSpc>
        <a:spcBef>
          <a:spcPts val="0"/>
        </a:spcBef>
        <a:spcAft>
          <a:spcPts val="0"/>
        </a:spcAft>
        <a:buNone/>
        <a:defRPr lang="en-GB"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creativecommons.org/licenses/by/4.0/"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hyperlink" Target="https://creativecommons.org/licenses/by/4.0/"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4.png"/><Relationship Id="rId8" Type="http://schemas.openxmlformats.org/officeDocument/2006/relationships/hyperlink" Target="https://creativecommons.org/licenses/by/4.0/" TargetMode="Externa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hyperlink" Target="https://creativecommons.org/licenses/by/4.0/" TargetMode="Externa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hyperlink" Target="https://creativecommons.org/licenses/by/4.0/"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5.png"/><Relationship Id="rId4" Type="http://schemas.openxmlformats.org/officeDocument/2006/relationships/hyperlink" Target="https://creativecommons.org/licenses/by/4.0/"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hyperlink" Target="https://creativecommons.org/licenses/by/4.0/" TargetMode="Externa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7.png"/><Relationship Id="rId4" Type="http://schemas.openxmlformats.org/officeDocument/2006/relationships/hyperlink" Target="https://creativecommons.org/licenses/by/4.0/" TargetMode="Externa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hyperlink" Target="https://creativecommons.org/licenses/by/4.0/" TargetMode="Externa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creativecommons.org/licenses/by/4.0/"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 Id="rId3" Type="http://schemas.openxmlformats.org/officeDocument/2006/relationships/hyperlink" Target="https://creativecommons.org/licenses/by/4.0/"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hyperlink" Target="https://creativecommons.org/licenses/by/4.0/"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hyperlink" Target="https://creativecommons.org/licenses/by/4.0/"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hyperlink" Target="https://creativecommons.org/licenses/by/4.0/" TargetMode="Externa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2.png"/><Relationship Id="rId3" Type="http://schemas.openxmlformats.org/officeDocument/2006/relationships/image" Target="../media/image1.png"/><Relationship Id="rId4" Type="http://schemas.openxmlformats.org/officeDocument/2006/relationships/hyperlink" Target="https://creativecommons.org/licenses/by/4.0/" TargetMode="Externa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eativecommons.org/licenses/by/4.0/"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21.png"/><Relationship Id="rId4" Type="http://schemas.openxmlformats.org/officeDocument/2006/relationships/image" Target="../media/image4.png"/><Relationship Id="rId5" Type="http://schemas.openxmlformats.org/officeDocument/2006/relationships/hyperlink" Target="https://creativecommons.org/licenses/by/4.0/" TargetMode="Externa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p:txBody>
          <a:bodyPr/>
          <a:lstStyle/>
          <a:p>
            <a:r>
              <a:rPr lang="en-GB"/>
              <a:t>3D Data Science with Python</a:t>
            </a:r>
          </a:p>
        </p:txBody>
      </p:sp>
      <p:sp>
        <p:nvSpPr>
          <p:cNvPr id="4" name="Presenter"/>
          <p:cNvSpPr>
            <a:spLocks noGrp="1"/>
          </p:cNvSpPr>
          <p:nvPr>
            <p:ph type="body" idx="13"/>
          </p:nvPr>
        </p:nvSpPr>
        <p:spPr/>
        <p:txBody>
          <a:bodyPr/>
          <a:lstStyle/>
          <a:p>
            <a:pPr marL="0" indent="0" algn="l">
              <a:spcBef>
                <a:spcPts val="0"/>
              </a:spcBef>
              <a:spcAft>
                <a:spcPts val="0"/>
              </a:spcAft>
              <a:buNone/>
            </a:pPr>
            <a:r>
              <a:rPr sz="2400" lang="en-GB">
                <a:solidFill>
                  <a:srgbClr val="FFFFFF"/>
                </a:solidFill>
                <a:latin typeface="+mn-lt"/>
              </a:rPr>
              <a:t>Sergio Peral · ML Engineer, Teqyard</a:t>
            </a:r>
            <a:endParaRPr lang="en-GB" sz="2400"/>
          </a:p>
        </p:txBody>
      </p:sp>
      <p:sp>
        <p:nvSpPr>
          <p:cNvPr id="5" name="Logo tile"/>
          <p:cNvSpPr/>
          <p:nvPr/>
        </p:nvSpPr>
        <p:spPr>
          <a:xfrm>
            <a:off x="10454640" y="5120640"/>
            <a:ext cx="11887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Logo" descr="PyCon NL 2026 logo: the Python snakes filled with a Dutch canal house, tulips and a windmill"/>
          <p:cNvPicPr>
            <a:picLocks noChangeAspect="1"/>
          </p:cNvPicPr>
          <p:nvPr/>
        </p:nvPicPr>
        <p:blipFill>
          <a:blip r:embed="rId2"/>
          <a:stretch>
            <a:fillRect/>
          </a:stretch>
        </p:blipFill>
        <p:spPr>
          <a:xfrm>
            <a:off x="10509504" y="5175504"/>
            <a:ext cx="1078992" cy="1078992"/>
          </a:xfrm>
          <a:prstGeom prst="rect">
            <a:avLst/>
          </a:prstGeom>
        </p:spPr>
      </p:pic>
    </p:spTree>
  </p:cSld>
  <p:clrMapOvr>
    <a:overrideClrMapping bg1="lt1" tx1="dk1" bg2="lt2" tx2="dk2" accent1="accent1" accent2="accent2" accent3="accent3" accent4="accent4" accent5="accent5" accent6="accent6" hlink="accent2" folHlink="accent2"/>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3D meant C++; now Python drives it</a:t>
            </a:r>
          </a:p>
        </p:txBody>
      </p:sp>
      <p:sp>
        <p:nvSpPr>
          <p:cNvPr id="7" name="Caption left"/>
          <p:cNvSpPr txBox="1"/>
          <p:nvPr/>
        </p:nvSpPr>
        <p:spPr>
          <a:xfrm>
            <a:off x="548640" y="1554480"/>
            <a:ext cx="5318760" cy="377952"/>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455A64"/>
                </a:solidFill>
                <a:latin typeface="Fira Sans SemiBold"/>
              </a:rPr>
              <a:t>C++ with PCL</a:t>
            </a:r>
            <a:endParaRPr lang="en-GB" sz="2000"/>
          </a:p>
        </p:txBody>
      </p:sp>
      <p:grpSp>
        <p:nvGrpSpPr>
          <p:cNvPr id="3" name="Key line left">
            <a:extLst>
              <a:ext uri="{C183D7F6-B498-43B3-948B-1728B52AA6E4}">
                <adec:decorative xmlns:adec="http://schemas.microsoft.com/office/drawing/2017/decorative" val="1"/>
              </a:ext>
            </a:extLst>
          </p:cNvPr>
          <p:cNvGrpSpPr/>
          <p:nvPr/>
        </p:nvGrpSpPr>
        <p:grpSpPr>
          <a:xfrm>
            <a:off x="402336" y="4111752"/>
            <a:ext cx="5465064" cy="266700"/>
            <a:chOff x="402336" y="4111752"/>
            <a:chExt cx="5465064" cy="266700"/>
          </a:xfrm>
        </p:grpSpPr>
        <p:sp>
          <p:nvSpPr>
            <p:cNvPr id="8" name="Key line bar"/>
            <p:cNvSpPr/>
            <p:nvPr/>
          </p:nvSpPr>
          <p:spPr>
            <a:xfrm>
              <a:off x="402336" y="4111752"/>
              <a:ext cx="546506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line edge"/>
            <p:cNvSpPr/>
            <p:nvPr/>
          </p:nvSpPr>
          <p:spPr>
            <a:xfrm>
              <a:off x="402336" y="4111752"/>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0" name="Code left"/>
          <p:cNvSpPr txBox="1"/>
          <p:nvPr/>
        </p:nvSpPr>
        <p:spPr>
          <a:xfrm>
            <a:off x="402336" y="1932432"/>
            <a:ext cx="546506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using Cloud =</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pcl::PointCloud&lt;pcl::PointXYZ&gt;;</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Cloud::Ptr cloud(new Cloud);</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Cloud down;</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if (pcl::io::loadPCDFile(</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"crop.pcd", *cloud)) return 1;</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pcl::VoxelGrid&lt;pcl::PointXYZ&gt; vg;</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vg.setInputCloud(cloud);</a:t>
            </a:r>
            <a:endParaRPr lang="en-GB" sz="1800"/>
          </a:p>
          <a:p>
            <a:pPr marL="0" indent="0" algn="l">
              <a:lnSpc>
                <a:spcPts val="2100"/>
              </a:lnSpc>
              <a:spcBef>
                <a:spcPts val="0"/>
              </a:spcBef>
              <a:spcAft>
                <a:spcPts val="0"/>
              </a:spcAft>
              <a:buNone/>
            </a:pPr>
            <a:r>
              <a:rPr sz="1800" b="1" lang="en-GB" noProof="1">
                <a:solidFill>
                  <a:srgbClr val="455A64"/>
                </a:solidFill>
                <a:latin typeface="Fira Mono" pitchFamily="49"/>
              </a:rPr>
              <a:t>vg.setLeafSize(0.5f, 0.5f, 0.5f);</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vg.filter(down);</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std::cout &lt;&lt; cloud-&gt;size()</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  &lt;&lt; " -&gt; " &lt;&lt; down.size() &lt;&lt; "\n";</a:t>
            </a:r>
            <a:endParaRPr lang="en-GB" sz="1800"/>
          </a:p>
        </p:txBody>
      </p:sp>
      <p:sp>
        <p:nvSpPr>
          <p:cNvPr id="11" name="Code output left"/>
          <p:cNvSpPr txBox="1"/>
          <p:nvPr/>
        </p:nvSpPr>
        <p:spPr>
          <a:xfrm>
            <a:off x="402336" y="5498592"/>
            <a:ext cx="5465064" cy="624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output</a:t>
            </a:r>
            <a:endParaRPr lang="en-GB" sz="1800"/>
          </a:p>
          <a:p>
            <a:pPr marL="0" indent="0" algn="l">
              <a:lnSpc>
                <a:spcPts val="2100"/>
              </a:lnSpc>
              <a:spcBef>
                <a:spcPts val="0"/>
              </a:spcBef>
              <a:spcAft>
                <a:spcPts val="0"/>
              </a:spcAft>
              <a:buNone/>
            </a:pPr>
            <a:r>
              <a:rPr sz="1800" b="0" lang="en-GB" noProof="1">
                <a:solidFill>
                  <a:srgbClr val="455A64"/>
                </a:solidFill>
                <a:latin typeface="Fira Mono" pitchFamily="49"/>
              </a:rPr>
              <a:t>722961 -&gt; 230519</a:t>
            </a:r>
            <a:endParaRPr lang="en-GB" sz="1800"/>
          </a:p>
        </p:txBody>
      </p:sp>
      <p:sp>
        <p:nvSpPr>
          <p:cNvPr id="12" name="Caption right"/>
          <p:cNvSpPr txBox="1"/>
          <p:nvPr/>
        </p:nvSpPr>
        <p:spPr>
          <a:xfrm>
            <a:off x="6324600" y="1554480"/>
            <a:ext cx="5318760" cy="377952"/>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Python with Open3D</a:t>
            </a:r>
            <a:endParaRPr lang="en-GB" sz="2000"/>
          </a:p>
        </p:txBody>
      </p:sp>
      <p:grpSp>
        <p:nvGrpSpPr>
          <p:cNvPr id="4" name="Key line right">
            <a:extLst>
              <a:ext uri="{C183D7F6-B498-43B3-948B-1728B52AA6E4}">
                <adec:decorative xmlns:adec="http://schemas.microsoft.com/office/drawing/2017/decorative" val="1"/>
              </a:ext>
            </a:extLst>
          </p:cNvPr>
          <p:cNvGrpSpPr/>
          <p:nvPr/>
        </p:nvGrpSpPr>
        <p:grpSpPr>
          <a:xfrm>
            <a:off x="6178296" y="2244852"/>
            <a:ext cx="5465064" cy="266700"/>
            <a:chOff x="6178296" y="2244852"/>
            <a:chExt cx="5465064" cy="266700"/>
          </a:xfrm>
        </p:grpSpPr>
        <p:sp>
          <p:nvSpPr>
            <p:cNvPr id="13" name="Key line bar"/>
            <p:cNvSpPr/>
            <p:nvPr/>
          </p:nvSpPr>
          <p:spPr>
            <a:xfrm>
              <a:off x="6178296" y="2244852"/>
              <a:ext cx="546506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line edge"/>
            <p:cNvSpPr/>
            <p:nvPr/>
          </p:nvSpPr>
          <p:spPr>
            <a:xfrm>
              <a:off x="6178296" y="2244852"/>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Code right"/>
          <p:cNvSpPr txBox="1"/>
          <p:nvPr/>
        </p:nvSpPr>
        <p:spPr>
          <a:xfrm>
            <a:off x="6178296" y="1932432"/>
            <a:ext cx="5465064" cy="11582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pcd = o3d.io.read_point_cloud(path)</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down = pcd.voxel_down_sample(0.5)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print(len(pcd.points), </a:t>
            </a:r>
            <a:r>
              <a:rPr sz="1800" b="0" lang="en-GB" noProof="1">
                <a:solidFill>
                  <a:srgbClr val="2B6797"/>
                </a:solidFill>
                <a:latin typeface="Fira Mono" pitchFamily="49"/>
              </a:rPr>
              <a:t>"-&gt;"</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len(down.points))</a:t>
            </a:r>
            <a:endParaRPr lang="en-GB" sz="1800"/>
          </a:p>
        </p:txBody>
      </p:sp>
      <p:sp>
        <p:nvSpPr>
          <p:cNvPr id="16" name="Code output right"/>
          <p:cNvSpPr txBox="1"/>
          <p:nvPr/>
        </p:nvSpPr>
        <p:spPr>
          <a:xfrm>
            <a:off x="6178296" y="3364992"/>
            <a:ext cx="5465064" cy="624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output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722961 -&gt; 232180</a:t>
            </a:r>
            <a:endParaRPr lang="en-GB" sz="1800"/>
          </a:p>
        </p:txBody>
      </p:sp>
      <p:sp>
        <p:nvSpPr>
          <p:cNvPr id="17" name="Note box"/>
          <p:cNvSpPr/>
          <p:nvPr/>
        </p:nvSpPr>
        <p:spPr>
          <a:xfrm>
            <a:off x="6324600" y="5120352"/>
            <a:ext cx="5318760" cy="1097280"/>
          </a:xfrm>
          <a:prstGeom prst="roundRect">
            <a:avLst>
              <a:gd name="adj" fmla="val 6666"/>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ote"/>
          <p:cNvSpPr txBox="1"/>
          <p:nvPr/>
        </p:nvSpPr>
        <p:spPr>
          <a:xfrm>
            <a:off x="6489192" y="5257512"/>
            <a:ext cx="4989576" cy="82296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Why do the counts differ? PCL and Open3D anchor the 0.5 m voxel grid differently; both average the points in each voxel.</a:t>
            </a:r>
            <a:endParaRPr lang="en-GB" sz="1800"/>
          </a:p>
        </p:txBody>
      </p:sp>
      <p:sp>
        <p:nvSpPr>
          <p:cNvPr id="19"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2B6797"/>
                </a:solidFill>
                <a:latin typeface="Fira Sans SemiBold"/>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city scan: millions of points, no names</a:t>
            </a:r>
          </a:p>
        </p:txBody>
      </p:sp>
      <p:pic>
        <p:nvPicPr>
          <p:cNvPr id="6" name="Meme" descr="Bird's-eye render of the raw crop around the Jaarbeurs hall, coloured by height only: blue near the ground through sage to white on the roofs. Nothing says which point is a tree, a roof or a lamp post."/>
          <p:cNvPicPr>
            <a:picLocks noChangeAspect="1"/>
          </p:cNvPicPr>
          <p:nvPr/>
        </p:nvPicPr>
        <p:blipFill>
          <a:blip r:embed="rId2"/>
          <a:stretch>
            <a:fillRect/>
          </a:stretch>
        </p:blipFill>
        <p:spPr>
          <a:xfrm>
            <a:off x="548640" y="1554480"/>
            <a:ext cx="3848695" cy="4343112"/>
          </a:xfrm>
          <a:prstGeom prst="rect">
            <a:avLst/>
          </a:prstGeom>
        </p:spPr>
      </p:pic>
      <p:sp>
        <p:nvSpPr>
          <p:cNvPr id="8" name="Meme bullets"/>
          <p:cNvSpPr txBox="1"/>
          <p:nvPr/>
        </p:nvSpPr>
        <p:spPr>
          <a:xfrm>
            <a:off x="4854535" y="2133600"/>
            <a:ext cx="6788825" cy="376399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Each point: x, y, z and little else</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Cities register what stands in the street: trees, lamp posts, bollards</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Naming points by hand doesn't scale</a:t>
            </a:r>
            <a:endParaRPr lang="en-GB" sz="2000"/>
          </a:p>
        </p:txBody>
      </p:sp>
      <p:sp>
        <p:nvSpPr>
          <p:cNvPr id="9" name="Note box"/>
          <p:cNvSpPr/>
          <p:nvPr/>
        </p:nvSpPr>
        <p:spPr>
          <a:xfrm>
            <a:off x="4854535" y="5348952"/>
            <a:ext cx="6788825" cy="548640"/>
          </a:xfrm>
          <a:prstGeom prst="roundRect">
            <a:avLst>
              <a:gd name="adj" fmla="val 13333"/>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te"/>
          <p:cNvSpPr txBox="1"/>
          <p:nvPr/>
        </p:nvSpPr>
        <p:spPr>
          <a:xfrm>
            <a:off x="5019127" y="5486112"/>
            <a:ext cx="6459641" cy="27432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Today's question: does the scan agree with the register?</a:t>
            </a:r>
            <a:endParaRPr lang="en-GB" sz="1800"/>
          </a:p>
        </p:txBody>
      </p:sp>
      <p:sp>
        <p:nvSpPr>
          <p:cNvPr id="7" name="Support"/>
          <p:cNvSpPr txBox="1"/>
          <p:nvPr/>
        </p:nvSpPr>
        <p:spPr>
          <a:xfrm>
            <a:off x="4854535" y="1554480"/>
            <a:ext cx="6788825"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722 961 points in one city block; none has a name.</a:t>
            </a:r>
            <a:endParaRPr lang="en-GB" sz="2000"/>
          </a:p>
        </p:txBody>
      </p:sp>
      <p:sp>
        <p:nvSpPr>
          <p:cNvPr id="11"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2"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2B6797"/>
                </a:solidFill>
                <a:latin typeface="Fira Sans SemiBold"/>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The goal: name every point, then check it</a:t>
            </a:r>
          </a:p>
        </p:txBody>
      </p:sp>
      <p:sp>
        <p:nvSpPr>
          <p:cNvPr id="6" name="Takeaway" descr="From x, y, z alone, in plain Python, and say how far to trust it."/>
          <p:cNvSpPr/>
          <p:nvPr/>
        </p:nvSpPr>
        <p:spPr>
          <a:xfrm>
            <a:off x="548640" y="1554480"/>
            <a:ext cx="11094720" cy="548640"/>
          </a:xfrm>
          <a:prstGeom prst="roundRect">
            <a:avLst>
              <a:gd name="adj" fmla="val 13333"/>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marL="0" indent="0">
              <a:spcBef>
                <a:spcPts val="0"/>
              </a:spcBef>
              <a:spcAft>
                <a:spcPts val="0"/>
              </a:spcAft>
              <a:buNone/>
            </a:pPr>
            <a:r>
              <a:rPr sz="2400" lang="en-GB">
                <a:solidFill>
                  <a:srgbClr val="FFFFFF"/>
                </a:solidFill>
                <a:latin typeface="Fira Sans SemiBold"/>
              </a:rPr>
              <a:t>From x, y, z alone, in plain Python, and say how far to trust it.</a:t>
            </a:r>
            <a:endParaRPr lang="en-GB" sz="2400"/>
          </a:p>
        </p:txBody>
      </p:sp>
      <p:sp>
        <p:nvSpPr>
          <p:cNvPr id="7" name="Column tile 1">
            <a:extLst>
              <a:ext uri="{C183D7F6-B498-43B3-948B-1728B52AA6E4}">
                <adec:decorative xmlns:adec="http://schemas.microsoft.com/office/drawing/2017/decorative" val="1"/>
              </a:ext>
            </a:extLst>
          </p:cNvPr>
          <p:cNvSpPr/>
          <p:nvPr/>
        </p:nvSpPr>
        <p:spPr>
          <a:xfrm>
            <a:off x="548640" y="2331720"/>
            <a:ext cx="3484880" cy="3386328"/>
          </a:xfrm>
          <a:prstGeom prst="roundRect">
            <a:avLst>
              <a:gd name="adj" fmla="val 216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lumn head 1"/>
          <p:cNvSpPr txBox="1"/>
          <p:nvPr/>
        </p:nvSpPr>
        <p:spPr>
          <a:xfrm>
            <a:off x="777240" y="253288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In</a:t>
            </a:r>
            <a:endParaRPr lang="en-GB" sz="2800"/>
          </a:p>
        </p:txBody>
      </p:sp>
      <p:sp>
        <p:nvSpPr>
          <p:cNvPr id="9" name="Column bullets 1"/>
          <p:cNvSpPr txBox="1"/>
          <p:nvPr/>
        </p:nvSpPr>
        <p:spPr>
          <a:xfrm>
            <a:off x="777240" y="3096768"/>
            <a:ext cx="3027680" cy="248412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400" lang="en-GB">
                <a:solidFill>
                  <a:srgbClr val="263238"/>
                </a:solidFill>
                <a:latin typeface="+mn-lt"/>
              </a:rPr>
              <a:t>One LAZ file, 200 m × 200 m</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x, y, z per laser echo</a:t>
            </a:r>
            <a:endParaRPr lang="en-GB" sz="2400"/>
          </a:p>
        </p:txBody>
      </p:sp>
      <p:sp>
        <p:nvSpPr>
          <p:cNvPr id="10" name="Column tile 2">
            <a:extLst>
              <a:ext uri="{C183D7F6-B498-43B3-948B-1728B52AA6E4}">
                <adec:decorative xmlns:adec="http://schemas.microsoft.com/office/drawing/2017/decorative" val="1"/>
              </a:ext>
            </a:extLst>
          </p:cNvPr>
          <p:cNvSpPr/>
          <p:nvPr/>
        </p:nvSpPr>
        <p:spPr>
          <a:xfrm>
            <a:off x="4353560" y="2331720"/>
            <a:ext cx="3484880" cy="3386328"/>
          </a:xfrm>
          <a:prstGeom prst="roundRect">
            <a:avLst>
              <a:gd name="adj" fmla="val 216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lumn head 2"/>
          <p:cNvSpPr txBox="1"/>
          <p:nvPr/>
        </p:nvSpPr>
        <p:spPr>
          <a:xfrm>
            <a:off x="4582160" y="253288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Out</a:t>
            </a:r>
            <a:endParaRPr lang="en-GB" sz="2800"/>
          </a:p>
        </p:txBody>
      </p:sp>
      <p:sp>
        <p:nvSpPr>
          <p:cNvPr id="12" name="Column bullets 2"/>
          <p:cNvSpPr txBox="1"/>
          <p:nvPr/>
        </p:nvSpPr>
        <p:spPr>
          <a:xfrm>
            <a:off x="4582160" y="3096768"/>
            <a:ext cx="3027680" cy="248412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400" lang="en-GB">
                <a:solidFill>
                  <a:srgbClr val="263238"/>
                </a:solidFill>
                <a:latin typeface="+mn-lt"/>
              </a:rPr>
              <a:t>A class per point: ground, buildings, vegetation, street furniture</a:t>
            </a:r>
            <a:endParaRPr lang="en-GB" sz="2400"/>
          </a:p>
        </p:txBody>
      </p:sp>
      <p:sp>
        <p:nvSpPr>
          <p:cNvPr id="13" name="Column tile 3">
            <a:extLst>
              <a:ext uri="{C183D7F6-B498-43B3-948B-1728B52AA6E4}">
                <adec:decorative xmlns:adec="http://schemas.microsoft.com/office/drawing/2017/decorative" val="1"/>
              </a:ext>
            </a:extLst>
          </p:cNvPr>
          <p:cNvSpPr/>
          <p:nvPr/>
        </p:nvSpPr>
        <p:spPr>
          <a:xfrm>
            <a:off x="8158480" y="2331720"/>
            <a:ext cx="3484880" cy="3386328"/>
          </a:xfrm>
          <a:prstGeom prst="roundRect">
            <a:avLst>
              <a:gd name="adj" fmla="val 216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lumn head 3"/>
          <p:cNvSpPr txBox="1"/>
          <p:nvPr/>
        </p:nvSpPr>
        <p:spPr>
          <a:xfrm>
            <a:off x="8387080" y="253288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Checked against</a:t>
            </a:r>
            <a:endParaRPr lang="en-GB" sz="2800"/>
          </a:p>
        </p:txBody>
      </p:sp>
      <p:sp>
        <p:nvSpPr>
          <p:cNvPr id="15" name="Column bullets 3"/>
          <p:cNvSpPr txBox="1"/>
          <p:nvPr/>
        </p:nvSpPr>
        <p:spPr>
          <a:xfrm>
            <a:off x="8387080" y="3096768"/>
            <a:ext cx="3027680" cy="248412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400" lang="en-GB">
                <a:solidFill>
                  <a:srgbClr val="263238"/>
                </a:solidFill>
                <a:latin typeface="+mn-lt"/>
              </a:rPr>
              <a:t>Ground, buildings: AHN's own classes</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Poles: the BGT register</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Vegetation: no reference</a:t>
            </a:r>
            <a:endParaRPr lang="en-GB" sz="2400"/>
          </a:p>
        </p:txBody>
      </p:sp>
      <p:sp>
        <p:nvSpPr>
          <p:cNvPr id="16"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2B6797"/>
                </a:solidFill>
                <a:latin typeface="Fira Sans SemiBold"/>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Eight chapters, three questions</a:t>
            </a:r>
          </a:p>
        </p:txBody>
      </p:sp>
      <p:graphicFrame>
        <p:nvGraphicFramePr>
          <p:cNvPr id="6" name="Appendix table" descr="Agenda table with four columns: chapter, what you get, the rule it proves, minutes. Intro: the problem, the goal, this map, 3 minutes. Data: how a plane scans, the case, the scope, 3. Toolbox: four rules and a library for every layer, 2. Pipeline: six steps from LAZ file to labels, proves rules 1 and 2, 8. Memory: does it fit, a full AHN sheet, rule 2, 2. Speed: is it fast, a loop against one call, rule 3, 5. Reality: is it right, the register against the scan, rule 4, 1. Wrap-up: the rules in numbers, limits, next, 3."/>
          <p:cNvGraphicFramePr>
            <a:graphicFrameLocks noGrp="1"/>
          </p:cNvGraphicFramePr>
          <p:nvPr/>
        </p:nvGraphicFramePr>
        <p:xfrm>
          <a:off x="548640" y="1600200"/>
          <a:ext cx="11094721" cy="3346704"/>
        </p:xfrm>
        <a:graphic>
          <a:graphicData uri="http://schemas.openxmlformats.org/drawingml/2006/table">
            <a:tbl>
              <a:tblPr firstRow="0" bandRow="0">
                <a:tableStyleId>{2D5ABB26-0587-4C30-8999-92F81FD0307C}</a:tableStyleId>
              </a:tblPr>
              <a:tblGrid>
                <a:gridCol w="1575582"/>
                <a:gridCol w="6367975"/>
                <a:gridCol w="1575582"/>
                <a:gridCol w="1575582"/>
              </a:tblGrid>
              <a:tr h="371856">
                <a:tc>
                  <a:txBody>
                    <a:bodyPr/>
                    <a:lstStyle/>
                    <a:p>
                      <a:pPr marL="0" indent="0" algn="l">
                        <a:lnSpc>
                          <a:spcPct val="95000"/>
                        </a:lnSpc>
                        <a:spcBef>
                          <a:spcPts val="0"/>
                        </a:spcBef>
                        <a:spcAft>
                          <a:spcPts val="0"/>
                        </a:spcAft>
                        <a:buNone/>
                      </a:pPr>
                      <a:r>
                        <a:rPr sz="2000" lang="en-GB">
                          <a:solidFill>
                            <a:srgbClr val="FFFFFF"/>
                          </a:solidFill>
                          <a:latin typeface="Fira Sans SemiBold"/>
                        </a:rPr>
                        <a:t>Chapter</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2000" lang="en-GB">
                          <a:solidFill>
                            <a:srgbClr val="FFFFFF"/>
                          </a:solidFill>
                          <a:latin typeface="Fira Sans SemiBold"/>
                        </a:rPr>
                        <a:t>What you get</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2000" lang="en-GB">
                          <a:solidFill>
                            <a:srgbClr val="FFFFFF"/>
                          </a:solidFill>
                          <a:latin typeface="Fira Sans SemiBold"/>
                        </a:rPr>
                        <a:t>Rule</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2000" lang="en-GB">
                          <a:solidFill>
                            <a:srgbClr val="FFFFFF"/>
                          </a:solidFill>
                          <a:latin typeface="Fira Sans SemiBold"/>
                        </a:rPr>
                        <a:t>Min</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Intro</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The problem, the goal, this map</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3</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Data</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How a plane scans; the case; the scope</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3</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Toolbox</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Four rules; a library for every layer</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2</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Pipeline</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Six steps from LAZ file to labels</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1, 2</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8</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Memory</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Does it fit? A full AHN sheet</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2</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2</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Speed</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Is it fast? A loop against one call</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3</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5</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Reality</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Is it right? The register against the scan</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4</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2000" lang="en-GB">
                          <a:solidFill>
                            <a:srgbClr val="263238"/>
                          </a:solidFill>
                          <a:latin typeface="+mn-lt"/>
                        </a:rPr>
                        <a:t>1</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71856">
                <a:tc>
                  <a:txBody>
                    <a:bodyPr/>
                    <a:lstStyle/>
                    <a:p>
                      <a:pPr marL="0" indent="0" algn="l">
                        <a:lnSpc>
                          <a:spcPct val="95000"/>
                        </a:lnSpc>
                        <a:spcBef>
                          <a:spcPts val="0"/>
                        </a:spcBef>
                        <a:spcAft>
                          <a:spcPts val="0"/>
                        </a:spcAft>
                        <a:buNone/>
                      </a:pPr>
                      <a:r>
                        <a:rPr sz="2000" lang="en-GB">
                          <a:solidFill>
                            <a:srgbClr val="263238"/>
                          </a:solidFill>
                          <a:latin typeface="+mn-lt"/>
                        </a:rPr>
                        <a:t>Wrap-up</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The rules in numbers; limits; next</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2000" lang="en-GB">
                          <a:solidFill>
                            <a:srgbClr val="263238"/>
                          </a:solidFill>
                          <a:latin typeface="+mn-lt"/>
                        </a:rPr>
                        <a:t>3</a:t>
                      </a:r>
                      <a:endParaRPr lang="en-GB" sz="20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bl>
          </a:graphicData>
        </a:graphic>
      </p:graphicFrame>
      <p:sp>
        <p:nvSpPr>
          <p:cNvPr id="7"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2B6797"/>
                </a:solidFill>
                <a:latin typeface="Fira Sans SemiBold"/>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plane sweeps a strip with a laser</a:t>
            </a:r>
          </a:p>
        </p:txBody>
      </p:sp>
      <p:pic>
        <p:nvPicPr>
          <p:cNvPr id="6" name="Concept figure" descr="Schematic side view: a plane flies over a street; laser rays fan out below it. One ray hits the ground, one passes a leaf-off tree and leaves three echoes on the way down, one hits a pole, two hit a flat roof; the building's wall is hardly hit. Labels: GNSS, where the plane is; IMU, how it is tilted; each dot is one point, x, y, z from range and position. Inset top left, from above: the flight line, and the strip the scanner sweeps in a zigzag."/>
          <p:cNvPicPr>
            <a:picLocks noChangeAspect="1"/>
          </p:cNvPicPr>
          <p:nvPr/>
        </p:nvPicPr>
        <p:blipFill>
          <a:blip r:embed="rId2"/>
          <a:stretch>
            <a:fillRect/>
          </a:stretch>
        </p:blipFill>
        <p:spPr>
          <a:xfrm>
            <a:off x="548640" y="1554480"/>
            <a:ext cx="6583680" cy="4114800"/>
          </a:xfrm>
          <a:prstGeom prst="rect">
            <a:avLst/>
          </a:prstGeom>
        </p:spPr>
      </p:pic>
      <p:sp>
        <p:nvSpPr>
          <p:cNvPr id="9" name="Concept bullets"/>
          <p:cNvSpPr txBox="1"/>
          <p:nvPr/>
        </p:nvSpPr>
        <p:spPr>
          <a:xfrm>
            <a:off x="7452360" y="2392680"/>
            <a:ext cx="4191000" cy="38249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A scanning laser, not one spot: it sweeps a strip</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One pulse can leave up to 7 echoes, in trees most</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Roofs dense, walls sparse, thin poles often missed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This crop: 691 011 pulses in 19.8 s of flight</a:t>
            </a:r>
            <a:endParaRPr lang="en-GB" sz="2000"/>
          </a:p>
        </p:txBody>
      </p:sp>
      <p:sp>
        <p:nvSpPr>
          <p:cNvPr id="8" name="Support"/>
          <p:cNvSpPr txBox="1"/>
          <p:nvPr/>
        </p:nvSpPr>
        <p:spPr>
          <a:xfrm>
            <a:off x="7452360" y="1554480"/>
            <a:ext cx="4191000"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x, y, z = range + GNSS position + IMU tilt.</a:t>
            </a:r>
            <a:endParaRPr lang="en-GB" sz="2000"/>
          </a:p>
        </p:txBody>
      </p:sp>
      <p:sp>
        <p:nvSpPr>
          <p:cNvPr id="7" name="Small print caption"/>
          <p:cNvSpPr txBox="1"/>
          <p:nvPr/>
        </p:nvSpPr>
        <p:spPr>
          <a:xfrm>
            <a:off x="548640" y="5760720"/>
            <a:ext cx="658368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Schematic side view, inset from above; not to scale.</a:t>
            </a:r>
            <a:endParaRPr lang="en-GB" sz="1200"/>
          </a:p>
        </p:txBody>
      </p:sp>
      <p:sp>
        <p:nvSpPr>
          <p:cNvPr id="10"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2B6797"/>
                </a:solidFill>
                <a:latin typeface="Fira Sans SemiBold"/>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Today's case: the block around the Jaarbeurs</a:t>
            </a:r>
          </a:p>
        </p:txBody>
      </p:sp>
      <p:pic>
        <p:nvPicPr>
          <p:cNvPr id="6" name="Render raw" descr="Bird's-eye render of the Jaarbeurs hall in Utrecht and the streets, trees and buildings around it, coloured by height from blue near the ground through sage to white on the roofs."/>
          <p:cNvPicPr>
            <a:picLocks noChangeAspect="1"/>
          </p:cNvPicPr>
          <p:nvPr/>
        </p:nvPicPr>
        <p:blipFill>
          <a:blip r:embed="rId2"/>
          <a:stretch>
            <a:fillRect/>
          </a:stretch>
        </p:blipFill>
        <p:spPr>
          <a:xfrm>
            <a:off x="548640" y="1554480"/>
            <a:ext cx="2941153" cy="3318984"/>
          </a:xfrm>
          <a:prstGeom prst="rect">
            <a:avLst/>
          </a:prstGeom>
        </p:spPr>
      </p:pic>
      <p:pic>
        <p:nvPicPr>
          <p:cNvPr id="7" name="Render labels" descr="The same view with our labels: ground slate grey, buildings light blue, vegetation sage green, street furniture white."/>
          <p:cNvPicPr>
            <a:picLocks noChangeAspect="1"/>
          </p:cNvPicPr>
          <p:nvPr/>
        </p:nvPicPr>
        <p:blipFill>
          <a:blip r:embed="rId3"/>
          <a:stretch>
            <a:fillRect/>
          </a:stretch>
        </p:blipFill>
        <p:spPr>
          <a:xfrm>
            <a:off x="4358473" y="1554480"/>
            <a:ext cx="2941153" cy="3318984"/>
          </a:xfrm>
          <a:prstGeom prst="rect">
            <a:avLst/>
          </a:prstGeom>
        </p:spPr>
      </p:pic>
      <p:sp>
        <p:nvSpPr>
          <p:cNvPr id="8" name="Arrow raw to labels">
            <a:extLst>
              <a:ext uri="{C183D7F6-B498-43B3-948B-1728B52AA6E4}">
                <adec:decorative xmlns:adec="http://schemas.microsoft.com/office/drawing/2017/decorative" val="1"/>
              </a:ext>
            </a:extLst>
          </p:cNvPr>
          <p:cNvSpPr/>
          <p:nvPr/>
        </p:nvSpPr>
        <p:spPr>
          <a:xfrm>
            <a:off x="3668101" y="3012804"/>
            <a:ext cx="512064" cy="402336"/>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Edge arrow Jaarbeurs" descr="Arrow pointing down at the roof of the Jaarbeurs hall"/>
          <p:cNvGrpSpPr/>
          <p:nvPr/>
        </p:nvGrpSpPr>
        <p:grpSpPr>
          <a:xfrm>
            <a:off x="1135128" y="1760400"/>
            <a:ext cx="1886712" cy="1188720"/>
            <a:chOff x="1135128" y="1760400"/>
            <a:chExt cx="1886712" cy="1188720"/>
          </a:xfrm>
        </p:grpSpPr>
        <p:sp>
          <p:nvSpPr>
            <p:cNvPr id="9" name="Edge arrow"/>
            <p:cNvSpPr/>
            <p:nvPr/>
          </p:nvSpPr>
          <p:spPr>
            <a:xfrm>
              <a:off x="1941324" y="2235888"/>
              <a:ext cx="274320" cy="713232"/>
            </a:xfrm>
            <a:prstGeom prst="downArrow">
              <a:avLst/>
            </a:prstGeom>
            <a:solidFill>
              <a:srgbClr val="B1CAC5"/>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ge label"/>
            <p:cNvSpPr/>
            <p:nvPr/>
          </p:nvSpPr>
          <p:spPr>
            <a:xfrm>
              <a:off x="1135128" y="1760400"/>
              <a:ext cx="1886712" cy="420624"/>
            </a:xfrm>
            <a:prstGeom prst="roundRect">
              <a:avLst>
                <a:gd name="adj" fmla="val 17391"/>
              </a:avLst>
            </a:prstGeom>
            <a:solidFill>
              <a:srgbClr val="1C325B"/>
            </a:solidFill>
            <a:ln w="1587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91440" tIns="0" rIns="91440" bIns="0">
              <a:noAutofit/>
            </a:bodyPr>
            <a:lstStyle/>
            <a:p>
              <a:pPr algn="ctr" marL="0" indent="0">
                <a:spcBef>
                  <a:spcPts val="0"/>
                </a:spcBef>
                <a:spcAft>
                  <a:spcPts val="0"/>
                </a:spcAft>
                <a:buNone/>
              </a:pPr>
              <a:r>
                <a:rPr sz="2000" b="1" lang="en-GB">
                  <a:solidFill>
                    <a:srgbClr val="FFFFFF"/>
                  </a:solidFill>
                  <a:latin typeface="+mn-lt"/>
                </a:rPr>
                <a:t>Jaarbeurs hall</a:t>
              </a:r>
              <a:endParaRPr lang="en-GB" sz="2000"/>
            </a:p>
          </p:txBody>
        </p:sp>
      </p:grpSp>
      <p:grpSp>
        <p:nvGrpSpPr>
          <p:cNvPr id="11" name="Data set" descr="Specification of the data set: area 200 m by 200 m; 722 961 points, about 18 per square metre; source AHN5 from ahn.nl; flown in April 2023, at night; a 4.3 MB LAZ file; coordinates in RD New with NAP heights; licence CC BY 4.0."/>
          <p:cNvGrpSpPr/>
          <p:nvPr/>
        </p:nvGrpSpPr>
        <p:grpSpPr>
          <a:xfrm>
            <a:off x="8031480" y="1554480"/>
            <a:ext cx="3611880" cy="3318984"/>
            <a:chOff x="8031480" y="1554480"/>
            <a:chExt cx="3611880" cy="3318984"/>
          </a:xfrm>
        </p:grpSpPr>
        <p:sp>
          <p:nvSpPr>
            <p:cNvPr id="12" name="spec heading"/>
            <p:cNvSpPr txBox="1"/>
            <p:nvPr/>
          </p:nvSpPr>
          <p:spPr>
            <a:xfrm>
              <a:off x="8031480" y="1554480"/>
              <a:ext cx="3611880" cy="457200"/>
            </a:xfrm>
            <a:prstGeom prst="rect">
              <a:avLst/>
            </a:prstGeom>
            <a:noFill/>
          </p:spPr>
          <p:txBody>
            <a:bodyPr wrap="none" anchor="t" lIns="0" tIns="0" rIns="0" bIns="0">
              <a:noAutofit/>
            </a:bodyPr>
            <a:lstStyle/>
            <a:p>
              <a:pPr algn="l"/>
              <a:r>
                <a:rPr sz="2400" b="0" i="0" lang="en-GB">
                  <a:solidFill>
                    <a:srgbClr val="1C325B"/>
                  </a:solidFill>
                  <a:latin typeface="Fira Sans SemiBold"/>
                </a:rPr>
                <a:t>The data set</a:t>
              </a:r>
            </a:p>
          </p:txBody>
        </p:sp>
        <p:cxnSp>
          <p:nvCxnSpPr>
            <p:cNvPr id="13" name="spec rule"/>
            <p:cNvCxnSpPr/>
            <p:nvPr/>
          </p:nvCxnSpPr>
          <p:spPr>
            <a:xfrm>
              <a:off x="8031480" y="2066544"/>
              <a:ext cx="3611880" cy="0"/>
            </a:xfrm>
            <a:prstGeom prst="line">
              <a:avLst/>
            </a:prstGeom>
            <a:ln w="19050">
              <a:solidFill>
                <a:srgbClr val="1C325B"/>
              </a:solidFill>
            </a:ln>
          </p:spPr>
          <p:style>
            <a:lnRef idx="2">
              <a:schemeClr val="accent1"/>
            </a:lnRef>
            <a:fillRef idx="0">
              <a:schemeClr val="accent1"/>
            </a:fillRef>
            <a:effectRef idx="1">
              <a:schemeClr val="accent1"/>
            </a:effectRef>
            <a:fontRef idx="minor">
              <a:schemeClr val="tx1"/>
            </a:fontRef>
          </p:style>
        </p:cxnSp>
        <p:sp>
          <p:nvSpPr>
            <p:cNvPr id="14" name="spec label 1"/>
            <p:cNvSpPr txBox="1"/>
            <p:nvPr/>
          </p:nvSpPr>
          <p:spPr>
            <a:xfrm>
              <a:off x="8031480" y="2066544"/>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Area</a:t>
              </a:r>
            </a:p>
          </p:txBody>
        </p:sp>
        <p:sp>
          <p:nvSpPr>
            <p:cNvPr id="15" name="spec value 1"/>
            <p:cNvSpPr txBox="1"/>
            <p:nvPr/>
          </p:nvSpPr>
          <p:spPr>
            <a:xfrm>
              <a:off x="9703816" y="2066544"/>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200 m × 200 m</a:t>
              </a:r>
            </a:p>
          </p:txBody>
        </p:sp>
        <p:cxnSp>
          <p:nvCxnSpPr>
            <p:cNvPr id="16" name="spec rule"/>
            <p:cNvCxnSpPr/>
            <p:nvPr/>
          </p:nvCxnSpPr>
          <p:spPr>
            <a:xfrm>
              <a:off x="8031480" y="241740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17" name="spec label 2"/>
            <p:cNvSpPr txBox="1"/>
            <p:nvPr/>
          </p:nvSpPr>
          <p:spPr>
            <a:xfrm>
              <a:off x="8031480" y="2417409"/>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Points</a:t>
              </a:r>
            </a:p>
          </p:txBody>
        </p:sp>
        <p:sp>
          <p:nvSpPr>
            <p:cNvPr id="18" name="spec value 2"/>
            <p:cNvSpPr txBox="1"/>
            <p:nvPr/>
          </p:nvSpPr>
          <p:spPr>
            <a:xfrm>
              <a:off x="9703816" y="2417409"/>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722 961</a:t>
              </a:r>
            </a:p>
          </p:txBody>
        </p:sp>
        <p:cxnSp>
          <p:nvCxnSpPr>
            <p:cNvPr id="19" name="spec rule"/>
            <p:cNvCxnSpPr/>
            <p:nvPr/>
          </p:nvCxnSpPr>
          <p:spPr>
            <a:xfrm>
              <a:off x="8031480" y="276827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0" name="spec label 3"/>
            <p:cNvSpPr txBox="1"/>
            <p:nvPr/>
          </p:nvSpPr>
          <p:spPr>
            <a:xfrm>
              <a:off x="8031480" y="2768274"/>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Density</a:t>
              </a:r>
            </a:p>
          </p:txBody>
        </p:sp>
        <p:sp>
          <p:nvSpPr>
            <p:cNvPr id="21" name="spec value 3"/>
            <p:cNvSpPr txBox="1"/>
            <p:nvPr/>
          </p:nvSpPr>
          <p:spPr>
            <a:xfrm>
              <a:off x="9703816" y="2768274"/>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about 18 per m²</a:t>
              </a:r>
            </a:p>
          </p:txBody>
        </p:sp>
        <p:cxnSp>
          <p:nvCxnSpPr>
            <p:cNvPr id="22" name="spec rule"/>
            <p:cNvCxnSpPr/>
            <p:nvPr/>
          </p:nvCxnSpPr>
          <p:spPr>
            <a:xfrm>
              <a:off x="8031480" y="311913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3" name="spec label 4"/>
            <p:cNvSpPr txBox="1"/>
            <p:nvPr/>
          </p:nvSpPr>
          <p:spPr>
            <a:xfrm>
              <a:off x="8031480" y="3119139"/>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Source</a:t>
              </a:r>
            </a:p>
          </p:txBody>
        </p:sp>
        <p:sp>
          <p:nvSpPr>
            <p:cNvPr id="24" name="spec value 4"/>
            <p:cNvSpPr txBox="1"/>
            <p:nvPr/>
          </p:nvSpPr>
          <p:spPr>
            <a:xfrm>
              <a:off x="9703816" y="3119139"/>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AHN5, ahn.nl</a:t>
              </a:r>
            </a:p>
          </p:txBody>
        </p:sp>
        <p:cxnSp>
          <p:nvCxnSpPr>
            <p:cNvPr id="25" name="spec rule"/>
            <p:cNvCxnSpPr/>
            <p:nvPr/>
          </p:nvCxnSpPr>
          <p:spPr>
            <a:xfrm>
              <a:off x="8031480" y="347000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6" name="spec label 5"/>
            <p:cNvSpPr txBox="1"/>
            <p:nvPr/>
          </p:nvSpPr>
          <p:spPr>
            <a:xfrm>
              <a:off x="8031480" y="3470004"/>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Flown</a:t>
              </a:r>
            </a:p>
          </p:txBody>
        </p:sp>
        <p:sp>
          <p:nvSpPr>
            <p:cNvPr id="27" name="spec value 5"/>
            <p:cNvSpPr txBox="1"/>
            <p:nvPr/>
          </p:nvSpPr>
          <p:spPr>
            <a:xfrm>
              <a:off x="9703816" y="3470004"/>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April 2023, night</a:t>
              </a:r>
            </a:p>
          </p:txBody>
        </p:sp>
        <p:cxnSp>
          <p:nvCxnSpPr>
            <p:cNvPr id="28" name="spec rule"/>
            <p:cNvCxnSpPr/>
            <p:nvPr/>
          </p:nvCxnSpPr>
          <p:spPr>
            <a:xfrm>
              <a:off x="8031480" y="382086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9" name="spec label 6"/>
            <p:cNvSpPr txBox="1"/>
            <p:nvPr/>
          </p:nvSpPr>
          <p:spPr>
            <a:xfrm>
              <a:off x="8031480" y="3820869"/>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File</a:t>
              </a:r>
            </a:p>
          </p:txBody>
        </p:sp>
        <p:sp>
          <p:nvSpPr>
            <p:cNvPr id="30" name="spec value 6"/>
            <p:cNvSpPr txBox="1"/>
            <p:nvPr/>
          </p:nvSpPr>
          <p:spPr>
            <a:xfrm>
              <a:off x="9703816" y="3820869"/>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LAZ, 4.3 MB</a:t>
              </a:r>
            </a:p>
          </p:txBody>
        </p:sp>
        <p:cxnSp>
          <p:nvCxnSpPr>
            <p:cNvPr id="31" name="spec rule"/>
            <p:cNvCxnSpPr/>
            <p:nvPr/>
          </p:nvCxnSpPr>
          <p:spPr>
            <a:xfrm>
              <a:off x="8031480" y="4171734"/>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2" name="spec label 7"/>
            <p:cNvSpPr txBox="1"/>
            <p:nvPr/>
          </p:nvSpPr>
          <p:spPr>
            <a:xfrm>
              <a:off x="8031480" y="4171734"/>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Coordinates</a:t>
              </a:r>
            </a:p>
          </p:txBody>
        </p:sp>
        <p:sp>
          <p:nvSpPr>
            <p:cNvPr id="33" name="spec value 7"/>
            <p:cNvSpPr txBox="1"/>
            <p:nvPr/>
          </p:nvSpPr>
          <p:spPr>
            <a:xfrm>
              <a:off x="9703816" y="4171734"/>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rPr>
                <a:t>RD New + NAP</a:t>
              </a:r>
            </a:p>
          </p:txBody>
        </p:sp>
        <p:cxnSp>
          <p:nvCxnSpPr>
            <p:cNvPr id="34" name="spec rule"/>
            <p:cNvCxnSpPr/>
            <p:nvPr/>
          </p:nvCxnSpPr>
          <p:spPr>
            <a:xfrm>
              <a:off x="8031480" y="4522599"/>
              <a:ext cx="361188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5" name="spec label 8"/>
            <p:cNvSpPr txBox="1"/>
            <p:nvPr/>
          </p:nvSpPr>
          <p:spPr>
            <a:xfrm>
              <a:off x="8031480" y="4522599"/>
              <a:ext cx="1672336" cy="350865"/>
            </a:xfrm>
            <a:prstGeom prst="rect">
              <a:avLst/>
            </a:prstGeom>
            <a:noFill/>
          </p:spPr>
          <p:txBody>
            <a:bodyPr wrap="none" anchor="ctr" lIns="0" tIns="0" rIns="0" bIns="0">
              <a:noAutofit/>
            </a:bodyPr>
            <a:lstStyle/>
            <a:p>
              <a:pPr algn="l"/>
              <a:r>
                <a:rPr sz="2000" b="0" i="0" lang="en-GB">
                  <a:solidFill>
                    <a:srgbClr val="1C325B"/>
                  </a:solidFill>
                  <a:latin typeface="Fira Sans SemiBold"/>
                </a:rPr>
                <a:t>Licence</a:t>
              </a:r>
            </a:p>
          </p:txBody>
        </p:sp>
        <p:sp>
          <p:nvSpPr>
            <p:cNvPr id="36" name="spec value 8"/>
            <p:cNvSpPr txBox="1"/>
            <p:nvPr/>
          </p:nvSpPr>
          <p:spPr>
            <a:xfrm>
              <a:off x="9703816" y="4522599"/>
              <a:ext cx="1939544" cy="350865"/>
            </a:xfrm>
            <a:prstGeom prst="rect">
              <a:avLst/>
            </a:prstGeom>
            <a:noFill/>
          </p:spPr>
          <p:txBody>
            <a:bodyPr wrap="none" anchor="ctr" lIns="0" tIns="0" rIns="0" bIns="0">
              <a:noAutofit/>
            </a:bodyPr>
            <a:lstStyle/>
            <a:p>
              <a:pPr algn="l"/>
              <a:r>
                <a:rPr sz="2000" b="0" i="0" lang="en-GB">
                  <a:solidFill>
                    <a:srgbClr val="263238"/>
                  </a:solidFill>
                  <a:latin typeface="Fira Sans"/>
                  <a:hlinkClick r:id="rId4">
                    <a:extLst>
                      <a:ext uri="{A12FA001-AC4F-418D-AE19-62706E023703}">
                        <ahyp:hlinkClr xmlns:ahyp="http://schemas.microsoft.com/office/drawing/2018/hyperlinkcolor" val="tx"/>
                      </a:ext>
                    </a:extLst>
                  </a:hlinkClick>
                </a:rPr>
                <a:t>CC BY 4.0</a:t>
              </a:r>
            </a:p>
          </p:txBody>
        </p:sp>
      </p:grpSp>
      <p:sp>
        <p:nvSpPr>
          <p:cNvPr id="37" name="Note box"/>
          <p:cNvSpPr/>
          <p:nvPr/>
        </p:nvSpPr>
        <p:spPr>
          <a:xfrm>
            <a:off x="548640" y="5056344"/>
            <a:ext cx="6750986" cy="822960"/>
          </a:xfrm>
          <a:prstGeom prst="roundRect">
            <a:avLst>
              <a:gd name="adj" fmla="val 8888"/>
            </a:avLst>
          </a:prstGeom>
          <a:solidFill>
            <a:srgbClr val="DFE8E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Note"/>
          <p:cNvSpPr txBox="1"/>
          <p:nvPr/>
        </p:nvSpPr>
        <p:spPr>
          <a:xfrm>
            <a:off x="713232" y="5193504"/>
            <a:ext cx="6421802" cy="548640"/>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455A64"/>
                </a:solidFill>
                <a:latin typeface="+mn-lt"/>
              </a:rPr>
              <a:t>Checked against AHN (ground, buildings) and the BGT pole register (street furniture).</a:t>
            </a:r>
            <a:endParaRPr lang="en-GB" sz="1800"/>
          </a:p>
        </p:txBody>
      </p:sp>
      <p:sp>
        <p:nvSpPr>
          <p:cNvPr id="39"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0"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2B6797"/>
                </a:solidFill>
                <a:latin typeface="Fira Sans SemiBold"/>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One object, three representations</a:t>
            </a:r>
          </a:p>
        </p:txBody>
      </p:sp>
      <p:pic>
        <p:nvPicPr>
          <p:cNvPr id="6" name="Concept figure" descr="The same small house three times. Left, a point cloud: scattered dots on its walls and roof. Middle, a mesh: flat triangles joined at shared edges. Right, a voxel grid: stacked cubes, blocky, with no gaps."/>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Point cloud: an unordered N×3 array plus attributes; no neighbours stored.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Mesh: vertices plus faces, so surfaces, normals and areas are defined.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Voxel grid: occupied cells at one resolution; detail below a cell is gone.</a:t>
            </a:r>
            <a:endParaRPr lang="en-GB" sz="20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Points measure, meshes connect, voxels index space. Convert only when the task needs it.</a:t>
            </a:r>
            <a:endParaRPr lang="en-GB" sz="2000"/>
          </a:p>
        </p:txBody>
      </p:sp>
      <p:sp>
        <p:nvSpPr>
          <p:cNvPr id="9"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2B6797"/>
                </a:solidFill>
                <a:latin typeface="Fira Sans SemiBold"/>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What this talk does, and doesn't</a:t>
            </a:r>
          </a:p>
        </p:txBody>
      </p:sp>
      <p:sp>
        <p:nvSpPr>
          <p:cNvPr id="6" name="Column tile 1">
            <a:extLst>
              <a:ext uri="{C183D7F6-B498-43B3-948B-1728B52AA6E4}">
                <adec:decorative xmlns:adec="http://schemas.microsoft.com/office/drawing/2017/decorative" val="1"/>
              </a:ext>
            </a:extLst>
          </p:cNvPr>
          <p:cNvSpPr/>
          <p:nvPr/>
        </p:nvSpPr>
        <p:spPr>
          <a:xfrm>
            <a:off x="548640" y="1554480"/>
            <a:ext cx="3484880" cy="4036568"/>
          </a:xfrm>
          <a:prstGeom prst="roundRect">
            <a:avLst>
              <a:gd name="adj" fmla="val 2099"/>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lumn head 1"/>
          <p:cNvSpPr txBox="1"/>
          <p:nvPr/>
        </p:nvSpPr>
        <p:spPr>
          <a:xfrm>
            <a:off x="777240" y="175564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In scope</a:t>
            </a:r>
            <a:endParaRPr lang="en-GB" sz="2800"/>
          </a:p>
        </p:txBody>
      </p:sp>
      <p:sp>
        <p:nvSpPr>
          <p:cNvPr id="8" name="Column bullets 1"/>
          <p:cNvSpPr txBox="1"/>
          <p:nvPr/>
        </p:nvSpPr>
        <p:spPr>
          <a:xfrm>
            <a:off x="777240" y="2319528"/>
            <a:ext cx="3027680" cy="31343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Airborne LiDAR, AHN5</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One 200 m × 200 m urban crop</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Four classes, rule-based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Standard Python libraries</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Speed and memory</a:t>
            </a:r>
            <a:endParaRPr lang="en-GB" sz="2000"/>
          </a:p>
        </p:txBody>
      </p:sp>
      <p:sp>
        <p:nvSpPr>
          <p:cNvPr id="9" name="Column tile 2">
            <a:extLst>
              <a:ext uri="{C183D7F6-B498-43B3-948B-1728B52AA6E4}">
                <adec:decorative xmlns:adec="http://schemas.microsoft.com/office/drawing/2017/decorative" val="1"/>
              </a:ext>
            </a:extLst>
          </p:cNvPr>
          <p:cNvSpPr/>
          <p:nvPr/>
        </p:nvSpPr>
        <p:spPr>
          <a:xfrm>
            <a:off x="4353560" y="1554480"/>
            <a:ext cx="3484880" cy="4036568"/>
          </a:xfrm>
          <a:prstGeom prst="roundRect">
            <a:avLst>
              <a:gd name="adj" fmla="val 2099"/>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lumn head 2"/>
          <p:cNvSpPr txBox="1"/>
          <p:nvPr/>
        </p:nvSpPr>
        <p:spPr>
          <a:xfrm>
            <a:off x="4582160" y="175564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Not today</a:t>
            </a:r>
            <a:endParaRPr lang="en-GB" sz="2800"/>
          </a:p>
        </p:txBody>
      </p:sp>
      <p:sp>
        <p:nvSpPr>
          <p:cNvPr id="11" name="Column bullets 2"/>
          <p:cNvSpPr txBox="1"/>
          <p:nvPr/>
        </p:nvSpPr>
        <p:spPr>
          <a:xfrm>
            <a:off x="4582160" y="2319528"/>
            <a:ext cx="3027680" cy="31343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Deep learning, trained models</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Mobile or terrestrial scans</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Meshes, registration</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CRS in depth, production</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State-of-the-art accuracy</a:t>
            </a:r>
            <a:endParaRPr lang="en-GB" sz="2000"/>
          </a:p>
        </p:txBody>
      </p:sp>
      <p:sp>
        <p:nvSpPr>
          <p:cNvPr id="12" name="Column tile 3">
            <a:extLst>
              <a:ext uri="{C183D7F6-B498-43B3-948B-1728B52AA6E4}">
                <adec:decorative xmlns:adec="http://schemas.microsoft.com/office/drawing/2017/decorative" val="1"/>
              </a:ext>
            </a:extLst>
          </p:cNvPr>
          <p:cNvSpPr/>
          <p:nvPr/>
        </p:nvSpPr>
        <p:spPr>
          <a:xfrm>
            <a:off x="8158480" y="1554480"/>
            <a:ext cx="3484880" cy="4036568"/>
          </a:xfrm>
          <a:prstGeom prst="roundRect">
            <a:avLst>
              <a:gd name="adj" fmla="val 2099"/>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lumn head 3"/>
          <p:cNvSpPr txBox="1"/>
          <p:nvPr/>
        </p:nvSpPr>
        <p:spPr>
          <a:xfrm>
            <a:off x="8387080" y="1755648"/>
            <a:ext cx="302768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Assumptions</a:t>
            </a:r>
            <a:endParaRPr lang="en-GB" sz="2800"/>
          </a:p>
        </p:txBody>
      </p:sp>
      <p:sp>
        <p:nvSpPr>
          <p:cNvPr id="14" name="Column bullets 3"/>
          <p:cNvSpPr txBox="1"/>
          <p:nvPr/>
        </p:nvSpPr>
        <p:spPr>
          <a:xfrm>
            <a:off x="8387080" y="2319528"/>
            <a:ext cx="3027680" cy="31343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Metres: RD New + NAP</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Ground: one plane per 25 m tile</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Voxel 0.5 m; inliers 0.4 m; objects &gt; 0.3 m</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DBSCAN eps 0.75 m, 6 points</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Thresholds tuned on this crop</a:t>
            </a:r>
            <a:endParaRPr lang="en-GB" sz="2000"/>
          </a:p>
        </p:txBody>
      </p:sp>
      <p:sp>
        <p:nvSpPr>
          <p:cNvPr id="15"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2B6797"/>
                </a:solidFill>
                <a:latin typeface="Fira Sans SemiBold"/>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Four rules this talk will prove</a:t>
            </a:r>
          </a:p>
        </p:txBody>
      </p:sp>
      <p:grpSp>
        <p:nvGrpSpPr>
          <p:cNvPr id="3" name="Rules of thumb" descr="Four tiles, one rule of thumb each. 1 Think in arrays, not points: a point cloud is an N by 3 table plus attribute columns. 2 Make it small first: crop, tile and downsample; scale up last. 3 Let compiled code loop: one call per array or tile, never per point. 4 Look before you compute: render it; check units, coordinates and classes. Each tile names the part of the talk that proves it: Pipeline; Pipeline and Memory; Speed; Reality."/>
          <p:cNvGrpSpPr/>
          <p:nvPr/>
        </p:nvGrpSpPr>
        <p:grpSpPr>
          <a:xfrm>
            <a:off x="548640" y="1600200"/>
            <a:ext cx="11094720" cy="4480272"/>
            <a:chOff x="548640" y="1600200"/>
            <a:chExt cx="11094720" cy="4480272"/>
          </a:xfrm>
        </p:grpSpPr>
        <p:sp>
          <p:nvSpPr>
            <p:cNvPr id="6" name="rule tile 1"/>
            <p:cNvSpPr/>
            <p:nvPr/>
          </p:nvSpPr>
          <p:spPr>
            <a:xfrm>
              <a:off x="54864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number 1"/>
            <p:cNvSpPr/>
            <p:nvPr/>
          </p:nvSpPr>
          <p:spPr>
            <a:xfrm>
              <a:off x="77724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1</a:t>
              </a:r>
            </a:p>
          </p:txBody>
        </p:sp>
        <p:sp>
          <p:nvSpPr>
            <p:cNvPr id="8" name="rule head 1"/>
            <p:cNvSpPr txBox="1"/>
            <p:nvPr/>
          </p:nvSpPr>
          <p:spPr>
            <a:xfrm>
              <a:off x="1517904" y="1886712"/>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Think in arrays, not points</a:t>
              </a:r>
            </a:p>
          </p:txBody>
        </p:sp>
        <p:sp>
          <p:nvSpPr>
            <p:cNvPr id="9" name="rule text 1"/>
            <p:cNvSpPr txBox="1"/>
            <p:nvPr/>
          </p:nvSpPr>
          <p:spPr>
            <a:xfrm>
              <a:off x="1517904" y="2478024"/>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A point cloud is an N×3 table plus attribute columns.</a:t>
              </a:r>
            </a:p>
            <a:p>
              <a:pPr algn="l">
                <a:spcBef>
                  <a:spcPts val="600"/>
                </a:spcBef>
              </a:pPr>
              <a:r>
                <a:rPr sz="2000" b="0" i="0" lang="en-GB">
                  <a:solidFill>
                    <a:srgbClr val="455A64"/>
                  </a:solidFill>
                  <a:latin typeface="Fira Sans"/>
                </a:rPr>
                <a:t>Proof: Pipeline</a:t>
              </a:r>
            </a:p>
          </p:txBody>
        </p:sp>
        <p:sp>
          <p:nvSpPr>
            <p:cNvPr id="10" name="rule tile 2"/>
            <p:cNvSpPr/>
            <p:nvPr/>
          </p:nvSpPr>
          <p:spPr>
            <a:xfrm>
              <a:off x="632460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le number 2"/>
            <p:cNvSpPr/>
            <p:nvPr/>
          </p:nvSpPr>
          <p:spPr>
            <a:xfrm>
              <a:off x="655320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2</a:t>
              </a:r>
            </a:p>
          </p:txBody>
        </p:sp>
        <p:sp>
          <p:nvSpPr>
            <p:cNvPr id="12" name="rule head 2"/>
            <p:cNvSpPr txBox="1"/>
            <p:nvPr/>
          </p:nvSpPr>
          <p:spPr>
            <a:xfrm>
              <a:off x="7293864" y="1886712"/>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Make it small first</a:t>
              </a:r>
            </a:p>
          </p:txBody>
        </p:sp>
        <p:sp>
          <p:nvSpPr>
            <p:cNvPr id="13" name="rule text 2"/>
            <p:cNvSpPr txBox="1"/>
            <p:nvPr/>
          </p:nvSpPr>
          <p:spPr>
            <a:xfrm>
              <a:off x="7293864" y="2478024"/>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Crop, tile and downsample; scale up last.</a:t>
              </a:r>
            </a:p>
            <a:p>
              <a:pPr algn="l">
                <a:spcBef>
                  <a:spcPts val="600"/>
                </a:spcBef>
              </a:pPr>
              <a:r>
                <a:rPr sz="2000" b="0" i="0" lang="en-GB">
                  <a:solidFill>
                    <a:srgbClr val="455A64"/>
                  </a:solidFill>
                  <a:latin typeface="Fira Sans"/>
                </a:rPr>
                <a:t>Proof: Pipeline, Memory</a:t>
              </a:r>
            </a:p>
          </p:txBody>
        </p:sp>
        <p:sp>
          <p:nvSpPr>
            <p:cNvPr id="14" name="rule tile 3"/>
            <p:cNvSpPr/>
            <p:nvPr/>
          </p:nvSpPr>
          <p:spPr>
            <a:xfrm>
              <a:off x="54864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le number 3"/>
            <p:cNvSpPr/>
            <p:nvPr/>
          </p:nvSpPr>
          <p:spPr>
            <a:xfrm>
              <a:off x="77724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3</a:t>
              </a:r>
            </a:p>
          </p:txBody>
        </p:sp>
        <p:sp>
          <p:nvSpPr>
            <p:cNvPr id="16" name="rule head 3"/>
            <p:cNvSpPr txBox="1"/>
            <p:nvPr/>
          </p:nvSpPr>
          <p:spPr>
            <a:xfrm>
              <a:off x="1517904" y="4264008"/>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Let compiled code loop</a:t>
              </a:r>
            </a:p>
          </p:txBody>
        </p:sp>
        <p:sp>
          <p:nvSpPr>
            <p:cNvPr id="17" name="rule text 3"/>
            <p:cNvSpPr txBox="1"/>
            <p:nvPr/>
          </p:nvSpPr>
          <p:spPr>
            <a:xfrm>
              <a:off x="1517904" y="4855320"/>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One call per array or tile, never per point.</a:t>
              </a:r>
            </a:p>
            <a:p>
              <a:pPr algn="l">
                <a:spcBef>
                  <a:spcPts val="600"/>
                </a:spcBef>
              </a:pPr>
              <a:r>
                <a:rPr sz="2000" b="0" i="0" lang="en-GB">
                  <a:solidFill>
                    <a:srgbClr val="455A64"/>
                  </a:solidFill>
                  <a:latin typeface="Fira Sans"/>
                </a:rPr>
                <a:t>Proof: Speed</a:t>
              </a:r>
            </a:p>
          </p:txBody>
        </p:sp>
        <p:sp>
          <p:nvSpPr>
            <p:cNvPr id="18" name="rule tile 4"/>
            <p:cNvSpPr/>
            <p:nvPr/>
          </p:nvSpPr>
          <p:spPr>
            <a:xfrm>
              <a:off x="632460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ule number 4"/>
            <p:cNvSpPr/>
            <p:nvPr/>
          </p:nvSpPr>
          <p:spPr>
            <a:xfrm>
              <a:off x="655320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4</a:t>
              </a:r>
            </a:p>
          </p:txBody>
        </p:sp>
        <p:sp>
          <p:nvSpPr>
            <p:cNvPr id="20" name="rule head 4"/>
            <p:cNvSpPr txBox="1"/>
            <p:nvPr/>
          </p:nvSpPr>
          <p:spPr>
            <a:xfrm>
              <a:off x="7293864" y="4264008"/>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Look before you compute</a:t>
              </a:r>
            </a:p>
          </p:txBody>
        </p:sp>
        <p:sp>
          <p:nvSpPr>
            <p:cNvPr id="21" name="rule text 4"/>
            <p:cNvSpPr txBox="1"/>
            <p:nvPr/>
          </p:nvSpPr>
          <p:spPr>
            <a:xfrm>
              <a:off x="7293864" y="4855320"/>
              <a:ext cx="4120896" cy="1042272"/>
            </a:xfrm>
            <a:prstGeom prst="rect">
              <a:avLst/>
            </a:prstGeom>
            <a:noFill/>
          </p:spPr>
          <p:txBody>
            <a:bodyPr wrap="square" anchor="t" lIns="0" tIns="0" rIns="0" bIns="0">
              <a:noAutofit/>
            </a:bodyPr>
            <a:lstStyle/>
            <a:p>
              <a:pPr algn="l"/>
              <a:r>
                <a:rPr sz="2400" b="0" i="0" lang="en-GB">
                  <a:solidFill>
                    <a:srgbClr val="263238"/>
                  </a:solidFill>
                  <a:latin typeface="Fira Sans"/>
                </a:rPr>
                <a:t>Render it; check units, coordinates and classes.</a:t>
              </a:r>
            </a:p>
            <a:p>
              <a:pPr algn="l">
                <a:spcBef>
                  <a:spcPts val="600"/>
                </a:spcBef>
              </a:pPr>
              <a:r>
                <a:rPr sz="2000" b="0" i="0" lang="en-GB">
                  <a:solidFill>
                    <a:srgbClr val="455A64"/>
                  </a:solidFill>
                  <a:latin typeface="Fira Sans"/>
                </a:rPr>
                <a:t>Proof: Reality</a:t>
              </a:r>
            </a:p>
          </p:txBody>
        </p:sp>
      </p:grpSp>
      <p:sp>
        <p:nvSpPr>
          <p:cNvPr id="22"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2B6797"/>
                </a:solidFill>
                <a:latin typeface="Fira Sans SemiBold"/>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Python already has a library for every layer</a:t>
            </a:r>
          </a:p>
        </p:txBody>
      </p:sp>
      <p:grpSp>
        <p:nvGrpSpPr>
          <p:cNvPr id="3" name="ecosystem_wall" descr="Ecosystem wall in five rows of logos; the five used in this talk's pipeline have a blue outline. Load and store: laspy (used), PDAL, pyproj. Arrays and speed: NumPy (used), SciPy (used), Numba, Dask. Process: Open3D (used), trimesh. Visualise: PyVista (used), VTK. Learn: scikit-learn, PyTorch3D."/>
          <p:cNvGrpSpPr/>
          <p:nvPr/>
        </p:nvGrpSpPr>
        <p:grpSpPr>
          <a:xfrm>
            <a:off x="548640" y="1600200"/>
            <a:ext cx="11094720" cy="4617432"/>
            <a:chOff x="548640" y="1600200"/>
            <a:chExt cx="11094720" cy="4617432"/>
          </a:xfrm>
        </p:grpSpPr>
        <p:sp>
          <p:nvSpPr>
            <p:cNvPr id="6" name="wall_label_1"/>
            <p:cNvSpPr txBox="1"/>
            <p:nvPr/>
          </p:nvSpPr>
          <p:spPr>
            <a:xfrm>
              <a:off x="548640" y="1600200"/>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Load and store</a:t>
              </a:r>
            </a:p>
          </p:txBody>
        </p:sp>
        <p:sp>
          <p:nvSpPr>
            <p:cNvPr id="7" name="wall_tile_1_1"/>
            <p:cNvSpPr/>
            <p:nvPr/>
          </p:nvSpPr>
          <p:spPr>
            <a:xfrm>
              <a:off x="2880360" y="160020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le_ref_text_1_1"/>
            <p:cNvSpPr txBox="1"/>
            <p:nvPr/>
          </p:nvSpPr>
          <p:spPr>
            <a:xfrm>
              <a:off x="2926080" y="1600200"/>
              <a:ext cx="2017014" cy="821074"/>
            </a:xfrm>
            <a:prstGeom prst="rect">
              <a:avLst/>
            </a:prstGeom>
            <a:noFill/>
          </p:spPr>
          <p:txBody>
            <a:bodyPr wrap="square" anchor="ctr" lIns="0" tIns="0" rIns="0" bIns="0">
              <a:noAutofit/>
            </a:bodyPr>
            <a:lstStyle/>
            <a:p>
              <a:pPr algn="ctr"/>
              <a:r>
                <a:rPr sz="1400" b="0" i="0" lang="en-GB">
                  <a:solidFill>
                    <a:srgbClr val="263238"/>
                  </a:solidFill>
                  <a:latin typeface="Fira Sans Medium"/>
                </a:rPr>
                <a:t>laspy</a:t>
              </a:r>
            </a:p>
          </p:txBody>
        </p:sp>
        <p:sp>
          <p:nvSpPr>
            <p:cNvPr id="9" name="wall_tile_1_2"/>
            <p:cNvSpPr/>
            <p:nvPr/>
          </p:nvSpPr>
          <p:spPr>
            <a:xfrm>
              <a:off x="5098542" y="160020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wall_logo_1_2" descr="PDAL logo"/>
            <p:cNvPicPr>
              <a:picLocks noChangeAspect="1"/>
            </p:cNvPicPr>
            <p:nvPr/>
          </p:nvPicPr>
          <p:blipFill>
            <a:blip r:embed="rId2"/>
            <a:stretch>
              <a:fillRect/>
            </a:stretch>
          </p:blipFill>
          <p:spPr>
            <a:xfrm>
              <a:off x="5941586" y="1691640"/>
              <a:ext cx="422366" cy="429406"/>
            </a:xfrm>
            <a:prstGeom prst="rect">
              <a:avLst/>
            </a:prstGeom>
          </p:spPr>
        </p:pic>
        <p:sp>
          <p:nvSpPr>
            <p:cNvPr id="11" name="tile_ref_1_2"/>
            <p:cNvSpPr txBox="1"/>
            <p:nvPr/>
          </p:nvSpPr>
          <p:spPr>
            <a:xfrm>
              <a:off x="5098542" y="2139334"/>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PDAL</a:t>
              </a:r>
            </a:p>
          </p:txBody>
        </p:sp>
        <p:sp>
          <p:nvSpPr>
            <p:cNvPr id="12" name="wall_tile_1_3"/>
            <p:cNvSpPr/>
            <p:nvPr/>
          </p:nvSpPr>
          <p:spPr>
            <a:xfrm>
              <a:off x="7316724" y="160020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wall_logo_1_3" descr="pyproj logo"/>
            <p:cNvPicPr>
              <a:picLocks noChangeAspect="1"/>
            </p:cNvPicPr>
            <p:nvPr/>
          </p:nvPicPr>
          <p:blipFill>
            <a:blip r:embed="rId3"/>
            <a:stretch>
              <a:fillRect/>
            </a:stretch>
          </p:blipFill>
          <p:spPr>
            <a:xfrm>
              <a:off x="7541182" y="1691640"/>
              <a:ext cx="1659539" cy="429406"/>
            </a:xfrm>
            <a:prstGeom prst="rect">
              <a:avLst/>
            </a:prstGeom>
          </p:spPr>
        </p:pic>
        <p:sp>
          <p:nvSpPr>
            <p:cNvPr id="14" name="tile_ref_1_3"/>
            <p:cNvSpPr txBox="1"/>
            <p:nvPr/>
          </p:nvSpPr>
          <p:spPr>
            <a:xfrm>
              <a:off x="7316724" y="2139334"/>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pyproj</a:t>
              </a:r>
            </a:p>
          </p:txBody>
        </p:sp>
        <p:sp>
          <p:nvSpPr>
            <p:cNvPr id="15" name="wall_label_2"/>
            <p:cNvSpPr txBox="1"/>
            <p:nvPr/>
          </p:nvSpPr>
          <p:spPr>
            <a:xfrm>
              <a:off x="548640" y="2549290"/>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Arrays and speed</a:t>
              </a:r>
            </a:p>
          </p:txBody>
        </p:sp>
        <p:sp>
          <p:nvSpPr>
            <p:cNvPr id="16" name="wall_tile_2_1"/>
            <p:cNvSpPr/>
            <p:nvPr/>
          </p:nvSpPr>
          <p:spPr>
            <a:xfrm>
              <a:off x="2880360" y="254929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wall_logo_2_1" descr="NumPy logo"/>
            <p:cNvPicPr>
              <a:picLocks noChangeAspect="1"/>
            </p:cNvPicPr>
            <p:nvPr/>
          </p:nvPicPr>
          <p:blipFill>
            <a:blip r:embed="rId4"/>
            <a:stretch>
              <a:fillRect/>
            </a:stretch>
          </p:blipFill>
          <p:spPr>
            <a:xfrm>
              <a:off x="3225483" y="2640730"/>
              <a:ext cx="1418208" cy="638194"/>
            </a:xfrm>
            <a:prstGeom prst="rect">
              <a:avLst/>
            </a:prstGeom>
          </p:spPr>
        </p:pic>
        <p:sp>
          <p:nvSpPr>
            <p:cNvPr id="18" name="wall_tile_2_2"/>
            <p:cNvSpPr/>
            <p:nvPr/>
          </p:nvSpPr>
          <p:spPr>
            <a:xfrm>
              <a:off x="5098542" y="2549290"/>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wall_logo_2_2" descr="SciPy logo"/>
            <p:cNvPicPr>
              <a:picLocks noChangeAspect="1"/>
            </p:cNvPicPr>
            <p:nvPr/>
          </p:nvPicPr>
          <p:blipFill>
            <a:blip r:embed="rId5"/>
            <a:stretch>
              <a:fillRect/>
            </a:stretch>
          </p:blipFill>
          <p:spPr>
            <a:xfrm>
              <a:off x="5938066" y="2640730"/>
              <a:ext cx="429406" cy="429406"/>
            </a:xfrm>
            <a:prstGeom prst="rect">
              <a:avLst/>
            </a:prstGeom>
          </p:spPr>
        </p:pic>
        <p:sp>
          <p:nvSpPr>
            <p:cNvPr id="20" name="tile_ref_2_2"/>
            <p:cNvSpPr txBox="1"/>
            <p:nvPr/>
          </p:nvSpPr>
          <p:spPr>
            <a:xfrm>
              <a:off x="5098542" y="3088423"/>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SciPy</a:t>
              </a:r>
            </a:p>
          </p:txBody>
        </p:sp>
        <p:sp>
          <p:nvSpPr>
            <p:cNvPr id="21" name="wall_tile_2_3"/>
            <p:cNvSpPr/>
            <p:nvPr/>
          </p:nvSpPr>
          <p:spPr>
            <a:xfrm>
              <a:off x="7316724" y="254929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wall_logo_2_3" descr="Numba logo"/>
            <p:cNvPicPr>
              <a:picLocks noChangeAspect="1"/>
            </p:cNvPicPr>
            <p:nvPr/>
          </p:nvPicPr>
          <p:blipFill>
            <a:blip r:embed="rId6"/>
            <a:stretch>
              <a:fillRect/>
            </a:stretch>
          </p:blipFill>
          <p:spPr>
            <a:xfrm>
              <a:off x="8156248" y="2640730"/>
              <a:ext cx="429406" cy="429406"/>
            </a:xfrm>
            <a:prstGeom prst="rect">
              <a:avLst/>
            </a:prstGeom>
          </p:spPr>
        </p:pic>
        <p:sp>
          <p:nvSpPr>
            <p:cNvPr id="23" name="tile_ref_2_3"/>
            <p:cNvSpPr txBox="1"/>
            <p:nvPr/>
          </p:nvSpPr>
          <p:spPr>
            <a:xfrm>
              <a:off x="7316724" y="3088423"/>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Numba</a:t>
              </a:r>
            </a:p>
          </p:txBody>
        </p:sp>
        <p:sp>
          <p:nvSpPr>
            <p:cNvPr id="24" name="wall_tile_2_4"/>
            <p:cNvSpPr/>
            <p:nvPr/>
          </p:nvSpPr>
          <p:spPr>
            <a:xfrm>
              <a:off x="9534906" y="2549290"/>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wall_logo_2_4" descr="Dask logo"/>
            <p:cNvPicPr>
              <a:picLocks noChangeAspect="1"/>
            </p:cNvPicPr>
            <p:nvPr/>
          </p:nvPicPr>
          <p:blipFill>
            <a:blip r:embed="rId7"/>
            <a:stretch>
              <a:fillRect/>
            </a:stretch>
          </p:blipFill>
          <p:spPr>
            <a:xfrm>
              <a:off x="9717879" y="2640730"/>
              <a:ext cx="1742508" cy="638194"/>
            </a:xfrm>
            <a:prstGeom prst="rect">
              <a:avLst/>
            </a:prstGeom>
          </p:spPr>
        </p:pic>
        <p:sp>
          <p:nvSpPr>
            <p:cNvPr id="26" name="wall_label_3"/>
            <p:cNvSpPr txBox="1"/>
            <p:nvPr/>
          </p:nvSpPr>
          <p:spPr>
            <a:xfrm>
              <a:off x="548640" y="3498379"/>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Process</a:t>
              </a:r>
            </a:p>
          </p:txBody>
        </p:sp>
        <p:sp>
          <p:nvSpPr>
            <p:cNvPr id="27" name="wall_tile_3_1"/>
            <p:cNvSpPr/>
            <p:nvPr/>
          </p:nvSpPr>
          <p:spPr>
            <a:xfrm>
              <a:off x="2880360" y="3498379"/>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wall_logo_3_1" descr="Open3D logo"/>
            <p:cNvPicPr>
              <a:picLocks noChangeAspect="1"/>
            </p:cNvPicPr>
            <p:nvPr/>
          </p:nvPicPr>
          <p:blipFill>
            <a:blip r:embed="rId8"/>
            <a:stretch>
              <a:fillRect/>
            </a:stretch>
          </p:blipFill>
          <p:spPr>
            <a:xfrm>
              <a:off x="2971800" y="3665812"/>
              <a:ext cx="1925574" cy="486207"/>
            </a:xfrm>
            <a:prstGeom prst="rect">
              <a:avLst/>
            </a:prstGeom>
          </p:spPr>
        </p:pic>
        <p:sp>
          <p:nvSpPr>
            <p:cNvPr id="29" name="wall_tile_3_2"/>
            <p:cNvSpPr/>
            <p:nvPr/>
          </p:nvSpPr>
          <p:spPr>
            <a:xfrm>
              <a:off x="5098542" y="3498379"/>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wall_logo_3_2" descr="trimesh logo"/>
            <p:cNvPicPr>
              <a:picLocks noChangeAspect="1"/>
            </p:cNvPicPr>
            <p:nvPr/>
          </p:nvPicPr>
          <p:blipFill>
            <a:blip r:embed="rId9"/>
            <a:stretch>
              <a:fillRect/>
            </a:stretch>
          </p:blipFill>
          <p:spPr>
            <a:xfrm>
              <a:off x="5189982" y="3765701"/>
              <a:ext cx="1925574" cy="286429"/>
            </a:xfrm>
            <a:prstGeom prst="rect">
              <a:avLst/>
            </a:prstGeom>
          </p:spPr>
        </p:pic>
        <p:sp>
          <p:nvSpPr>
            <p:cNvPr id="31" name="wall_label_4"/>
            <p:cNvSpPr txBox="1"/>
            <p:nvPr/>
          </p:nvSpPr>
          <p:spPr>
            <a:xfrm>
              <a:off x="548640" y="4447469"/>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Visualise</a:t>
              </a:r>
            </a:p>
          </p:txBody>
        </p:sp>
        <p:sp>
          <p:nvSpPr>
            <p:cNvPr id="32" name="wall_tile_4_1"/>
            <p:cNvSpPr/>
            <p:nvPr/>
          </p:nvSpPr>
          <p:spPr>
            <a:xfrm>
              <a:off x="2880360" y="4447469"/>
              <a:ext cx="2108454" cy="821074"/>
            </a:xfrm>
            <a:prstGeom prst="roundRect">
              <a:avLst>
                <a:gd name="adj" fmla="val 8909"/>
              </a:avLst>
            </a:prstGeom>
            <a:solidFill>
              <a:srgbClr val="FFFFFF"/>
            </a:solidFill>
            <a:ln w="28575">
              <a:solidFill>
                <a:srgbClr val="2B67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wall_logo_4_1" descr="PyVista logo"/>
            <p:cNvPicPr>
              <a:picLocks noChangeAspect="1"/>
            </p:cNvPicPr>
            <p:nvPr/>
          </p:nvPicPr>
          <p:blipFill>
            <a:blip r:embed="rId10"/>
            <a:stretch>
              <a:fillRect/>
            </a:stretch>
          </p:blipFill>
          <p:spPr>
            <a:xfrm>
              <a:off x="3185973" y="4538909"/>
              <a:ext cx="1497228" cy="638194"/>
            </a:xfrm>
            <a:prstGeom prst="rect">
              <a:avLst/>
            </a:prstGeom>
          </p:spPr>
        </p:pic>
        <p:sp>
          <p:nvSpPr>
            <p:cNvPr id="34" name="wall_tile_4_2"/>
            <p:cNvSpPr/>
            <p:nvPr/>
          </p:nvSpPr>
          <p:spPr>
            <a:xfrm>
              <a:off x="5098542" y="4447469"/>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wall_logo_4_2" descr="VTK logo"/>
            <p:cNvPicPr>
              <a:picLocks noChangeAspect="1"/>
            </p:cNvPicPr>
            <p:nvPr/>
          </p:nvPicPr>
          <p:blipFill>
            <a:blip r:embed="rId11"/>
            <a:stretch>
              <a:fillRect/>
            </a:stretch>
          </p:blipFill>
          <p:spPr>
            <a:xfrm>
              <a:off x="5557717" y="4538909"/>
              <a:ext cx="1190105" cy="638194"/>
            </a:xfrm>
            <a:prstGeom prst="rect">
              <a:avLst/>
            </a:prstGeom>
          </p:spPr>
        </p:pic>
        <p:sp>
          <p:nvSpPr>
            <p:cNvPr id="36" name="wall_label_5"/>
            <p:cNvSpPr txBox="1"/>
            <p:nvPr/>
          </p:nvSpPr>
          <p:spPr>
            <a:xfrm>
              <a:off x="548640" y="5396558"/>
              <a:ext cx="2240280" cy="821074"/>
            </a:xfrm>
            <a:prstGeom prst="rect">
              <a:avLst/>
            </a:prstGeom>
            <a:noFill/>
          </p:spPr>
          <p:txBody>
            <a:bodyPr wrap="square" anchor="ctr" lIns="0" tIns="0" rIns="0" bIns="0">
              <a:noAutofit/>
            </a:bodyPr>
            <a:lstStyle/>
            <a:p>
              <a:pPr algn="l"/>
              <a:r>
                <a:rPr sz="2000" b="0" i="0" lang="en-GB">
                  <a:solidFill>
                    <a:srgbClr val="1C325B"/>
                  </a:solidFill>
                  <a:latin typeface="Fira Sans SemiBold"/>
                </a:rPr>
                <a:t>Learn</a:t>
              </a:r>
            </a:p>
          </p:txBody>
        </p:sp>
        <p:sp>
          <p:nvSpPr>
            <p:cNvPr id="37" name="wall_tile_5_1"/>
            <p:cNvSpPr/>
            <p:nvPr/>
          </p:nvSpPr>
          <p:spPr>
            <a:xfrm>
              <a:off x="2880360" y="5396558"/>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wall_logo_5_1" descr="scikit-learn logo"/>
            <p:cNvPicPr>
              <a:picLocks noChangeAspect="1"/>
            </p:cNvPicPr>
            <p:nvPr/>
          </p:nvPicPr>
          <p:blipFill>
            <a:blip r:embed="rId12"/>
            <a:stretch>
              <a:fillRect/>
            </a:stretch>
          </p:blipFill>
          <p:spPr>
            <a:xfrm>
              <a:off x="3657104" y="5487998"/>
              <a:ext cx="554967" cy="429406"/>
            </a:xfrm>
            <a:prstGeom prst="rect">
              <a:avLst/>
            </a:prstGeom>
          </p:spPr>
        </p:pic>
        <p:sp>
          <p:nvSpPr>
            <p:cNvPr id="39" name="tile_ref_5_1"/>
            <p:cNvSpPr txBox="1"/>
            <p:nvPr/>
          </p:nvSpPr>
          <p:spPr>
            <a:xfrm>
              <a:off x="2880360" y="5935692"/>
              <a:ext cx="2108454" cy="208788"/>
            </a:xfrm>
            <a:prstGeom prst="rect">
              <a:avLst/>
            </a:prstGeom>
            <a:noFill/>
          </p:spPr>
          <p:txBody>
            <a:bodyPr wrap="square" anchor="t" lIns="0" tIns="0" rIns="0" bIns="0">
              <a:noAutofit/>
            </a:bodyPr>
            <a:lstStyle/>
            <a:p>
              <a:pPr algn="ctr"/>
              <a:r>
                <a:rPr sz="1200" b="0" i="0" lang="en-GB">
                  <a:solidFill>
                    <a:srgbClr val="455A64"/>
                  </a:solidFill>
                  <a:latin typeface="Fira Sans"/>
                </a:rPr>
                <a:t>scikit-learn</a:t>
              </a:r>
            </a:p>
          </p:txBody>
        </p:sp>
        <p:sp>
          <p:nvSpPr>
            <p:cNvPr id="40" name="wall_tile_5_2"/>
            <p:cNvSpPr/>
            <p:nvPr/>
          </p:nvSpPr>
          <p:spPr>
            <a:xfrm>
              <a:off x="5098542" y="5396558"/>
              <a:ext cx="2108454" cy="821074"/>
            </a:xfrm>
            <a:prstGeom prst="roundRect">
              <a:avLst>
                <a:gd name="adj" fmla="val 8909"/>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wall_logo_5_2" descr="PyTorch3D logo"/>
            <p:cNvPicPr>
              <a:picLocks noChangeAspect="1"/>
            </p:cNvPicPr>
            <p:nvPr/>
          </p:nvPicPr>
          <p:blipFill>
            <a:blip r:embed="rId13"/>
            <a:stretch>
              <a:fillRect/>
            </a:stretch>
          </p:blipFill>
          <p:spPr>
            <a:xfrm>
              <a:off x="5189982" y="5561585"/>
              <a:ext cx="1925574" cy="491021"/>
            </a:xfrm>
            <a:prstGeom prst="rect">
              <a:avLst/>
            </a:prstGeom>
          </p:spPr>
        </p:pic>
      </p:grpSp>
      <p:sp>
        <p:nvSpPr>
          <p:cNvPr id="42"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2B6797"/>
                </a:solidFill>
                <a:latin typeface="Fira Sans SemiBold"/>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Python plans; compiled code does the work</a:t>
            </a:r>
          </a:p>
        </p:txBody>
      </p:sp>
      <p:pic>
        <p:nvPicPr>
          <p:cNvPr id="6" name="Meme" descr="Scooby-Doo unmasking meme. Top: Fred touches the hood of a tied-up ghost whose head is the Python logo. Bottom: the unmasked figure's head is the C++ logo. Caption: Let's see who's really behind the mask."/>
          <p:cNvPicPr>
            <a:picLocks noChangeAspect="1"/>
          </p:cNvPicPr>
          <p:nvPr/>
        </p:nvPicPr>
        <p:blipFill>
          <a:blip r:embed="rId2"/>
          <a:stretch>
            <a:fillRect/>
          </a:stretch>
        </p:blipFill>
        <p:spPr>
          <a:xfrm>
            <a:off x="548640" y="1554480"/>
            <a:ext cx="3492863" cy="4663152"/>
          </a:xfrm>
          <a:prstGeom prst="rect">
            <a:avLst/>
          </a:prstGeom>
        </p:spPr>
      </p:pic>
      <p:sp>
        <p:nvSpPr>
          <p:cNvPr id="8" name="Meme bullets"/>
          <p:cNvSpPr txBox="1"/>
          <p:nvPr/>
        </p:nvSpPr>
        <p:spPr>
          <a:xfrm>
            <a:off x="4498703" y="2133600"/>
            <a:ext cx="7144657" cy="408403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NumPy: a compiled C core, with some C++</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Open3D: C++, wrapped for Python</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PyVista: VTK, which is C++</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laspy: the lazrs decoder is Rust</a:t>
            </a:r>
            <a:endParaRPr lang="en-GB" sz="2000"/>
          </a:p>
        </p:txBody>
      </p:sp>
      <p:sp>
        <p:nvSpPr>
          <p:cNvPr id="7" name="Support"/>
          <p:cNvSpPr txBox="1"/>
          <p:nvPr/>
        </p:nvSpPr>
        <p:spPr>
          <a:xfrm>
            <a:off x="4498703" y="1554480"/>
            <a:ext cx="7144657"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Every call you make here runs compiled code</a:t>
            </a:r>
            <a:endParaRPr lang="en-GB" sz="2000"/>
          </a:p>
        </p:txBody>
      </p:sp>
      <p:sp>
        <p:nvSpPr>
          <p:cNvPr id="9"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2B6797"/>
                </a:solidFill>
                <a:latin typeface="Fira Sans SemiBold"/>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Six steps: from LAZ file to labels</a:t>
            </a:r>
          </a:p>
        </p:txBody>
      </p:sp>
      <p:pic>
        <p:nvPicPr>
          <p:cNvPr id="6" name="!!render" descr="Six thumbnails of the same area from the same camera, one per pipeline step: load, voxel downsampling, ground removal, clustering, labelling, paint-back."/>
          <p:cNvPicPr>
            <a:picLocks noChangeAspect="1"/>
          </p:cNvPicPr>
          <p:nvPr/>
        </p:nvPicPr>
        <p:blipFill>
          <a:blip r:embed="rId2"/>
          <a:stretch>
            <a:fillRect/>
          </a:stretch>
        </p:blipFill>
        <p:spPr>
          <a:xfrm>
            <a:off x="548640" y="2249331"/>
            <a:ext cx="1620520" cy="1828698"/>
          </a:xfrm>
          <a:prstGeom prst="rect">
            <a:avLst/>
          </a:prstGeom>
        </p:spPr>
      </p:pic>
      <p:sp>
        <p:nvSpPr>
          <p:cNvPr id="7" name="film_sep_1">
            <a:extLst>
              <a:ext uri="{C183D7F6-B498-43B3-948B-1728B52AA6E4}">
                <adec:decorative xmlns:adec="http://schemas.microsoft.com/office/drawing/2017/decorative" val="1"/>
              </a:ext>
            </a:extLst>
          </p:cNvPr>
          <p:cNvSpPr/>
          <p:nvPr/>
        </p:nvSpPr>
        <p:spPr>
          <a:xfrm>
            <a:off x="220573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lm_name_1"/>
          <p:cNvSpPr txBox="1"/>
          <p:nvPr/>
        </p:nvSpPr>
        <p:spPr>
          <a:xfrm>
            <a:off x="42976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Load</a:t>
            </a:r>
          </a:p>
        </p:txBody>
      </p:sp>
      <p:sp>
        <p:nvSpPr>
          <p:cNvPr id="9" name="film_tag_1"/>
          <p:cNvSpPr txBox="1"/>
          <p:nvPr/>
        </p:nvSpPr>
        <p:spPr>
          <a:xfrm>
            <a:off x="42976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laspy</a:t>
            </a:r>
          </a:p>
        </p:txBody>
      </p:sp>
      <p:pic>
        <p:nvPicPr>
          <p:cNvPr id="10" name="film_2" descr="Thumbnail 2: Voxel downsampling"/>
          <p:cNvPicPr>
            <a:picLocks noChangeAspect="1"/>
          </p:cNvPicPr>
          <p:nvPr/>
        </p:nvPicPr>
        <p:blipFill>
          <a:blip r:embed="rId3"/>
          <a:stretch>
            <a:fillRect/>
          </a:stretch>
        </p:blipFill>
        <p:spPr>
          <a:xfrm>
            <a:off x="2443480" y="2249331"/>
            <a:ext cx="1620520" cy="1828698"/>
          </a:xfrm>
          <a:prstGeom prst="rect">
            <a:avLst/>
          </a:prstGeom>
        </p:spPr>
      </p:pic>
      <p:sp>
        <p:nvSpPr>
          <p:cNvPr id="11" name="film_sep_2">
            <a:extLst>
              <a:ext uri="{C183D7F6-B498-43B3-948B-1728B52AA6E4}">
                <adec:decorative xmlns:adec="http://schemas.microsoft.com/office/drawing/2017/decorative" val="1"/>
              </a:ext>
            </a:extLst>
          </p:cNvPr>
          <p:cNvSpPr/>
          <p:nvPr/>
        </p:nvSpPr>
        <p:spPr>
          <a:xfrm>
            <a:off x="410057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ilm_name_2"/>
          <p:cNvSpPr txBox="1"/>
          <p:nvPr/>
        </p:nvSpPr>
        <p:spPr>
          <a:xfrm>
            <a:off x="232460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Voxel</a:t>
            </a:r>
          </a:p>
          <a:p>
            <a:pPr algn="ctr"/>
            <a:r>
              <a:rPr sz="2000" b="1" i="0" lang="en-GB">
                <a:solidFill>
                  <a:srgbClr val="263238"/>
                </a:solidFill>
                <a:latin typeface="Fira Sans"/>
              </a:rPr>
              <a:t>downsampling</a:t>
            </a:r>
          </a:p>
        </p:txBody>
      </p:sp>
      <p:sp>
        <p:nvSpPr>
          <p:cNvPr id="13" name="film_tag_2"/>
          <p:cNvSpPr txBox="1"/>
          <p:nvPr/>
        </p:nvSpPr>
        <p:spPr>
          <a:xfrm>
            <a:off x="232460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a:t>
            </a:r>
          </a:p>
        </p:txBody>
      </p:sp>
      <p:pic>
        <p:nvPicPr>
          <p:cNvPr id="14" name="film_3" descr="Thumbnail 3: Ground removal"/>
          <p:cNvPicPr>
            <a:picLocks noChangeAspect="1"/>
          </p:cNvPicPr>
          <p:nvPr/>
        </p:nvPicPr>
        <p:blipFill>
          <a:blip r:embed="rId4"/>
          <a:stretch>
            <a:fillRect/>
          </a:stretch>
        </p:blipFill>
        <p:spPr>
          <a:xfrm>
            <a:off x="4338320" y="2249331"/>
            <a:ext cx="1620520" cy="1828698"/>
          </a:xfrm>
          <a:prstGeom prst="rect">
            <a:avLst/>
          </a:prstGeom>
        </p:spPr>
      </p:pic>
      <p:sp>
        <p:nvSpPr>
          <p:cNvPr id="15" name="film_sep_3">
            <a:extLst>
              <a:ext uri="{C183D7F6-B498-43B3-948B-1728B52AA6E4}">
                <adec:decorative xmlns:adec="http://schemas.microsoft.com/office/drawing/2017/decorative" val="1"/>
              </a:ext>
            </a:extLst>
          </p:cNvPr>
          <p:cNvSpPr/>
          <p:nvPr/>
        </p:nvSpPr>
        <p:spPr>
          <a:xfrm>
            <a:off x="599541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ilm_name_3"/>
          <p:cNvSpPr txBox="1"/>
          <p:nvPr/>
        </p:nvSpPr>
        <p:spPr>
          <a:xfrm>
            <a:off x="421944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Ground</a:t>
            </a:r>
          </a:p>
          <a:p>
            <a:pPr algn="ctr"/>
            <a:r>
              <a:rPr sz="2000" b="1" i="0" lang="en-GB">
                <a:solidFill>
                  <a:srgbClr val="263238"/>
                </a:solidFill>
                <a:latin typeface="Fira Sans"/>
              </a:rPr>
              <a:t>removal</a:t>
            </a:r>
          </a:p>
        </p:txBody>
      </p:sp>
      <p:sp>
        <p:nvSpPr>
          <p:cNvPr id="17" name="film_tag_3"/>
          <p:cNvSpPr txBox="1"/>
          <p:nvPr/>
        </p:nvSpPr>
        <p:spPr>
          <a:xfrm>
            <a:off x="421944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a:t>
            </a:r>
          </a:p>
        </p:txBody>
      </p:sp>
      <p:pic>
        <p:nvPicPr>
          <p:cNvPr id="18" name="film_4" descr="Thumbnail 4: Clustering"/>
          <p:cNvPicPr>
            <a:picLocks noChangeAspect="1"/>
          </p:cNvPicPr>
          <p:nvPr/>
        </p:nvPicPr>
        <p:blipFill>
          <a:blip r:embed="rId5"/>
          <a:stretch>
            <a:fillRect/>
          </a:stretch>
        </p:blipFill>
        <p:spPr>
          <a:xfrm>
            <a:off x="6233160" y="2249331"/>
            <a:ext cx="1620520" cy="1828698"/>
          </a:xfrm>
          <a:prstGeom prst="rect">
            <a:avLst/>
          </a:prstGeom>
        </p:spPr>
      </p:pic>
      <p:sp>
        <p:nvSpPr>
          <p:cNvPr id="19" name="film_sep_4">
            <a:extLst>
              <a:ext uri="{C183D7F6-B498-43B3-948B-1728B52AA6E4}">
                <adec:decorative xmlns:adec="http://schemas.microsoft.com/office/drawing/2017/decorative" val="1"/>
              </a:ext>
            </a:extLst>
          </p:cNvPr>
          <p:cNvSpPr/>
          <p:nvPr/>
        </p:nvSpPr>
        <p:spPr>
          <a:xfrm>
            <a:off x="789025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ilm_name_4"/>
          <p:cNvSpPr txBox="1"/>
          <p:nvPr/>
        </p:nvSpPr>
        <p:spPr>
          <a:xfrm>
            <a:off x="611428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Clustering</a:t>
            </a:r>
          </a:p>
        </p:txBody>
      </p:sp>
      <p:sp>
        <p:nvSpPr>
          <p:cNvPr id="21" name="film_tag_4"/>
          <p:cNvSpPr txBox="1"/>
          <p:nvPr/>
        </p:nvSpPr>
        <p:spPr>
          <a:xfrm>
            <a:off x="611428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Open3D, SciPy</a:t>
            </a:r>
          </a:p>
        </p:txBody>
      </p:sp>
      <p:pic>
        <p:nvPicPr>
          <p:cNvPr id="22" name="film_5" descr="Thumbnail 5: Labelling"/>
          <p:cNvPicPr>
            <a:picLocks noChangeAspect="1"/>
          </p:cNvPicPr>
          <p:nvPr/>
        </p:nvPicPr>
        <p:blipFill>
          <a:blip r:embed="rId6"/>
          <a:stretch>
            <a:fillRect/>
          </a:stretch>
        </p:blipFill>
        <p:spPr>
          <a:xfrm>
            <a:off x="8128000" y="2249331"/>
            <a:ext cx="1620520" cy="1828698"/>
          </a:xfrm>
          <a:prstGeom prst="rect">
            <a:avLst/>
          </a:prstGeom>
        </p:spPr>
      </p:pic>
      <p:sp>
        <p:nvSpPr>
          <p:cNvPr id="23" name="film_sep_5">
            <a:extLst>
              <a:ext uri="{C183D7F6-B498-43B3-948B-1728B52AA6E4}">
                <adec:decorative xmlns:adec="http://schemas.microsoft.com/office/drawing/2017/decorative" val="1"/>
              </a:ext>
            </a:extLst>
          </p:cNvPr>
          <p:cNvSpPr/>
          <p:nvPr/>
        </p:nvSpPr>
        <p:spPr>
          <a:xfrm>
            <a:off x="9785096" y="3063096"/>
            <a:ext cx="201168" cy="201168"/>
          </a:xfrm>
          <a:prstGeom prst="rightArrow">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ilm_name_5"/>
          <p:cNvSpPr txBox="1"/>
          <p:nvPr/>
        </p:nvSpPr>
        <p:spPr>
          <a:xfrm>
            <a:off x="800912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Labelling</a:t>
            </a:r>
          </a:p>
        </p:txBody>
      </p:sp>
      <p:sp>
        <p:nvSpPr>
          <p:cNvPr id="25" name="film_tag_5"/>
          <p:cNvSpPr txBox="1"/>
          <p:nvPr/>
        </p:nvSpPr>
        <p:spPr>
          <a:xfrm>
            <a:off x="800912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NumPy, SciPy</a:t>
            </a:r>
          </a:p>
        </p:txBody>
      </p:sp>
      <p:pic>
        <p:nvPicPr>
          <p:cNvPr id="26" name="film_6" descr="Thumbnail 6: Paint-back"/>
          <p:cNvPicPr>
            <a:picLocks noChangeAspect="1"/>
          </p:cNvPicPr>
          <p:nvPr/>
        </p:nvPicPr>
        <p:blipFill>
          <a:blip r:embed="rId7"/>
          <a:stretch>
            <a:fillRect/>
          </a:stretch>
        </p:blipFill>
        <p:spPr>
          <a:xfrm>
            <a:off x="10022840" y="2249331"/>
            <a:ext cx="1620520" cy="1828698"/>
          </a:xfrm>
          <a:prstGeom prst="rect">
            <a:avLst/>
          </a:prstGeom>
        </p:spPr>
      </p:pic>
      <p:sp>
        <p:nvSpPr>
          <p:cNvPr id="27" name="film_name_6"/>
          <p:cNvSpPr txBox="1"/>
          <p:nvPr/>
        </p:nvSpPr>
        <p:spPr>
          <a:xfrm>
            <a:off x="9903968" y="4187757"/>
            <a:ext cx="1858264" cy="658368"/>
          </a:xfrm>
          <a:prstGeom prst="rect">
            <a:avLst/>
          </a:prstGeom>
          <a:noFill/>
        </p:spPr>
        <p:txBody>
          <a:bodyPr wrap="none" anchor="t" lIns="0" tIns="0" rIns="0" bIns="0">
            <a:noAutofit/>
          </a:bodyPr>
          <a:lstStyle/>
          <a:p>
            <a:pPr algn="ctr"/>
            <a:r>
              <a:rPr sz="2000" b="1" i="0" lang="en-GB">
                <a:solidFill>
                  <a:srgbClr val="263238"/>
                </a:solidFill>
                <a:latin typeface="Fira Sans"/>
              </a:rPr>
              <a:t>Paint-back</a:t>
            </a:r>
          </a:p>
        </p:txBody>
      </p:sp>
      <p:sp>
        <p:nvSpPr>
          <p:cNvPr id="28" name="film_tag_6"/>
          <p:cNvSpPr txBox="1"/>
          <p:nvPr/>
        </p:nvSpPr>
        <p:spPr>
          <a:xfrm>
            <a:off x="9903968" y="4882701"/>
            <a:ext cx="1858264" cy="365760"/>
          </a:xfrm>
          <a:prstGeom prst="rect">
            <a:avLst/>
          </a:prstGeom>
          <a:noFill/>
        </p:spPr>
        <p:txBody>
          <a:bodyPr wrap="square" anchor="t" lIns="0" tIns="0" rIns="0" bIns="0">
            <a:noAutofit/>
          </a:bodyPr>
          <a:lstStyle/>
          <a:p>
            <a:pPr algn="ctr"/>
            <a:r>
              <a:rPr sz="2000" b="0" i="0" lang="en-GB">
                <a:solidFill>
                  <a:srgbClr val="455A64"/>
                </a:solidFill>
                <a:latin typeface="Fira Sans"/>
              </a:rPr>
              <a:t>SciPy, PyVista</a:t>
            </a:r>
          </a:p>
        </p:txBody>
      </p:sp>
      <p:sp>
        <p:nvSpPr>
          <p:cNvPr id="29"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8">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30"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1 Load: subtract a local origin first</a:t>
            </a:r>
          </a:p>
        </p:txBody>
      </p:sp>
      <p:grpSp>
        <p:nvGrpSpPr>
          <p:cNvPr id="3" name="Code key line">
            <a:extLst>
              <a:ext uri="{C183D7F6-B498-43B3-948B-1728B52AA6E4}">
                <adec:decorative xmlns:adec="http://schemas.microsoft.com/office/drawing/2017/decorative" val="1"/>
              </a:ext>
            </a:extLst>
          </p:cNvPr>
          <p:cNvGrpSpPr/>
          <p:nvPr/>
        </p:nvGrpSpPr>
        <p:grpSpPr>
          <a:xfrm>
            <a:off x="402336" y="2400300"/>
            <a:ext cx="7461504" cy="266700"/>
            <a:chOff x="402336" y="2400300"/>
            <a:chExt cx="7461504" cy="266700"/>
          </a:xfrm>
        </p:grpSpPr>
        <p:sp>
          <p:nvSpPr>
            <p:cNvPr id="6" name="Key line bar"/>
            <p:cNvSpPr/>
            <p:nvPr/>
          </p:nvSpPr>
          <p:spPr>
            <a:xfrm>
              <a:off x="402336" y="2400300"/>
              <a:ext cx="746150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4003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7461504" cy="201168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1C325B"/>
                </a:solidFill>
                <a:latin typeface="Fira Mono" pitchFamily="49"/>
              </a:rPr>
              <a:t>import</a:t>
            </a:r>
            <a:r>
              <a:rPr sz="1800" b="0" lang="en-GB" noProof="1">
                <a:solidFill>
                  <a:srgbClr val="263238"/>
                </a:solidFill>
                <a:latin typeface="Fira Mono" pitchFamily="49"/>
              </a:rPr>
              <a:t> laspy</a:t>
            </a:r>
            <a:endParaRPr lang="en-GB" sz="1800"/>
          </a:p>
          <a:p>
            <a:pPr marL="0" indent="0" algn="l">
              <a:lnSpc>
                <a:spcPts val="2100"/>
              </a:lnSpc>
              <a:spcBef>
                <a:spcPts val="0"/>
              </a:spcBef>
              <a:spcAft>
                <a:spcPts val="0"/>
              </a:spcAft>
              <a:buNone/>
            </a:pPr>
            <a:r>
              <a:rPr sz="1800" b="1" lang="en-GB" noProof="1">
                <a:solidFill>
                  <a:srgbClr val="1C325B"/>
                </a:solidFill>
                <a:latin typeface="Fira Mono" pitchFamily="49"/>
              </a:rPr>
              <a:t>import</a:t>
            </a:r>
            <a:r>
              <a:rPr sz="1800" b="0" lang="en-GB" noProof="1">
                <a:solidFill>
                  <a:srgbClr val="263238"/>
                </a:solidFill>
                <a:latin typeface="Fira Mono" pitchFamily="49"/>
              </a:rPr>
              <a:t> open3d </a:t>
            </a:r>
            <a:r>
              <a:rPr sz="1800" b="1" lang="en-GB" noProof="1">
                <a:solidFill>
                  <a:srgbClr val="1C325B"/>
                </a:solidFill>
                <a:latin typeface="Fira Mono" pitchFamily="49"/>
              </a:rPr>
              <a:t>as</a:t>
            </a:r>
            <a:r>
              <a:rPr sz="1800" b="0" lang="en-GB" noProof="1">
                <a:solidFill>
                  <a:srgbClr val="263238"/>
                </a:solidFill>
                <a:latin typeface="Fira Mono" pitchFamily="49"/>
              </a:rPr>
              <a:t> o3d</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las = laspy.read(</a:t>
            </a:r>
            <a:r>
              <a:rPr sz="1800" b="0" lang="en-GB" noProof="1">
                <a:solidFill>
                  <a:srgbClr val="2B6797"/>
                </a:solidFill>
                <a:latin typeface="Fira Mono" pitchFamily="49"/>
              </a:rPr>
              <a:t>"crop.laz"</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xyz = las.xyz - las.header.mins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v = o3d.utility.Vector3dVector(xyz)</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pcd = o3d.geometry.PointCloud(v)</a:t>
            </a:r>
            <a:endParaRPr lang="en-GB" sz="1800"/>
          </a:p>
        </p:txBody>
      </p:sp>
      <p:pic>
        <p:nvPicPr>
          <p:cNvPr id="9" name="Render" descr="The crop as a point cloud, coloured by height: the hall roof white, the ground blue."/>
          <p:cNvPicPr>
            <a:picLocks noChangeAspect="1"/>
          </p:cNvPicPr>
          <p:nvPr/>
        </p:nvPicPr>
        <p:blipFill>
          <a:blip r:embed="rId2"/>
          <a:stretch>
            <a:fillRect/>
          </a:stretch>
        </p:blipFill>
        <p:spPr>
          <a:xfrm>
            <a:off x="8264642" y="1554480"/>
            <a:ext cx="3378718" cy="3812760"/>
          </a:xfrm>
          <a:prstGeom prst="rect">
            <a:avLst/>
          </a:prstGeom>
        </p:spPr>
      </p:pic>
      <p:pic>
        <p:nvPicPr>
          <p:cNvPr id="10" name="Before and after" descr="The crop's points 135914.6 m from the origin, then after subtracting header.mins: near zero. float32 step 1.6 cm becomes 15 µm."/>
          <p:cNvPicPr>
            <a:picLocks noChangeAspect="1"/>
          </p:cNvPicPr>
          <p:nvPr/>
        </p:nvPicPr>
        <p:blipFill>
          <a:blip r:embed="rId3"/>
          <a:stretch>
            <a:fillRect/>
          </a:stretch>
        </p:blipFill>
        <p:spPr>
          <a:xfrm>
            <a:off x="548640" y="3675888"/>
            <a:ext cx="7487402" cy="1668879"/>
          </a:xfrm>
          <a:prstGeom prst="rect">
            <a:avLst/>
          </a:prstGeom>
        </p:spPr>
      </p:pic>
      <p:sp>
        <p:nvSpPr>
          <p:cNvPr id="11" name="Takeaway bar"/>
          <p:cNvSpPr/>
          <p:nvPr/>
        </p:nvSpPr>
        <p:spPr>
          <a:xfrm>
            <a:off x="548640" y="5458680"/>
            <a:ext cx="64008" cy="50292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731520" y="5458680"/>
            <a:ext cx="10911840" cy="502920"/>
          </a:xfrm>
          <a:prstGeom prst="rect">
            <a:avLst/>
          </a:prstGeom>
          <a:noFill/>
        </p:spPr>
        <p:txBody>
          <a:bodyPr wrap="square" anchor="b" lIns="0" tIns="0" rIns="0" bIns="0">
            <a:noAutofit/>
          </a:bodyPr>
          <a:lstStyle/>
          <a:p>
            <a:pPr marL="0" indent="0" algn="l">
              <a:spcBef>
                <a:spcPts val="0"/>
              </a:spcBef>
              <a:spcAft>
                <a:spcPts val="0"/>
              </a:spcAft>
              <a:buNone/>
            </a:pPr>
            <a:r>
              <a:rPr sz="3000" b="1" lang="en-GB">
                <a:solidFill>
                  <a:srgbClr val="1C325B"/>
                </a:solidFill>
                <a:latin typeface="+mn-lt"/>
              </a:rPr>
              <a:t>laspy hands you NumPy; a local origin keeps float32 precise.</a:t>
            </a:r>
            <a:endParaRPr lang="en-GB" sz="3000"/>
          </a:p>
        </p:txBody>
      </p:sp>
      <p:sp>
        <p:nvSpPr>
          <p:cNvPr id="13"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4" name="Small print rule chip 1" descr="Evidence for rule 1: Think in arrays, not points"/>
          <p:cNvSpPr txBox="1"/>
          <p:nvPr/>
        </p:nvSpPr>
        <p:spPr>
          <a:xfrm>
            <a:off x="9498609" y="182880"/>
            <a:ext cx="2144751" cy="310896"/>
          </a:xfrm>
          <a:prstGeom prst="rect">
            <a:avLst/>
          </a:prstGeom>
          <a:noFill/>
        </p:spPr>
        <p:txBody>
          <a:bodyPr wrap="none" anchor="ctr" lIns="0" tIns="0" rIns="0" bIns="0">
            <a:noAutofit/>
          </a:bodyPr>
          <a:lstStyle/>
          <a:p>
            <a:r>
              <a:rPr sz="1400" lang="en-GB">
                <a:solidFill>
                  <a:srgbClr val="1C325B"/>
                </a:solidFill>
                <a:latin typeface="Fira Sans SemiBold"/>
              </a:rPr>
              <a:t>Think in arrays, not points</a:t>
            </a:r>
            <a:endParaRPr lang="en-GB" sz="1400"/>
          </a:p>
        </p:txBody>
      </p:sp>
      <p:sp>
        <p:nvSpPr>
          <p:cNvPr id="15" name="Small print rule number 1">
            <a:extLst>
              <a:ext uri="{C183D7F6-B498-43B3-948B-1728B52AA6E4}">
                <adec:decorative xmlns:adec="http://schemas.microsoft.com/office/drawing/2017/decorative" val="1"/>
              </a:ext>
            </a:extLst>
          </p:cNvPr>
          <p:cNvSpPr/>
          <p:nvPr/>
        </p:nvSpPr>
        <p:spPr>
          <a:xfrm>
            <a:off x="9114561"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1</a:t>
            </a:r>
            <a:endParaRPr lang="en-GB" sz="1400"/>
          </a:p>
        </p:txBody>
      </p:sp>
      <p:sp>
        <p:nvSpPr>
          <p:cNvPr id="16" name="Small print step tracker" descr="Pipeline step 1 of 6: Load"/>
          <p:cNvSpPr txBox="1"/>
          <p:nvPr/>
        </p:nvSpPr>
        <p:spPr>
          <a:xfrm>
            <a:off x="4712487"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2B6797"/>
                </a:solidFill>
                <a:latin typeface="Fira Sans SemiBold"/>
              </a:rPr>
              <a:t>1 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17"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1 Load: pass views, not copies</a:t>
            </a:r>
          </a:p>
        </p:txBody>
      </p:sp>
      <p:sp>
        <p:nvSpPr>
          <p:cNvPr id="7" name="Takeaway" descr="Rule 1: each extra xyz copy costs 24 B per point → 0.5 GB per 1 km AHN file."/>
          <p:cNvSpPr/>
          <p:nvPr/>
        </p:nvSpPr>
        <p:spPr>
          <a:xfrm>
            <a:off x="548640" y="1554480"/>
            <a:ext cx="11094720" cy="548640"/>
          </a:xfrm>
          <a:prstGeom prst="roundRect">
            <a:avLst>
              <a:gd name="adj" fmla="val 13333"/>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marL="0" indent="0">
              <a:spcBef>
                <a:spcPts val="0"/>
              </a:spcBef>
              <a:spcAft>
                <a:spcPts val="0"/>
              </a:spcAft>
              <a:buNone/>
            </a:pPr>
            <a:r>
              <a:rPr sz="2400" lang="en-GB">
                <a:solidFill>
                  <a:srgbClr val="FFFFFF"/>
                </a:solidFill>
                <a:latin typeface="Fira Sans SemiBold"/>
              </a:rPr>
              <a:t>Rule 1: each extra xyz copy costs 24 B per point → 0.5 GB per 1 km AHN file.</a:t>
            </a:r>
            <a:endParaRPr lang="en-GB" sz="2400"/>
          </a:p>
        </p:txBody>
      </p:sp>
      <p:grpSp>
        <p:nvGrpSpPr>
          <p:cNvPr id="3" name="Copy or view" descr="Legend. Copy: two names, each on its own block of memory; new memory → costs time &amp; RAM. View: two names on one block of memory; same memory → free, writes show through."/>
          <p:cNvGrpSpPr/>
          <p:nvPr/>
        </p:nvGrpSpPr>
        <p:grpSpPr>
          <a:xfrm>
            <a:off x="548640" y="2331720"/>
            <a:ext cx="11094720" cy="1444752"/>
            <a:chOff x="548640" y="2331720"/>
            <a:chExt cx="11094720" cy="1444752"/>
          </a:xfrm>
        </p:grpSpPr>
        <p:cxnSp>
          <p:nvCxnSpPr>
            <p:cNvPr id="8" name="panel rule"/>
            <p:cNvCxnSpPr/>
            <p:nvPr/>
          </p:nvCxnSpPr>
          <p:spPr>
            <a:xfrm>
              <a:off x="6096000" y="2331720"/>
              <a:ext cx="0" cy="1444752"/>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sp>
          <p:nvSpPr>
            <p:cNvPr id="9" name="copy title"/>
            <p:cNvSpPr txBox="1"/>
            <p:nvPr/>
          </p:nvSpPr>
          <p:spPr>
            <a:xfrm>
              <a:off x="548640" y="2331720"/>
              <a:ext cx="2605532" cy="438912"/>
            </a:xfrm>
            <a:prstGeom prst="rect">
              <a:avLst/>
            </a:prstGeom>
            <a:noFill/>
          </p:spPr>
          <p:txBody>
            <a:bodyPr wrap="none" anchor="ctr" lIns="0" tIns="0" rIns="0" bIns="0">
              <a:noAutofit/>
            </a:bodyPr>
            <a:lstStyle/>
            <a:p>
              <a:pPr algn="l"/>
              <a:r>
                <a:rPr sz="2000" b="0" i="0" lang="en-GB">
                  <a:solidFill>
                    <a:srgbClr val="1C325B"/>
                  </a:solidFill>
                  <a:latin typeface="Fira Sans SemiBold"/>
                </a:rPr>
                <a:t>The problem: copies</a:t>
              </a:r>
            </a:p>
          </p:txBody>
        </p:sp>
        <p:sp>
          <p:nvSpPr>
            <p:cNvPr id="10" name="copy pill"/>
            <p:cNvSpPr/>
            <p:nvPr/>
          </p:nvSpPr>
          <p:spPr>
            <a:xfrm>
              <a:off x="3154172" y="2331720"/>
              <a:ext cx="1203960" cy="438912"/>
            </a:xfrm>
            <a:prstGeom prst="roundRect">
              <a:avLst>
                <a:gd name="adj" fmla="val 50000"/>
              </a:avLst>
            </a:prstGeom>
            <a:solidFill>
              <a:srgbClr val="FFFFFF"/>
            </a:solidFill>
            <a:ln w="254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400" b="0" i="0" lang="en-GB">
                  <a:solidFill>
                    <a:srgbClr val="1C325B"/>
                  </a:solidFill>
                  <a:latin typeface="Fira Sans SemiBold"/>
                </a:rPr>
                <a:t>copy</a:t>
              </a:r>
            </a:p>
          </p:txBody>
        </p:sp>
        <p:sp>
          <p:nvSpPr>
            <p:cNvPr id="11" name="copy name 1"/>
            <p:cNvSpPr txBox="1"/>
            <p:nvPr/>
          </p:nvSpPr>
          <p:spPr>
            <a:xfrm>
              <a:off x="548640" y="2898648"/>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a</a:t>
              </a:r>
            </a:p>
          </p:txBody>
        </p:sp>
        <p:sp>
          <p:nvSpPr>
            <p:cNvPr id="12" name="copy name 2"/>
            <p:cNvSpPr txBox="1"/>
            <p:nvPr/>
          </p:nvSpPr>
          <p:spPr>
            <a:xfrm>
              <a:off x="548640" y="3429000"/>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b</a:t>
              </a:r>
            </a:p>
          </p:txBody>
        </p:sp>
        <p:sp>
          <p:nvSpPr>
            <p:cNvPr id="13" name="copy cell"/>
            <p:cNvSpPr/>
            <p:nvPr/>
          </p:nvSpPr>
          <p:spPr>
            <a:xfrm>
              <a:off x="118872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py cell"/>
            <p:cNvSpPr/>
            <p:nvPr/>
          </p:nvSpPr>
          <p:spPr>
            <a:xfrm>
              <a:off x="146304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opy cell"/>
            <p:cNvSpPr/>
            <p:nvPr/>
          </p:nvSpPr>
          <p:spPr>
            <a:xfrm>
              <a:off x="173736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py cell"/>
            <p:cNvSpPr/>
            <p:nvPr/>
          </p:nvSpPr>
          <p:spPr>
            <a:xfrm>
              <a:off x="201168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py cell"/>
            <p:cNvSpPr/>
            <p:nvPr/>
          </p:nvSpPr>
          <p:spPr>
            <a:xfrm>
              <a:off x="2286000" y="2935224"/>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py cell"/>
            <p:cNvSpPr/>
            <p:nvPr/>
          </p:nvSpPr>
          <p:spPr>
            <a:xfrm>
              <a:off x="118872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py cell"/>
            <p:cNvSpPr/>
            <p:nvPr/>
          </p:nvSpPr>
          <p:spPr>
            <a:xfrm>
              <a:off x="146304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py cell"/>
            <p:cNvSpPr/>
            <p:nvPr/>
          </p:nvSpPr>
          <p:spPr>
            <a:xfrm>
              <a:off x="173736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py cell"/>
            <p:cNvSpPr/>
            <p:nvPr/>
          </p:nvSpPr>
          <p:spPr>
            <a:xfrm>
              <a:off x="201168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py cell"/>
            <p:cNvSpPr/>
            <p:nvPr/>
          </p:nvSpPr>
          <p:spPr>
            <a:xfrm>
              <a:off x="2286000" y="3465576"/>
              <a:ext cx="274320" cy="274320"/>
            </a:xfrm>
            <a:prstGeom prst="rect">
              <a:avLst/>
            </a:prstGeom>
            <a:solidFill>
              <a:srgbClr val="FFFFFF"/>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py ref"/>
            <p:cNvCxnSpPr/>
            <p:nvPr/>
          </p:nvCxnSpPr>
          <p:spPr>
            <a:xfrm>
              <a:off x="841248" y="3072384"/>
              <a:ext cx="301752" cy="0"/>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py ref"/>
            <p:cNvCxnSpPr/>
            <p:nvPr/>
          </p:nvCxnSpPr>
          <p:spPr>
            <a:xfrm>
              <a:off x="841248" y="3602736"/>
              <a:ext cx="301752" cy="0"/>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copy meaning"/>
            <p:cNvSpPr txBox="1"/>
            <p:nvPr/>
          </p:nvSpPr>
          <p:spPr>
            <a:xfrm>
              <a:off x="2926080" y="2898648"/>
              <a:ext cx="2895600" cy="877824"/>
            </a:xfrm>
            <a:prstGeom prst="rect">
              <a:avLst/>
            </a:prstGeom>
            <a:noFill/>
          </p:spPr>
          <p:txBody>
            <a:bodyPr wrap="square" anchor="ctr" lIns="0" tIns="0" rIns="0" bIns="0">
              <a:noAutofit/>
            </a:bodyPr>
            <a:lstStyle/>
            <a:p>
              <a:pPr algn="l"/>
              <a:r>
                <a:rPr sz="2000" b="0" i="0" lang="en-GB">
                  <a:solidFill>
                    <a:srgbClr val="263238"/>
                  </a:solidFill>
                  <a:latin typeface="Fira Sans"/>
                </a:rPr>
                <a:t>new memory → costs time &amp; RAM</a:t>
              </a:r>
            </a:p>
          </p:txBody>
        </p:sp>
        <p:sp>
          <p:nvSpPr>
            <p:cNvPr id="26" name="view title"/>
            <p:cNvSpPr txBox="1"/>
            <p:nvPr/>
          </p:nvSpPr>
          <p:spPr>
            <a:xfrm>
              <a:off x="6370320" y="2331720"/>
              <a:ext cx="2490978" cy="438912"/>
            </a:xfrm>
            <a:prstGeom prst="rect">
              <a:avLst/>
            </a:prstGeom>
            <a:noFill/>
          </p:spPr>
          <p:txBody>
            <a:bodyPr wrap="none" anchor="ctr" lIns="0" tIns="0" rIns="0" bIns="0">
              <a:noAutofit/>
            </a:bodyPr>
            <a:lstStyle/>
            <a:p>
              <a:pPr algn="l"/>
              <a:r>
                <a:rPr sz="2000" b="0" i="0" lang="en-GB">
                  <a:solidFill>
                    <a:srgbClr val="1C325B"/>
                  </a:solidFill>
                  <a:latin typeface="Fira Sans SemiBold"/>
                </a:rPr>
                <a:t>The solution: views</a:t>
              </a:r>
            </a:p>
          </p:txBody>
        </p:sp>
        <p:sp>
          <p:nvSpPr>
            <p:cNvPr id="27" name="view pill"/>
            <p:cNvSpPr/>
            <p:nvPr/>
          </p:nvSpPr>
          <p:spPr>
            <a:xfrm>
              <a:off x="8861298" y="2331720"/>
              <a:ext cx="1187501" cy="438912"/>
            </a:xfrm>
            <a:prstGeom prst="roundRect">
              <a:avLst>
                <a:gd name="adj" fmla="val 5000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400" b="0" i="0" lang="en-GB">
                  <a:solidFill>
                    <a:srgbClr val="FFFFFF"/>
                  </a:solidFill>
                  <a:latin typeface="Fira Sans SemiBold"/>
                </a:rPr>
                <a:t>view</a:t>
              </a:r>
            </a:p>
          </p:txBody>
        </p:sp>
        <p:sp>
          <p:nvSpPr>
            <p:cNvPr id="28" name="view name 1"/>
            <p:cNvSpPr txBox="1"/>
            <p:nvPr/>
          </p:nvSpPr>
          <p:spPr>
            <a:xfrm>
              <a:off x="6370320" y="2898648"/>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a</a:t>
              </a:r>
            </a:p>
          </p:txBody>
        </p:sp>
        <p:sp>
          <p:nvSpPr>
            <p:cNvPr id="29" name="view name 2"/>
            <p:cNvSpPr txBox="1"/>
            <p:nvPr/>
          </p:nvSpPr>
          <p:spPr>
            <a:xfrm>
              <a:off x="6370320" y="3429000"/>
              <a:ext cx="411480" cy="347472"/>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b</a:t>
              </a:r>
            </a:p>
          </p:txBody>
        </p:sp>
        <p:sp>
          <p:nvSpPr>
            <p:cNvPr id="30" name="view cell"/>
            <p:cNvSpPr/>
            <p:nvPr/>
          </p:nvSpPr>
          <p:spPr>
            <a:xfrm>
              <a:off x="701040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ew cell"/>
            <p:cNvSpPr/>
            <p:nvPr/>
          </p:nvSpPr>
          <p:spPr>
            <a:xfrm>
              <a:off x="728472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ew cell"/>
            <p:cNvSpPr/>
            <p:nvPr/>
          </p:nvSpPr>
          <p:spPr>
            <a:xfrm>
              <a:off x="755904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view cell"/>
            <p:cNvSpPr/>
            <p:nvPr/>
          </p:nvSpPr>
          <p:spPr>
            <a:xfrm>
              <a:off x="783336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ew cell"/>
            <p:cNvSpPr/>
            <p:nvPr/>
          </p:nvSpPr>
          <p:spPr>
            <a:xfrm>
              <a:off x="8107680" y="3200400"/>
              <a:ext cx="274320" cy="274320"/>
            </a:xfrm>
            <a:prstGeom prst="rect">
              <a:avLst/>
            </a:prstGeom>
            <a:solidFill>
              <a:srgbClr val="2B6797"/>
            </a:solidFill>
            <a:ln w="1270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view ref"/>
            <p:cNvCxnSpPr/>
            <p:nvPr/>
          </p:nvCxnSpPr>
          <p:spPr>
            <a:xfrm>
              <a:off x="6662928" y="3072384"/>
              <a:ext cx="301752" cy="265176"/>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view ref"/>
            <p:cNvCxnSpPr/>
            <p:nvPr/>
          </p:nvCxnSpPr>
          <p:spPr>
            <a:xfrm flipV="1">
              <a:off x="6662928" y="3337560"/>
              <a:ext cx="301752" cy="265176"/>
            </a:xfrm>
            <a:prstGeom prst="line">
              <a:avLst/>
            </a:prstGeom>
            <a:ln w="190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view meaning"/>
            <p:cNvSpPr txBox="1"/>
            <p:nvPr/>
          </p:nvSpPr>
          <p:spPr>
            <a:xfrm>
              <a:off x="8747760" y="2898648"/>
              <a:ext cx="2895600" cy="877824"/>
            </a:xfrm>
            <a:prstGeom prst="rect">
              <a:avLst/>
            </a:prstGeom>
            <a:noFill/>
          </p:spPr>
          <p:txBody>
            <a:bodyPr wrap="square" anchor="ctr" lIns="0" tIns="0" rIns="0" bIns="0">
              <a:noAutofit/>
            </a:bodyPr>
            <a:lstStyle/>
            <a:p>
              <a:pPr algn="l"/>
              <a:r>
                <a:rPr sz="2000" b="0" i="0" lang="en-GB">
                  <a:solidFill>
                    <a:srgbClr val="263238"/>
                  </a:solidFill>
                  <a:latin typeface="Fira Sans"/>
                </a:rPr>
                <a:t>same memory → free, writes show through</a:t>
              </a:r>
            </a:p>
          </p:txBody>
        </p:sp>
      </p:grpSp>
      <p:cxnSp>
        <p:nvCxnSpPr>
          <p:cNvPr id="38" name="Legend rule">
            <a:extLst>
              <a:ext uri="{C183D7F6-B498-43B3-948B-1728B52AA6E4}">
                <adec:decorative xmlns:adec="http://schemas.microsoft.com/office/drawing/2017/decorative" val="1"/>
              </a:ext>
            </a:extLst>
          </p:cNvPr>
          <p:cNvCxnSpPr/>
          <p:nvPr/>
        </p:nvCxnSpPr>
        <p:spPr>
          <a:xfrm>
            <a:off x="548640" y="3886200"/>
            <a:ext cx="11094720"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grpSp>
        <p:nvGrpSpPr>
          <p:cNvPr id="39" name="Handoffs" descr="Takeaway: every unnecessary xyz copy costs 24 B per point, 0.5 GB per 1 km AHN file. The problem, copies: two names, each on its own block of memory; new memory costs time and RAM. The solution, views: two names on one block; same memory, free, writes show through. Below, four rows, one per hand-off between the libraries. las.xyz: copy, a new array on every access. Vector3dVector of xyz: copy, Open3D gets its own copy. np.asarray of pcd.points: view, writes reach the point cloud. pv.PolyData of pts: view, the same memory as pts."/>
          <p:cNvGrpSpPr/>
          <p:nvPr/>
        </p:nvGrpSpPr>
        <p:grpSpPr>
          <a:xfrm>
            <a:off x="548640" y="4443840"/>
            <a:ext cx="11094720" cy="877824"/>
            <a:chOff x="548640" y="4443840"/>
            <a:chExt cx="11094720" cy="877824"/>
          </a:xfrm>
        </p:grpSpPr>
        <p:sp>
          <p:nvSpPr>
            <p:cNvPr id="40" name="Handoffs_code_1"/>
            <p:cNvSpPr/>
            <p:nvPr/>
          </p:nvSpPr>
          <p:spPr>
            <a:xfrm>
              <a:off x="548640" y="4443840"/>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las.xyz</a:t>
              </a:r>
            </a:p>
          </p:txBody>
        </p:sp>
        <p:sp>
          <p:nvSpPr>
            <p:cNvPr id="41" name="Handoffs_pill_1"/>
            <p:cNvSpPr/>
            <p:nvPr/>
          </p:nvSpPr>
          <p:spPr>
            <a:xfrm>
              <a:off x="4343400" y="4471272"/>
              <a:ext cx="1092962" cy="347472"/>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1C325B"/>
                  </a:solidFill>
                  <a:latin typeface="Fira Sans SemiBold"/>
                </a:rPr>
                <a:t>copy</a:t>
              </a:r>
            </a:p>
          </p:txBody>
        </p:sp>
        <p:sp>
          <p:nvSpPr>
            <p:cNvPr id="42" name="Handoffs_text_1"/>
            <p:cNvSpPr txBox="1"/>
            <p:nvPr/>
          </p:nvSpPr>
          <p:spPr>
            <a:xfrm>
              <a:off x="5847842" y="4443840"/>
              <a:ext cx="5795518" cy="402336"/>
            </a:xfrm>
            <a:prstGeom prst="rect">
              <a:avLst/>
            </a:prstGeom>
            <a:noFill/>
          </p:spPr>
          <p:txBody>
            <a:bodyPr wrap="none" anchor="ctr" lIns="0" tIns="0" rIns="0" bIns="0">
              <a:noAutofit/>
            </a:bodyPr>
            <a:lstStyle/>
            <a:p>
              <a:pPr algn="l"/>
              <a:r>
                <a:rPr sz="2000" b="0" i="0" lang="en-GB">
                  <a:solidFill>
                    <a:srgbClr val="263238"/>
                  </a:solidFill>
                  <a:latin typeface="Fira Sans"/>
                </a:rPr>
                <a:t>new array, every access</a:t>
              </a:r>
            </a:p>
          </p:txBody>
        </p:sp>
        <p:sp>
          <p:nvSpPr>
            <p:cNvPr id="43" name="Handoffs_code_2"/>
            <p:cNvSpPr/>
            <p:nvPr/>
          </p:nvSpPr>
          <p:spPr>
            <a:xfrm>
              <a:off x="548640" y="4919328"/>
              <a:ext cx="3383280" cy="402336"/>
            </a:xfrm>
            <a:prstGeom prst="roundRect">
              <a:avLst>
                <a:gd name="adj" fmla="val 181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0" bIns="0">
              <a:noAutofit/>
            </a:bodyPr>
            <a:lstStyle/>
            <a:p>
              <a:pPr algn="l"/>
              <a:r>
                <a:rPr sz="1800" b="0" i="0" lang="en-GB">
                  <a:solidFill>
                    <a:srgbClr val="263238"/>
                  </a:solidFill>
                  <a:latin typeface="Fira Mono" pitchFamily="49" charset="0"/>
                </a:rPr>
                <a:t>np.asarray(pcd.points)</a:t>
              </a:r>
            </a:p>
          </p:txBody>
        </p:sp>
        <p:sp>
          <p:nvSpPr>
            <p:cNvPr id="44" name="Handoffs_pill_2"/>
            <p:cNvSpPr/>
            <p:nvPr/>
          </p:nvSpPr>
          <p:spPr>
            <a:xfrm>
              <a:off x="4343400" y="4946760"/>
              <a:ext cx="1092962" cy="347472"/>
            </a:xfrm>
            <a:prstGeom prst="roundRect">
              <a:avLst>
                <a:gd name="adj" fmla="val 5000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tIns="0" rIns="45720" bIns="0">
              <a:noAutofit/>
            </a:bodyPr>
            <a:lstStyle/>
            <a:p>
              <a:pPr algn="ctr"/>
              <a:r>
                <a:rPr sz="2000" b="0" i="0" lang="en-GB">
                  <a:solidFill>
                    <a:srgbClr val="FFFFFF"/>
                  </a:solidFill>
                  <a:latin typeface="Fira Sans SemiBold"/>
                </a:rPr>
                <a:t>view</a:t>
              </a:r>
            </a:p>
          </p:txBody>
        </p:sp>
        <p:sp>
          <p:nvSpPr>
            <p:cNvPr id="45" name="Handoffs_text_2"/>
            <p:cNvSpPr txBox="1"/>
            <p:nvPr/>
          </p:nvSpPr>
          <p:spPr>
            <a:xfrm>
              <a:off x="5847842" y="4919328"/>
              <a:ext cx="5795518" cy="402336"/>
            </a:xfrm>
            <a:prstGeom prst="rect">
              <a:avLst/>
            </a:prstGeom>
            <a:noFill/>
          </p:spPr>
          <p:txBody>
            <a:bodyPr wrap="none" anchor="ctr" lIns="0" tIns="0" rIns="0" bIns="0">
              <a:noAutofit/>
            </a:bodyPr>
            <a:lstStyle/>
            <a:p>
              <a:pPr algn="l"/>
              <a:r>
                <a:rPr sz="2000" b="0" i="0" lang="en-GB">
                  <a:solidFill>
                    <a:srgbClr val="263238"/>
                  </a:solidFill>
                  <a:latin typeface="Fira Sans"/>
                </a:rPr>
                <a:t>writes reach the point cloud</a:t>
              </a:r>
            </a:p>
          </p:txBody>
        </p:sp>
      </p:grpSp>
      <p:sp>
        <p:nvSpPr>
          <p:cNvPr id="46" name="Note box">
            <a:extLst>
              <a:ext uri="{C183D7F6-B498-43B3-948B-1728B52AA6E4}">
                <adec:decorative xmlns:adec="http://schemas.microsoft.com/office/drawing/2017/decorative" val="1"/>
              </a:ext>
            </a:extLst>
          </p:cNvPr>
          <p:cNvSpPr/>
          <p:nvPr/>
        </p:nvSpPr>
        <p:spPr>
          <a:xfrm>
            <a:off x="9403080" y="868680"/>
            <a:ext cx="2240280" cy="512064"/>
          </a:xfrm>
          <a:prstGeom prst="rect">
            <a:avLst/>
          </a:prstGeom>
          <a:solidFill>
            <a:srgbClr val="DF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ditions"/>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results/python_facts.json.</a:t>
            </a:r>
            <a:endParaRPr lang="en-GB" sz="1200"/>
          </a:p>
        </p:txBody>
      </p:sp>
      <p:sp>
        <p:nvSpPr>
          <p:cNvPr id="47" name="Small print note"/>
          <p:cNvSpPr txBox="1"/>
          <p:nvPr/>
        </p:nvSpPr>
        <p:spPr>
          <a:xfrm>
            <a:off x="9540240" y="941832"/>
            <a:ext cx="1965960" cy="36576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Why 24 B? x, y and z are three float64 values: 3 × 8 B.</a:t>
            </a:r>
            <a:endParaRPr lang="en-GB" sz="1200"/>
          </a:p>
        </p:txBody>
      </p:sp>
      <p:sp>
        <p:nvSpPr>
          <p:cNvPr id="48" name="Small print rule chip 1" descr="Evidence for rule 1: Think in arrays, not points"/>
          <p:cNvSpPr txBox="1"/>
          <p:nvPr/>
        </p:nvSpPr>
        <p:spPr>
          <a:xfrm>
            <a:off x="9498609" y="182880"/>
            <a:ext cx="2144751" cy="310896"/>
          </a:xfrm>
          <a:prstGeom prst="rect">
            <a:avLst/>
          </a:prstGeom>
          <a:noFill/>
        </p:spPr>
        <p:txBody>
          <a:bodyPr wrap="none" anchor="ctr" lIns="0" tIns="0" rIns="0" bIns="0">
            <a:noAutofit/>
          </a:bodyPr>
          <a:lstStyle/>
          <a:p>
            <a:r>
              <a:rPr sz="1400" lang="en-GB">
                <a:solidFill>
                  <a:srgbClr val="1C325B"/>
                </a:solidFill>
                <a:latin typeface="Fira Sans SemiBold"/>
              </a:rPr>
              <a:t>Think in arrays, not points</a:t>
            </a:r>
            <a:endParaRPr lang="en-GB" sz="1400"/>
          </a:p>
        </p:txBody>
      </p:sp>
      <p:sp>
        <p:nvSpPr>
          <p:cNvPr id="49" name="Small print rule number 1">
            <a:extLst>
              <a:ext uri="{C183D7F6-B498-43B3-948B-1728B52AA6E4}">
                <adec:decorative xmlns:adec="http://schemas.microsoft.com/office/drawing/2017/decorative" val="1"/>
              </a:ext>
            </a:extLst>
          </p:cNvPr>
          <p:cNvSpPr/>
          <p:nvPr/>
        </p:nvSpPr>
        <p:spPr>
          <a:xfrm>
            <a:off x="9114561"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1</a:t>
            </a:r>
            <a:endParaRPr lang="en-GB" sz="1400"/>
          </a:p>
        </p:txBody>
      </p:sp>
      <p:sp>
        <p:nvSpPr>
          <p:cNvPr id="50" name="Small print step tracker" descr="Pipeline step 1 of 6: Load"/>
          <p:cNvSpPr txBox="1"/>
          <p:nvPr/>
        </p:nvSpPr>
        <p:spPr>
          <a:xfrm>
            <a:off x="4712487"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2B6797"/>
                </a:solidFill>
                <a:latin typeface="Fira Sans SemiBold"/>
              </a:rPr>
              <a:t>1 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51"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2 Voxel downsampling: one average per voxel</a:t>
            </a:r>
          </a:p>
        </p:txBody>
      </p:sp>
      <p:pic>
        <p:nvPicPr>
          <p:cNvPr id="6" name="!!render" descr="Same view as slide 12 after voxel downsampling: fewer points, same size, same area."/>
          <p:cNvPicPr>
            <a:picLocks noChangeAspect="1"/>
          </p:cNvPicPr>
          <p:nvPr/>
        </p:nvPicPr>
        <p:blipFill>
          <a:blip r:embed="rId2"/>
          <a:stretch>
            <a:fillRect/>
          </a:stretch>
        </p:blipFill>
        <p:spPr>
          <a:xfrm>
            <a:off x="8405095" y="1554480"/>
            <a:ext cx="3238265" cy="3654264"/>
          </a:xfrm>
          <a:prstGeom prst="rect">
            <a:avLst/>
          </a:prstGeom>
        </p:spPr>
      </p:pic>
      <p:grpSp>
        <p:nvGrpSpPr>
          <p:cNvPr id="3" name="!!hl">
            <a:extLst>
              <a:ext uri="{C183D7F6-B498-43B3-948B-1728B52AA6E4}">
                <adec:decorative xmlns:adec="http://schemas.microsoft.com/office/drawing/2017/decorative" val="1"/>
              </a:ext>
            </a:extLst>
          </p:cNvPr>
          <p:cNvGrpSpPr/>
          <p:nvPr/>
        </p:nvGrpSpPr>
        <p:grpSpPr>
          <a:xfrm>
            <a:off x="402336" y="1600200"/>
            <a:ext cx="7728439" cy="266700"/>
            <a:chOff x="402336" y="1600200"/>
            <a:chExt cx="7728439" cy="266700"/>
          </a:xfrm>
        </p:grpSpPr>
        <p:sp>
          <p:nvSpPr>
            <p:cNvPr id="7" name="Key line bar"/>
            <p:cNvSpPr/>
            <p:nvPr/>
          </p:nvSpPr>
          <p:spPr>
            <a:xfrm>
              <a:off x="402336" y="1600200"/>
              <a:ext cx="7728439"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line edge"/>
            <p:cNvSpPr/>
            <p:nvPr/>
          </p:nvSpPr>
          <p:spPr>
            <a:xfrm>
              <a:off x="402336" y="16002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9" name="!!code"/>
          <p:cNvSpPr txBox="1"/>
          <p:nvPr/>
        </p:nvSpPr>
        <p:spPr>
          <a:xfrm>
            <a:off x="402336" y="1554480"/>
            <a:ext cx="7728439" cy="10515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263238"/>
                </a:solidFill>
                <a:latin typeface="Fira Mono" pitchFamily="49"/>
              </a:rPr>
              <a:t>down = pcd.voxel_down_sample(0.5)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 = np.asarray(down.points)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print(len(xyz), </a:t>
            </a:r>
            <a:r>
              <a:rPr sz="1800" b="0" lang="en-GB" noProof="1">
                <a:solidFill>
                  <a:srgbClr val="2B6797"/>
                </a:solidFill>
                <a:latin typeface="Fira Mono" pitchFamily="49"/>
              </a:rPr>
              <a:t>"-&gt;"</a:t>
            </a:r>
            <a:r>
              <a:rPr sz="1800" b="0" lang="en-GB" noProof="1">
                <a:solidFill>
                  <a:srgbClr val="263238"/>
                </a:solidFill>
                <a:latin typeface="Fira Mono" pitchFamily="49"/>
              </a:rPr>
              <a:t>, len(P))</a:t>
            </a:r>
            <a:endParaRPr lang="en-GB" sz="1800"/>
          </a:p>
        </p:txBody>
      </p:sp>
      <p:pic>
        <p:nvPicPr>
          <p:cNvPr id="10" name="Voxel before and after" descr="Left, a 3 by 1.5 metre patch of the crop from above, one layer of voxels, with the 0.5 metre cells drawn: 95 points. Right of it, the same patch: the 95 points faded, and one larger average point in each of the 18 cells."/>
          <p:cNvPicPr>
            <a:picLocks noChangeAspect="1"/>
          </p:cNvPicPr>
          <p:nvPr/>
        </p:nvPicPr>
        <p:blipFill>
          <a:blip r:embed="rId3"/>
          <a:stretch>
            <a:fillRect/>
          </a:stretch>
        </p:blipFill>
        <p:spPr>
          <a:xfrm>
            <a:off x="548640" y="2743200"/>
            <a:ext cx="6716482" cy="2465544"/>
          </a:xfrm>
          <a:prstGeom prst="rect">
            <a:avLst/>
          </a:prstGeom>
        </p:spPr>
      </p:pic>
      <p:sp>
        <p:nvSpPr>
          <p:cNvPr id="11" name="Takeaway bar"/>
          <p:cNvSpPr/>
          <p:nvPr/>
        </p:nvSpPr>
        <p:spPr>
          <a:xfrm>
            <a:off x="548640" y="5345904"/>
            <a:ext cx="64008" cy="57912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upport"/>
          <p:cNvSpPr txBox="1"/>
          <p:nvPr/>
        </p:nvSpPr>
        <p:spPr>
          <a:xfrm>
            <a:off x="731520" y="5345904"/>
            <a:ext cx="10911840" cy="579120"/>
          </a:xfrm>
          <a:prstGeom prst="rect">
            <a:avLst/>
          </a:prstGeom>
          <a:noFill/>
        </p:spPr>
        <p:txBody>
          <a:bodyPr wrap="square" anchor="ctr" lIns="0" tIns="0" rIns="0" bIns="0">
            <a:noAutofit/>
          </a:bodyPr>
          <a:lstStyle/>
          <a:p>
            <a:pPr marL="0" indent="0" algn="l">
              <a:spcBef>
                <a:spcPts val="0"/>
              </a:spcBef>
              <a:spcAft>
                <a:spcPts val="0"/>
              </a:spcAft>
              <a:buNone/>
            </a:pPr>
            <a:r>
              <a:rPr sz="3200" b="1" lang="en-GB">
                <a:solidFill>
                  <a:srgbClr val="1C325B"/>
                </a:solidFill>
                <a:latin typeface="+mn-lt"/>
              </a:rPr>
              <a:t>Rule 2: 722 961 points in → 232 180 out at 0.5 m voxels.</a:t>
            </a:r>
            <a:endParaRPr lang="en-GB" sz="3200"/>
          </a:p>
        </p:txBody>
      </p:sp>
      <p:sp>
        <p:nvSpPr>
          <p:cNvPr id="13" name="!!src"/>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4" name="Small print rule chip 2" descr="Evidence for rule 2: Make it small first"/>
          <p:cNvSpPr txBox="1"/>
          <p:nvPr/>
        </p:nvSpPr>
        <p:spPr>
          <a:xfrm>
            <a:off x="10166960" y="182880"/>
            <a:ext cx="1476400" cy="310896"/>
          </a:xfrm>
          <a:prstGeom prst="rect">
            <a:avLst/>
          </a:prstGeom>
          <a:noFill/>
        </p:spPr>
        <p:txBody>
          <a:bodyPr wrap="none" anchor="ctr" lIns="0" tIns="0" rIns="0" bIns="0">
            <a:noAutofit/>
          </a:bodyPr>
          <a:lstStyle/>
          <a:p>
            <a:r>
              <a:rPr sz="1400" lang="en-GB">
                <a:solidFill>
                  <a:srgbClr val="1C325B"/>
                </a:solidFill>
                <a:latin typeface="Fira Sans SemiBold"/>
              </a:rPr>
              <a:t>Make it small first</a:t>
            </a:r>
            <a:endParaRPr lang="en-GB" sz="1400"/>
          </a:p>
        </p:txBody>
      </p:sp>
      <p:sp>
        <p:nvSpPr>
          <p:cNvPr id="15" name="Small print rule number 2">
            <a:extLst>
              <a:ext uri="{C183D7F6-B498-43B3-948B-1728B52AA6E4}">
                <adec:decorative xmlns:adec="http://schemas.microsoft.com/office/drawing/2017/decorative" val="1"/>
              </a:ext>
            </a:extLst>
          </p:cNvPr>
          <p:cNvSpPr/>
          <p:nvPr/>
        </p:nvSpPr>
        <p:spPr>
          <a:xfrm>
            <a:off x="9782912"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2</a:t>
            </a:r>
            <a:endParaRPr lang="en-GB" sz="1400"/>
          </a:p>
        </p:txBody>
      </p:sp>
      <p:sp>
        <p:nvSpPr>
          <p:cNvPr id="16" name="Small print step tracker" descr="Pipeline step 2 of 6: Voxels"/>
          <p:cNvSpPr txBox="1"/>
          <p:nvPr/>
        </p:nvSpPr>
        <p:spPr>
          <a:xfrm>
            <a:off x="5380838"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455A64"/>
                </a:solidFill>
                <a:latin typeface="+mn-lt"/>
              </a:rPr>
              <a:t>Load</a:t>
            </a:r>
            <a:r>
              <a:rPr sz="1200" lang="en-GB">
                <a:solidFill>
                  <a:srgbClr val="455A64"/>
                </a:solidFill>
                <a:latin typeface="+mn-lt"/>
              </a:rPr>
              <a:t>  ·  </a:t>
            </a:r>
            <a:r>
              <a:rPr sz="1200" lang="en-GB">
                <a:solidFill>
                  <a:srgbClr val="2B6797"/>
                </a:solidFill>
                <a:latin typeface="Fira Sans SemiBold"/>
              </a:rPr>
              <a:t>2 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17"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3 Ground removal: one plane per tile</a:t>
            </a:r>
          </a:p>
        </p:txBody>
      </p:sp>
      <p:grpSp>
        <p:nvGrpSpPr>
          <p:cNvPr id="3" name="Code key line">
            <a:extLst>
              <a:ext uri="{C183D7F6-B498-43B3-948B-1728B52AA6E4}">
                <adec:decorative xmlns:adec="http://schemas.microsoft.com/office/drawing/2017/decorative" val="1"/>
              </a:ext>
            </a:extLst>
          </p:cNvPr>
          <p:cNvGrpSpPr/>
          <p:nvPr/>
        </p:nvGrpSpPr>
        <p:grpSpPr>
          <a:xfrm>
            <a:off x="402336" y="2133600"/>
            <a:ext cx="6181344" cy="266700"/>
            <a:chOff x="402336" y="2133600"/>
            <a:chExt cx="6181344" cy="266700"/>
          </a:xfrm>
        </p:grpSpPr>
        <p:sp>
          <p:nvSpPr>
            <p:cNvPr id="6" name="Key line bar"/>
            <p:cNvSpPr/>
            <p:nvPr/>
          </p:nvSpPr>
          <p:spPr>
            <a:xfrm>
              <a:off x="402336" y="21336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1336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o3d.utility.random.seed(0)</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ground = np.zeros(len(P), bool)</a:t>
            </a:r>
            <a:endParaRPr lang="en-GB" sz="1800"/>
          </a:p>
          <a:p>
            <a:pPr marL="0" indent="0" algn="l">
              <a:lnSpc>
                <a:spcPts val="2100"/>
              </a:lnSpc>
              <a:spcBef>
                <a:spcPts val="0"/>
              </a:spcBef>
              <a:spcAft>
                <a:spcPts val="0"/>
              </a:spcAft>
              <a:buNone/>
            </a:pPr>
            <a:r>
              <a:rPr sz="1800" b="1" lang="en-GB" noProof="1">
                <a:solidFill>
                  <a:srgbClr val="1C325B"/>
                </a:solidFill>
                <a:latin typeface="Fira Mono" pitchFamily="49"/>
              </a:rPr>
              <a:t>for</a:t>
            </a:r>
            <a:r>
              <a:rPr sz="1800" b="1" lang="en-GB" noProof="1">
                <a:solidFill>
                  <a:srgbClr val="263238"/>
                </a:solidFill>
                <a:latin typeface="Fira Mono" pitchFamily="49"/>
              </a:rPr>
              <a:t> i </a:t>
            </a:r>
            <a:r>
              <a:rPr sz="1800" b="1" lang="en-GB" noProof="1">
                <a:solidFill>
                  <a:srgbClr val="1C325B"/>
                </a:solidFill>
                <a:latin typeface="Fira Mono" pitchFamily="49"/>
              </a:rPr>
              <a:t>in</a:t>
            </a:r>
            <a:r>
              <a:rPr sz="1800" b="1" lang="en-GB" noProof="1">
                <a:solidFill>
                  <a:srgbClr val="263238"/>
                </a:solidFill>
                <a:latin typeface="Fira Mono" pitchFamily="49"/>
              </a:rPr>
              <a:t> tiles(P, 25):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z0 = np.percentile(P[i, 2], 2)</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low = i[P[i, 2] &lt; z0 + 1.5]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t = down.select_by_index(low)</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_, inl = t.segment_plane(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0.4, 3, 300,</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probability=1.0)</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ground[low[inl]] = z0 &lt; 5</a:t>
            </a:r>
            <a:endParaRPr lang="en-GB" sz="1800"/>
          </a:p>
        </p:txBody>
      </p:sp>
      <p:pic>
        <p:nvPicPr>
          <p:cNvPr id="9" name="Render" descr="Same view: ground points in slate grey, labelled Ground, everything else still coloured by height."/>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Side view: ground points along a gently sloping street, a building and a tree above them, drawn hollow because they are not ground; a dashed line splits two tiles and each tile has its own straight plane through its ground points."/>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Fit one plane per tile;</a:t>
            </a:r>
            <a:endParaRPr lang="en-GB" sz="2800"/>
          </a:p>
          <a:p>
            <a:pPr marL="0" indent="0" algn="l">
              <a:spcBef>
                <a:spcPts val="0"/>
              </a:spcBef>
              <a:spcAft>
                <a:spcPts val="0"/>
              </a:spcAft>
              <a:buNone/>
            </a:pPr>
            <a:r>
              <a:rPr sz="2800" b="1" lang="en-GB">
                <a:solidFill>
                  <a:srgbClr val="1C325B"/>
                </a:solidFill>
                <a:latin typeface="+mn-lt"/>
              </a:rPr>
              <a:t>roofs get none.</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Scored against AHN's ground:</a:t>
            </a:r>
            <a:endParaRPr lang="en-GB" sz="2000"/>
          </a:p>
          <a:p>
            <a:pPr marL="0" indent="0" algn="l">
              <a:spcBef>
                <a:spcPts val="0"/>
              </a:spcBef>
              <a:spcAft>
                <a:spcPts val="0"/>
              </a:spcAft>
              <a:buNone/>
            </a:pPr>
            <a:r>
              <a:rPr sz="2000" b="0" lang="en-GB">
                <a:solidFill>
                  <a:srgbClr val="263238"/>
                </a:solidFill>
                <a:latin typeface="+mn-lt"/>
              </a:rPr>
              <a:t>98 % precision, 94 % recall.</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5" name="Small print rule chip 2" descr="Evidence for rule 2: Make it small first"/>
          <p:cNvSpPr txBox="1"/>
          <p:nvPr/>
        </p:nvSpPr>
        <p:spPr>
          <a:xfrm>
            <a:off x="10166960" y="182880"/>
            <a:ext cx="1476400" cy="310896"/>
          </a:xfrm>
          <a:prstGeom prst="rect">
            <a:avLst/>
          </a:prstGeom>
          <a:noFill/>
        </p:spPr>
        <p:txBody>
          <a:bodyPr wrap="none" anchor="ctr" lIns="0" tIns="0" rIns="0" bIns="0">
            <a:noAutofit/>
          </a:bodyPr>
          <a:lstStyle/>
          <a:p>
            <a:r>
              <a:rPr sz="1400" lang="en-GB">
                <a:solidFill>
                  <a:srgbClr val="1C325B"/>
                </a:solidFill>
                <a:latin typeface="Fira Sans SemiBold"/>
              </a:rPr>
              <a:t>Make it small first</a:t>
            </a:r>
            <a:endParaRPr lang="en-GB" sz="1400"/>
          </a:p>
        </p:txBody>
      </p:sp>
      <p:sp>
        <p:nvSpPr>
          <p:cNvPr id="16" name="Small print rule number 2">
            <a:extLst>
              <a:ext uri="{C183D7F6-B498-43B3-948B-1728B52AA6E4}">
                <adec:decorative xmlns:adec="http://schemas.microsoft.com/office/drawing/2017/decorative" val="1"/>
              </a:ext>
            </a:extLst>
          </p:cNvPr>
          <p:cNvSpPr/>
          <p:nvPr/>
        </p:nvSpPr>
        <p:spPr>
          <a:xfrm>
            <a:off x="9782912"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2</a:t>
            </a:r>
            <a:endParaRPr lang="en-GB" sz="1400"/>
          </a:p>
        </p:txBody>
      </p:sp>
      <p:sp>
        <p:nvSpPr>
          <p:cNvPr id="17" name="Small print step tracker" descr="Pipeline step 3 of 6: Ground"/>
          <p:cNvSpPr txBox="1"/>
          <p:nvPr/>
        </p:nvSpPr>
        <p:spPr>
          <a:xfrm>
            <a:off x="5380838"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455A64"/>
                </a:solidFill>
                <a:latin typeface="+mn-lt"/>
              </a:rPr>
              <a:t>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2B6797"/>
                </a:solidFill>
                <a:latin typeface="Fira Sans SemiBold"/>
              </a:rPr>
              <a:t>3 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18"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4 Clustering: DBSCAN groups points that touch</a:t>
            </a:r>
          </a:p>
        </p:txBody>
      </p:sp>
      <p:grpSp>
        <p:nvGrpSpPr>
          <p:cNvPr id="3" name="Code key line">
            <a:extLst>
              <a:ext uri="{C183D7F6-B498-43B3-948B-1728B52AA6E4}">
                <adec:decorative xmlns:adec="http://schemas.microsoft.com/office/drawing/2017/decorative" val="1"/>
              </a:ext>
            </a:extLst>
          </p:cNvPr>
          <p:cNvGrpSpPr/>
          <p:nvPr/>
        </p:nvGrpSpPr>
        <p:grpSpPr>
          <a:xfrm>
            <a:off x="402336" y="2933700"/>
            <a:ext cx="6181344" cy="266700"/>
            <a:chOff x="402336" y="2933700"/>
            <a:chExt cx="6181344" cy="266700"/>
          </a:xfrm>
        </p:grpSpPr>
        <p:sp>
          <p:nvSpPr>
            <p:cNvPr id="6" name="Key line bar"/>
            <p:cNvSpPr/>
            <p:nvPr/>
          </p:nvSpPr>
          <p:spPr>
            <a:xfrm>
              <a:off x="402336" y="29337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9337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26517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hag = height_above(P, ground)</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up = ~ground &amp; (hag &gt; 0.3)</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rest = down.select_by_index(</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np.flatnonzero(up))</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lab = rest.cluster_dbscan(</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    eps=0.75, min_points=6)</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ids = np.asarray(lab)</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print(ids.max() + 1, </a:t>
            </a:r>
            <a:r>
              <a:rPr sz="1800" b="0" lang="en-GB" noProof="1">
                <a:solidFill>
                  <a:srgbClr val="2B6797"/>
                </a:solidFill>
                <a:latin typeface="Fira Mono" pitchFamily="49"/>
              </a:rPr>
              <a:t>"clusters"</a:t>
            </a:r>
            <a:r>
              <a:rPr sz="1800" b="0" lang="en-GB" noProof="1">
                <a:solidFill>
                  <a:srgbClr val="263238"/>
                </a:solidFill>
                <a:latin typeface="Fira Mono" pitchFamily="49"/>
              </a:rPr>
              <a:t>)</a:t>
            </a:r>
            <a:endParaRPr lang="en-GB" sz="1800"/>
          </a:p>
        </p:txBody>
      </p:sp>
      <p:pic>
        <p:nvPicPr>
          <p:cNvPr id="9" name="Render" descr="Same view: ground stays slate grey, labelled Ground; the other points are grouped into clusters, each drawn in one of four cycling colours (blue, sage, grey, light grey), with noise dimmed."/>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wo groups of points, each a cluster because every point has neighbours within eps, drawn as a dashed circle; one lone point far away is noise."/>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Neighbours within eps</a:t>
            </a:r>
            <a:endParaRPr lang="en-GB" sz="2800"/>
          </a:p>
          <a:p>
            <a:pPr marL="0" indent="0" algn="l">
              <a:spcBef>
                <a:spcPts val="0"/>
              </a:spcBef>
              <a:spcAft>
                <a:spcPts val="0"/>
              </a:spcAft>
              <a:buNone/>
            </a:pPr>
            <a:r>
              <a:rPr sz="2800" b="1" lang="en-GB">
                <a:solidFill>
                  <a:srgbClr val="1C325B"/>
                </a:solidFill>
                <a:latin typeface="+mn-lt"/>
              </a:rPr>
              <a:t>make a cluster.</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1 024 clusters. Clusters are not labels yet.</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5" name="Small print step tracker" descr="Pipeline step 4 of 6: Clusters"/>
          <p:cNvSpPr txBox="1"/>
          <p:nvPr/>
        </p:nvSpPr>
        <p:spPr>
          <a:xfrm>
            <a:off x="7515606"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455A64"/>
                </a:solidFill>
                <a:latin typeface="+mn-lt"/>
              </a:rPr>
              <a:t>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2B6797"/>
                </a:solidFill>
                <a:latin typeface="Fira Sans SemiBold"/>
              </a:rPr>
              <a:t>4 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16"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5 Labelling: the first rule that fires wins</a:t>
            </a:r>
          </a:p>
        </p:txBody>
      </p:sp>
      <p:grpSp>
        <p:nvGrpSpPr>
          <p:cNvPr id="3" name="Code key line">
            <a:extLst>
              <a:ext uri="{C183D7F6-B498-43B3-948B-1728B52AA6E4}">
                <adec:decorative xmlns:adec="http://schemas.microsoft.com/office/drawing/2017/decorative" val="1"/>
              </a:ext>
            </a:extLst>
          </p:cNvPr>
          <p:cNvGrpSpPr/>
          <p:nvPr/>
        </p:nvGrpSpPr>
        <p:grpSpPr>
          <a:xfrm>
            <a:off x="402336" y="1866900"/>
            <a:ext cx="6181344" cy="266700"/>
            <a:chOff x="402336" y="1866900"/>
            <a:chExt cx="6181344" cy="266700"/>
          </a:xfrm>
        </p:grpSpPr>
        <p:sp>
          <p:nvSpPr>
            <p:cNvPr id="6" name="Key line bar"/>
            <p:cNvSpPr/>
            <p:nvPr/>
          </p:nvSpPr>
          <p:spPr>
            <a:xfrm>
              <a:off x="402336" y="18669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18669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32918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1" lang="en-GB" noProof="1">
                <a:solidFill>
                  <a:srgbClr val="1C325B"/>
                </a:solidFill>
                <a:latin typeface="Fira Mono" pitchFamily="49"/>
              </a:rPr>
              <a:t>def</a:t>
            </a:r>
            <a:r>
              <a:rPr sz="1800" b="0" lang="en-GB" noProof="1">
                <a:solidFill>
                  <a:srgbClr val="263238"/>
                </a:solidFill>
                <a:latin typeface="Fira Mono" pitchFamily="49"/>
              </a:rPr>
              <a:t> name(c):</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    </a:t>
            </a:r>
            <a:r>
              <a:rPr sz="1800" b="1" lang="en-GB" noProof="1">
                <a:solidFill>
                  <a:srgbClr val="1C325B"/>
                </a:solidFill>
                <a:latin typeface="Fira Mono" pitchFamily="49"/>
              </a:rPr>
              <a:t>if</a:t>
            </a:r>
            <a:r>
              <a:rPr sz="1800" b="1" lang="en-GB" noProof="1">
                <a:solidFill>
                  <a:srgbClr val="263238"/>
                </a:solidFill>
                <a:latin typeface="Fira Mono" pitchFamily="49"/>
              </a:rPr>
              <a:t> c.multi &gt; 0.4 </a:t>
            </a:r>
            <a:r>
              <a:rPr sz="1800" b="1" lang="en-GB" noProof="1">
                <a:solidFill>
                  <a:srgbClr val="1C325B"/>
                </a:solidFill>
                <a:latin typeface="Fira Mono" pitchFamily="49"/>
              </a:rPr>
              <a:t>and</a:t>
            </a:r>
            <a:r>
              <a:rPr sz="1800" b="1" lang="en-GB" noProof="1">
                <a:solidFill>
                  <a:srgbClr val="263238"/>
                </a:solidFill>
                <a:latin typeface="Fira Mono" pitchFamily="49"/>
              </a:rPr>
              <a:t> c.top &gt; 1:</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VEGETATION</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c.foot &gt; 25 </a:t>
            </a:r>
            <a:r>
              <a:rPr sz="1800" b="1" lang="en-GB" noProof="1">
                <a:solidFill>
                  <a:srgbClr val="1C325B"/>
                </a:solidFill>
                <a:latin typeface="Fira Mono" pitchFamily="49"/>
              </a:rPr>
              <a:t>and</a:t>
            </a:r>
            <a:r>
              <a:rPr sz="1800" b="0" lang="en-GB" noProof="1">
                <a:solidFill>
                  <a:srgbClr val="263238"/>
                </a:solidFill>
                <a:latin typeface="Fira Mono" pitchFamily="49"/>
              </a:rPr>
              <a:t> c.top &gt; 2.5:</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BUILDINGS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c.to_building &lt; 2:  </a:t>
            </a:r>
            <a:r>
              <a:rPr sz="1800" b="0" lang="en-GB" noProof="1">
                <a:solidFill>
                  <a:srgbClr val="455A64"/>
                </a:solidFill>
                <a:latin typeface="Fira Mono" pitchFamily="49"/>
              </a:rPr>
              <a:t># facade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BUILDINGS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if</a:t>
            </a:r>
            <a:r>
              <a:rPr sz="1800" b="0" lang="en-GB" noProof="1">
                <a:solidFill>
                  <a:srgbClr val="263238"/>
                </a:solidFill>
                <a:latin typeface="Fira Mono" pitchFamily="49"/>
              </a:rPr>
              <a:t> c.slender </a:t>
            </a:r>
            <a:r>
              <a:rPr sz="1800" b="1" lang="en-GB" noProof="1">
                <a:solidFill>
                  <a:srgbClr val="1C325B"/>
                </a:solidFill>
                <a:latin typeface="Fira Mono" pitchFamily="49"/>
              </a:rPr>
              <a:t>and</a:t>
            </a:r>
            <a:r>
              <a:rPr sz="1800" b="0" lang="en-GB" noProof="1">
                <a:solidFill>
                  <a:srgbClr val="263238"/>
                </a:solidFill>
                <a:latin typeface="Fira Mono" pitchFamily="49"/>
              </a:rPr>
              <a:t> c.free: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STREET_FURNITURE</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a:t>
            </a:r>
            <a:r>
              <a:rPr sz="1800" b="1" lang="en-GB" noProof="1">
                <a:solidFill>
                  <a:srgbClr val="1C325B"/>
                </a:solidFill>
                <a:latin typeface="Fira Mono" pitchFamily="49"/>
              </a:rPr>
              <a:t>return</a:t>
            </a:r>
            <a:r>
              <a:rPr sz="1800" b="0" lang="en-GB" noProof="1">
                <a:solidFill>
                  <a:srgbClr val="263238"/>
                </a:solidFill>
                <a:latin typeface="Fira Mono" pitchFamily="49"/>
              </a:rPr>
              <a:t> UNLABELLED</a:t>
            </a:r>
            <a:endParaRPr lang="en-GB" sz="1800"/>
          </a:p>
        </p:txBody>
      </p:sp>
      <p:pic>
        <p:nvPicPr>
          <p:cNvPr id="9" name="Render" descr="Same view with four classes, each labelled directly: ground slate grey, buildings light blue, vegetation sage green, street furniture white."/>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hree cluster shapes, a tree crown with many echoes, a wide flat building and a thin pole, each with an arrow to its class colour: vegetation, buildings, street furniture."/>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1 024 clusters, not 232 180 points:</a:t>
            </a:r>
            <a:endParaRPr lang="en-GB" sz="2800"/>
          </a:p>
          <a:p>
            <a:pPr marL="0" indent="0" algn="l">
              <a:spcBef>
                <a:spcPts val="0"/>
              </a:spcBef>
              <a:spcAft>
                <a:spcPts val="0"/>
              </a:spcAft>
              <a:buNone/>
            </a:pPr>
            <a:r>
              <a:rPr sz="2800" b="1" lang="en-GB">
                <a:solidFill>
                  <a:srgbClr val="1C325B"/>
                </a:solidFill>
                <a:latin typeface="+mn-lt"/>
              </a:rPr>
              <a:t>a Python loop is fine.</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Height, footprint and echoes decide the class.</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5" name="Small print rule chip 2" descr="Evidence for rule 2: Make it small first"/>
          <p:cNvSpPr txBox="1"/>
          <p:nvPr/>
        </p:nvSpPr>
        <p:spPr>
          <a:xfrm>
            <a:off x="10166960" y="182880"/>
            <a:ext cx="1476400" cy="310896"/>
          </a:xfrm>
          <a:prstGeom prst="rect">
            <a:avLst/>
          </a:prstGeom>
          <a:noFill/>
        </p:spPr>
        <p:txBody>
          <a:bodyPr wrap="none" anchor="ctr" lIns="0" tIns="0" rIns="0" bIns="0">
            <a:noAutofit/>
          </a:bodyPr>
          <a:lstStyle/>
          <a:p>
            <a:r>
              <a:rPr sz="1400" lang="en-GB">
                <a:solidFill>
                  <a:srgbClr val="1C325B"/>
                </a:solidFill>
                <a:latin typeface="Fira Sans SemiBold"/>
              </a:rPr>
              <a:t>Make it small first</a:t>
            </a:r>
            <a:endParaRPr lang="en-GB" sz="1400"/>
          </a:p>
        </p:txBody>
      </p:sp>
      <p:sp>
        <p:nvSpPr>
          <p:cNvPr id="16" name="Small print rule number 2">
            <a:extLst>
              <a:ext uri="{C183D7F6-B498-43B3-948B-1728B52AA6E4}">
                <adec:decorative xmlns:adec="http://schemas.microsoft.com/office/drawing/2017/decorative" val="1"/>
              </a:ext>
            </a:extLst>
          </p:cNvPr>
          <p:cNvSpPr/>
          <p:nvPr/>
        </p:nvSpPr>
        <p:spPr>
          <a:xfrm>
            <a:off x="9782912"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2</a:t>
            </a:r>
            <a:endParaRPr lang="en-GB" sz="1400"/>
          </a:p>
        </p:txBody>
      </p:sp>
      <p:sp>
        <p:nvSpPr>
          <p:cNvPr id="17" name="Small print step tracker" descr="Pipeline step 5 of 6: Labels"/>
          <p:cNvSpPr txBox="1"/>
          <p:nvPr/>
        </p:nvSpPr>
        <p:spPr>
          <a:xfrm>
            <a:off x="5380838"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455A64"/>
                </a:solidFill>
                <a:latin typeface="+mn-lt"/>
              </a:rPr>
              <a:t>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2B6797"/>
                </a:solidFill>
                <a:latin typeface="Fira Sans SemiBold"/>
              </a:rPr>
              <a:t>5 Labels</a:t>
            </a:r>
            <a:r>
              <a:rPr sz="1200" lang="en-GB">
                <a:solidFill>
                  <a:srgbClr val="455A64"/>
                </a:solidFill>
                <a:latin typeface="+mn-lt"/>
              </a:rPr>
              <a:t>  ·  </a:t>
            </a:r>
            <a:r>
              <a:rPr sz="1200" lang="en-GB">
                <a:solidFill>
                  <a:srgbClr val="455A64"/>
                </a:solidFill>
                <a:latin typeface="+mn-lt"/>
              </a:rPr>
              <a:t>Paint-back</a:t>
            </a:r>
            <a:endParaRPr lang="en-GB" sz="1200"/>
          </a:p>
        </p:txBody>
      </p:sp>
      <p:sp>
        <p:nvSpPr>
          <p:cNvPr id="18"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19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6 Paint-back: every point takes its voxel's label</a:t>
            </a:r>
          </a:p>
        </p:txBody>
      </p:sp>
      <p:grpSp>
        <p:nvGrpSpPr>
          <p:cNvPr id="3" name="Code key line">
            <a:extLst>
              <a:ext uri="{C183D7F6-B498-43B3-948B-1728B52AA6E4}">
                <adec:decorative xmlns:adec="http://schemas.microsoft.com/office/drawing/2017/decorative" val="1"/>
              </a:ext>
            </a:extLst>
          </p:cNvPr>
          <p:cNvGrpSpPr/>
          <p:nvPr/>
        </p:nvGrpSpPr>
        <p:grpSpPr>
          <a:xfrm>
            <a:off x="402336" y="2400300"/>
            <a:ext cx="6181344" cy="266700"/>
            <a:chOff x="402336" y="2400300"/>
            <a:chExt cx="6181344" cy="266700"/>
          </a:xfrm>
        </p:grpSpPr>
        <p:sp>
          <p:nvSpPr>
            <p:cNvPr id="6" name="Key line bar"/>
            <p:cNvSpPr/>
            <p:nvPr/>
          </p:nvSpPr>
          <p:spPr>
            <a:xfrm>
              <a:off x="402336" y="2400300"/>
              <a:ext cx="6181344" cy="266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line edge"/>
            <p:cNvSpPr/>
            <p:nvPr/>
          </p:nvSpPr>
          <p:spPr>
            <a:xfrm>
              <a:off x="402336" y="2400300"/>
              <a:ext cx="64008" cy="2667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 name="Code"/>
          <p:cNvSpPr txBox="1"/>
          <p:nvPr/>
        </p:nvSpPr>
        <p:spPr>
          <a:xfrm>
            <a:off x="402336" y="1554480"/>
            <a:ext cx="6181344" cy="265176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263238"/>
                </a:solidFill>
                <a:latin typeface="Fira Mono" pitchFamily="49"/>
              </a:rPr>
              <a:t>P = np.asarray(down.points)</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_, j = KDTree(P).query(</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xyz, workers=-1)</a:t>
            </a:r>
            <a:endParaRPr lang="en-GB" sz="1800"/>
          </a:p>
          <a:p>
            <a:pPr marL="0" indent="0" algn="l">
              <a:lnSpc>
                <a:spcPts val="2100"/>
              </a:lnSpc>
              <a:spcBef>
                <a:spcPts val="0"/>
              </a:spcBef>
              <a:spcAft>
                <a:spcPts val="0"/>
              </a:spcAft>
              <a:buNone/>
            </a:pPr>
            <a:r>
              <a:rPr sz="1800" b="1" lang="en-GB" noProof="1">
                <a:solidFill>
                  <a:srgbClr val="263238"/>
                </a:solidFill>
                <a:latin typeface="Fira Mono" pitchFamily="49"/>
              </a:rPr>
              <a:t>pl = pv.Plotter(off_screen=</a:t>
            </a:r>
            <a:r>
              <a:rPr sz="1800" b="1" lang="en-GB" noProof="1">
                <a:solidFill>
                  <a:srgbClr val="1C325B"/>
                </a:solidFill>
                <a:latin typeface="Fira Mono" pitchFamily="49"/>
              </a:rPr>
              <a:t>True</a:t>
            </a:r>
            <a:r>
              <a:rPr sz="1800" b="1"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pl.add_points(xyz, point_size=3,</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    scalars=RGB[cls[j]], rgb=</a:t>
            </a:r>
            <a:r>
              <a:rPr sz="1800" b="1" lang="en-GB" noProof="1">
                <a:solidFill>
                  <a:srgbClr val="1C325B"/>
                </a:solidFill>
                <a:latin typeface="Fira Mono" pitchFamily="49"/>
              </a:rPr>
              <a:t>True</a:t>
            </a:r>
            <a:r>
              <a:rPr sz="1800" b="0" lang="en-GB" noProof="1">
                <a:solidFill>
                  <a:srgbClr val="263238"/>
                </a:solidFill>
                <a:latin typeface="Fira Mono" pitchFamily="49"/>
              </a:rPr>
              <a:t>)</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pl.camera_position = CAM</a:t>
            </a:r>
            <a:endParaRPr lang="en-GB" sz="1800"/>
          </a:p>
          <a:p>
            <a:pPr marL="0" indent="0" algn="l">
              <a:lnSpc>
                <a:spcPts val="2100"/>
              </a:lnSpc>
              <a:spcBef>
                <a:spcPts val="0"/>
              </a:spcBef>
              <a:spcAft>
                <a:spcPts val="0"/>
              </a:spcAft>
              <a:buNone/>
            </a:pPr>
            <a:r>
              <a:rPr sz="1800" b="0" lang="en-GB" noProof="1">
                <a:solidFill>
                  <a:srgbClr val="263238"/>
                </a:solidFill>
                <a:latin typeface="Fira Mono" pitchFamily="49"/>
              </a:rPr>
              <a:t>pl.screenshot(</a:t>
            </a:r>
            <a:r>
              <a:rPr sz="1800" b="0" lang="en-GB" noProof="1">
                <a:solidFill>
                  <a:srgbClr val="2B6797"/>
                </a:solidFill>
                <a:latin typeface="Fira Mono" pitchFamily="49"/>
              </a:rPr>
              <a:t>"f6_final.png"</a:t>
            </a:r>
            <a:r>
              <a:rPr sz="1800" b="0" lang="en-GB" noProof="1">
                <a:solidFill>
                  <a:srgbClr val="263238"/>
                </a:solidFill>
                <a:latin typeface="Fira Mono" pitchFamily="49"/>
              </a:rPr>
              <a:t>)</a:t>
            </a:r>
            <a:endParaRPr lang="en-GB" sz="1800"/>
          </a:p>
        </p:txBody>
      </p:sp>
      <p:pic>
        <p:nvPicPr>
          <p:cNvPr id="9" name="Render" descr="Same view: the four class labels painted back from the 232 180 voxel points onto all 722 961 original points; ground slate grey, buildings light blue, vegetation sage green, street furniture white."/>
          <p:cNvPicPr>
            <a:picLocks noChangeAspect="1"/>
          </p:cNvPicPr>
          <p:nvPr/>
        </p:nvPicPr>
        <p:blipFill>
          <a:blip r:embed="rId2"/>
          <a:stretch>
            <a:fillRect/>
          </a:stretch>
        </p:blipFill>
        <p:spPr>
          <a:xfrm>
            <a:off x="6858000" y="1554480"/>
            <a:ext cx="2433912" cy="2746581"/>
          </a:xfrm>
          <a:prstGeom prst="rect">
            <a:avLst/>
          </a:prstGeom>
        </p:spPr>
      </p:pic>
      <p:pic>
        <p:nvPicPr>
          <p:cNvPr id="11" name="Step diagram" descr="Three large voxel points in their class colours with small original points around them, each joined by a thin line to its nearest voxel point, whose colour it takes."/>
          <p:cNvPicPr>
            <a:picLocks noChangeAspect="1"/>
          </p:cNvPicPr>
          <p:nvPr/>
        </p:nvPicPr>
        <p:blipFill>
          <a:blip r:embed="rId3"/>
          <a:stretch>
            <a:fillRect/>
          </a:stretch>
        </p:blipFill>
        <p:spPr>
          <a:xfrm>
            <a:off x="6858000" y="4410789"/>
            <a:ext cx="4785360" cy="1550811"/>
          </a:xfrm>
          <a:prstGeom prst="rect">
            <a:avLst/>
          </a:prstGeom>
        </p:spPr>
      </p:pic>
      <p:sp>
        <p:nvSpPr>
          <p:cNvPr id="12" name="Takeaway bar"/>
          <p:cNvSpPr/>
          <p:nvPr/>
        </p:nvSpPr>
        <p:spPr>
          <a:xfrm>
            <a:off x="548640" y="5062440"/>
            <a:ext cx="64008" cy="89916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731520" y="5062440"/>
            <a:ext cx="5852160" cy="899160"/>
          </a:xfrm>
          <a:prstGeom prst="rect">
            <a:avLst/>
          </a:prstGeom>
          <a:noFill/>
        </p:spPr>
        <p:txBody>
          <a:bodyPr wrap="square" anchor="b" lIns="0" tIns="0" rIns="0" bIns="0">
            <a:noAutofit/>
          </a:bodyPr>
          <a:lstStyle/>
          <a:p>
            <a:pPr marL="0" indent="0" algn="l">
              <a:spcBef>
                <a:spcPts val="0"/>
              </a:spcBef>
              <a:spcAft>
                <a:spcPts val="0"/>
              </a:spcAft>
              <a:buNone/>
            </a:pPr>
            <a:r>
              <a:rPr sz="2800" b="1" lang="en-GB">
                <a:solidFill>
                  <a:srgbClr val="1C325B"/>
                </a:solidFill>
                <a:latin typeface="+mn-lt"/>
              </a:rPr>
              <a:t>One query labels all</a:t>
            </a:r>
            <a:endParaRPr lang="en-GB" sz="2800"/>
          </a:p>
          <a:p>
            <a:pPr marL="0" indent="0" algn="l">
              <a:spcBef>
                <a:spcPts val="0"/>
              </a:spcBef>
              <a:spcAft>
                <a:spcPts val="0"/>
              </a:spcAft>
              <a:buNone/>
            </a:pPr>
            <a:r>
              <a:rPr sz="2800" b="1" lang="en-GB">
                <a:solidFill>
                  <a:srgbClr val="1C325B"/>
                </a:solidFill>
                <a:latin typeface="+mn-lt"/>
              </a:rPr>
              <a:t>722 961 points.</a:t>
            </a:r>
            <a:endParaRPr lang="en-GB" sz="2800"/>
          </a:p>
        </p:txBody>
      </p:sp>
      <p:sp>
        <p:nvSpPr>
          <p:cNvPr id="10" name="Support"/>
          <p:cNvSpPr txBox="1"/>
          <p:nvPr/>
        </p:nvSpPr>
        <p:spPr>
          <a:xfrm>
            <a:off x="9474792" y="1554480"/>
            <a:ext cx="2168568" cy="2746581"/>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One KDTree query, then PyVista renders it.</a:t>
            </a:r>
            <a:endParaRPr lang="en-GB" sz="2000"/>
          </a:p>
        </p:txBody>
      </p:sp>
      <p:sp>
        <p:nvSpPr>
          <p:cNvPr id="14"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4">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5" name="Small print step tracker" descr="Pipeline step 6 of 6: Paint-back"/>
          <p:cNvSpPr txBox="1"/>
          <p:nvPr/>
        </p:nvSpPr>
        <p:spPr>
          <a:xfrm>
            <a:off x="7515606" y="182880"/>
            <a:ext cx="4127754" cy="310896"/>
          </a:xfrm>
          <a:prstGeom prst="rect">
            <a:avLst/>
          </a:prstGeom>
          <a:noFill/>
        </p:spPr>
        <p:txBody>
          <a:bodyPr wrap="none" anchor="ctr" lIns="0" tIns="0" rIns="0" bIns="0">
            <a:noAutofit/>
          </a:bodyPr>
          <a:lstStyle/>
          <a:p>
            <a:pPr marL="0" indent="0" algn="r">
              <a:spcBef>
                <a:spcPts val="0"/>
              </a:spcBef>
              <a:spcAft>
                <a:spcPts val="0"/>
              </a:spcAft>
              <a:buNone/>
            </a:pPr>
            <a:r>
              <a:rPr sz="1200" lang="en-GB">
                <a:solidFill>
                  <a:srgbClr val="455A64"/>
                </a:solidFill>
                <a:latin typeface="+mn-lt"/>
              </a:rPr>
              <a:t>Load</a:t>
            </a:r>
            <a:r>
              <a:rPr sz="1200" lang="en-GB">
                <a:solidFill>
                  <a:srgbClr val="455A64"/>
                </a:solidFill>
                <a:latin typeface="+mn-lt"/>
              </a:rPr>
              <a:t>  ·  </a:t>
            </a:r>
            <a:r>
              <a:rPr sz="1200" lang="en-GB">
                <a:solidFill>
                  <a:srgbClr val="455A64"/>
                </a:solidFill>
                <a:latin typeface="+mn-lt"/>
              </a:rPr>
              <a:t>Voxels</a:t>
            </a:r>
            <a:r>
              <a:rPr sz="1200" lang="en-GB">
                <a:solidFill>
                  <a:srgbClr val="455A64"/>
                </a:solidFill>
                <a:latin typeface="+mn-lt"/>
              </a:rPr>
              <a:t>  ·  </a:t>
            </a:r>
            <a:r>
              <a:rPr sz="1200" lang="en-GB">
                <a:solidFill>
                  <a:srgbClr val="455A64"/>
                </a:solidFill>
                <a:latin typeface="+mn-lt"/>
              </a:rPr>
              <a:t>Ground</a:t>
            </a:r>
            <a:r>
              <a:rPr sz="1200" lang="en-GB">
                <a:solidFill>
                  <a:srgbClr val="455A64"/>
                </a:solidFill>
                <a:latin typeface="+mn-lt"/>
              </a:rPr>
              <a:t>  ·  </a:t>
            </a:r>
            <a:r>
              <a:rPr sz="1200" lang="en-GB">
                <a:solidFill>
                  <a:srgbClr val="455A64"/>
                </a:solidFill>
                <a:latin typeface="+mn-lt"/>
              </a:rPr>
              <a:t>Clusters</a:t>
            </a:r>
            <a:r>
              <a:rPr sz="1200" lang="en-GB">
                <a:solidFill>
                  <a:srgbClr val="455A64"/>
                </a:solidFill>
                <a:latin typeface="+mn-lt"/>
              </a:rPr>
              <a:t>  ·  </a:t>
            </a:r>
            <a:r>
              <a:rPr sz="1200" lang="en-GB">
                <a:solidFill>
                  <a:srgbClr val="455A64"/>
                </a:solidFill>
                <a:latin typeface="+mn-lt"/>
              </a:rPr>
              <a:t>Labels</a:t>
            </a:r>
            <a:r>
              <a:rPr sz="1200" lang="en-GB">
                <a:solidFill>
                  <a:srgbClr val="455A64"/>
                </a:solidFill>
                <a:latin typeface="+mn-lt"/>
              </a:rPr>
              <a:t>  ·  </a:t>
            </a:r>
            <a:r>
              <a:rPr sz="1200" lang="en-GB">
                <a:solidFill>
                  <a:srgbClr val="2B6797"/>
                </a:solidFill>
                <a:latin typeface="Fira Sans SemiBold"/>
              </a:rPr>
              <a:t>6 Paint-back</a:t>
            </a:r>
            <a:endParaRPr lang="en-GB" sz="1200"/>
          </a:p>
        </p:txBody>
      </p:sp>
      <p:sp>
        <p:nvSpPr>
          <p:cNvPr id="16"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Six steps label every point in 0.6 s</a:t>
            </a:r>
          </a:p>
        </p:txBody>
      </p:sp>
      <p:pic>
        <p:nvPicPr>
          <p:cNvPr id="4" name="Render final" descr="The final labelled area, same view as slides 12 to 18: ground, buildings, vegetation and street furniture painted back onto all 722 961 points, each class labelled directly."/>
          <p:cNvPicPr>
            <a:picLocks noGrp="1" noChangeAspect="1"/>
          </p:cNvPicPr>
          <p:nvPr>
            <p:ph type="pic" idx="18"/>
          </p:nvPr>
        </p:nvPicPr>
        <p:blipFill>
          <a:blip r:embed="rId2"/>
          <a:srcRect/>
          <a:stretch>
            <a:fillRect/>
          </a:stretch>
        </p:blipFill>
        <p:spPr>
          <a:xfrm>
            <a:off x="6619722" y="548640"/>
            <a:ext cx="5023638" cy="5668992"/>
          </a:xfrm>
        </p:spPr>
      </p:pic>
      <p:grpSp>
        <p:nvGrpSpPr>
          <p:cNvPr id="3" name="Pipeline summary" descr="Table, one row per step. Load, laspy: 722 961 points, 57 ms. Voxels, Open3D: 232 180 voxels, 84 ms. Ground, Open3D: 98 % precision, 81 ms. Clusters, Open3D: 1 024 clusters, 137 ms. Labels, NumPy: 4 classes, 151 ms. Paint-back, SciPy: all points labelled, 99 ms."/>
          <p:cNvGrpSpPr/>
          <p:nvPr/>
        </p:nvGrpSpPr>
        <p:grpSpPr>
          <a:xfrm>
            <a:off x="548640" y="2011680"/>
            <a:ext cx="5613882" cy="2944368"/>
            <a:chOff x="548640" y="2011680"/>
            <a:chExt cx="5613882" cy="2944368"/>
          </a:xfrm>
        </p:grpSpPr>
        <p:sp>
          <p:nvSpPr>
            <p:cNvPr id="7" name="table 0.1"/>
            <p:cNvSpPr txBox="1"/>
            <p:nvPr/>
          </p:nvSpPr>
          <p:spPr>
            <a:xfrm>
              <a:off x="548640" y="2011680"/>
              <a:ext cx="1214120" cy="420624"/>
            </a:xfrm>
            <a:prstGeom prst="rect">
              <a:avLst/>
            </a:prstGeom>
            <a:noFill/>
          </p:spPr>
          <p:txBody>
            <a:bodyPr wrap="none" anchor="ctr" lIns="0" tIns="0" rIns="0" bIns="0">
              <a:noAutofit/>
            </a:bodyPr>
            <a:lstStyle/>
            <a:p>
              <a:pPr algn="l"/>
              <a:r>
                <a:rPr sz="2000" b="0" i="0" lang="en-GB">
                  <a:solidFill>
                    <a:srgbClr val="1C325B"/>
                  </a:solidFill>
                  <a:latin typeface="Fira Sans SemiBold"/>
                </a:rPr>
                <a:t>Step</a:t>
              </a:r>
            </a:p>
          </p:txBody>
        </p:sp>
        <p:sp>
          <p:nvSpPr>
            <p:cNvPr id="8" name="table 0.2"/>
            <p:cNvSpPr txBox="1"/>
            <p:nvPr/>
          </p:nvSpPr>
          <p:spPr>
            <a:xfrm>
              <a:off x="1963928" y="2011680"/>
              <a:ext cx="904240" cy="420624"/>
            </a:xfrm>
            <a:prstGeom prst="rect">
              <a:avLst/>
            </a:prstGeom>
            <a:noFill/>
          </p:spPr>
          <p:txBody>
            <a:bodyPr wrap="none" anchor="ctr" lIns="0" tIns="0" rIns="0" bIns="0">
              <a:noAutofit/>
            </a:bodyPr>
            <a:lstStyle/>
            <a:p>
              <a:pPr algn="l"/>
              <a:r>
                <a:rPr sz="2000" b="0" i="0" lang="en-GB">
                  <a:solidFill>
                    <a:srgbClr val="1C325B"/>
                  </a:solidFill>
                  <a:latin typeface="Fira Sans SemiBold"/>
                </a:rPr>
                <a:t>Library</a:t>
              </a:r>
            </a:p>
          </p:txBody>
        </p:sp>
        <p:sp>
          <p:nvSpPr>
            <p:cNvPr id="9" name="table 0.3"/>
            <p:cNvSpPr txBox="1"/>
            <p:nvPr/>
          </p:nvSpPr>
          <p:spPr>
            <a:xfrm>
              <a:off x="3069336" y="2011680"/>
              <a:ext cx="1939010" cy="420624"/>
            </a:xfrm>
            <a:prstGeom prst="rect">
              <a:avLst/>
            </a:prstGeom>
            <a:noFill/>
          </p:spPr>
          <p:txBody>
            <a:bodyPr wrap="none" anchor="ctr" lIns="0" tIns="0" rIns="0" bIns="0">
              <a:noAutofit/>
            </a:bodyPr>
            <a:lstStyle/>
            <a:p>
              <a:pPr algn="l"/>
              <a:r>
                <a:rPr sz="2000" b="0" i="0" lang="en-GB">
                  <a:solidFill>
                    <a:srgbClr val="1C325B"/>
                  </a:solidFill>
                  <a:latin typeface="Fira Sans SemiBold"/>
                </a:rPr>
                <a:t>Result</a:t>
              </a:r>
            </a:p>
          </p:txBody>
        </p:sp>
        <p:sp>
          <p:nvSpPr>
            <p:cNvPr id="10" name="table 0.4"/>
            <p:cNvSpPr txBox="1"/>
            <p:nvPr/>
          </p:nvSpPr>
          <p:spPr>
            <a:xfrm>
              <a:off x="5209514" y="2011680"/>
              <a:ext cx="953008" cy="420624"/>
            </a:xfrm>
            <a:prstGeom prst="rect">
              <a:avLst/>
            </a:prstGeom>
            <a:noFill/>
          </p:spPr>
          <p:txBody>
            <a:bodyPr wrap="none" anchor="ctr" lIns="0" tIns="0" rIns="0" bIns="0">
              <a:noAutofit/>
            </a:bodyPr>
            <a:lstStyle/>
            <a:p>
              <a:pPr algn="r"/>
              <a:r>
                <a:rPr sz="2000" b="0" i="0" lang="en-GB">
                  <a:solidFill>
                    <a:srgbClr val="1C325B"/>
                  </a:solidFill>
                  <a:latin typeface="Fira Sans SemiBold"/>
                </a:rPr>
                <a:t>Time</a:t>
              </a:r>
            </a:p>
          </p:txBody>
        </p:sp>
        <p:sp>
          <p:nvSpPr>
            <p:cNvPr id="11" name="table 1.1"/>
            <p:cNvSpPr txBox="1"/>
            <p:nvPr/>
          </p:nvSpPr>
          <p:spPr>
            <a:xfrm>
              <a:off x="548640" y="2432304"/>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Load</a:t>
              </a:r>
            </a:p>
          </p:txBody>
        </p:sp>
        <p:sp>
          <p:nvSpPr>
            <p:cNvPr id="12" name="table 1.2"/>
            <p:cNvSpPr txBox="1"/>
            <p:nvPr/>
          </p:nvSpPr>
          <p:spPr>
            <a:xfrm>
              <a:off x="1963928" y="2432304"/>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laspy</a:t>
              </a:r>
            </a:p>
          </p:txBody>
        </p:sp>
        <p:sp>
          <p:nvSpPr>
            <p:cNvPr id="13" name="table 1.3"/>
            <p:cNvSpPr txBox="1"/>
            <p:nvPr/>
          </p:nvSpPr>
          <p:spPr>
            <a:xfrm>
              <a:off x="3069336" y="2432304"/>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722 961 points</a:t>
              </a:r>
            </a:p>
          </p:txBody>
        </p:sp>
        <p:sp>
          <p:nvSpPr>
            <p:cNvPr id="14" name="table 1.4"/>
            <p:cNvSpPr txBox="1"/>
            <p:nvPr/>
          </p:nvSpPr>
          <p:spPr>
            <a:xfrm>
              <a:off x="5209514" y="2432304"/>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57 ms</a:t>
              </a:r>
            </a:p>
          </p:txBody>
        </p:sp>
        <p:cxnSp>
          <p:nvCxnSpPr>
            <p:cNvPr id="15" name="table rule"/>
            <p:cNvCxnSpPr/>
            <p:nvPr/>
          </p:nvCxnSpPr>
          <p:spPr>
            <a:xfrm>
              <a:off x="548640" y="2432304"/>
              <a:ext cx="5613882" cy="0"/>
            </a:xfrm>
            <a:prstGeom prst="line">
              <a:avLst/>
            </a:prstGeom>
            <a:ln w="19050">
              <a:solidFill>
                <a:srgbClr val="1C325B"/>
              </a:solidFill>
            </a:ln>
          </p:spPr>
          <p:style>
            <a:lnRef idx="2">
              <a:schemeClr val="accent1"/>
            </a:lnRef>
            <a:fillRef idx="0">
              <a:schemeClr val="accent1"/>
            </a:fillRef>
            <a:effectRef idx="1">
              <a:schemeClr val="accent1"/>
            </a:effectRef>
            <a:fontRef idx="minor">
              <a:schemeClr val="tx1"/>
            </a:fontRef>
          </p:style>
        </p:cxnSp>
        <p:sp>
          <p:nvSpPr>
            <p:cNvPr id="16" name="table 2.1"/>
            <p:cNvSpPr txBox="1"/>
            <p:nvPr/>
          </p:nvSpPr>
          <p:spPr>
            <a:xfrm>
              <a:off x="548640" y="2852928"/>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Voxels</a:t>
              </a:r>
            </a:p>
          </p:txBody>
        </p:sp>
        <p:sp>
          <p:nvSpPr>
            <p:cNvPr id="17" name="table 2.2"/>
            <p:cNvSpPr txBox="1"/>
            <p:nvPr/>
          </p:nvSpPr>
          <p:spPr>
            <a:xfrm>
              <a:off x="1963928" y="2852928"/>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Open3D</a:t>
              </a:r>
            </a:p>
          </p:txBody>
        </p:sp>
        <p:sp>
          <p:nvSpPr>
            <p:cNvPr id="18" name="table 2.3"/>
            <p:cNvSpPr txBox="1"/>
            <p:nvPr/>
          </p:nvSpPr>
          <p:spPr>
            <a:xfrm>
              <a:off x="3069336" y="2852928"/>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232 180 voxels</a:t>
              </a:r>
            </a:p>
          </p:txBody>
        </p:sp>
        <p:sp>
          <p:nvSpPr>
            <p:cNvPr id="19" name="table 2.4"/>
            <p:cNvSpPr txBox="1"/>
            <p:nvPr/>
          </p:nvSpPr>
          <p:spPr>
            <a:xfrm>
              <a:off x="5209514" y="2852928"/>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84 ms</a:t>
              </a:r>
            </a:p>
          </p:txBody>
        </p:sp>
        <p:cxnSp>
          <p:nvCxnSpPr>
            <p:cNvPr id="20" name="table rule"/>
            <p:cNvCxnSpPr/>
            <p:nvPr/>
          </p:nvCxnSpPr>
          <p:spPr>
            <a:xfrm>
              <a:off x="548640" y="2852928"/>
              <a:ext cx="5613882"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1" name="table 3.1"/>
            <p:cNvSpPr txBox="1"/>
            <p:nvPr/>
          </p:nvSpPr>
          <p:spPr>
            <a:xfrm>
              <a:off x="548640" y="3273552"/>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Ground</a:t>
              </a:r>
            </a:p>
          </p:txBody>
        </p:sp>
        <p:sp>
          <p:nvSpPr>
            <p:cNvPr id="22" name="table 3.2"/>
            <p:cNvSpPr txBox="1"/>
            <p:nvPr/>
          </p:nvSpPr>
          <p:spPr>
            <a:xfrm>
              <a:off x="1963928" y="3273552"/>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Open3D</a:t>
              </a:r>
            </a:p>
          </p:txBody>
        </p:sp>
        <p:sp>
          <p:nvSpPr>
            <p:cNvPr id="23" name="table 3.3"/>
            <p:cNvSpPr txBox="1"/>
            <p:nvPr/>
          </p:nvSpPr>
          <p:spPr>
            <a:xfrm>
              <a:off x="3069336" y="3273552"/>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98 % precision</a:t>
              </a:r>
            </a:p>
          </p:txBody>
        </p:sp>
        <p:sp>
          <p:nvSpPr>
            <p:cNvPr id="24" name="table 3.4"/>
            <p:cNvSpPr txBox="1"/>
            <p:nvPr/>
          </p:nvSpPr>
          <p:spPr>
            <a:xfrm>
              <a:off x="5209514" y="3273552"/>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81 ms</a:t>
              </a:r>
            </a:p>
          </p:txBody>
        </p:sp>
        <p:cxnSp>
          <p:nvCxnSpPr>
            <p:cNvPr id="25" name="table rule"/>
            <p:cNvCxnSpPr/>
            <p:nvPr/>
          </p:nvCxnSpPr>
          <p:spPr>
            <a:xfrm>
              <a:off x="548640" y="3273552"/>
              <a:ext cx="5613882"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26" name="table 4.1"/>
            <p:cNvSpPr txBox="1"/>
            <p:nvPr/>
          </p:nvSpPr>
          <p:spPr>
            <a:xfrm>
              <a:off x="548640" y="3694176"/>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Clusters</a:t>
              </a:r>
            </a:p>
          </p:txBody>
        </p:sp>
        <p:sp>
          <p:nvSpPr>
            <p:cNvPr id="27" name="table 4.2"/>
            <p:cNvSpPr txBox="1"/>
            <p:nvPr/>
          </p:nvSpPr>
          <p:spPr>
            <a:xfrm>
              <a:off x="1963928" y="3694176"/>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Open3D</a:t>
              </a:r>
            </a:p>
          </p:txBody>
        </p:sp>
        <p:sp>
          <p:nvSpPr>
            <p:cNvPr id="28" name="table 4.3"/>
            <p:cNvSpPr txBox="1"/>
            <p:nvPr/>
          </p:nvSpPr>
          <p:spPr>
            <a:xfrm>
              <a:off x="3069336" y="3694176"/>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1 024 clusters</a:t>
              </a:r>
            </a:p>
          </p:txBody>
        </p:sp>
        <p:sp>
          <p:nvSpPr>
            <p:cNvPr id="29" name="table 4.4"/>
            <p:cNvSpPr txBox="1"/>
            <p:nvPr/>
          </p:nvSpPr>
          <p:spPr>
            <a:xfrm>
              <a:off x="5209514" y="3694176"/>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137 ms</a:t>
              </a:r>
            </a:p>
          </p:txBody>
        </p:sp>
        <p:cxnSp>
          <p:nvCxnSpPr>
            <p:cNvPr id="30" name="table rule"/>
            <p:cNvCxnSpPr/>
            <p:nvPr/>
          </p:nvCxnSpPr>
          <p:spPr>
            <a:xfrm>
              <a:off x="548640" y="3694176"/>
              <a:ext cx="5613882"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1" name="table 5.1"/>
            <p:cNvSpPr txBox="1"/>
            <p:nvPr/>
          </p:nvSpPr>
          <p:spPr>
            <a:xfrm>
              <a:off x="548640" y="4114800"/>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Labels</a:t>
              </a:r>
            </a:p>
          </p:txBody>
        </p:sp>
        <p:sp>
          <p:nvSpPr>
            <p:cNvPr id="32" name="table 5.2"/>
            <p:cNvSpPr txBox="1"/>
            <p:nvPr/>
          </p:nvSpPr>
          <p:spPr>
            <a:xfrm>
              <a:off x="1963928" y="4114800"/>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NumPy</a:t>
              </a:r>
            </a:p>
          </p:txBody>
        </p:sp>
        <p:sp>
          <p:nvSpPr>
            <p:cNvPr id="33" name="table 5.3"/>
            <p:cNvSpPr txBox="1"/>
            <p:nvPr/>
          </p:nvSpPr>
          <p:spPr>
            <a:xfrm>
              <a:off x="3069336" y="4114800"/>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4 classes</a:t>
              </a:r>
            </a:p>
          </p:txBody>
        </p:sp>
        <p:sp>
          <p:nvSpPr>
            <p:cNvPr id="34" name="table 5.4"/>
            <p:cNvSpPr txBox="1"/>
            <p:nvPr/>
          </p:nvSpPr>
          <p:spPr>
            <a:xfrm>
              <a:off x="5209514" y="4114800"/>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151 ms</a:t>
              </a:r>
            </a:p>
          </p:txBody>
        </p:sp>
        <p:cxnSp>
          <p:nvCxnSpPr>
            <p:cNvPr id="35" name="table rule"/>
            <p:cNvCxnSpPr/>
            <p:nvPr/>
          </p:nvCxnSpPr>
          <p:spPr>
            <a:xfrm>
              <a:off x="548640" y="4114800"/>
              <a:ext cx="5613882"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sp>
          <p:nvSpPr>
            <p:cNvPr id="36" name="table 6.1"/>
            <p:cNvSpPr txBox="1"/>
            <p:nvPr/>
          </p:nvSpPr>
          <p:spPr>
            <a:xfrm>
              <a:off x="548640" y="4535424"/>
              <a:ext cx="1214120" cy="420624"/>
            </a:xfrm>
            <a:prstGeom prst="rect">
              <a:avLst/>
            </a:prstGeom>
            <a:noFill/>
          </p:spPr>
          <p:txBody>
            <a:bodyPr wrap="none" anchor="ctr" lIns="0" tIns="0" rIns="0" bIns="0">
              <a:noAutofit/>
            </a:bodyPr>
            <a:lstStyle/>
            <a:p>
              <a:pPr algn="l"/>
              <a:r>
                <a:rPr sz="2000" b="0" i="0" lang="en-GB">
                  <a:solidFill>
                    <a:srgbClr val="263238"/>
                  </a:solidFill>
                  <a:latin typeface="Fira Sans"/>
                </a:rPr>
                <a:t>Paint-back</a:t>
              </a:r>
            </a:p>
          </p:txBody>
        </p:sp>
        <p:sp>
          <p:nvSpPr>
            <p:cNvPr id="37" name="table 6.2"/>
            <p:cNvSpPr txBox="1"/>
            <p:nvPr/>
          </p:nvSpPr>
          <p:spPr>
            <a:xfrm>
              <a:off x="1963928" y="4535424"/>
              <a:ext cx="904240" cy="420624"/>
            </a:xfrm>
            <a:prstGeom prst="rect">
              <a:avLst/>
            </a:prstGeom>
            <a:noFill/>
          </p:spPr>
          <p:txBody>
            <a:bodyPr wrap="none" anchor="ctr" lIns="0" tIns="0" rIns="0" bIns="0">
              <a:noAutofit/>
            </a:bodyPr>
            <a:lstStyle/>
            <a:p>
              <a:pPr algn="l"/>
              <a:r>
                <a:rPr sz="2000" b="0" i="0" lang="en-GB">
                  <a:solidFill>
                    <a:srgbClr val="263238"/>
                  </a:solidFill>
                  <a:latin typeface="Fira Sans"/>
                </a:rPr>
                <a:t>SciPy</a:t>
              </a:r>
            </a:p>
          </p:txBody>
        </p:sp>
        <p:sp>
          <p:nvSpPr>
            <p:cNvPr id="38" name="table 6.3"/>
            <p:cNvSpPr txBox="1"/>
            <p:nvPr/>
          </p:nvSpPr>
          <p:spPr>
            <a:xfrm>
              <a:off x="3069336" y="4535424"/>
              <a:ext cx="1939010" cy="420624"/>
            </a:xfrm>
            <a:prstGeom prst="rect">
              <a:avLst/>
            </a:prstGeom>
            <a:noFill/>
          </p:spPr>
          <p:txBody>
            <a:bodyPr wrap="none" anchor="ctr" lIns="0" tIns="0" rIns="0" bIns="0">
              <a:noAutofit/>
            </a:bodyPr>
            <a:lstStyle/>
            <a:p>
              <a:pPr algn="l"/>
              <a:r>
                <a:rPr sz="2000" b="0" i="0" lang="en-GB">
                  <a:solidFill>
                    <a:srgbClr val="263238"/>
                  </a:solidFill>
                  <a:latin typeface="Fira Sans"/>
                </a:rPr>
                <a:t>all points</a:t>
              </a:r>
            </a:p>
          </p:txBody>
        </p:sp>
        <p:sp>
          <p:nvSpPr>
            <p:cNvPr id="39" name="table 6.4"/>
            <p:cNvSpPr txBox="1"/>
            <p:nvPr/>
          </p:nvSpPr>
          <p:spPr>
            <a:xfrm>
              <a:off x="5209514" y="4535424"/>
              <a:ext cx="953008" cy="420624"/>
            </a:xfrm>
            <a:prstGeom prst="rect">
              <a:avLst/>
            </a:prstGeom>
            <a:noFill/>
          </p:spPr>
          <p:txBody>
            <a:bodyPr wrap="none" anchor="ctr" lIns="0" tIns="0" rIns="0" bIns="0">
              <a:noAutofit/>
            </a:bodyPr>
            <a:lstStyle/>
            <a:p>
              <a:pPr algn="r"/>
              <a:r>
                <a:rPr sz="2000" b="0" i="0" lang="en-GB">
                  <a:solidFill>
                    <a:srgbClr val="263238"/>
                  </a:solidFill>
                  <a:latin typeface="Fira Sans"/>
                </a:rPr>
                <a:t>99 ms</a:t>
              </a:r>
            </a:p>
          </p:txBody>
        </p:sp>
        <p:cxnSp>
          <p:nvCxnSpPr>
            <p:cNvPr id="40" name="table rule"/>
            <p:cNvCxnSpPr/>
            <p:nvPr/>
          </p:nvCxnSpPr>
          <p:spPr>
            <a:xfrm>
              <a:off x="548640" y="4535424"/>
              <a:ext cx="5613882" cy="0"/>
            </a:xfrm>
            <a:prstGeom prst="line">
              <a:avLst/>
            </a:prstGeom>
            <a:ln w="12700">
              <a:solidFill>
                <a:srgbClr val="E0E0E0"/>
              </a:solidFill>
            </a:ln>
          </p:spPr>
          <p:style>
            <a:lnRef idx="2">
              <a:schemeClr val="accent1"/>
            </a:lnRef>
            <a:fillRef idx="0">
              <a:schemeClr val="accent1"/>
            </a:fillRef>
            <a:effectRef idx="1">
              <a:schemeClr val="accent1"/>
            </a:effectRef>
            <a:fontRef idx="minor">
              <a:schemeClr val="tx1"/>
            </a:fontRef>
          </p:style>
        </p:cxnSp>
      </p:grpSp>
      <p:grpSp>
        <p:nvGrpSpPr>
          <p:cNvPr id="43" name="Label ground" descr="Label: Ground, pointing at the ground in the render"/>
          <p:cNvGrpSpPr/>
          <p:nvPr/>
        </p:nvGrpSpPr>
        <p:grpSpPr>
          <a:xfrm>
            <a:off x="9074206" y="4799992"/>
            <a:ext cx="1472438" cy="1252728"/>
            <a:chOff x="9074206" y="4799992"/>
            <a:chExt cx="1472438" cy="1252728"/>
          </a:xfrm>
        </p:grpSpPr>
        <p:cxnSp>
          <p:nvCxnSpPr>
            <p:cNvPr id="44" name="Leader halo"/>
            <p:cNvCxnSpPr/>
            <p:nvPr/>
          </p:nvCxnSpPr>
          <p:spPr>
            <a:xfrm>
              <a:off x="9162513" y="4944709"/>
              <a:ext cx="149437" cy="705675"/>
            </a:xfrm>
            <a:prstGeom prst="line">
              <a:avLst/>
            </a:prstGeom>
            <a:ln w="44450">
              <a:solidFill>
                <a:srgbClr val="1C325B"/>
              </a:solidFill>
            </a:ln>
          </p:spPr>
          <p:style>
            <a:lnRef idx="2">
              <a:schemeClr val="accent1"/>
            </a:lnRef>
            <a:fillRef idx="0">
              <a:schemeClr val="accent1"/>
            </a:fillRef>
            <a:effectRef idx="1">
              <a:schemeClr val="accent1"/>
            </a:effectRef>
            <a:fontRef idx="minor">
              <a:schemeClr val="tx1"/>
            </a:fontRef>
          </p:style>
        </p:cxnSp>
        <p:cxnSp>
          <p:nvCxnSpPr>
            <p:cNvPr id="45" name="Leader"/>
            <p:cNvCxnSpPr/>
            <p:nvPr/>
          </p:nvCxnSpPr>
          <p:spPr>
            <a:xfrm>
              <a:off x="9162513" y="4944709"/>
              <a:ext cx="149437" cy="705675"/>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Anchor halo"/>
            <p:cNvSpPr/>
            <p:nvPr/>
          </p:nvSpPr>
          <p:spPr>
            <a:xfrm>
              <a:off x="9074206" y="4799992"/>
              <a:ext cx="146304" cy="146304"/>
            </a:xfrm>
            <a:prstGeom prst="ellipse">
              <a:avLst/>
            </a:prstGeom>
            <a:noFill/>
            <a:ln w="444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nchor"/>
            <p:cNvSpPr/>
            <p:nvPr/>
          </p:nvSpPr>
          <p:spPr>
            <a:xfrm>
              <a:off x="9074206" y="4799992"/>
              <a:ext cx="146304" cy="146304"/>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ip"/>
            <p:cNvSpPr/>
            <p:nvPr/>
          </p:nvSpPr>
          <p:spPr>
            <a:xfrm>
              <a:off x="9202222" y="5650384"/>
              <a:ext cx="1344422" cy="402336"/>
            </a:xfrm>
            <a:prstGeom prst="roundRect">
              <a:avLst>
                <a:gd name="adj" fmla="val 18181"/>
              </a:avLst>
            </a:prstGeom>
            <a:solidFill>
              <a:srgbClr val="1C325B"/>
            </a:solidFill>
            <a:ln w="12700">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347472" tIns="0" rIns="91440" bIns="0">
              <a:noAutofit/>
            </a:bodyPr>
            <a:lstStyle/>
            <a:p>
              <a:pPr algn="l" marL="0" indent="0">
                <a:spcBef>
                  <a:spcPts val="0"/>
                </a:spcBef>
                <a:spcAft>
                  <a:spcPts val="0"/>
                </a:spcAft>
                <a:buNone/>
              </a:pPr>
              <a:r>
                <a:rPr sz="2000" b="1" lang="en-GB">
                  <a:solidFill>
                    <a:srgbClr val="FFFFFF"/>
                  </a:solidFill>
                  <a:latin typeface="+mn-lt"/>
                </a:rPr>
                <a:t>Ground</a:t>
              </a:r>
              <a:endParaRPr lang="en-GB" sz="2000"/>
            </a:p>
          </p:txBody>
        </p:sp>
        <p:sp>
          <p:nvSpPr>
            <p:cNvPr id="49" name="Swatch"/>
            <p:cNvSpPr/>
            <p:nvPr/>
          </p:nvSpPr>
          <p:spPr>
            <a:xfrm>
              <a:off x="9293662" y="5769256"/>
              <a:ext cx="164592" cy="164592"/>
            </a:xfrm>
            <a:prstGeom prst="rect">
              <a:avLst/>
            </a:prstGeom>
            <a:solidFill>
              <a:srgbClr val="4A5F69"/>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50" name="Label buildings" descr="Label: Buildings, pointing at the buildings in the render"/>
          <p:cNvGrpSpPr/>
          <p:nvPr/>
        </p:nvGrpSpPr>
        <p:grpSpPr>
          <a:xfrm>
            <a:off x="9048898" y="3181968"/>
            <a:ext cx="2057146" cy="402336"/>
            <a:chOff x="9048898" y="3181968"/>
            <a:chExt cx="2057146" cy="402336"/>
          </a:xfrm>
        </p:grpSpPr>
        <p:cxnSp>
          <p:nvCxnSpPr>
            <p:cNvPr id="51" name="Leader halo"/>
            <p:cNvCxnSpPr/>
            <p:nvPr/>
          </p:nvCxnSpPr>
          <p:spPr>
            <a:xfrm>
              <a:off x="9195202" y="3383136"/>
              <a:ext cx="338328" cy="0"/>
            </a:xfrm>
            <a:prstGeom prst="line">
              <a:avLst/>
            </a:prstGeom>
            <a:ln w="44450">
              <a:solidFill>
                <a:srgbClr val="1C325B"/>
              </a:solidFill>
            </a:ln>
          </p:spPr>
          <p:style>
            <a:lnRef idx="2">
              <a:schemeClr val="accent1"/>
            </a:lnRef>
            <a:fillRef idx="0">
              <a:schemeClr val="accent1"/>
            </a:fillRef>
            <a:effectRef idx="1">
              <a:schemeClr val="accent1"/>
            </a:effectRef>
            <a:fontRef idx="minor">
              <a:schemeClr val="tx1"/>
            </a:fontRef>
          </p:style>
        </p:cxnSp>
        <p:cxnSp>
          <p:nvCxnSpPr>
            <p:cNvPr id="52" name="Leader"/>
            <p:cNvCxnSpPr/>
            <p:nvPr/>
          </p:nvCxnSpPr>
          <p:spPr>
            <a:xfrm>
              <a:off x="9195202" y="3383136"/>
              <a:ext cx="338328"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3" name="Anchor halo"/>
            <p:cNvSpPr/>
            <p:nvPr/>
          </p:nvSpPr>
          <p:spPr>
            <a:xfrm>
              <a:off x="9048898" y="3309984"/>
              <a:ext cx="146304" cy="146304"/>
            </a:xfrm>
            <a:prstGeom prst="ellipse">
              <a:avLst/>
            </a:prstGeom>
            <a:noFill/>
            <a:ln w="444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nchor"/>
            <p:cNvSpPr/>
            <p:nvPr/>
          </p:nvSpPr>
          <p:spPr>
            <a:xfrm>
              <a:off x="9048898" y="3309984"/>
              <a:ext cx="146304" cy="146304"/>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hip"/>
            <p:cNvSpPr/>
            <p:nvPr/>
          </p:nvSpPr>
          <p:spPr>
            <a:xfrm>
              <a:off x="9533530" y="3181968"/>
              <a:ext cx="1572514" cy="402336"/>
            </a:xfrm>
            <a:prstGeom prst="roundRect">
              <a:avLst>
                <a:gd name="adj" fmla="val 18181"/>
              </a:avLst>
            </a:prstGeom>
            <a:solidFill>
              <a:srgbClr val="1C325B"/>
            </a:solidFill>
            <a:ln w="12700">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347472" tIns="0" rIns="91440" bIns="0">
              <a:noAutofit/>
            </a:bodyPr>
            <a:lstStyle/>
            <a:p>
              <a:pPr algn="l" marL="0" indent="0">
                <a:spcBef>
                  <a:spcPts val="0"/>
                </a:spcBef>
                <a:spcAft>
                  <a:spcPts val="0"/>
                </a:spcAft>
                <a:buNone/>
              </a:pPr>
              <a:r>
                <a:rPr sz="2000" b="1" lang="en-GB">
                  <a:solidFill>
                    <a:srgbClr val="FFFFFF"/>
                  </a:solidFill>
                  <a:latin typeface="+mn-lt"/>
                </a:rPr>
                <a:t>Buildings</a:t>
              </a:r>
              <a:endParaRPr lang="en-GB" sz="2000"/>
            </a:p>
          </p:txBody>
        </p:sp>
        <p:sp>
          <p:nvSpPr>
            <p:cNvPr id="56" name="Swatch"/>
            <p:cNvSpPr/>
            <p:nvPr/>
          </p:nvSpPr>
          <p:spPr>
            <a:xfrm>
              <a:off x="9624970" y="3300840"/>
              <a:ext cx="164592" cy="164592"/>
            </a:xfrm>
            <a:prstGeom prst="rect">
              <a:avLst/>
            </a:prstGeom>
            <a:solidFill>
              <a:srgbClr val="6FA0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57" name="Label vegetation" descr="Label: Vegetation, pointing at the vegetation in the render"/>
          <p:cNvGrpSpPr/>
          <p:nvPr/>
        </p:nvGrpSpPr>
        <p:grpSpPr>
          <a:xfrm>
            <a:off x="6969125" y="3983810"/>
            <a:ext cx="1745742" cy="886968"/>
            <a:chOff x="6969125" y="3983810"/>
            <a:chExt cx="1745742" cy="886968"/>
          </a:xfrm>
        </p:grpSpPr>
        <p:cxnSp>
          <p:nvCxnSpPr>
            <p:cNvPr id="58" name="Leader halo"/>
            <p:cNvCxnSpPr/>
            <p:nvPr/>
          </p:nvCxnSpPr>
          <p:spPr>
            <a:xfrm>
              <a:off x="7492848" y="4130114"/>
              <a:ext cx="0" cy="338328"/>
            </a:xfrm>
            <a:prstGeom prst="line">
              <a:avLst/>
            </a:prstGeom>
            <a:ln w="44450">
              <a:solidFill>
                <a:srgbClr val="1C325B"/>
              </a:solidFill>
            </a:ln>
          </p:spPr>
          <p:style>
            <a:lnRef idx="2">
              <a:schemeClr val="accent1"/>
            </a:lnRef>
            <a:fillRef idx="0">
              <a:schemeClr val="accent1"/>
            </a:fillRef>
            <a:effectRef idx="1">
              <a:schemeClr val="accent1"/>
            </a:effectRef>
            <a:fontRef idx="minor">
              <a:schemeClr val="tx1"/>
            </a:fontRef>
          </p:style>
        </p:cxnSp>
        <p:cxnSp>
          <p:nvCxnSpPr>
            <p:cNvPr id="59" name="Leader"/>
            <p:cNvCxnSpPr/>
            <p:nvPr/>
          </p:nvCxnSpPr>
          <p:spPr>
            <a:xfrm>
              <a:off x="7492848" y="4130114"/>
              <a:ext cx="0" cy="338328"/>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60" name="Anchor halo"/>
            <p:cNvSpPr/>
            <p:nvPr/>
          </p:nvSpPr>
          <p:spPr>
            <a:xfrm>
              <a:off x="7419696" y="3983810"/>
              <a:ext cx="146304" cy="146304"/>
            </a:xfrm>
            <a:prstGeom prst="ellipse">
              <a:avLst/>
            </a:prstGeom>
            <a:noFill/>
            <a:ln w="444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nchor"/>
            <p:cNvSpPr/>
            <p:nvPr/>
          </p:nvSpPr>
          <p:spPr>
            <a:xfrm>
              <a:off x="7419696" y="3983810"/>
              <a:ext cx="146304" cy="146304"/>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hip"/>
            <p:cNvSpPr/>
            <p:nvPr/>
          </p:nvSpPr>
          <p:spPr>
            <a:xfrm>
              <a:off x="6969125" y="4468442"/>
              <a:ext cx="1745742" cy="402336"/>
            </a:xfrm>
            <a:prstGeom prst="roundRect">
              <a:avLst>
                <a:gd name="adj" fmla="val 18181"/>
              </a:avLst>
            </a:prstGeom>
            <a:solidFill>
              <a:srgbClr val="1C325B"/>
            </a:solidFill>
            <a:ln w="12700">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347472" tIns="0" rIns="91440" bIns="0">
              <a:noAutofit/>
            </a:bodyPr>
            <a:lstStyle/>
            <a:p>
              <a:pPr algn="l" marL="0" indent="0">
                <a:spcBef>
                  <a:spcPts val="0"/>
                </a:spcBef>
                <a:spcAft>
                  <a:spcPts val="0"/>
                </a:spcAft>
                <a:buNone/>
              </a:pPr>
              <a:r>
                <a:rPr sz="2000" b="1" lang="en-GB">
                  <a:solidFill>
                    <a:srgbClr val="FFFFFF"/>
                  </a:solidFill>
                  <a:latin typeface="+mn-lt"/>
                </a:rPr>
                <a:t>Vegetation</a:t>
              </a:r>
              <a:endParaRPr lang="en-GB" sz="2000"/>
            </a:p>
          </p:txBody>
        </p:sp>
        <p:sp>
          <p:nvSpPr>
            <p:cNvPr id="63" name="Swatch"/>
            <p:cNvSpPr/>
            <p:nvPr/>
          </p:nvSpPr>
          <p:spPr>
            <a:xfrm>
              <a:off x="7060565" y="4587314"/>
              <a:ext cx="164592" cy="164592"/>
            </a:xfrm>
            <a:prstGeom prst="rect">
              <a:avLst/>
            </a:prstGeom>
            <a:solidFill>
              <a:srgbClr val="B1CAC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64" name="Label street_furniture" descr="Label: Street furniture, pointing at the street furniture in the render"/>
          <p:cNvGrpSpPr/>
          <p:nvPr/>
        </p:nvGrpSpPr>
        <p:grpSpPr>
          <a:xfrm>
            <a:off x="6791468" y="898600"/>
            <a:ext cx="2303526" cy="813816"/>
            <a:chOff x="6791468" y="898600"/>
            <a:chExt cx="2303526" cy="813816"/>
          </a:xfrm>
        </p:grpSpPr>
        <p:cxnSp>
          <p:nvCxnSpPr>
            <p:cNvPr id="65" name="Leader halo"/>
            <p:cNvCxnSpPr/>
            <p:nvPr/>
          </p:nvCxnSpPr>
          <p:spPr>
            <a:xfrm flipH="1" flipV="1">
              <a:off x="8403936" y="1300936"/>
              <a:ext cx="1582" cy="411480"/>
            </a:xfrm>
            <a:prstGeom prst="line">
              <a:avLst/>
            </a:prstGeom>
            <a:ln w="44450">
              <a:solidFill>
                <a:srgbClr val="1C325B"/>
              </a:solidFill>
            </a:ln>
          </p:spPr>
          <p:style>
            <a:lnRef idx="2">
              <a:schemeClr val="accent1"/>
            </a:lnRef>
            <a:fillRef idx="0">
              <a:schemeClr val="accent1"/>
            </a:fillRef>
            <a:effectRef idx="1">
              <a:schemeClr val="accent1"/>
            </a:effectRef>
            <a:fontRef idx="minor">
              <a:schemeClr val="tx1"/>
            </a:fontRef>
          </p:style>
        </p:cxnSp>
        <p:cxnSp>
          <p:nvCxnSpPr>
            <p:cNvPr id="66" name="Leader"/>
            <p:cNvCxnSpPr/>
            <p:nvPr/>
          </p:nvCxnSpPr>
          <p:spPr>
            <a:xfrm flipH="1" flipV="1">
              <a:off x="8403936" y="1300936"/>
              <a:ext cx="1582" cy="41148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Chip"/>
            <p:cNvSpPr/>
            <p:nvPr/>
          </p:nvSpPr>
          <p:spPr>
            <a:xfrm>
              <a:off x="6791468" y="898600"/>
              <a:ext cx="2303526" cy="402336"/>
            </a:xfrm>
            <a:prstGeom prst="roundRect">
              <a:avLst>
                <a:gd name="adj" fmla="val 18181"/>
              </a:avLst>
            </a:prstGeom>
            <a:solidFill>
              <a:srgbClr val="1C325B"/>
            </a:solidFill>
            <a:ln w="12700">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wrap="none" lIns="347472" tIns="0" rIns="91440" bIns="0">
              <a:noAutofit/>
            </a:bodyPr>
            <a:lstStyle/>
            <a:p>
              <a:pPr algn="l" marL="0" indent="0">
                <a:spcBef>
                  <a:spcPts val="0"/>
                </a:spcBef>
                <a:spcAft>
                  <a:spcPts val="0"/>
                </a:spcAft>
                <a:buNone/>
              </a:pPr>
              <a:r>
                <a:rPr sz="2000" b="1" lang="en-GB">
                  <a:solidFill>
                    <a:srgbClr val="FFFFFF"/>
                  </a:solidFill>
                  <a:latin typeface="+mn-lt"/>
                </a:rPr>
                <a:t>Street furniture</a:t>
              </a:r>
              <a:endParaRPr lang="en-GB" sz="2000"/>
            </a:p>
          </p:txBody>
        </p:sp>
        <p:sp>
          <p:nvSpPr>
            <p:cNvPr id="68" name="Swatch"/>
            <p:cNvSpPr/>
            <p:nvPr/>
          </p:nvSpPr>
          <p:spPr>
            <a:xfrm>
              <a:off x="6882908" y="1017472"/>
              <a:ext cx="164592" cy="164592"/>
            </a:xfrm>
            <a:prstGeom prst="rect">
              <a:avLst/>
            </a:prstGeom>
            <a:solidFill>
              <a:srgbClr val="FFFFF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1" name="Support"/>
          <p:cNvSpPr txBox="1"/>
          <p:nvPr/>
        </p:nvSpPr>
        <p:spPr>
          <a:xfrm>
            <a:off x="548640" y="5315424"/>
            <a:ext cx="5613882"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No loop over points: the label rules loop over 1 024 clusters.</a:t>
            </a:r>
            <a:endParaRPr lang="en-GB" sz="2000"/>
          </a:p>
        </p:txBody>
      </p:sp>
      <p:sp>
        <p:nvSpPr>
          <p:cNvPr id="42" name="Source"/>
          <p:cNvSpPr txBox="1"/>
          <p:nvPr/>
        </p:nvSpPr>
        <p:spPr>
          <a:xfrm>
            <a:off x="548640" y="6034752"/>
            <a:ext cx="5613882"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69"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2B6797"/>
                </a:solidFill>
                <a:latin typeface="Fira Sans SemiBold"/>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full AHN sheet would need 74.2 GB</a:t>
            </a:r>
          </a:p>
        </p:txBody>
      </p:sp>
      <p:graphicFrame>
        <p:nvGraphicFramePr>
          <p:cNvPr id="8" name="chart_memory" descr="Horizontal bar chart in gigabytes for one 5 by 6.25 km AHN5 file with 926 203 338 points: LAS records at 25.9 GB, plus a float64 copy of the coordinates at 46.6 GB, and our load and voxel downsampling steps (slides 14 and 16), all arrays kept, at 74.2 GB; a dashed line labelled 32 GB RAM crosses all three bars, and the part of each bar past it is red; the three data bars are computed, not run."/>
          <p:cNvGraphicFramePr>
            <a:graphicFrameLocks noGrp="1"/>
          </p:cNvGraphicFramePr>
          <p:nvPr/>
        </p:nvGraphicFramePr>
        <p:xfrm>
          <a:off x="548640" y="944880"/>
          <a:ext cx="5023638" cy="4586952"/>
        </p:xfrm>
        <a:graphic>
          <a:graphicData uri="http://schemas.openxmlformats.org/drawingml/2006/chart">
            <c:chart xmlns:c="http://schemas.openxmlformats.org/drawingml/2006/chart" r:id="rId2"/>
          </a:graphicData>
        </a:graphic>
      </p:graphicFrame>
      <p:sp>
        <p:nvSpPr>
          <p:cNvPr id="9" name="Over the limit 1">
            <a:extLst>
              <a:ext uri="{C183D7F6-B498-43B3-948B-1728B52AA6E4}">
                <adec:decorative xmlns:adec="http://schemas.microsoft.com/office/drawing/2017/decorative" val="1"/>
              </a:ext>
            </a:extLst>
          </p:cNvPr>
          <p:cNvSpPr/>
          <p:nvPr/>
        </p:nvSpPr>
        <p:spPr>
          <a:xfrm>
            <a:off x="3102702" y="2732210"/>
            <a:ext cx="406136" cy="101229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er the limit 2">
            <a:extLst>
              <a:ext uri="{C183D7F6-B498-43B3-948B-1728B52AA6E4}">
                <adec:decorative xmlns:adec="http://schemas.microsoft.com/office/drawing/2017/decorative" val="1"/>
              </a:ext>
            </a:extLst>
          </p:cNvPr>
          <p:cNvSpPr/>
          <p:nvPr/>
        </p:nvSpPr>
        <p:spPr>
          <a:xfrm>
            <a:off x="3102702" y="4200034"/>
            <a:ext cx="1176755" cy="101229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Threshold line 1">
            <a:extLst>
              <a:ext uri="{C183D7F6-B498-43B3-948B-1728B52AA6E4}">
                <adec:decorative xmlns:adec="http://schemas.microsoft.com/office/drawing/2017/decorative" val="1"/>
              </a:ext>
            </a:extLst>
          </p:cNvPr>
          <p:cNvCxnSpPr/>
          <p:nvPr/>
        </p:nvCxnSpPr>
        <p:spPr>
          <a:xfrm>
            <a:off x="3102702" y="1036619"/>
            <a:ext cx="0" cy="172902"/>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cxnSp>
        <p:nvCxnSpPr>
          <p:cNvPr id="12" name="Threshold line 2">
            <a:extLst>
              <a:ext uri="{C183D7F6-B498-43B3-948B-1728B52AA6E4}">
                <adec:decorative xmlns:adec="http://schemas.microsoft.com/office/drawing/2017/decorative" val="1"/>
              </a:ext>
            </a:extLst>
          </p:cNvPr>
          <p:cNvCxnSpPr/>
          <p:nvPr/>
        </p:nvCxnSpPr>
        <p:spPr>
          <a:xfrm>
            <a:off x="3102702" y="2331542"/>
            <a:ext cx="0" cy="3108551"/>
          </a:xfrm>
          <a:prstGeom prst="line">
            <a:avLst/>
          </a:prstGeom>
          <a:ln w="38100">
            <a:solidFill>
              <a:srgbClr val="1C325B"/>
            </a:solidFill>
            <a:prstDash val="dash"/>
          </a:ln>
        </p:spPr>
        <p:style>
          <a:lnRef idx="2">
            <a:schemeClr val="accent1"/>
          </a:lnRef>
          <a:fillRef idx="0">
            <a:schemeClr val="accent1"/>
          </a:fillRef>
          <a:effectRef idx="1">
            <a:schemeClr val="accent1"/>
          </a:effectRef>
          <a:fontRef idx="minor">
            <a:schemeClr val="tx1"/>
          </a:fontRef>
        </p:style>
      </p:cxnSp>
      <p:sp>
        <p:nvSpPr>
          <p:cNvPr id="13" name="Threshold label"/>
          <p:cNvSpPr txBox="1"/>
          <p:nvPr/>
        </p:nvSpPr>
        <p:spPr>
          <a:xfrm>
            <a:off x="1731102" y="640379"/>
            <a:ext cx="2743200" cy="304800"/>
          </a:xfrm>
          <a:prstGeom prst="rect">
            <a:avLst/>
          </a:prstGeom>
          <a:noFill/>
        </p:spPr>
        <p:txBody>
          <a:bodyPr wrap="square" anchor="t" lIns="0" tIns="0" rIns="0" bIns="0">
            <a:noAutofit/>
          </a:bodyPr>
          <a:lstStyle/>
          <a:p>
            <a:pPr marL="0" indent="0" algn="ctr">
              <a:spcBef>
                <a:spcPts val="0"/>
              </a:spcBef>
              <a:spcAft>
                <a:spcPts val="0"/>
              </a:spcAft>
              <a:buNone/>
            </a:pPr>
            <a:r>
              <a:rPr sz="2000" b="0" lang="en-GB">
                <a:solidFill>
                  <a:srgbClr val="263238"/>
                </a:solidFill>
                <a:latin typeface="+mn-lt"/>
              </a:rPr>
              <a:t>32 GB RAM</a:t>
            </a:r>
            <a:endParaRPr lang="en-GB" sz="2000"/>
          </a:p>
        </p:txBody>
      </p:sp>
      <p:sp>
        <p:nvSpPr>
          <p:cNvPr id="16" name="Machine line"/>
          <p:cNvSpPr txBox="1"/>
          <p:nvPr/>
        </p:nvSpPr>
        <p:spPr>
          <a:xfrm>
            <a:off x="6029478" y="399288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455A64"/>
                </a:solidFill>
                <a:latin typeface="+mn-lt"/>
              </a:rPr>
              <a:t>It works on my machine (31.3 GiB RAM).</a:t>
            </a:r>
            <a:endParaRPr lang="en-GB" sz="2000"/>
          </a:p>
        </p:txBody>
      </p:sp>
      <p:sp>
        <p:nvSpPr>
          <p:cNvPr id="14" name="Hero"/>
          <p:cNvSpPr txBox="1"/>
          <p:nvPr/>
        </p:nvSpPr>
        <p:spPr>
          <a:xfrm>
            <a:off x="6029478"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86 B</a:t>
            </a:r>
            <a:r>
              <a:rPr sz="2000" lang="en-GB">
                <a:solidFill>
                  <a:srgbClr val="263238"/>
                </a:solidFill>
                <a:latin typeface="+mn-lt"/>
              </a:rPr>
              <a:t> per point in our pipeline</a:t>
            </a:r>
            <a:endParaRPr lang="en-GB" sz="8000"/>
          </a:p>
        </p:txBody>
      </p:sp>
      <p:sp>
        <p:nvSpPr>
          <p:cNvPr id="15" name="Support"/>
          <p:cNvSpPr txBox="1"/>
          <p:nvPr/>
        </p:nvSpPr>
        <p:spPr>
          <a:xfrm>
            <a:off x="6029478" y="341376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926 203 338 points × 86 B each.</a:t>
            </a:r>
            <a:endParaRPr lang="en-GB" sz="2000"/>
          </a:p>
        </p:txBody>
      </p:sp>
      <p:sp>
        <p:nvSpPr>
          <p:cNvPr id="7" name="Conditions"/>
          <p:cNvSpPr txBox="1"/>
          <p:nvPr/>
        </p:nvSpPr>
        <p:spPr>
          <a:xfrm>
            <a:off x="548640" y="5486112"/>
            <a:ext cx="11094720" cy="73152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86 B per point measured on the 1 km AHN tile (21 013 926 points); the 926 203 338 points are the AHN5 sheet 2023_C_31HZ2 that holds the crop, computed, not run. Conditions: Ryzen 7 5700X, Python 3.13.15, NumPy 2.5.3; 21 013 926 points, median of 3 runs, each in a fresh process; AHN5 1 km file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1 GB = 2³⁰ B. Full: results/memory.json.</a:t>
            </a:r>
            <a:endParaRPr lang="en-GB" sz="1200"/>
          </a:p>
        </p:txBody>
      </p:sp>
      <p:sp>
        <p:nvSpPr>
          <p:cNvPr id="17" name="Small print rule chip 2" descr="Evidence for rule 2: Make it small first"/>
          <p:cNvSpPr txBox="1"/>
          <p:nvPr/>
        </p:nvSpPr>
        <p:spPr>
          <a:xfrm>
            <a:off x="10166960" y="182880"/>
            <a:ext cx="1476400" cy="310896"/>
          </a:xfrm>
          <a:prstGeom prst="rect">
            <a:avLst/>
          </a:prstGeom>
          <a:noFill/>
        </p:spPr>
        <p:txBody>
          <a:bodyPr wrap="none" anchor="ctr" lIns="0" tIns="0" rIns="0" bIns="0">
            <a:noAutofit/>
          </a:bodyPr>
          <a:lstStyle/>
          <a:p>
            <a:r>
              <a:rPr sz="1400" lang="en-GB">
                <a:solidFill>
                  <a:srgbClr val="1C325B"/>
                </a:solidFill>
                <a:latin typeface="Fira Sans SemiBold"/>
              </a:rPr>
              <a:t>Make it small first</a:t>
            </a:r>
            <a:endParaRPr lang="en-GB" sz="1400"/>
          </a:p>
        </p:txBody>
      </p:sp>
      <p:sp>
        <p:nvSpPr>
          <p:cNvPr id="18" name="Small print rule number 2">
            <a:extLst>
              <a:ext uri="{C183D7F6-B498-43B3-948B-1728B52AA6E4}">
                <adec:decorative xmlns:adec="http://schemas.microsoft.com/office/drawing/2017/decorative" val="1"/>
              </a:ext>
            </a:extLst>
          </p:cNvPr>
          <p:cNvSpPr/>
          <p:nvPr/>
        </p:nvSpPr>
        <p:spPr>
          <a:xfrm>
            <a:off x="9782912"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2</a:t>
            </a:r>
            <a:endParaRPr lang="en-GB" sz="1400"/>
          </a:p>
        </p:txBody>
      </p:sp>
      <p:sp>
        <p:nvSpPr>
          <p:cNvPr id="19"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2B6797"/>
                </a:solidFill>
                <a:latin typeface="Fira Sans SemiBold"/>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Stream chunks, keep the first point per voxel</a:t>
            </a:r>
          </a:p>
        </p:txBody>
      </p:sp>
      <p:grpSp>
        <p:nvGrpSpPr>
          <p:cNvPr id="3" name="Key line 5">
            <a:extLst>
              <a:ext uri="{C183D7F6-B498-43B3-948B-1728B52AA6E4}">
                <adec:decorative xmlns:adec="http://schemas.microsoft.com/office/drawing/2017/decorative" val="1"/>
              </a:ext>
            </a:extLst>
          </p:cNvPr>
          <p:cNvGrpSpPr/>
          <p:nvPr/>
        </p:nvGrpSpPr>
        <p:grpSpPr>
          <a:xfrm>
            <a:off x="402336" y="2616200"/>
            <a:ext cx="9802368" cy="254000"/>
            <a:chOff x="402336" y="2616200"/>
            <a:chExt cx="9802368" cy="254000"/>
          </a:xfrm>
        </p:grpSpPr>
        <p:sp>
          <p:nvSpPr>
            <p:cNvPr id="7" name="Key line bar"/>
            <p:cNvSpPr/>
            <p:nvPr/>
          </p:nvSpPr>
          <p:spPr>
            <a:xfrm>
              <a:off x="402336" y="2616200"/>
              <a:ext cx="9802368" cy="2540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line edge"/>
            <p:cNvSpPr/>
            <p:nvPr/>
          </p:nvSpPr>
          <p:spPr>
            <a:xfrm>
              <a:off x="402336" y="2616200"/>
              <a:ext cx="64008" cy="254000"/>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9" name="Code" descr="Twelve lines of Python that read a LAZ file in chunks of one million points and keep the first point in every voxel, above the peak memory before and after."/>
          <p:cNvSpPr txBox="1"/>
          <p:nvPr/>
        </p:nvSpPr>
        <p:spPr>
          <a:xfrm>
            <a:off x="402336" y="1554480"/>
            <a:ext cx="9802368" cy="3139440"/>
          </a:xfrm>
          <a:prstGeom prst="rect">
            <a:avLst/>
          </a:prstGeom>
          <a:noFill/>
        </p:spPr>
        <p:txBody>
          <a:bodyPr wrap="none" anchor="t" lIns="146304" tIns="45720" rIns="54864" bIns="45720">
            <a:noAutofit/>
          </a:bodyPr>
          <a:lstStyle/>
          <a:p>
            <a:pPr marL="0" indent="0" algn="l">
              <a:lnSpc>
                <a:spcPts val="2000"/>
              </a:lnSpc>
              <a:spcBef>
                <a:spcPts val="0"/>
              </a:spcBef>
              <a:spcAft>
                <a:spcPts val="0"/>
              </a:spcAft>
              <a:buNone/>
            </a:pPr>
            <a:r>
              <a:rPr sz="1800" b="0" lang="en-GB" noProof="1">
                <a:solidFill>
                  <a:srgbClr val="263238"/>
                </a:solidFill>
                <a:latin typeface="Fira Mono" pitchFamily="49"/>
              </a:rPr>
              <a:t>v, keys, pts = 0.5, [], []                      </a:t>
            </a:r>
            <a:r>
              <a:rPr sz="1800" b="0" lang="en-GB" noProof="1">
                <a:solidFill>
                  <a:srgbClr val="455A64"/>
                </a:solidFill>
                <a:latin typeface="Fira Mono" pitchFamily="49"/>
              </a:rPr>
              <a:t># voxel size: 0.5 m</a:t>
            </a:r>
            <a:endParaRPr lang="en-GB" sz="1800"/>
          </a:p>
          <a:p>
            <a:pPr marL="0" indent="0" algn="l">
              <a:lnSpc>
                <a:spcPts val="2000"/>
              </a:lnSpc>
              <a:spcBef>
                <a:spcPts val="0"/>
              </a:spcBef>
              <a:spcAft>
                <a:spcPts val="0"/>
              </a:spcAft>
              <a:buNone/>
            </a:pPr>
            <a:r>
              <a:rPr sz="1800" b="1" lang="en-GB" noProof="1">
                <a:solidFill>
                  <a:srgbClr val="1C325B"/>
                </a:solidFill>
                <a:latin typeface="Fira Mono" pitchFamily="49"/>
              </a:rPr>
              <a:t>with</a:t>
            </a:r>
            <a:r>
              <a:rPr sz="1800" b="0" lang="en-GB" noProof="1">
                <a:solidFill>
                  <a:srgbClr val="263238"/>
                </a:solidFill>
                <a:latin typeface="Fira Mono" pitchFamily="49"/>
              </a:rPr>
              <a:t> laspy.open(path) </a:t>
            </a:r>
            <a:r>
              <a:rPr sz="1800" b="1" lang="en-GB" noProof="1">
                <a:solidFill>
                  <a:srgbClr val="1C325B"/>
                </a:solidFill>
                <a:latin typeface="Fira Mono" pitchFamily="49"/>
              </a:rPr>
              <a:t>as</a:t>
            </a:r>
            <a:r>
              <a:rPr sz="1800" b="0" lang="en-GB" noProof="1">
                <a:solidFill>
                  <a:srgbClr val="263238"/>
                </a:solidFill>
                <a:latin typeface="Fira Mono" pitchFamily="49"/>
              </a:rPr>
              <a:t> f:</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lo, hi = f.header.mins, f.header.maxs       </a:t>
            </a:r>
            <a:r>
              <a:rPr sz="1800" b="0" lang="en-GB" noProof="1">
                <a:solidFill>
                  <a:srgbClr val="455A64"/>
                </a:solidFill>
                <a:latin typeface="Fira Mono" pitchFamily="49"/>
              </a:rPr>
              <a:t># local origin, extent</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dims = ((hi - lo) // v).astype(np.int64) + 1  </a:t>
            </a:r>
            <a:r>
              <a:rPr sz="1800" b="0" lang="en-GB" noProof="1">
                <a:solidFill>
                  <a:srgbClr val="455A64"/>
                </a:solidFill>
                <a:latin typeface="Fira Mono" pitchFamily="49"/>
              </a:rPr>
              <a:t># voxels per axis</a:t>
            </a:r>
            <a:endParaRPr lang="en-GB" sz="1800"/>
          </a:p>
          <a:p>
            <a:pPr marL="0" indent="0" algn="l">
              <a:lnSpc>
                <a:spcPts val="2000"/>
              </a:lnSpc>
              <a:spcBef>
                <a:spcPts val="0"/>
              </a:spcBef>
              <a:spcAft>
                <a:spcPts val="0"/>
              </a:spcAft>
              <a:buNone/>
            </a:pPr>
            <a:r>
              <a:rPr sz="1800" b="1" lang="en-GB" noProof="1">
                <a:solidFill>
                  <a:srgbClr val="263238"/>
                </a:solidFill>
                <a:latin typeface="Fira Mono" pitchFamily="49"/>
              </a:rPr>
              <a:t>    </a:t>
            </a:r>
            <a:r>
              <a:rPr sz="1800" b="1" lang="en-GB" noProof="1">
                <a:solidFill>
                  <a:srgbClr val="1C325B"/>
                </a:solidFill>
                <a:latin typeface="Fira Mono" pitchFamily="49"/>
              </a:rPr>
              <a:t>for</a:t>
            </a:r>
            <a:r>
              <a:rPr sz="1800" b="1" lang="en-GB" noProof="1">
                <a:solidFill>
                  <a:srgbClr val="263238"/>
                </a:solidFill>
                <a:latin typeface="Fira Mono" pitchFamily="49"/>
              </a:rPr>
              <a:t> c </a:t>
            </a:r>
            <a:r>
              <a:rPr sz="1800" b="1" lang="en-GB" noProof="1">
                <a:solidFill>
                  <a:srgbClr val="1C325B"/>
                </a:solidFill>
                <a:latin typeface="Fira Mono" pitchFamily="49"/>
              </a:rPr>
              <a:t>in</a:t>
            </a:r>
            <a:r>
              <a:rPr sz="1800" b="1" lang="en-GB" noProof="1">
                <a:solidFill>
                  <a:srgbClr val="263238"/>
                </a:solidFill>
                <a:latin typeface="Fira Mono" pitchFamily="49"/>
              </a:rPr>
              <a:t> f.chunk_iterator(1_000_000):       </a:t>
            </a:r>
            <a:r>
              <a:rPr sz="1800" b="1" lang="en-GB" noProof="1">
                <a:solidFill>
                  <a:srgbClr val="455A64"/>
                </a:solidFill>
                <a:latin typeface="Fira Mono" pitchFamily="49"/>
              </a:rPr>
              <a:t># a million points</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xyz = np.c_[c.x, c.y, c.z] - lo</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ijk = (xyz // v).astype(np.int64).T     </a:t>
            </a:r>
            <a:r>
              <a:rPr sz="1800" b="0" lang="en-GB" noProof="1">
                <a:solidFill>
                  <a:srgbClr val="455A64"/>
                </a:solidFill>
                <a:latin typeface="Fira Mono" pitchFamily="49"/>
              </a:rPr>
              <a:t># voxel index per axis</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key = np.ravel_multi_index(ijk, dims)   </a:t>
            </a:r>
            <a:r>
              <a:rPr sz="1800" b="0" lang="en-GB" noProof="1">
                <a:solidFill>
                  <a:srgbClr val="455A64"/>
                </a:solidFill>
                <a:latin typeface="Fira Mono" pitchFamily="49"/>
              </a:rPr>
              <a:t># one int64 per voxel</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k, first = np.unique(key, return_index=</a:t>
            </a:r>
            <a:r>
              <a:rPr sz="1800" b="1" lang="en-GB" noProof="1">
                <a:solidFill>
                  <a:srgbClr val="1C325B"/>
                </a:solidFill>
                <a:latin typeface="Fira Mono" pitchFamily="49"/>
              </a:rPr>
              <a:t>True</a:t>
            </a:r>
            <a:r>
              <a:rPr sz="1800" b="0" lang="en-GB" noProof="1">
                <a:solidFill>
                  <a:srgbClr val="263238"/>
                </a:solidFill>
                <a:latin typeface="Fira Mono" pitchFamily="49"/>
              </a:rPr>
              <a:t>)</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        keys.append(k); pts.append(xyz[first])  </a:t>
            </a:r>
            <a:r>
              <a:rPr sz="1800" b="0" lang="en-GB" noProof="1">
                <a:solidFill>
                  <a:srgbClr val="455A64"/>
                </a:solidFill>
                <a:latin typeface="Fira Mono" pitchFamily="49"/>
              </a:rPr>
              <a:t># first per voxel</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k, first = np.unique(np.concatenate(keys), return_index=</a:t>
            </a:r>
            <a:r>
              <a:rPr sz="1800" b="1" lang="en-GB" noProof="1">
                <a:solidFill>
                  <a:srgbClr val="1C325B"/>
                </a:solidFill>
                <a:latin typeface="Fira Mono" pitchFamily="49"/>
              </a:rPr>
              <a:t>True</a:t>
            </a:r>
            <a:r>
              <a:rPr sz="1800" b="0" lang="en-GB" noProof="1">
                <a:solidFill>
                  <a:srgbClr val="263238"/>
                </a:solidFill>
                <a:latin typeface="Fira Mono" pitchFamily="49"/>
              </a:rPr>
              <a:t>)</a:t>
            </a:r>
            <a:endParaRPr lang="en-GB" sz="1800"/>
          </a:p>
          <a:p>
            <a:pPr marL="0" indent="0" algn="l">
              <a:lnSpc>
                <a:spcPts val="2000"/>
              </a:lnSpc>
              <a:spcBef>
                <a:spcPts val="0"/>
              </a:spcBef>
              <a:spcAft>
                <a:spcPts val="0"/>
              </a:spcAft>
              <a:buNone/>
            </a:pPr>
            <a:r>
              <a:rPr sz="1800" b="0" lang="en-GB" noProof="1">
                <a:solidFill>
                  <a:srgbClr val="263238"/>
                </a:solidFill>
                <a:latin typeface="Fira Mono" pitchFamily="49"/>
              </a:rPr>
              <a:t>points = np.concatenate(pts)[first]             </a:t>
            </a:r>
            <a:r>
              <a:rPr sz="1800" b="0" lang="en-GB" noProof="1">
                <a:solidFill>
                  <a:srgbClr val="455A64"/>
                </a:solidFill>
                <a:latin typeface="Fira Mono" pitchFamily="49"/>
              </a:rPr>
              <a:t># earliest chunk wins</a:t>
            </a:r>
            <a:endParaRPr lang="en-GB" sz="1800"/>
          </a:p>
        </p:txBody>
      </p:sp>
      <p:sp>
        <p:nvSpPr>
          <p:cNvPr id="10" name="Hero"/>
          <p:cNvSpPr txBox="1"/>
          <p:nvPr/>
        </p:nvSpPr>
        <p:spPr>
          <a:xfrm>
            <a:off x="548640" y="4721208"/>
            <a:ext cx="4105758" cy="670560"/>
          </a:xfrm>
          <a:prstGeom prst="rect">
            <a:avLst/>
          </a:prstGeom>
          <a:noFill/>
        </p:spPr>
        <p:txBody>
          <a:bodyPr wrap="none" anchor="b" lIns="0" tIns="0" rIns="0" bIns="0">
            <a:noAutofit/>
          </a:bodyPr>
          <a:lstStyle/>
          <a:p>
            <a:pPr marL="0" indent="0" algn="l">
              <a:spcBef>
                <a:spcPts val="0"/>
              </a:spcBef>
              <a:spcAft>
                <a:spcPts val="0"/>
              </a:spcAft>
              <a:buNone/>
            </a:pPr>
            <a:r>
              <a:rPr sz="4400" lang="en-GB">
                <a:solidFill>
                  <a:srgbClr val="2B6797"/>
                </a:solidFill>
                <a:latin typeface="Fira Sans SemiBold"/>
              </a:rPr>
              <a:t>3.0 GB → 0.8 GB</a:t>
            </a:r>
            <a:endParaRPr lang="en-GB" sz="4400"/>
          </a:p>
        </p:txBody>
      </p:sp>
      <p:sp>
        <p:nvSpPr>
          <p:cNvPr id="11" name="Hero label"/>
          <p:cNvSpPr txBox="1"/>
          <p:nvPr/>
        </p:nvSpPr>
        <p:spPr>
          <a:xfrm>
            <a:off x="4837278" y="5006196"/>
            <a:ext cx="6806082" cy="304800"/>
          </a:xfrm>
          <a:prstGeom prst="rect">
            <a:avLst/>
          </a:prstGeom>
          <a:noFill/>
        </p:spPr>
        <p:txBody>
          <a:bodyPr wrap="none" anchor="b" lIns="0" tIns="0" rIns="0" bIns="0">
            <a:noAutofit/>
          </a:bodyPr>
          <a:lstStyle/>
          <a:p>
            <a:pPr marL="0" indent="0" algn="l">
              <a:spcBef>
                <a:spcPts val="0"/>
              </a:spcBef>
              <a:spcAft>
                <a:spcPts val="0"/>
              </a:spcAft>
              <a:buNone/>
            </a:pPr>
            <a:r>
              <a:rPr sz="2000" b="0" lang="en-GB">
                <a:solidFill>
                  <a:srgbClr val="263238"/>
                </a:solidFill>
                <a:latin typeface="+mn-lt"/>
              </a:rPr>
              <a:t>peak memory, 1 km AHN tile</a:t>
            </a:r>
            <a:endParaRPr lang="en-GB" sz="2000"/>
          </a:p>
        </p:txBody>
      </p:sp>
      <p:sp>
        <p:nvSpPr>
          <p:cNvPr id="12" name="Support"/>
          <p:cNvSpPr txBox="1"/>
          <p:nvPr/>
        </p:nvSpPr>
        <p:spPr>
          <a:xfrm>
            <a:off x="548640" y="5437344"/>
            <a:ext cx="11094720"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Rule 2: make it small first, then scale up.</a:t>
            </a:r>
            <a:endParaRPr lang="en-GB" sz="2000"/>
          </a:p>
        </p:txBody>
      </p:sp>
      <p:sp>
        <p:nvSpPr>
          <p:cNvPr id="6" name="Conditions"/>
          <p:cNvSpPr txBox="1"/>
          <p:nvPr/>
        </p:nvSpPr>
        <p:spPr>
          <a:xfrm>
            <a:off x="548640" y="5668992"/>
            <a:ext cx="11094720" cy="54864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Measured on the 1 km AHN tile (21 013 926 points); the full sheet of slide 22 was not run. Conditions: Ryzen 7 5700X, Python 3.13.15, NumPy 2.5.3; 21 013 926 points, median of 3 runs, each in a fresh process; AHN5 1 km file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1 GB = 2³⁰ B. Full: results/memory.json.</a:t>
            </a:r>
            <a:endParaRPr lang="en-GB" sz="1200"/>
          </a:p>
        </p:txBody>
      </p:sp>
      <p:sp>
        <p:nvSpPr>
          <p:cNvPr id="13" name="Small print rule chip 2" descr="Evidence for rule 2: Make it small first"/>
          <p:cNvSpPr txBox="1"/>
          <p:nvPr/>
        </p:nvSpPr>
        <p:spPr>
          <a:xfrm>
            <a:off x="10166960" y="182880"/>
            <a:ext cx="1476400" cy="310896"/>
          </a:xfrm>
          <a:prstGeom prst="rect">
            <a:avLst/>
          </a:prstGeom>
          <a:noFill/>
        </p:spPr>
        <p:txBody>
          <a:bodyPr wrap="none" anchor="ctr" lIns="0" tIns="0" rIns="0" bIns="0">
            <a:noAutofit/>
          </a:bodyPr>
          <a:lstStyle/>
          <a:p>
            <a:r>
              <a:rPr sz="1400" lang="en-GB">
                <a:solidFill>
                  <a:srgbClr val="1C325B"/>
                </a:solidFill>
                <a:latin typeface="Fira Sans SemiBold"/>
              </a:rPr>
              <a:t>Make it small first</a:t>
            </a:r>
            <a:endParaRPr lang="en-GB" sz="1400"/>
          </a:p>
        </p:txBody>
      </p:sp>
      <p:sp>
        <p:nvSpPr>
          <p:cNvPr id="14" name="Small print rule number 2">
            <a:extLst>
              <a:ext uri="{C183D7F6-B498-43B3-948B-1728B52AA6E4}">
                <adec:decorative xmlns:adec="http://schemas.microsoft.com/office/drawing/2017/decorative" val="1"/>
              </a:ext>
            </a:extLst>
          </p:cNvPr>
          <p:cNvSpPr/>
          <p:nvPr/>
        </p:nvSpPr>
        <p:spPr>
          <a:xfrm>
            <a:off x="9782912"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2</a:t>
            </a:r>
            <a:endParaRPr lang="en-GB" sz="1400"/>
          </a:p>
        </p:txBody>
      </p:sp>
      <p:sp>
        <p:nvSpPr>
          <p:cNvPr id="15"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2B6797"/>
                </a:solidFill>
                <a:latin typeface="Fira Sans SemiBold"/>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Quiz: which is faster, and by how much?</a:t>
            </a:r>
          </a:p>
        </p:txBody>
      </p:sp>
      <p:sp>
        <p:nvSpPr>
          <p:cNvPr id="7" name="Task"/>
          <p:cNvSpPr txBox="1"/>
          <p:nvPr/>
        </p:nvSpPr>
        <p:spPr>
          <a:xfrm>
            <a:off x="548640" y="1554480"/>
            <a:ext cx="11094720"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Distance of every point to the ground plane, 722 961 points.</a:t>
            </a:r>
            <a:endParaRPr lang="en-GB" sz="2000"/>
          </a:p>
        </p:txBody>
      </p:sp>
      <p:sp>
        <p:nvSpPr>
          <p:cNvPr id="8" name="Option A" descr="Option A: a Python for loop over the rows of P, one distance per point."/>
          <p:cNvSpPr/>
          <p:nvPr/>
        </p:nvSpPr>
        <p:spPr>
          <a:xfrm>
            <a:off x="548640" y="2087880"/>
            <a:ext cx="1572895" cy="1572895"/>
          </a:xfrm>
          <a:prstGeom prst="roundRect">
            <a:avLst>
              <a:gd name="adj" fmla="val 4650"/>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5400" b="1" lang="en-GB">
                <a:solidFill>
                  <a:srgbClr val="FFFFFF"/>
                </a:solidFill>
                <a:latin typeface="Fira Sans SemiBold"/>
              </a:rPr>
              <a:t>A</a:t>
            </a:r>
            <a:endParaRPr lang="en-GB" sz="5400"/>
          </a:p>
        </p:txBody>
      </p:sp>
      <p:grpSp>
        <p:nvGrpSpPr>
          <p:cNvPr id="3" name="Key line A">
            <a:extLst>
              <a:ext uri="{C183D7F6-B498-43B3-948B-1728B52AA6E4}">
                <adec:decorative xmlns:adec="http://schemas.microsoft.com/office/drawing/2017/decorative" val="1"/>
              </a:ext>
            </a:extLst>
          </p:cNvPr>
          <p:cNvGrpSpPr/>
          <p:nvPr/>
        </p:nvGrpSpPr>
        <p:grpSpPr>
          <a:xfrm>
            <a:off x="2386711" y="2726182"/>
            <a:ext cx="5535168" cy="296291"/>
            <a:chOff x="2386711" y="2726182"/>
            <a:chExt cx="5535168" cy="296291"/>
          </a:xfrm>
        </p:grpSpPr>
        <p:sp>
          <p:nvSpPr>
            <p:cNvPr id="9" name="Key line bar"/>
            <p:cNvSpPr/>
            <p:nvPr/>
          </p:nvSpPr>
          <p:spPr>
            <a:xfrm>
              <a:off x="2386711" y="2726182"/>
              <a:ext cx="5535168" cy="296291"/>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line edge"/>
            <p:cNvSpPr/>
            <p:nvPr/>
          </p:nvSpPr>
          <p:spPr>
            <a:xfrm>
              <a:off x="2386711" y="2726182"/>
              <a:ext cx="64008" cy="296291"/>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Code A"/>
          <p:cNvSpPr txBox="1"/>
          <p:nvPr/>
        </p:nvSpPr>
        <p:spPr>
          <a:xfrm>
            <a:off x="2386711" y="2087880"/>
            <a:ext cx="5535168" cy="1572895"/>
          </a:xfrm>
          <a:prstGeom prst="rect">
            <a:avLst/>
          </a:prstGeom>
          <a:noFill/>
        </p:spPr>
        <p:txBody>
          <a:bodyPr wrap="none" anchor="t" lIns="146304" tIns="45720" rIns="54864" bIns="45720">
            <a:noAutofit/>
          </a:bodyPr>
          <a:lstStyle/>
          <a:p>
            <a:pPr marL="0" indent="0" algn="l">
              <a:lnSpc>
                <a:spcPts val="2333"/>
              </a:lnSpc>
              <a:spcBef>
                <a:spcPts val="0"/>
              </a:spcBef>
              <a:spcAft>
                <a:spcPts val="0"/>
              </a:spcAft>
              <a:buNone/>
            </a:pPr>
            <a:r>
              <a:rPr sz="2000" b="0" lang="en-GB" noProof="1">
                <a:solidFill>
                  <a:srgbClr val="263238"/>
                </a:solidFill>
                <a:latin typeface="Fira Mono" pitchFamily="49"/>
              </a:rPr>
              <a:t>a, b, c, d = plane</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h = np.empty(len(P))  </a:t>
            </a:r>
            <a:r>
              <a:rPr sz="2000" b="0" lang="en-GB" noProof="1">
                <a:solidFill>
                  <a:srgbClr val="455A64"/>
                </a:solidFill>
                <a:latin typeface="Fira Mono" pitchFamily="49"/>
              </a:rPr>
              <a:t># distances</a:t>
            </a:r>
            <a:endParaRPr lang="en-GB" sz="2000"/>
          </a:p>
          <a:p>
            <a:pPr marL="0" indent="0" algn="l">
              <a:lnSpc>
                <a:spcPts val="2333"/>
              </a:lnSpc>
              <a:spcBef>
                <a:spcPts val="0"/>
              </a:spcBef>
              <a:spcAft>
                <a:spcPts val="0"/>
              </a:spcAft>
              <a:buNone/>
            </a:pPr>
            <a:r>
              <a:rPr sz="2000" b="1" lang="en-GB" noProof="1">
                <a:solidFill>
                  <a:srgbClr val="1C325B"/>
                </a:solidFill>
                <a:latin typeface="Fira Mono" pitchFamily="49"/>
              </a:rPr>
              <a:t>for</a:t>
            </a:r>
            <a:r>
              <a:rPr sz="2000" b="1" lang="en-GB" noProof="1">
                <a:solidFill>
                  <a:srgbClr val="263238"/>
                </a:solidFill>
                <a:latin typeface="Fira Mono" pitchFamily="49"/>
              </a:rPr>
              <a:t> i, p </a:t>
            </a:r>
            <a:r>
              <a:rPr sz="2000" b="1" lang="en-GB" noProof="1">
                <a:solidFill>
                  <a:srgbClr val="1C325B"/>
                </a:solidFill>
                <a:latin typeface="Fira Mono" pitchFamily="49"/>
              </a:rPr>
              <a:t>in</a:t>
            </a:r>
            <a:r>
              <a:rPr sz="2000" b="1" lang="en-GB" noProof="1">
                <a:solidFill>
                  <a:srgbClr val="263238"/>
                </a:solidFill>
                <a:latin typeface="Fira Mono" pitchFamily="49"/>
              </a:rPr>
              <a:t> enumerate(P):</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    x, y, z = p[0], p[1], p[2]</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    h[i] = abs(a*x + b*y + c*z + d)</a:t>
            </a:r>
            <a:endParaRPr lang="en-GB" sz="2000"/>
          </a:p>
        </p:txBody>
      </p:sp>
      <p:sp>
        <p:nvSpPr>
          <p:cNvPr id="12" name="Option B" descr="Option B: one element-wise NumPy expression over the columns of P."/>
          <p:cNvSpPr/>
          <p:nvPr/>
        </p:nvSpPr>
        <p:spPr>
          <a:xfrm>
            <a:off x="548640" y="3861943"/>
            <a:ext cx="1572895" cy="980313"/>
          </a:xfrm>
          <a:prstGeom prst="roundRect">
            <a:avLst>
              <a:gd name="adj" fmla="val 7462"/>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5400" b="1" lang="en-GB">
                <a:solidFill>
                  <a:srgbClr val="FFFFFF"/>
                </a:solidFill>
                <a:latin typeface="Fira Sans SemiBold"/>
              </a:rPr>
              <a:t>B</a:t>
            </a:r>
            <a:endParaRPr lang="en-GB" sz="5400"/>
          </a:p>
        </p:txBody>
      </p:sp>
      <p:grpSp>
        <p:nvGrpSpPr>
          <p:cNvPr id="4" name="Key line B">
            <a:extLst>
              <a:ext uri="{C183D7F6-B498-43B3-948B-1728B52AA6E4}">
                <adec:decorative xmlns:adec="http://schemas.microsoft.com/office/drawing/2017/decorative" val="1"/>
              </a:ext>
            </a:extLst>
          </p:cNvPr>
          <p:cNvGrpSpPr/>
          <p:nvPr/>
        </p:nvGrpSpPr>
        <p:grpSpPr>
          <a:xfrm>
            <a:off x="2386711" y="4500245"/>
            <a:ext cx="5230368" cy="296291"/>
            <a:chOff x="2386711" y="4500245"/>
            <a:chExt cx="5230368" cy="296291"/>
          </a:xfrm>
        </p:grpSpPr>
        <p:sp>
          <p:nvSpPr>
            <p:cNvPr id="13" name="Key line bar"/>
            <p:cNvSpPr/>
            <p:nvPr/>
          </p:nvSpPr>
          <p:spPr>
            <a:xfrm>
              <a:off x="2386711" y="4500245"/>
              <a:ext cx="5230368" cy="296291"/>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line edge"/>
            <p:cNvSpPr/>
            <p:nvPr/>
          </p:nvSpPr>
          <p:spPr>
            <a:xfrm>
              <a:off x="2386711" y="4500245"/>
              <a:ext cx="64008" cy="296291"/>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Code B"/>
          <p:cNvSpPr txBox="1"/>
          <p:nvPr/>
        </p:nvSpPr>
        <p:spPr>
          <a:xfrm>
            <a:off x="2386711" y="3861943"/>
            <a:ext cx="5230368" cy="980313"/>
          </a:xfrm>
          <a:prstGeom prst="rect">
            <a:avLst/>
          </a:prstGeom>
          <a:noFill/>
        </p:spPr>
        <p:txBody>
          <a:bodyPr wrap="none" anchor="t" lIns="146304" tIns="45720" rIns="54864" bIns="45720">
            <a:noAutofit/>
          </a:bodyPr>
          <a:lstStyle/>
          <a:p>
            <a:pPr marL="0" indent="0" algn="l">
              <a:lnSpc>
                <a:spcPts val="2333"/>
              </a:lnSpc>
              <a:spcBef>
                <a:spcPts val="0"/>
              </a:spcBef>
              <a:spcAft>
                <a:spcPts val="0"/>
              </a:spcAft>
              <a:buNone/>
            </a:pPr>
            <a:r>
              <a:rPr sz="2000" b="0" lang="en-GB" noProof="1">
                <a:solidFill>
                  <a:srgbClr val="263238"/>
                </a:solidFill>
                <a:latin typeface="Fira Mono" pitchFamily="49"/>
              </a:rPr>
              <a:t>a, b, c, d = plane</a:t>
            </a:r>
            <a:endParaRPr lang="en-GB" sz="2000"/>
          </a:p>
          <a:p>
            <a:pPr marL="0" indent="0" algn="l">
              <a:lnSpc>
                <a:spcPts val="2333"/>
              </a:lnSpc>
              <a:spcBef>
                <a:spcPts val="0"/>
              </a:spcBef>
              <a:spcAft>
                <a:spcPts val="0"/>
              </a:spcAft>
              <a:buNone/>
            </a:pPr>
            <a:r>
              <a:rPr sz="2000" b="0" lang="en-GB" noProof="1">
                <a:solidFill>
                  <a:srgbClr val="263238"/>
                </a:solidFill>
                <a:latin typeface="Fira Mono" pitchFamily="49"/>
              </a:rPr>
              <a:t>x, y, z = P.T  </a:t>
            </a:r>
            <a:r>
              <a:rPr sz="2000" b="0" lang="en-GB" noProof="1">
                <a:solidFill>
                  <a:srgbClr val="455A64"/>
                </a:solidFill>
                <a:latin typeface="Fira Mono" pitchFamily="49"/>
              </a:rPr>
              <a:t># columns, no copy</a:t>
            </a:r>
            <a:endParaRPr lang="en-GB" sz="2000"/>
          </a:p>
          <a:p>
            <a:pPr marL="0" indent="0" algn="l">
              <a:lnSpc>
                <a:spcPts val="2333"/>
              </a:lnSpc>
              <a:spcBef>
                <a:spcPts val="0"/>
              </a:spcBef>
              <a:spcAft>
                <a:spcPts val="0"/>
              </a:spcAft>
              <a:buNone/>
            </a:pPr>
            <a:r>
              <a:rPr sz="2000" b="1" lang="en-GB" noProof="1">
                <a:solidFill>
                  <a:srgbClr val="263238"/>
                </a:solidFill>
                <a:latin typeface="Fira Mono" pitchFamily="49"/>
              </a:rPr>
              <a:t>h = np.abs(a*x + b*y + c*z + d)</a:t>
            </a:r>
            <a:endParaRPr lang="en-GB" sz="2000"/>
          </a:p>
        </p:txBody>
      </p:sp>
      <p:sp>
        <p:nvSpPr>
          <p:cNvPr id="16" name="Answers label"/>
          <p:cNvSpPr txBox="1"/>
          <p:nvPr/>
        </p:nvSpPr>
        <p:spPr>
          <a:xfrm>
            <a:off x="548640" y="5089144"/>
            <a:ext cx="4484522" cy="475488"/>
          </a:xfrm>
          <a:prstGeom prst="rect">
            <a:avLst/>
          </a:prstGeom>
          <a:noFill/>
        </p:spPr>
        <p:txBody>
          <a:bodyPr wrap="none" anchor="ctr" lIns="0" tIns="0" rIns="0" bIns="0">
            <a:noAutofit/>
          </a:bodyPr>
          <a:lstStyle/>
          <a:p>
            <a:pPr marL="0" indent="0" algn="l">
              <a:spcBef>
                <a:spcPts val="0"/>
              </a:spcBef>
              <a:spcAft>
                <a:spcPts val="0"/>
              </a:spcAft>
              <a:buNone/>
            </a:pPr>
            <a:r>
              <a:rPr sz="2400" b="0" lang="en-GB">
                <a:solidFill>
                  <a:srgbClr val="1C325B"/>
                </a:solidFill>
                <a:latin typeface="Fira Sans SemiBold"/>
              </a:rPr>
              <a:t>The faster one wins by about:</a:t>
            </a:r>
            <a:endParaRPr lang="en-GB" sz="2400"/>
          </a:p>
        </p:txBody>
      </p:sp>
      <p:sp>
        <p:nvSpPr>
          <p:cNvPr id="17" name="Answer 1"/>
          <p:cNvSpPr/>
          <p:nvPr/>
        </p:nvSpPr>
        <p:spPr>
          <a:xfrm>
            <a:off x="503316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2×</a:t>
            </a:r>
            <a:endParaRPr lang="en-GB" sz="2400"/>
          </a:p>
        </p:txBody>
      </p:sp>
      <p:sp>
        <p:nvSpPr>
          <p:cNvPr id="18" name="Answer 2"/>
          <p:cNvSpPr/>
          <p:nvPr/>
        </p:nvSpPr>
        <p:spPr>
          <a:xfrm>
            <a:off x="658764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a:t>
            </a:r>
            <a:endParaRPr lang="en-GB" sz="2400"/>
          </a:p>
        </p:txBody>
      </p:sp>
      <p:sp>
        <p:nvSpPr>
          <p:cNvPr id="19" name="Answer 3"/>
          <p:cNvSpPr/>
          <p:nvPr/>
        </p:nvSpPr>
        <p:spPr>
          <a:xfrm>
            <a:off x="814212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100×</a:t>
            </a:r>
            <a:endParaRPr lang="en-GB" sz="2400"/>
          </a:p>
        </p:txBody>
      </p:sp>
      <p:sp>
        <p:nvSpPr>
          <p:cNvPr id="20" name="Answer 4"/>
          <p:cNvSpPr/>
          <p:nvPr/>
        </p:nvSpPr>
        <p:spPr>
          <a:xfrm>
            <a:off x="9696602" y="5089144"/>
            <a:ext cx="1325880" cy="475488"/>
          </a:xfrm>
          <a:prstGeom prst="roundRect">
            <a:avLst>
              <a:gd name="adj" fmla="val 50000"/>
            </a:avLst>
          </a:prstGeom>
          <a:solidFill>
            <a:srgbClr val="FFFFFF"/>
          </a:solidFill>
          <a:ln w="190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45720" rIns="91440" bIns="45720">
            <a:noAutofit/>
          </a:bodyPr>
          <a:lstStyle/>
          <a:p>
            <a:pPr algn="ctr" marL="0" indent="0">
              <a:spcBef>
                <a:spcPts val="0"/>
              </a:spcBef>
              <a:spcAft>
                <a:spcPts val="0"/>
              </a:spcAft>
              <a:buNone/>
            </a:pPr>
            <a:r>
              <a:rPr sz="2400" b="1" lang="en-GB">
                <a:solidFill>
                  <a:srgbClr val="1C325B"/>
                </a:solidFill>
                <a:latin typeface="Fira Sans SemiBold"/>
              </a:rPr>
              <a:t>1000×</a:t>
            </a:r>
            <a:endParaRPr lang="en-GB" sz="2400"/>
          </a:p>
        </p:txBody>
      </p:sp>
      <p:sp>
        <p:nvSpPr>
          <p:cNvPr id="21"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Both give identical results (np.array_equal). P: the crop's xyz from slide 14, column-ordered. plane: one seeded segment_plane on the whole crop.</a:t>
            </a:r>
            <a:endParaRPr lang="en-GB" sz="1200"/>
          </a:p>
        </p:txBody>
      </p:sp>
      <p:sp>
        <p:nvSpPr>
          <p:cNvPr id="22" name="Small print rule chip 3" descr="Evidence for rule 3: Let compiled code loop"/>
          <p:cNvSpPr txBox="1"/>
          <p:nvPr/>
        </p:nvSpPr>
        <p:spPr>
          <a:xfrm>
            <a:off x="9721571" y="182880"/>
            <a:ext cx="1921789" cy="310896"/>
          </a:xfrm>
          <a:prstGeom prst="rect">
            <a:avLst/>
          </a:prstGeom>
          <a:noFill/>
        </p:spPr>
        <p:txBody>
          <a:bodyPr wrap="none" anchor="ctr" lIns="0" tIns="0" rIns="0" bIns="0">
            <a:noAutofit/>
          </a:bodyPr>
          <a:lstStyle/>
          <a:p>
            <a:r>
              <a:rPr sz="1400" lang="en-GB">
                <a:solidFill>
                  <a:srgbClr val="1C325B"/>
                </a:solidFill>
                <a:latin typeface="Fira Sans SemiBold"/>
              </a:rPr>
              <a:t>Let compiled code loop</a:t>
            </a:r>
            <a:endParaRPr lang="en-GB" sz="1400"/>
          </a:p>
        </p:txBody>
      </p:sp>
      <p:sp>
        <p:nvSpPr>
          <p:cNvPr id="23" name="Small print rule number 3">
            <a:extLst>
              <a:ext uri="{C183D7F6-B498-43B3-948B-1728B52AA6E4}">
                <adec:decorative xmlns:adec="http://schemas.microsoft.com/office/drawing/2017/decorative" val="1"/>
              </a:ext>
            </a:extLst>
          </p:cNvPr>
          <p:cNvSpPr/>
          <p:nvPr/>
        </p:nvSpPr>
        <p:spPr>
          <a:xfrm>
            <a:off x="933752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3</a:t>
            </a:r>
            <a:endParaRPr lang="en-GB" sz="1400"/>
          </a:p>
        </p:txBody>
      </p:sp>
      <p:sp>
        <p:nvSpPr>
          <p:cNvPr id="24"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2B6797"/>
                </a:solidFill>
                <a:latin typeface="Fira Sans SemiBold"/>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How much slower is the loop over rows?</a:t>
            </a:r>
          </a:p>
        </p:txBody>
      </p:sp>
      <p:graphicFrame>
        <p:nvGraphicFramePr>
          <p:cNvPr id="7" name="chart_time" descr="Column chart of the median time per run, linear axis. The Python loop over NumPy rows takes 317 ms; one NumPy expression takes 2.4 ms."/>
          <p:cNvGraphicFramePr>
            <a:graphicFrameLocks noGrp="1"/>
          </p:cNvGraphicFramePr>
          <p:nvPr/>
        </p:nvGraphicFramePr>
        <p:xfrm>
          <a:off x="6619722" y="548640"/>
          <a:ext cx="5023638" cy="5668992"/>
        </p:xfrm>
        <a:graphic>
          <a:graphicData uri="http://schemas.openxmlformats.org/drawingml/2006/chart">
            <c:chart xmlns:c="http://schemas.openxmlformats.org/drawingml/2006/chart" r:id="rId2"/>
          </a:graphicData>
        </a:graphic>
      </p:graphicFrame>
      <p:sp>
        <p:nvSpPr>
          <p:cNvPr id="11" name="Ops"/>
          <p:cNvSpPr txBox="1"/>
          <p:nvPr/>
        </p:nvSpPr>
        <p:spPr>
          <a:xfrm>
            <a:off x="548640" y="345948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Loop: 12 calls × 722 961 rows = 8.7 million calls</a:t>
            </a:r>
            <a:endParaRPr lang="en-GB" sz="2000"/>
          </a:p>
        </p:txBody>
      </p:sp>
      <p:sp>
        <p:nvSpPr>
          <p:cNvPr id="12" name="Ops"/>
          <p:cNvSpPr txBox="1"/>
          <p:nvPr/>
        </p:nvSpPr>
        <p:spPr>
          <a:xfrm>
            <a:off x="548640" y="385572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1" lang="en-GB">
                <a:solidFill>
                  <a:srgbClr val="263238"/>
                </a:solidFill>
                <a:latin typeface="+mn-lt"/>
              </a:rPr>
              <a:t>One expression: 7 calls in total</a:t>
            </a:r>
            <a:endParaRPr lang="en-GB" sz="2000"/>
          </a:p>
        </p:txBody>
      </p:sp>
      <p:sp>
        <p:nvSpPr>
          <p:cNvPr id="8" name="Hero"/>
          <p:cNvSpPr txBox="1"/>
          <p:nvPr/>
        </p:nvSpPr>
        <p:spPr>
          <a:xfrm>
            <a:off x="548640"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130×</a:t>
            </a:r>
            <a:r>
              <a:rPr sz="2000" lang="en-GB">
                <a:solidFill>
                  <a:srgbClr val="263238"/>
                </a:solidFill>
                <a:latin typeface="+mn-lt"/>
              </a:rPr>
              <a:t> slower</a:t>
            </a:r>
            <a:endParaRPr lang="en-GB" sz="8000"/>
          </a:p>
        </p:txBody>
      </p:sp>
      <p:sp>
        <p:nvSpPr>
          <p:cNvPr id="10" name="Support"/>
          <p:cNvSpPr txBox="1"/>
          <p:nvPr/>
        </p:nvSpPr>
        <p:spPr>
          <a:xfrm>
            <a:off x="548640" y="5059392"/>
            <a:ext cx="5613882"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Same data, same answer, far fewer calls into compiled code.</a:t>
            </a:r>
            <a:endParaRPr lang="en-GB" sz="2000"/>
          </a:p>
        </p:txBody>
      </p:sp>
      <p:sp>
        <p:nvSpPr>
          <p:cNvPr id="9" name="Conditions"/>
          <p:cNvSpPr txBox="1"/>
          <p:nvPr/>
        </p:nvSpPr>
        <p:spPr>
          <a:xfrm>
            <a:off x="548640" y="5668992"/>
            <a:ext cx="5613882" cy="54864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results/bench_cliff.json.</a:t>
            </a:r>
            <a:endParaRPr lang="en-GB" sz="1200"/>
          </a:p>
        </p:txBody>
      </p:sp>
      <p:sp>
        <p:nvSpPr>
          <p:cNvPr id="13" name="Small print rule chip 3" descr="Evidence for rule 3: Let compiled code loop"/>
          <p:cNvSpPr txBox="1"/>
          <p:nvPr/>
        </p:nvSpPr>
        <p:spPr>
          <a:xfrm>
            <a:off x="9721571" y="182880"/>
            <a:ext cx="1921789" cy="310896"/>
          </a:xfrm>
          <a:prstGeom prst="rect">
            <a:avLst/>
          </a:prstGeom>
          <a:noFill/>
        </p:spPr>
        <p:txBody>
          <a:bodyPr wrap="none" anchor="ctr" lIns="0" tIns="0" rIns="0" bIns="0">
            <a:noAutofit/>
          </a:bodyPr>
          <a:lstStyle/>
          <a:p>
            <a:r>
              <a:rPr sz="1400" lang="en-GB">
                <a:solidFill>
                  <a:srgbClr val="1C325B"/>
                </a:solidFill>
                <a:latin typeface="Fira Sans SemiBold"/>
              </a:rPr>
              <a:t>Let compiled code loop</a:t>
            </a:r>
            <a:endParaRPr lang="en-GB" sz="1400"/>
          </a:p>
        </p:txBody>
      </p:sp>
      <p:sp>
        <p:nvSpPr>
          <p:cNvPr id="14" name="Small print rule number 3">
            <a:extLst>
              <a:ext uri="{C183D7F6-B498-43B3-948B-1728B52AA6E4}">
                <adec:decorative xmlns:adec="http://schemas.microsoft.com/office/drawing/2017/decorative" val="1"/>
              </a:ext>
            </a:extLst>
          </p:cNvPr>
          <p:cNvSpPr/>
          <p:nvPr/>
        </p:nvSpPr>
        <p:spPr>
          <a:xfrm>
            <a:off x="933752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3</a:t>
            </a:r>
            <a:endParaRPr lang="en-GB" sz="1400"/>
          </a:p>
        </p:txBody>
      </p:sp>
      <p:sp>
        <p:nvSpPr>
          <p:cNvPr id="15"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2B6797"/>
                </a:solidFill>
                <a:latin typeface="Fira Sans SemiBold"/>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Every trip into compiled code pays a toll</a:t>
            </a:r>
          </a:p>
        </p:txBody>
      </p:sp>
      <p:sp>
        <p:nvSpPr>
          <p:cNvPr id="6" name="Takeaway"/>
          <p:cNvSpPr txBox="1"/>
          <p:nvPr/>
        </p:nvSpPr>
        <p:spPr>
          <a:xfrm>
            <a:off x="548640" y="5379432"/>
            <a:ext cx="11094720" cy="426720"/>
          </a:xfrm>
          <a:prstGeom prst="rect">
            <a:avLst/>
          </a:prstGeom>
          <a:noFill/>
        </p:spPr>
        <p:txBody>
          <a:bodyPr wrap="square" anchor="t" lIns="0" tIns="0" rIns="0" bIns="0">
            <a:noAutofit/>
          </a:bodyPr>
          <a:lstStyle/>
          <a:p>
            <a:pPr marL="0" indent="0" algn="l">
              <a:spcBef>
                <a:spcPts val="0"/>
              </a:spcBef>
              <a:spcAft>
                <a:spcPts val="0"/>
              </a:spcAft>
              <a:buNone/>
            </a:pPr>
            <a:r>
              <a:rPr sz="2800" b="1" lang="en-GB">
                <a:solidFill>
                  <a:srgbClr val="263238"/>
                </a:solidFill>
                <a:latin typeface="+mn-lt"/>
              </a:rPr>
              <a:t>Rule 3: one call on the whole array, not N calls on single points.</a:t>
            </a:r>
            <a:endParaRPr lang="en-GB" sz="2800"/>
          </a:p>
        </p:txBody>
      </p:sp>
      <p:grpSp>
        <p:nvGrpSpPr>
          <p:cNvPr id="3" name="toll_diagram" descr="Diagram: a Python lane above a dashed boundary and a compiled-code lane below. On the left a loop crosses the boundary many times, paying a toll each time, marked by blue ticks on the boundary. On the right one call crosses once and does all the work below the line."/>
          <p:cNvGrpSpPr/>
          <p:nvPr/>
        </p:nvGrpSpPr>
        <p:grpSpPr>
          <a:xfrm>
            <a:off x="548640" y="1600200"/>
            <a:ext cx="11158728" cy="2599656"/>
            <a:chOff x="548640" y="1600200"/>
            <a:chExt cx="11158728" cy="2599656"/>
          </a:xfrm>
        </p:grpSpPr>
        <p:sp>
          <p:nvSpPr>
            <p:cNvPr id="7" name="toll_lane_top"/>
            <p:cNvSpPr txBox="1"/>
            <p:nvPr/>
          </p:nvSpPr>
          <p:spPr>
            <a:xfrm>
              <a:off x="548640" y="2368900"/>
              <a:ext cx="1828800" cy="411480"/>
            </a:xfrm>
            <a:prstGeom prst="rect">
              <a:avLst/>
            </a:prstGeom>
            <a:noFill/>
          </p:spPr>
          <p:txBody>
            <a:bodyPr wrap="square" anchor="b" lIns="0" tIns="0" rIns="0" bIns="0">
              <a:noAutofit/>
            </a:bodyPr>
            <a:lstStyle/>
            <a:p>
              <a:pPr algn="l"/>
              <a:r>
                <a:rPr sz="2000" b="1" i="0" lang="en-GB">
                  <a:solidFill>
                    <a:srgbClr val="1C325B"/>
                  </a:solidFill>
                  <a:latin typeface="Fira Sans"/>
                </a:rPr>
                <a:t>Python</a:t>
              </a:r>
            </a:p>
          </p:txBody>
        </p:sp>
        <p:sp>
          <p:nvSpPr>
            <p:cNvPr id="8" name="toll_lane_bottom"/>
            <p:cNvSpPr txBox="1"/>
            <p:nvPr/>
          </p:nvSpPr>
          <p:spPr>
            <a:xfrm>
              <a:off x="548640" y="2963260"/>
              <a:ext cx="1828800" cy="411480"/>
            </a:xfrm>
            <a:prstGeom prst="rect">
              <a:avLst/>
            </a:prstGeom>
            <a:noFill/>
          </p:spPr>
          <p:txBody>
            <a:bodyPr wrap="square" anchor="t" lIns="0" tIns="0" rIns="0" bIns="0">
              <a:noAutofit/>
            </a:bodyPr>
            <a:lstStyle/>
            <a:p>
              <a:pPr algn="l"/>
              <a:r>
                <a:rPr sz="2000" b="1" i="0" lang="en-GB">
                  <a:solidFill>
                    <a:srgbClr val="1C325B"/>
                  </a:solidFill>
                  <a:latin typeface="Fira Sans"/>
                </a:rPr>
                <a:t>compiled code</a:t>
              </a:r>
            </a:p>
          </p:txBody>
        </p:sp>
        <p:cxnSp>
          <p:nvCxnSpPr>
            <p:cNvPr id="9" name="toll_boundary"/>
            <p:cNvCxnSpPr/>
            <p:nvPr/>
          </p:nvCxnSpPr>
          <p:spPr>
            <a:xfrm>
              <a:off x="548640" y="2871820"/>
              <a:ext cx="11094720" cy="0"/>
            </a:xfrm>
            <a:prstGeom prst="line">
              <a:avLst/>
            </a:prstGeom>
            <a:ln w="28575">
              <a:solidFill>
                <a:srgbClr val="2B6797"/>
              </a:solidFill>
              <a:prstDash val="dash"/>
            </a:ln>
          </p:spPr>
          <p:style>
            <a:lnRef idx="2">
              <a:schemeClr val="accent1"/>
            </a:lnRef>
            <a:fillRef idx="0">
              <a:schemeClr val="accent1"/>
            </a:fillRef>
            <a:effectRef idx="1">
              <a:schemeClr val="accent1"/>
            </a:effectRef>
            <a:fontRef idx="minor">
              <a:schemeClr val="tx1"/>
            </a:fontRef>
          </p:style>
        </p:cxnSp>
        <p:sp>
          <p:nvSpPr>
            <p:cNvPr id="10" name="toll_loop_code"/>
            <p:cNvSpPr/>
            <p:nvPr/>
          </p:nvSpPr>
          <p:spPr>
            <a:xfrm>
              <a:off x="2468880" y="1600200"/>
              <a:ext cx="3291840" cy="475488"/>
            </a:xfrm>
            <a:prstGeom prst="roundRect">
              <a:avLst>
                <a:gd name="adj" fmla="val 15384"/>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37160" tIns="36576" bIns="36576">
              <a:noAutofit/>
            </a:bodyPr>
            <a:lstStyle/>
            <a:p>
              <a:pPr algn="l"/>
              <a:r>
                <a:rPr sz="1800" b="0" i="0" lang="en-GB">
                  <a:solidFill>
                    <a:srgbClr val="263238"/>
                  </a:solidFill>
                  <a:latin typeface="Fira Mono" pitchFamily="49" charset="0"/>
                </a:rPr>
                <a:t>for p in pts: f(p)</a:t>
              </a:r>
            </a:p>
          </p:txBody>
        </p:sp>
        <p:cxnSp>
          <p:nvCxnSpPr>
            <p:cNvPr id="11" name="loop_down_1"/>
            <p:cNvCxnSpPr/>
            <p:nvPr/>
          </p:nvCxnSpPr>
          <p:spPr>
            <a:xfrm>
              <a:off x="265176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loop_work_1"/>
            <p:cNvSpPr/>
            <p:nvPr/>
          </p:nvSpPr>
          <p:spPr>
            <a:xfrm>
              <a:off x="2615184"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loop_up_1"/>
            <p:cNvCxnSpPr/>
            <p:nvPr/>
          </p:nvCxnSpPr>
          <p:spPr>
            <a:xfrm flipV="1">
              <a:off x="279806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loop_toll_1"/>
            <p:cNvSpPr/>
            <p:nvPr/>
          </p:nvSpPr>
          <p:spPr>
            <a:xfrm>
              <a:off x="2505456"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oop_down_2"/>
            <p:cNvCxnSpPr/>
            <p:nvPr/>
          </p:nvCxnSpPr>
          <p:spPr>
            <a:xfrm>
              <a:off x="299923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oop_work_2"/>
            <p:cNvSpPr/>
            <p:nvPr/>
          </p:nvSpPr>
          <p:spPr>
            <a:xfrm>
              <a:off x="2962656"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loop_up_2"/>
            <p:cNvCxnSpPr/>
            <p:nvPr/>
          </p:nvCxnSpPr>
          <p:spPr>
            <a:xfrm flipV="1">
              <a:off x="314553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oop_toll_2"/>
            <p:cNvSpPr/>
            <p:nvPr/>
          </p:nvSpPr>
          <p:spPr>
            <a:xfrm>
              <a:off x="285292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loop_down_3"/>
            <p:cNvCxnSpPr/>
            <p:nvPr/>
          </p:nvCxnSpPr>
          <p:spPr>
            <a:xfrm>
              <a:off x="334670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oop_work_3"/>
            <p:cNvSpPr/>
            <p:nvPr/>
          </p:nvSpPr>
          <p:spPr>
            <a:xfrm>
              <a:off x="3310128"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loop_up_3"/>
            <p:cNvCxnSpPr/>
            <p:nvPr/>
          </p:nvCxnSpPr>
          <p:spPr>
            <a:xfrm flipV="1">
              <a:off x="349300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loop_toll_3"/>
            <p:cNvSpPr/>
            <p:nvPr/>
          </p:nvSpPr>
          <p:spPr>
            <a:xfrm>
              <a:off x="3200400"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oop_down_4"/>
            <p:cNvCxnSpPr/>
            <p:nvPr/>
          </p:nvCxnSpPr>
          <p:spPr>
            <a:xfrm>
              <a:off x="369417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loop_work_4"/>
            <p:cNvSpPr/>
            <p:nvPr/>
          </p:nvSpPr>
          <p:spPr>
            <a:xfrm>
              <a:off x="3657600"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loop_up_4"/>
            <p:cNvCxnSpPr/>
            <p:nvPr/>
          </p:nvCxnSpPr>
          <p:spPr>
            <a:xfrm flipV="1">
              <a:off x="384048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loop_toll_4"/>
            <p:cNvSpPr/>
            <p:nvPr/>
          </p:nvSpPr>
          <p:spPr>
            <a:xfrm>
              <a:off x="3547872"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loop_down_5"/>
            <p:cNvCxnSpPr/>
            <p:nvPr/>
          </p:nvCxnSpPr>
          <p:spPr>
            <a:xfrm>
              <a:off x="404164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loop_work_5"/>
            <p:cNvSpPr/>
            <p:nvPr/>
          </p:nvSpPr>
          <p:spPr>
            <a:xfrm>
              <a:off x="4005072"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loop_up_5"/>
            <p:cNvCxnSpPr/>
            <p:nvPr/>
          </p:nvCxnSpPr>
          <p:spPr>
            <a:xfrm flipV="1">
              <a:off x="418795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loop_toll_5"/>
            <p:cNvSpPr/>
            <p:nvPr/>
          </p:nvSpPr>
          <p:spPr>
            <a:xfrm>
              <a:off x="3895344"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loop_down_6"/>
            <p:cNvCxnSpPr/>
            <p:nvPr/>
          </p:nvCxnSpPr>
          <p:spPr>
            <a:xfrm>
              <a:off x="438912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loop_work_6"/>
            <p:cNvSpPr/>
            <p:nvPr/>
          </p:nvSpPr>
          <p:spPr>
            <a:xfrm>
              <a:off x="4352544"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loop_up_6"/>
            <p:cNvCxnSpPr/>
            <p:nvPr/>
          </p:nvCxnSpPr>
          <p:spPr>
            <a:xfrm flipV="1">
              <a:off x="453542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loop_toll_6"/>
            <p:cNvSpPr/>
            <p:nvPr/>
          </p:nvSpPr>
          <p:spPr>
            <a:xfrm>
              <a:off x="4242816"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loop_down_7"/>
            <p:cNvCxnSpPr/>
            <p:nvPr/>
          </p:nvCxnSpPr>
          <p:spPr>
            <a:xfrm>
              <a:off x="4736592"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loop_work_7"/>
            <p:cNvSpPr/>
            <p:nvPr/>
          </p:nvSpPr>
          <p:spPr>
            <a:xfrm>
              <a:off x="4700016"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loop_up_7"/>
            <p:cNvCxnSpPr/>
            <p:nvPr/>
          </p:nvCxnSpPr>
          <p:spPr>
            <a:xfrm flipV="1">
              <a:off x="488289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loop_toll_7"/>
            <p:cNvSpPr/>
            <p:nvPr/>
          </p:nvSpPr>
          <p:spPr>
            <a:xfrm>
              <a:off x="459028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loop_down_8"/>
            <p:cNvCxnSpPr/>
            <p:nvPr/>
          </p:nvCxnSpPr>
          <p:spPr>
            <a:xfrm>
              <a:off x="5084064"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loop_work_8"/>
            <p:cNvSpPr/>
            <p:nvPr/>
          </p:nvSpPr>
          <p:spPr>
            <a:xfrm>
              <a:off x="5047488"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loop_up_8"/>
            <p:cNvCxnSpPr/>
            <p:nvPr/>
          </p:nvCxnSpPr>
          <p:spPr>
            <a:xfrm flipV="1">
              <a:off x="5230368"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loop_toll_8"/>
            <p:cNvSpPr/>
            <p:nvPr/>
          </p:nvSpPr>
          <p:spPr>
            <a:xfrm>
              <a:off x="4937760"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loop_down_9"/>
            <p:cNvCxnSpPr/>
            <p:nvPr/>
          </p:nvCxnSpPr>
          <p:spPr>
            <a:xfrm>
              <a:off x="5431536"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loop_work_9"/>
            <p:cNvSpPr/>
            <p:nvPr/>
          </p:nvSpPr>
          <p:spPr>
            <a:xfrm>
              <a:off x="5394960" y="3523200"/>
              <a:ext cx="219456" cy="292608"/>
            </a:xfrm>
            <a:prstGeom prst="roundRect">
              <a:avLst>
                <a:gd name="adj" fmla="val 33333"/>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loop_up_9"/>
            <p:cNvCxnSpPr/>
            <p:nvPr/>
          </p:nvCxnSpPr>
          <p:spPr>
            <a:xfrm flipV="1">
              <a:off x="5577840" y="2130552"/>
              <a:ext cx="0" cy="1365216"/>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loop_toll_9"/>
            <p:cNvSpPr/>
            <p:nvPr/>
          </p:nvSpPr>
          <p:spPr>
            <a:xfrm>
              <a:off x="5285232"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oll_times"/>
            <p:cNvSpPr txBox="1"/>
            <p:nvPr/>
          </p:nvSpPr>
          <p:spPr>
            <a:xfrm>
              <a:off x="5742432" y="3477480"/>
              <a:ext cx="1097280" cy="384048"/>
            </a:xfrm>
            <a:prstGeom prst="rect">
              <a:avLst/>
            </a:prstGeom>
            <a:noFill/>
          </p:spPr>
          <p:txBody>
            <a:bodyPr wrap="square" anchor="ctr" lIns="0" tIns="0" rIns="0" bIns="0">
              <a:noAutofit/>
            </a:bodyPr>
            <a:lstStyle/>
            <a:p>
              <a:pPr algn="l"/>
              <a:r>
                <a:rPr sz="2400" b="1" i="0" lang="en-GB">
                  <a:solidFill>
                    <a:srgbClr val="1C325B"/>
                  </a:solidFill>
                  <a:latin typeface="Fira Sans"/>
                </a:rPr>
                <a:t>× N</a:t>
              </a:r>
            </a:p>
          </p:txBody>
        </p:sp>
        <p:sp>
          <p:nvSpPr>
            <p:cNvPr id="48" name="toll_call_code"/>
            <p:cNvSpPr/>
            <p:nvPr/>
          </p:nvSpPr>
          <p:spPr>
            <a:xfrm>
              <a:off x="7205472" y="1600200"/>
              <a:ext cx="1152144" cy="475488"/>
            </a:xfrm>
            <a:prstGeom prst="roundRect">
              <a:avLst>
                <a:gd name="adj" fmla="val 15384"/>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37160" tIns="36576" bIns="36576">
              <a:noAutofit/>
            </a:bodyPr>
            <a:lstStyle/>
            <a:p>
              <a:pPr algn="l"/>
              <a:r>
                <a:rPr sz="1800" b="0" i="0" lang="en-GB">
                  <a:solidFill>
                    <a:srgbClr val="263238"/>
                  </a:solidFill>
                  <a:latin typeface="Fira Mono" pitchFamily="49" charset="0"/>
                </a:rPr>
                <a:t>f(pts)</a:t>
              </a:r>
            </a:p>
          </p:txBody>
        </p:sp>
        <p:cxnSp>
          <p:nvCxnSpPr>
            <p:cNvPr id="49" name="call_down_1"/>
            <p:cNvCxnSpPr/>
            <p:nvPr/>
          </p:nvCxnSpPr>
          <p:spPr>
            <a:xfrm>
              <a:off x="7388352" y="2130552"/>
              <a:ext cx="0" cy="1365216"/>
            </a:xfrm>
            <a:prstGeom prst="line">
              <a:avLst/>
            </a:prstGeom>
            <a:ln w="63500">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call_work_1"/>
            <p:cNvSpPr/>
            <p:nvPr/>
          </p:nvSpPr>
          <p:spPr>
            <a:xfrm>
              <a:off x="7333488" y="3523200"/>
              <a:ext cx="4264152" cy="292608"/>
            </a:xfrm>
            <a:prstGeom prst="roundRect">
              <a:avLst>
                <a:gd name="adj" fmla="val 25000"/>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all_up_1"/>
            <p:cNvCxnSpPr/>
            <p:nvPr/>
          </p:nvCxnSpPr>
          <p:spPr>
            <a:xfrm flipV="1">
              <a:off x="7845552" y="2130552"/>
              <a:ext cx="0" cy="1365216"/>
            </a:xfrm>
            <a:prstGeom prst="line">
              <a:avLst/>
            </a:prstGeom>
            <a:ln w="63500">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call_toll_1"/>
            <p:cNvSpPr/>
            <p:nvPr/>
          </p:nvSpPr>
          <p:spPr>
            <a:xfrm>
              <a:off x="7242048" y="2807812"/>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oll_caption_loop"/>
            <p:cNvSpPr txBox="1"/>
            <p:nvPr/>
          </p:nvSpPr>
          <p:spPr>
            <a:xfrm>
              <a:off x="2468880" y="3870672"/>
              <a:ext cx="4462272" cy="329184"/>
            </a:xfrm>
            <a:prstGeom prst="rect">
              <a:avLst/>
            </a:prstGeom>
            <a:noFill/>
          </p:spPr>
          <p:txBody>
            <a:bodyPr wrap="square" anchor="t" lIns="0" tIns="0" rIns="0" bIns="0">
              <a:noAutofit/>
            </a:bodyPr>
            <a:lstStyle/>
            <a:p>
              <a:pPr algn="l"/>
              <a:r>
                <a:rPr sz="1800" b="0" i="0" lang="en-GB">
                  <a:solidFill>
                    <a:srgbClr val="263238"/>
                  </a:solidFill>
                  <a:latin typeface="Fira Sans"/>
                </a:rPr>
                <a:t>N trips: 317 ms</a:t>
              </a:r>
            </a:p>
          </p:txBody>
        </p:sp>
        <p:sp>
          <p:nvSpPr>
            <p:cNvPr id="54" name="toll_caption_call"/>
            <p:cNvSpPr txBox="1"/>
            <p:nvPr/>
          </p:nvSpPr>
          <p:spPr>
            <a:xfrm>
              <a:off x="7205472" y="3870672"/>
              <a:ext cx="4437888" cy="329184"/>
            </a:xfrm>
            <a:prstGeom prst="rect">
              <a:avLst/>
            </a:prstGeom>
            <a:noFill/>
          </p:spPr>
          <p:txBody>
            <a:bodyPr wrap="square" anchor="t" lIns="0" tIns="0" rIns="0" bIns="0">
              <a:noAutofit/>
            </a:bodyPr>
            <a:lstStyle/>
            <a:p>
              <a:pPr algn="l"/>
              <a:r>
                <a:rPr sz="1800" b="0" i="0" lang="en-GB">
                  <a:solidFill>
                    <a:srgbClr val="263238"/>
                  </a:solidFill>
                  <a:latin typeface="Fira Sans"/>
                </a:rPr>
                <a:t>1 trip: 2.4 ms</a:t>
              </a:r>
            </a:p>
          </p:txBody>
        </p:sp>
        <p:sp>
          <p:nvSpPr>
            <p:cNvPr id="55" name="legend_toll_swatch"/>
            <p:cNvSpPr/>
            <p:nvPr/>
          </p:nvSpPr>
          <p:spPr>
            <a:xfrm>
              <a:off x="8888044" y="1691640"/>
              <a:ext cx="292608" cy="128016"/>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egend_toll"/>
            <p:cNvSpPr txBox="1"/>
            <p:nvPr/>
          </p:nvSpPr>
          <p:spPr>
            <a:xfrm>
              <a:off x="9272092" y="1600200"/>
              <a:ext cx="1760449" cy="310896"/>
            </a:xfrm>
            <a:prstGeom prst="rect">
              <a:avLst/>
            </a:prstGeom>
            <a:noFill/>
          </p:spPr>
          <p:txBody>
            <a:bodyPr wrap="none" anchor="ctr" lIns="0" tIns="0" rIns="0" bIns="0">
              <a:noAutofit/>
            </a:bodyPr>
            <a:lstStyle/>
            <a:p>
              <a:pPr algn="l"/>
              <a:r>
                <a:rPr sz="1800" b="0" i="0" lang="en-GB">
                  <a:solidFill>
                    <a:srgbClr val="263238"/>
                  </a:solidFill>
                  <a:latin typeface="Fira Sans"/>
                </a:rPr>
                <a:t>toll per crossing</a:t>
              </a:r>
            </a:p>
          </p:txBody>
        </p:sp>
        <p:sp>
          <p:nvSpPr>
            <p:cNvPr id="57" name="legend_work_swatch"/>
            <p:cNvSpPr/>
            <p:nvPr/>
          </p:nvSpPr>
          <p:spPr>
            <a:xfrm>
              <a:off x="8888044" y="1984248"/>
              <a:ext cx="292608" cy="164592"/>
            </a:xfrm>
            <a:prstGeom prst="roundRect">
              <a:avLst>
                <a:gd name="adj" fmla="val 44444"/>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egend_work"/>
            <p:cNvSpPr txBox="1"/>
            <p:nvPr/>
          </p:nvSpPr>
          <p:spPr>
            <a:xfrm>
              <a:off x="9272092" y="1911096"/>
              <a:ext cx="2435276" cy="310896"/>
            </a:xfrm>
            <a:prstGeom prst="rect">
              <a:avLst/>
            </a:prstGeom>
            <a:noFill/>
          </p:spPr>
          <p:txBody>
            <a:bodyPr wrap="none" anchor="ctr" lIns="0" tIns="0" rIns="0" bIns="0">
              <a:noAutofit/>
            </a:bodyPr>
            <a:lstStyle/>
            <a:p>
              <a:pPr algn="l"/>
              <a:r>
                <a:rPr sz="1800" b="0" i="0" lang="en-GB">
                  <a:solidFill>
                    <a:srgbClr val="263238"/>
                  </a:solidFill>
                  <a:latin typeface="Fira Sans"/>
                </a:rPr>
                <a:t>work in compiled code</a:t>
              </a:r>
            </a:p>
          </p:txBody>
        </p:sp>
        <p:cxnSp>
          <p:nvCxnSpPr>
            <p:cNvPr id="59" name="legend_arrow_swatch"/>
            <p:cNvCxnSpPr/>
            <p:nvPr/>
          </p:nvCxnSpPr>
          <p:spPr>
            <a:xfrm>
              <a:off x="8888044" y="2377440"/>
              <a:ext cx="292608" cy="0"/>
            </a:xfrm>
            <a:prstGeom prst="line">
              <a:avLst/>
            </a:prstGeom>
            <a:ln w="15875">
              <a:solidFill>
                <a:srgbClr val="455A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legend_arrow"/>
            <p:cNvSpPr txBox="1"/>
            <p:nvPr/>
          </p:nvSpPr>
          <p:spPr>
            <a:xfrm>
              <a:off x="9272092" y="2221992"/>
              <a:ext cx="1614373" cy="310896"/>
            </a:xfrm>
            <a:prstGeom prst="rect">
              <a:avLst/>
            </a:prstGeom>
            <a:noFill/>
          </p:spPr>
          <p:txBody>
            <a:bodyPr wrap="none" anchor="ctr" lIns="0" tIns="0" rIns="0" bIns="0">
              <a:noAutofit/>
            </a:bodyPr>
            <a:lstStyle/>
            <a:p>
              <a:pPr algn="l"/>
              <a:r>
                <a:rPr sz="1800" b="0" i="0" lang="en-GB">
                  <a:solidFill>
                    <a:srgbClr val="263238"/>
                  </a:solidFill>
                  <a:latin typeface="Fira Sans"/>
                </a:rPr>
                <a:t>call and return</a:t>
              </a:r>
            </a:p>
          </p:txBody>
        </p:sp>
      </p:grpSp>
      <p:sp>
        <p:nvSpPr>
          <p:cNvPr id="61" name="Hero"/>
          <p:cNvSpPr txBox="1"/>
          <p:nvPr/>
        </p:nvSpPr>
        <p:spPr>
          <a:xfrm>
            <a:off x="548640" y="4419312"/>
            <a:ext cx="2346198" cy="914400"/>
          </a:xfrm>
          <a:prstGeom prst="rect">
            <a:avLst/>
          </a:prstGeom>
          <a:noFill/>
        </p:spPr>
        <p:txBody>
          <a:bodyPr wrap="none" anchor="b" lIns="0" tIns="0" rIns="0" bIns="0">
            <a:noAutofit/>
          </a:bodyPr>
          <a:lstStyle/>
          <a:p>
            <a:pPr marL="0" indent="0" algn="l">
              <a:spcBef>
                <a:spcPts val="0"/>
              </a:spcBef>
              <a:spcAft>
                <a:spcPts val="0"/>
              </a:spcAft>
              <a:buNone/>
            </a:pPr>
            <a:r>
              <a:rPr sz="6000" lang="en-GB">
                <a:solidFill>
                  <a:srgbClr val="2B6797"/>
                </a:solidFill>
                <a:latin typeface="Fira Sans SemiBold"/>
              </a:rPr>
              <a:t>439 ns</a:t>
            </a:r>
            <a:endParaRPr lang="en-GB" sz="6000"/>
          </a:p>
        </p:txBody>
      </p:sp>
      <p:sp>
        <p:nvSpPr>
          <p:cNvPr id="62" name="Hero label"/>
          <p:cNvSpPr txBox="1"/>
          <p:nvPr/>
        </p:nvSpPr>
        <p:spPr>
          <a:xfrm>
            <a:off x="3077718" y="4894292"/>
            <a:ext cx="8565642" cy="304800"/>
          </a:xfrm>
          <a:prstGeom prst="rect">
            <a:avLst/>
          </a:prstGeom>
          <a:noFill/>
        </p:spPr>
        <p:txBody>
          <a:bodyPr wrap="none" anchor="b" lIns="0" tIns="0" rIns="0" bIns="0">
            <a:noAutofit/>
          </a:bodyPr>
          <a:lstStyle/>
          <a:p>
            <a:pPr marL="0" indent="0" algn="l">
              <a:spcBef>
                <a:spcPts val="0"/>
              </a:spcBef>
              <a:spcAft>
                <a:spcPts val="0"/>
              </a:spcAft>
              <a:buNone/>
            </a:pPr>
            <a:r>
              <a:rPr sz="2000" b="0" lang="en-GB">
                <a:solidFill>
                  <a:srgbClr val="263238"/>
                </a:solidFill>
                <a:latin typeface="+mn-lt"/>
              </a:rPr>
              <a:t>per loop step</a:t>
            </a:r>
            <a:endParaRPr lang="en-GB" sz="2000"/>
          </a:p>
        </p:txBody>
      </p:sp>
      <p:sp>
        <p:nvSpPr>
          <p:cNvPr id="63" name="Conditions"/>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Python 3.13.15, NumPy 2.5.3; 722 961 points, median of 7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results/bench_cliff.json.</a:t>
            </a:r>
            <a:endParaRPr lang="en-GB" sz="1200"/>
          </a:p>
        </p:txBody>
      </p:sp>
      <p:sp>
        <p:nvSpPr>
          <p:cNvPr id="64" name="Small print rule chip 3" descr="Evidence for rule 3: Let compiled code loop"/>
          <p:cNvSpPr txBox="1"/>
          <p:nvPr/>
        </p:nvSpPr>
        <p:spPr>
          <a:xfrm>
            <a:off x="9721571" y="182880"/>
            <a:ext cx="1921789" cy="310896"/>
          </a:xfrm>
          <a:prstGeom prst="rect">
            <a:avLst/>
          </a:prstGeom>
          <a:noFill/>
        </p:spPr>
        <p:txBody>
          <a:bodyPr wrap="none" anchor="ctr" lIns="0" tIns="0" rIns="0" bIns="0">
            <a:noAutofit/>
          </a:bodyPr>
          <a:lstStyle/>
          <a:p>
            <a:r>
              <a:rPr sz="1400" lang="en-GB">
                <a:solidFill>
                  <a:srgbClr val="1C325B"/>
                </a:solidFill>
                <a:latin typeface="Fira Sans SemiBold"/>
              </a:rPr>
              <a:t>Let compiled code loop</a:t>
            </a:r>
            <a:endParaRPr lang="en-GB" sz="1400"/>
          </a:p>
        </p:txBody>
      </p:sp>
      <p:sp>
        <p:nvSpPr>
          <p:cNvPr id="65" name="Small print rule number 3">
            <a:extLst>
              <a:ext uri="{C183D7F6-B498-43B3-948B-1728B52AA6E4}">
                <adec:decorative xmlns:adec="http://schemas.microsoft.com/office/drawing/2017/decorative" val="1"/>
              </a:ext>
            </a:extLst>
          </p:cNvPr>
          <p:cNvSpPr/>
          <p:nvPr/>
        </p:nvSpPr>
        <p:spPr>
          <a:xfrm>
            <a:off x="933752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3</a:t>
            </a:r>
            <a:endParaRPr lang="en-GB" sz="1400"/>
          </a:p>
        </p:txBody>
      </p:sp>
      <p:sp>
        <p:nvSpPr>
          <p:cNvPr id="66"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2B6797"/>
                </a:solidFill>
                <a:latin typeface="Fira Sans SemiBold"/>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Profile before you vectorise</a:t>
            </a:r>
          </a:p>
        </p:txBody>
      </p:sp>
      <p:sp>
        <p:nvSpPr>
          <p:cNvPr id="6" name="Terminal background">
            <a:extLst>
              <a:ext uri="{C183D7F6-B498-43B3-948B-1728B52AA6E4}">
                <adec:decorative xmlns:adec="http://schemas.microsoft.com/office/drawing/2017/decorative" val="1"/>
              </a:ext>
            </a:extLst>
          </p:cNvPr>
          <p:cNvSpPr/>
          <p:nvPr/>
        </p:nvSpPr>
        <p:spPr>
          <a:xfrm>
            <a:off x="402336" y="1554480"/>
            <a:ext cx="11241024" cy="35814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profile command"/>
          <p:cNvSpPr txBox="1"/>
          <p:nvPr/>
        </p:nvSpPr>
        <p:spPr>
          <a:xfrm>
            <a:off x="539496" y="1554480"/>
            <a:ext cx="11103864" cy="358140"/>
          </a:xfrm>
          <a:prstGeom prst="rect">
            <a:avLst/>
          </a:prstGeom>
          <a:noFill/>
        </p:spPr>
        <p:txBody>
          <a:bodyPr wrap="none" anchor="t" lIns="146304" tIns="45720" rIns="54864" bIns="45720">
            <a:noAutofit/>
          </a:bodyPr>
          <a:lstStyle/>
          <a:p>
            <a:pPr marL="0" indent="0" algn="l">
              <a:lnSpc>
                <a:spcPts val="2100"/>
              </a:lnSpc>
              <a:spcBef>
                <a:spcPts val="0"/>
              </a:spcBef>
              <a:spcAft>
                <a:spcPts val="0"/>
              </a:spcAft>
              <a:buNone/>
            </a:pPr>
            <a:r>
              <a:rPr sz="1800" b="0" lang="en-GB" noProof="1">
                <a:solidFill>
                  <a:srgbClr val="455A64"/>
                </a:solidFill>
                <a:latin typeface="Fira Mono" pitchFamily="49"/>
              </a:rPr>
              <a:t>$ </a:t>
            </a:r>
            <a:r>
              <a:rPr sz="1800" b="0" lang="en-GB" noProof="1">
                <a:solidFill>
                  <a:srgbClr val="263238"/>
                </a:solidFill>
                <a:latin typeface="Fira Mono" pitchFamily="49"/>
              </a:rPr>
              <a:t>scalene run --cpu-only loop.py</a:t>
            </a:r>
            <a:endParaRPr lang="en-GB" sz="1800"/>
          </a:p>
        </p:txBody>
      </p:sp>
      <p:grpSp>
        <p:nvGrpSpPr>
          <p:cNvPr id="3" name="Line profile" descr="Per-line CPU profile from Scalene. For the loop version, the for line and the line that unpacks a row show 0 %, and the line that computes the distance takes 88 % of the whole run, almost all of it native NumPy time and about 4 % in the Python interpreter. The one-expression NumPy version takes 0.7 %."/>
          <p:cNvGrpSpPr/>
          <p:nvPr/>
        </p:nvGrpSpPr>
        <p:grpSpPr>
          <a:xfrm>
            <a:off x="548640" y="2186940"/>
            <a:ext cx="11094720" cy="3070572"/>
            <a:chOff x="548640" y="2186940"/>
            <a:chExt cx="11094720" cy="3070572"/>
          </a:xfrm>
        </p:grpSpPr>
        <p:sp>
          <p:nvSpPr>
            <p:cNvPr id="9" name="legend python swatch"/>
            <p:cNvSpPr/>
            <p:nvPr/>
          </p:nvSpPr>
          <p:spPr>
            <a:xfrm>
              <a:off x="5687619" y="2250948"/>
              <a:ext cx="237744" cy="237744"/>
            </a:xfrm>
            <a:prstGeom prst="rect">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gend python"/>
            <p:cNvSpPr txBox="1"/>
            <p:nvPr/>
          </p:nvSpPr>
          <p:spPr>
            <a:xfrm>
              <a:off x="5998515" y="2186940"/>
              <a:ext cx="981329" cy="365760"/>
            </a:xfrm>
            <a:prstGeom prst="rect">
              <a:avLst/>
            </a:prstGeom>
            <a:noFill/>
          </p:spPr>
          <p:txBody>
            <a:bodyPr wrap="none" anchor="ctr" lIns="0" tIns="0" rIns="0" bIns="0">
              <a:noAutofit/>
            </a:bodyPr>
            <a:lstStyle/>
            <a:p>
              <a:pPr algn="l"/>
              <a:r>
                <a:rPr sz="2200" b="0" i="0" lang="en-GB">
                  <a:solidFill>
                    <a:srgbClr val="263238"/>
                  </a:solidFill>
                  <a:latin typeface="Fira Sans"/>
                </a:rPr>
                <a:t>Python</a:t>
              </a:r>
            </a:p>
          </p:txBody>
        </p:sp>
        <p:sp>
          <p:nvSpPr>
            <p:cNvPr id="11" name="legend native swatch"/>
            <p:cNvSpPr/>
            <p:nvPr/>
          </p:nvSpPr>
          <p:spPr>
            <a:xfrm>
              <a:off x="7345604" y="2250948"/>
              <a:ext cx="237744" cy="237744"/>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gend native"/>
            <p:cNvSpPr txBox="1"/>
            <p:nvPr/>
          </p:nvSpPr>
          <p:spPr>
            <a:xfrm>
              <a:off x="7656500" y="2186940"/>
              <a:ext cx="2338654" cy="365760"/>
            </a:xfrm>
            <a:prstGeom prst="rect">
              <a:avLst/>
            </a:prstGeom>
            <a:noFill/>
          </p:spPr>
          <p:txBody>
            <a:bodyPr wrap="none" anchor="ctr" lIns="0" tIns="0" rIns="0" bIns="0">
              <a:noAutofit/>
            </a:bodyPr>
            <a:lstStyle/>
            <a:p>
              <a:pPr algn="l"/>
              <a:r>
                <a:rPr sz="2200" b="0" i="0" lang="en-GB">
                  <a:solidFill>
                    <a:srgbClr val="263238"/>
                  </a:solidFill>
                  <a:latin typeface="Fira Sans"/>
                </a:rPr>
                <a:t>native, i.e. NumPy</a:t>
              </a:r>
            </a:p>
          </p:txBody>
        </p:sp>
        <p:sp>
          <p:nvSpPr>
            <p:cNvPr id="13" name="legend system swatch"/>
            <p:cNvSpPr/>
            <p:nvPr/>
          </p:nvSpPr>
          <p:spPr>
            <a:xfrm>
              <a:off x="10360914" y="2250948"/>
              <a:ext cx="237744" cy="237744"/>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gend system"/>
            <p:cNvSpPr txBox="1"/>
            <p:nvPr/>
          </p:nvSpPr>
          <p:spPr>
            <a:xfrm>
              <a:off x="10671810" y="2186940"/>
              <a:ext cx="971550" cy="365760"/>
            </a:xfrm>
            <a:prstGeom prst="rect">
              <a:avLst/>
            </a:prstGeom>
            <a:noFill/>
          </p:spPr>
          <p:txBody>
            <a:bodyPr wrap="none" anchor="ctr" lIns="0" tIns="0" rIns="0" bIns="0">
              <a:noAutofit/>
            </a:bodyPr>
            <a:lstStyle/>
            <a:p>
              <a:pPr algn="l"/>
              <a:r>
                <a:rPr sz="2200" b="0" i="0" lang="en-GB">
                  <a:solidFill>
                    <a:srgbClr val="263238"/>
                  </a:solidFill>
                  <a:latin typeface="Fira Sans"/>
                </a:rPr>
                <a:t>system</a:t>
              </a:r>
            </a:p>
          </p:txBody>
        </p:sp>
        <p:sp>
          <p:nvSpPr>
            <p:cNvPr id="15" name="tag"/>
            <p:cNvSpPr txBox="1"/>
            <p:nvPr/>
          </p:nvSpPr>
          <p:spPr>
            <a:xfrm>
              <a:off x="548640" y="2662428"/>
              <a:ext cx="1038860" cy="616767"/>
            </a:xfrm>
            <a:prstGeom prst="rect">
              <a:avLst/>
            </a:prstGeom>
            <a:noFill/>
          </p:spPr>
          <p:txBody>
            <a:bodyPr wrap="none" anchor="ctr" lIns="0" tIns="0" rIns="0" bIns="0">
              <a:noAutofit/>
            </a:bodyPr>
            <a:lstStyle/>
            <a:p>
              <a:pPr algn="l"/>
              <a:r>
                <a:rPr sz="2000" b="0" i="0" lang="en-GB">
                  <a:solidFill>
                    <a:srgbClr val="455A64"/>
                  </a:solidFill>
                  <a:latin typeface="Fira Sans"/>
                </a:rPr>
                <a:t>loop</a:t>
              </a:r>
            </a:p>
          </p:txBody>
        </p:sp>
        <p:sp>
          <p:nvSpPr>
            <p:cNvPr id="16" name="code"/>
            <p:cNvSpPr txBox="1"/>
            <p:nvPr/>
          </p:nvSpPr>
          <p:spPr>
            <a:xfrm>
              <a:off x="1587500" y="2662428"/>
              <a:ext cx="5562600" cy="6167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for i, p in enumerate(P):</a:t>
              </a:r>
            </a:p>
          </p:txBody>
        </p:sp>
        <p:sp>
          <p:nvSpPr>
            <p:cNvPr id="17" name="share"/>
            <p:cNvSpPr txBox="1"/>
            <p:nvPr/>
          </p:nvSpPr>
          <p:spPr>
            <a:xfrm>
              <a:off x="7259828" y="2662428"/>
              <a:ext cx="986688" cy="616767"/>
            </a:xfrm>
            <a:prstGeom prst="rect">
              <a:avLst/>
            </a:prstGeom>
            <a:noFill/>
          </p:spPr>
          <p:txBody>
            <a:bodyPr wrap="none" anchor="ctr" lIns="0" tIns="0" rIns="0" bIns="0">
              <a:noAutofit/>
            </a:bodyPr>
            <a:lstStyle/>
            <a:p>
              <a:pPr algn="l"/>
              <a:r>
                <a:rPr sz="2000" b="0" i="0" lang="en-GB">
                  <a:solidFill>
                    <a:srgbClr val="263238"/>
                  </a:solidFill>
                  <a:latin typeface="Fira Sans"/>
                </a:rPr>
                <a:t>0 %</a:t>
              </a:r>
            </a:p>
          </p:txBody>
        </p:sp>
        <p:sp>
          <p:nvSpPr>
            <p:cNvPr id="18" name="code"/>
            <p:cNvSpPr txBox="1"/>
            <p:nvPr/>
          </p:nvSpPr>
          <p:spPr>
            <a:xfrm>
              <a:off x="1587500" y="3279195"/>
              <a:ext cx="5562600" cy="6167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    x, y, z = p[0], p[1], p[2]</a:t>
              </a:r>
            </a:p>
          </p:txBody>
        </p:sp>
        <p:sp>
          <p:nvSpPr>
            <p:cNvPr id="19" name="share"/>
            <p:cNvSpPr txBox="1"/>
            <p:nvPr/>
          </p:nvSpPr>
          <p:spPr>
            <a:xfrm>
              <a:off x="7259828" y="3279195"/>
              <a:ext cx="986688" cy="616767"/>
            </a:xfrm>
            <a:prstGeom prst="rect">
              <a:avLst/>
            </a:prstGeom>
            <a:noFill/>
          </p:spPr>
          <p:txBody>
            <a:bodyPr wrap="none" anchor="ctr" lIns="0" tIns="0" rIns="0" bIns="0">
              <a:noAutofit/>
            </a:bodyPr>
            <a:lstStyle/>
            <a:p>
              <a:pPr algn="l"/>
              <a:r>
                <a:rPr sz="2000" b="0" i="0" lang="en-GB">
                  <a:solidFill>
                    <a:srgbClr val="263238"/>
                  </a:solidFill>
                  <a:latin typeface="Fira Sans"/>
                </a:rPr>
                <a:t>0 %</a:t>
              </a:r>
            </a:p>
          </p:txBody>
        </p:sp>
        <p:sp>
          <p:nvSpPr>
            <p:cNvPr id="20" name="code"/>
            <p:cNvSpPr txBox="1"/>
            <p:nvPr/>
          </p:nvSpPr>
          <p:spPr>
            <a:xfrm>
              <a:off x="1587500" y="3895962"/>
              <a:ext cx="5562600" cy="6167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    h[i] = abs(a*x + b*y + c*z + d)</a:t>
              </a:r>
            </a:p>
          </p:txBody>
        </p:sp>
        <p:sp>
          <p:nvSpPr>
            <p:cNvPr id="21" name="bar python"/>
            <p:cNvSpPr/>
            <p:nvPr/>
          </p:nvSpPr>
          <p:spPr>
            <a:xfrm>
              <a:off x="7150100" y="3978258"/>
              <a:ext cx="97941" cy="452175"/>
            </a:xfrm>
            <a:prstGeom prst="rect">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r native"/>
            <p:cNvSpPr/>
            <p:nvPr/>
          </p:nvSpPr>
          <p:spPr>
            <a:xfrm>
              <a:off x="7248041" y="3978258"/>
              <a:ext cx="1984391" cy="452175"/>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 system"/>
            <p:cNvSpPr/>
            <p:nvPr/>
          </p:nvSpPr>
          <p:spPr>
            <a:xfrm>
              <a:off x="9232432" y="3978258"/>
              <a:ext cx="41251" cy="452175"/>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re"/>
            <p:cNvSpPr txBox="1"/>
            <p:nvPr/>
          </p:nvSpPr>
          <p:spPr>
            <a:xfrm>
              <a:off x="9383411" y="3895962"/>
              <a:ext cx="986688" cy="616767"/>
            </a:xfrm>
            <a:prstGeom prst="rect">
              <a:avLst/>
            </a:prstGeom>
            <a:noFill/>
          </p:spPr>
          <p:txBody>
            <a:bodyPr wrap="none" anchor="ctr" lIns="0" tIns="0" rIns="0" bIns="0">
              <a:noAutofit/>
            </a:bodyPr>
            <a:lstStyle/>
            <a:p>
              <a:pPr algn="l"/>
              <a:r>
                <a:rPr sz="2800" b="1" i="0" lang="en-GB">
                  <a:solidFill>
                    <a:srgbClr val="2B6797"/>
                  </a:solidFill>
                  <a:latin typeface="Fira Sans"/>
                </a:rPr>
                <a:t>88 %</a:t>
              </a:r>
            </a:p>
          </p:txBody>
        </p:sp>
        <p:sp>
          <p:nvSpPr>
            <p:cNvPr id="25" name="time"/>
            <p:cNvSpPr txBox="1"/>
            <p:nvPr/>
          </p:nvSpPr>
          <p:spPr>
            <a:xfrm>
              <a:off x="10369235" y="3895962"/>
              <a:ext cx="957072" cy="616767"/>
            </a:xfrm>
            <a:prstGeom prst="rect">
              <a:avLst/>
            </a:prstGeom>
            <a:noFill/>
          </p:spPr>
          <p:txBody>
            <a:bodyPr wrap="none" anchor="ctr" lIns="0" tIns="0" rIns="0" bIns="0">
              <a:noAutofit/>
            </a:bodyPr>
            <a:lstStyle/>
            <a:p>
              <a:pPr algn="l"/>
              <a:r>
                <a:rPr sz="2400" b="0" i="0" lang="en-GB">
                  <a:solidFill>
                    <a:srgbClr val="455A64"/>
                  </a:solidFill>
                  <a:latin typeface="Fira Sans"/>
                </a:rPr>
                <a:t>10.5 s</a:t>
              </a:r>
            </a:p>
          </p:txBody>
        </p:sp>
        <p:cxnSp>
          <p:nvCxnSpPr>
            <p:cNvPr id="26" name="rule"/>
            <p:cNvCxnSpPr/>
            <p:nvPr/>
          </p:nvCxnSpPr>
          <p:spPr>
            <a:xfrm>
              <a:off x="548640" y="4576737"/>
              <a:ext cx="11094720" cy="0"/>
            </a:xfrm>
            <a:prstGeom prst="line">
              <a:avLst/>
            </a:prstGeom>
            <a:ln w="9525">
              <a:solidFill>
                <a:srgbClr val="9CA3AF"/>
              </a:solidFill>
            </a:ln>
          </p:spPr>
          <p:style>
            <a:lnRef idx="2">
              <a:schemeClr val="accent1"/>
            </a:lnRef>
            <a:fillRef idx="0">
              <a:schemeClr val="accent1"/>
            </a:fillRef>
            <a:effectRef idx="1">
              <a:schemeClr val="accent1"/>
            </a:effectRef>
            <a:fontRef idx="minor">
              <a:schemeClr val="tx1"/>
            </a:fontRef>
          </p:style>
        </p:cxnSp>
        <p:sp>
          <p:nvSpPr>
            <p:cNvPr id="27" name="tag"/>
            <p:cNvSpPr txBox="1"/>
            <p:nvPr/>
          </p:nvSpPr>
          <p:spPr>
            <a:xfrm>
              <a:off x="548640" y="4640745"/>
              <a:ext cx="1038860" cy="616767"/>
            </a:xfrm>
            <a:prstGeom prst="rect">
              <a:avLst/>
            </a:prstGeom>
            <a:noFill/>
          </p:spPr>
          <p:txBody>
            <a:bodyPr wrap="none" anchor="ctr" lIns="0" tIns="0" rIns="0" bIns="0">
              <a:noAutofit/>
            </a:bodyPr>
            <a:lstStyle/>
            <a:p>
              <a:pPr algn="l"/>
              <a:r>
                <a:rPr sz="2000" b="0" i="0" lang="en-GB">
                  <a:solidFill>
                    <a:srgbClr val="455A64"/>
                  </a:solidFill>
                  <a:latin typeface="Fira Sans"/>
                </a:rPr>
                <a:t>NumPy</a:t>
              </a:r>
            </a:p>
          </p:txBody>
        </p:sp>
        <p:sp>
          <p:nvSpPr>
            <p:cNvPr id="28" name="code"/>
            <p:cNvSpPr txBox="1"/>
            <p:nvPr/>
          </p:nvSpPr>
          <p:spPr>
            <a:xfrm>
              <a:off x="1587500" y="4640745"/>
              <a:ext cx="5562600" cy="616767"/>
            </a:xfrm>
            <a:prstGeom prst="rect">
              <a:avLst/>
            </a:prstGeom>
            <a:noFill/>
          </p:spPr>
          <p:txBody>
            <a:bodyPr wrap="none" anchor="ctr" lIns="0" tIns="0" rIns="0" bIns="0">
              <a:noAutofit/>
            </a:bodyPr>
            <a:lstStyle/>
            <a:p>
              <a:pPr algn="l"/>
              <a:r>
                <a:rPr sz="2000" b="0" i="0" lang="en-GB">
                  <a:solidFill>
                    <a:srgbClr val="263238"/>
                  </a:solidFill>
                  <a:latin typeface="Fira Mono" pitchFamily="49" charset="0"/>
                </a:rPr>
                <a:t>h = np.abs(a*x + b*y + c*z + d)</a:t>
              </a:r>
            </a:p>
          </p:txBody>
        </p:sp>
        <p:sp>
          <p:nvSpPr>
            <p:cNvPr id="29" name="bar native"/>
            <p:cNvSpPr/>
            <p:nvPr/>
          </p:nvSpPr>
          <p:spPr>
            <a:xfrm>
              <a:off x="7150100" y="4723041"/>
              <a:ext cx="14715" cy="452175"/>
            </a:xfrm>
            <a:prstGeom prst="rect">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hare"/>
            <p:cNvSpPr txBox="1"/>
            <p:nvPr/>
          </p:nvSpPr>
          <p:spPr>
            <a:xfrm>
              <a:off x="7275749" y="4640745"/>
              <a:ext cx="986688" cy="616767"/>
            </a:xfrm>
            <a:prstGeom prst="rect">
              <a:avLst/>
            </a:prstGeom>
            <a:noFill/>
          </p:spPr>
          <p:txBody>
            <a:bodyPr wrap="none" anchor="ctr" lIns="0" tIns="0" rIns="0" bIns="0">
              <a:noAutofit/>
            </a:bodyPr>
            <a:lstStyle/>
            <a:p>
              <a:pPr algn="l"/>
              <a:r>
                <a:rPr sz="2800" b="1" i="0" lang="en-GB">
                  <a:solidFill>
                    <a:srgbClr val="2B6797"/>
                  </a:solidFill>
                  <a:latin typeface="Fira Sans"/>
                </a:rPr>
                <a:t>0.7 %</a:t>
              </a:r>
            </a:p>
          </p:txBody>
        </p:sp>
        <p:sp>
          <p:nvSpPr>
            <p:cNvPr id="31" name="time"/>
            <p:cNvSpPr txBox="1"/>
            <p:nvPr/>
          </p:nvSpPr>
          <p:spPr>
            <a:xfrm>
              <a:off x="8308158" y="4640745"/>
              <a:ext cx="957072" cy="616767"/>
            </a:xfrm>
            <a:prstGeom prst="rect">
              <a:avLst/>
            </a:prstGeom>
            <a:noFill/>
          </p:spPr>
          <p:txBody>
            <a:bodyPr wrap="none" anchor="ctr" lIns="0" tIns="0" rIns="0" bIns="0">
              <a:noAutofit/>
            </a:bodyPr>
            <a:lstStyle/>
            <a:p>
              <a:pPr algn="l"/>
              <a:r>
                <a:rPr sz="2400" b="0" i="0" lang="en-GB">
                  <a:solidFill>
                    <a:srgbClr val="455A64"/>
                  </a:solidFill>
                  <a:latin typeface="Fira Sans"/>
                </a:rPr>
                <a:t>79 ms</a:t>
              </a:r>
            </a:p>
          </p:txBody>
        </p:sp>
      </p:grpSp>
      <p:sp>
        <p:nvSpPr>
          <p:cNvPr id="8" name="Conditions"/>
          <p:cNvSpPr txBox="1"/>
          <p:nvPr/>
        </p:nvSpPr>
        <p:spPr>
          <a:xfrm>
            <a:off x="548640" y="5486112"/>
            <a:ext cx="11094720" cy="73152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Different setup: under the profiler, each version runs 30 times; slide 25 holds the baseline timings. Conditions: Ryzen 7 5700X, Python 3.13.15, Scalene 2.3.0 (--cpu-only, a sample every 1 ms); 722 961 points, both versions 30 times per run, median of 3 runs; AHN5 crop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Shares are of the whole run, imports and reading the file included; times are share × the 11.9 s run. Full: results/profile_scalene.json.</a:t>
            </a:r>
            <a:endParaRPr lang="en-GB" sz="1200"/>
          </a:p>
        </p:txBody>
      </p:sp>
      <p:sp>
        <p:nvSpPr>
          <p:cNvPr id="32" name="Small print rule chip 3" descr="Evidence for rule 3: Let compiled code loop"/>
          <p:cNvSpPr txBox="1"/>
          <p:nvPr/>
        </p:nvSpPr>
        <p:spPr>
          <a:xfrm>
            <a:off x="9721571" y="182880"/>
            <a:ext cx="1921789" cy="310896"/>
          </a:xfrm>
          <a:prstGeom prst="rect">
            <a:avLst/>
          </a:prstGeom>
          <a:noFill/>
        </p:spPr>
        <p:txBody>
          <a:bodyPr wrap="none" anchor="ctr" lIns="0" tIns="0" rIns="0" bIns="0">
            <a:noAutofit/>
          </a:bodyPr>
          <a:lstStyle/>
          <a:p>
            <a:r>
              <a:rPr sz="1400" lang="en-GB">
                <a:solidFill>
                  <a:srgbClr val="1C325B"/>
                </a:solidFill>
                <a:latin typeface="Fira Sans SemiBold"/>
              </a:rPr>
              <a:t>Let compiled code loop</a:t>
            </a:r>
            <a:endParaRPr lang="en-GB" sz="1400"/>
          </a:p>
        </p:txBody>
      </p:sp>
      <p:sp>
        <p:nvSpPr>
          <p:cNvPr id="33" name="Small print rule number 3">
            <a:extLst>
              <a:ext uri="{C183D7F6-B498-43B3-948B-1728B52AA6E4}">
                <adec:decorative xmlns:adec="http://schemas.microsoft.com/office/drawing/2017/decorative" val="1"/>
              </a:ext>
            </a:extLst>
          </p:cNvPr>
          <p:cNvSpPr/>
          <p:nvPr/>
        </p:nvSpPr>
        <p:spPr>
          <a:xfrm>
            <a:off x="933752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3</a:t>
            </a:r>
            <a:endParaRPr lang="en-GB" sz="1400"/>
          </a:p>
        </p:txBody>
      </p:sp>
      <p:sp>
        <p:nvSpPr>
          <p:cNvPr id="34"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2B6797"/>
                </a:solidFill>
                <a:latin typeface="Fira Sans SemiBold"/>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27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Will free-threaded Python save my loop?</a:t>
            </a:r>
          </a:p>
        </p:txBody>
      </p:sp>
      <p:graphicFrame>
        <p:nvGraphicFramePr>
          <p:cNvPr id="7" name="chart_time" descr="Column chart of the median time per run, linear axis, on the free-threaded build: the loop on one thread takes 336 ms; the same loop split over 8 threads takes 61 ms; one NumPy expression on one thread takes 2.3 ms. With the GIL, the 8 threads take 347 ms."/>
          <p:cNvGraphicFramePr>
            <a:graphicFrameLocks noGrp="1"/>
          </p:cNvGraphicFramePr>
          <p:nvPr/>
        </p:nvGraphicFramePr>
        <p:xfrm>
          <a:off x="6619722" y="548640"/>
          <a:ext cx="5023638" cy="5668992"/>
        </p:xfrm>
        <a:graphic>
          <a:graphicData uri="http://schemas.openxmlformats.org/drawingml/2006/chart">
            <c:chart xmlns:c="http://schemas.openxmlformats.org/drawingml/2006/chart" r:id="rId2"/>
          </a:graphicData>
        </a:graphic>
      </p:graphicFrame>
      <p:sp>
        <p:nvSpPr>
          <p:cNvPr id="11" name="Ops"/>
          <p:cNvSpPr txBox="1"/>
          <p:nvPr/>
        </p:nvSpPr>
        <p:spPr>
          <a:xfrm>
            <a:off x="548640" y="345948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Loop: 12 calls × 722 961 rows = 8.7 million calls</a:t>
            </a:r>
            <a:endParaRPr lang="en-GB" sz="2000"/>
          </a:p>
        </p:txBody>
      </p:sp>
      <p:sp>
        <p:nvSpPr>
          <p:cNvPr id="12" name="Ops"/>
          <p:cNvSpPr txBox="1"/>
          <p:nvPr/>
        </p:nvSpPr>
        <p:spPr>
          <a:xfrm>
            <a:off x="548640" y="385572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8 threads: same calls, 1.1 million each</a:t>
            </a:r>
            <a:endParaRPr lang="en-GB" sz="2000"/>
          </a:p>
        </p:txBody>
      </p:sp>
      <p:sp>
        <p:nvSpPr>
          <p:cNvPr id="13" name="Ops"/>
          <p:cNvSpPr txBox="1"/>
          <p:nvPr/>
        </p:nvSpPr>
        <p:spPr>
          <a:xfrm>
            <a:off x="548640" y="4251960"/>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1" lang="en-GB">
                <a:solidFill>
                  <a:srgbClr val="263238"/>
                </a:solidFill>
                <a:latin typeface="+mn-lt"/>
              </a:rPr>
              <a:t>NumPy: 7 calls in total</a:t>
            </a:r>
            <a:endParaRPr lang="en-GB" sz="2000"/>
          </a:p>
        </p:txBody>
      </p:sp>
      <p:sp>
        <p:nvSpPr>
          <p:cNvPr id="8" name="Hero"/>
          <p:cNvSpPr txBox="1"/>
          <p:nvPr/>
        </p:nvSpPr>
        <p:spPr>
          <a:xfrm>
            <a:off x="548640" y="1965960"/>
            <a:ext cx="5613882" cy="1219200"/>
          </a:xfrm>
          <a:prstGeom prst="rect">
            <a:avLst/>
          </a:prstGeom>
          <a:noFill/>
        </p:spPr>
        <p:txBody>
          <a:bodyPr wrap="none" anchor="t" lIns="0" tIns="0" rIns="0" bIns="0">
            <a:noAutofit/>
          </a:bodyPr>
          <a:lstStyle/>
          <a:p>
            <a:pPr marL="0" indent="0" algn="l">
              <a:spcBef>
                <a:spcPts val="0"/>
              </a:spcBef>
              <a:spcAft>
                <a:spcPts val="0"/>
              </a:spcAft>
              <a:buNone/>
            </a:pPr>
            <a:r>
              <a:rPr sz="8000" lang="en-GB">
                <a:solidFill>
                  <a:srgbClr val="2B6797"/>
                </a:solidFill>
                <a:latin typeface="Fira Sans SemiBold"/>
              </a:rPr>
              <a:t>5.5×</a:t>
            </a:r>
            <a:r>
              <a:rPr sz="2000" lang="en-GB">
                <a:solidFill>
                  <a:srgbClr val="263238"/>
                </a:solidFill>
                <a:latin typeface="+mn-lt"/>
              </a:rPr>
              <a:t> faster on 8 free threads</a:t>
            </a:r>
            <a:endParaRPr lang="en-GB" sz="8000"/>
          </a:p>
        </p:txBody>
      </p:sp>
      <p:sp>
        <p:nvSpPr>
          <p:cNvPr id="10" name="Support"/>
          <p:cNvSpPr txBox="1"/>
          <p:nvPr/>
        </p:nvSpPr>
        <p:spPr>
          <a:xfrm>
            <a:off x="548640" y="4693632"/>
            <a:ext cx="5613882" cy="6096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Rule 3: one NumPy call still beats 8 threads by 27×; GIL threads gain nothing.</a:t>
            </a:r>
            <a:endParaRPr lang="en-GB" sz="2000"/>
          </a:p>
        </p:txBody>
      </p:sp>
      <p:sp>
        <p:nvSpPr>
          <p:cNvPr id="9" name="Conditions"/>
          <p:cNvSpPr txBox="1"/>
          <p:nvPr/>
        </p:nvSpPr>
        <p:spPr>
          <a:xfrm>
            <a:off x="548640" y="5303232"/>
            <a:ext cx="5613882" cy="91440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Different setup: Python 3.14 builds. Loop 336 ms and NumPy 2.3 ms here; 317 ms and 2.4 ms on 3.13 (slide 25). Conditions: Ryzen 7 5700X, CPython 3.14.7 free-threaded and 3.14.7, NumPy 2.5.4; 722 961 points, median of 7 runs; AHN5 crop (</a:t>
            </a:r>
            <a:r>
              <a:rPr sz="1200" b="0" lang="en-GB">
                <a:solidFill>
                  <a:srgbClr val="455A64"/>
                </a:solidFill>
                <a:latin typeface="+mn-lt"/>
                <a:hlinkClick r:id="rId3">
                  <a:extLst>
                    <a:ext uri="{A12FA001-AC4F-418D-AE19-62706E023703}">
                      <ahyp:hlinkClr xmlns:ahyp="http://schemas.microsoft.com/office/drawing/2018/hyperlinkcolor" val="tx"/>
                    </a:ext>
                  </a:extLst>
                </a:hlinkClick>
              </a:rPr>
              <a:t>CC BY 4.0</a:t>
            </a:r>
            <a:r>
              <a:rPr sz="1200" b="0" lang="en-GB">
                <a:solidFill>
                  <a:srgbClr val="455A64"/>
                </a:solidFill>
                <a:latin typeface="+mn-lt"/>
              </a:rPr>
              <a:t>). Full: results/bench_freethreaded.json.</a:t>
            </a:r>
            <a:endParaRPr lang="en-GB" sz="1200"/>
          </a:p>
        </p:txBody>
      </p:sp>
      <p:sp>
        <p:nvSpPr>
          <p:cNvPr id="14" name="Small print rule chip 3" descr="Evidence for rule 3: Let compiled code loop"/>
          <p:cNvSpPr txBox="1"/>
          <p:nvPr/>
        </p:nvSpPr>
        <p:spPr>
          <a:xfrm>
            <a:off x="9721571" y="182880"/>
            <a:ext cx="1921789" cy="310896"/>
          </a:xfrm>
          <a:prstGeom prst="rect">
            <a:avLst/>
          </a:prstGeom>
          <a:noFill/>
        </p:spPr>
        <p:txBody>
          <a:bodyPr wrap="none" anchor="ctr" lIns="0" tIns="0" rIns="0" bIns="0">
            <a:noAutofit/>
          </a:bodyPr>
          <a:lstStyle/>
          <a:p>
            <a:r>
              <a:rPr sz="1400" lang="en-GB">
                <a:solidFill>
                  <a:srgbClr val="1C325B"/>
                </a:solidFill>
                <a:latin typeface="Fira Sans SemiBold"/>
              </a:rPr>
              <a:t>Let compiled code loop</a:t>
            </a:r>
            <a:endParaRPr lang="en-GB" sz="1400"/>
          </a:p>
        </p:txBody>
      </p:sp>
      <p:sp>
        <p:nvSpPr>
          <p:cNvPr id="15" name="Small print rule number 3">
            <a:extLst>
              <a:ext uri="{C183D7F6-B498-43B3-948B-1728B52AA6E4}">
                <adec:decorative xmlns:adec="http://schemas.microsoft.com/office/drawing/2017/decorative" val="1"/>
              </a:ext>
            </a:extLst>
          </p:cNvPr>
          <p:cNvSpPr/>
          <p:nvPr/>
        </p:nvSpPr>
        <p:spPr>
          <a:xfrm>
            <a:off x="933752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3</a:t>
            </a:r>
            <a:endParaRPr lang="en-GB" sz="1400"/>
          </a:p>
        </p:txBody>
      </p:sp>
      <p:sp>
        <p:nvSpPr>
          <p:cNvPr id="16"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2B6797"/>
                </a:solidFill>
                <a:latin typeface="Fira Sans SemiBold"/>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The register has 61 poles; we found 3</a:t>
            </a:r>
          </a:p>
        </p:txBody>
      </p:sp>
      <p:pic>
        <p:nvPicPr>
          <p:cNvPr id="4" name="Render map" descr="The final render with two kinds of rings. Small sage rings mark the 61 poles the BGT register lists in this box, 51 lamp posts and 10 bollards, along the streets and the plaza. Three large white rings mark the street furniture objects the pipeline found; two of them sit on a registered lamp post."/>
          <p:cNvPicPr>
            <a:picLocks noGrp="1" noChangeAspect="1"/>
          </p:cNvPicPr>
          <p:nvPr>
            <p:ph type="pic" idx="18"/>
          </p:nvPr>
        </p:nvPicPr>
        <p:blipFill>
          <a:blip r:embed="rId2"/>
          <a:srcRect/>
          <a:stretch>
            <a:fillRect/>
          </a:stretch>
        </p:blipFill>
        <p:spPr>
          <a:xfrm>
            <a:off x="548640" y="548640"/>
            <a:ext cx="5023638" cy="5668992"/>
          </a:xfrm>
        </p:spPr>
      </p:pic>
      <p:sp>
        <p:nvSpPr>
          <p:cNvPr id="7" name="BGT pole 1 halo">
            <a:extLst>
              <a:ext uri="{C183D7F6-B498-43B3-948B-1728B52AA6E4}">
                <adec:decorative xmlns:adec="http://schemas.microsoft.com/office/drawing/2017/decorative" val="1"/>
              </a:ext>
            </a:extLst>
          </p:cNvPr>
          <p:cNvSpPr/>
          <p:nvPr/>
        </p:nvSpPr>
        <p:spPr>
          <a:xfrm>
            <a:off x="4574002" y="20233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T pole 1">
            <a:extLst>
              <a:ext uri="{C183D7F6-B498-43B3-948B-1728B52AA6E4}">
                <adec:decorative xmlns:adec="http://schemas.microsoft.com/office/drawing/2017/decorative" val="1"/>
              </a:ext>
            </a:extLst>
          </p:cNvPr>
          <p:cNvSpPr/>
          <p:nvPr/>
        </p:nvSpPr>
        <p:spPr>
          <a:xfrm>
            <a:off x="4574002" y="20233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T pole 2 halo">
            <a:extLst>
              <a:ext uri="{C183D7F6-B498-43B3-948B-1728B52AA6E4}">
                <adec:decorative xmlns:adec="http://schemas.microsoft.com/office/drawing/2017/decorative" val="1"/>
              </a:ext>
            </a:extLst>
          </p:cNvPr>
          <p:cNvSpPr/>
          <p:nvPr/>
        </p:nvSpPr>
        <p:spPr>
          <a:xfrm>
            <a:off x="4645912" y="19545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T pole 2">
            <a:extLst>
              <a:ext uri="{C183D7F6-B498-43B3-948B-1728B52AA6E4}">
                <adec:decorative xmlns:adec="http://schemas.microsoft.com/office/drawing/2017/decorative" val="1"/>
              </a:ext>
            </a:extLst>
          </p:cNvPr>
          <p:cNvSpPr/>
          <p:nvPr/>
        </p:nvSpPr>
        <p:spPr>
          <a:xfrm>
            <a:off x="4645912" y="19545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T pole 3 halo">
            <a:extLst>
              <a:ext uri="{C183D7F6-B498-43B3-948B-1728B52AA6E4}">
                <adec:decorative xmlns:adec="http://schemas.microsoft.com/office/drawing/2017/decorative" val="1"/>
              </a:ext>
            </a:extLst>
          </p:cNvPr>
          <p:cNvSpPr/>
          <p:nvPr/>
        </p:nvSpPr>
        <p:spPr>
          <a:xfrm>
            <a:off x="2207759" y="545601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T pole 3">
            <a:extLst>
              <a:ext uri="{C183D7F6-B498-43B3-948B-1728B52AA6E4}">
                <adec:decorative xmlns:adec="http://schemas.microsoft.com/office/drawing/2017/decorative" val="1"/>
              </a:ext>
            </a:extLst>
          </p:cNvPr>
          <p:cNvSpPr/>
          <p:nvPr/>
        </p:nvSpPr>
        <p:spPr>
          <a:xfrm>
            <a:off x="2207759" y="545601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T pole 4 halo">
            <a:extLst>
              <a:ext uri="{C183D7F6-B498-43B3-948B-1728B52AA6E4}">
                <adec:decorative xmlns:adec="http://schemas.microsoft.com/office/drawing/2017/decorative" val="1"/>
              </a:ext>
            </a:extLst>
          </p:cNvPr>
          <p:cNvSpPr/>
          <p:nvPr/>
        </p:nvSpPr>
        <p:spPr>
          <a:xfrm>
            <a:off x="3777008" y="17379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GT pole 4">
            <a:extLst>
              <a:ext uri="{C183D7F6-B498-43B3-948B-1728B52AA6E4}">
                <adec:decorative xmlns:adec="http://schemas.microsoft.com/office/drawing/2017/decorative" val="1"/>
              </a:ext>
            </a:extLst>
          </p:cNvPr>
          <p:cNvSpPr/>
          <p:nvPr/>
        </p:nvSpPr>
        <p:spPr>
          <a:xfrm>
            <a:off x="3777008" y="17379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GT pole 5 halo">
            <a:extLst>
              <a:ext uri="{C183D7F6-B498-43B3-948B-1728B52AA6E4}">
                <adec:decorative xmlns:adec="http://schemas.microsoft.com/office/drawing/2017/decorative" val="1"/>
              </a:ext>
            </a:extLst>
          </p:cNvPr>
          <p:cNvSpPr/>
          <p:nvPr/>
        </p:nvSpPr>
        <p:spPr>
          <a:xfrm>
            <a:off x="3613609" y="154077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GT pole 5">
            <a:extLst>
              <a:ext uri="{C183D7F6-B498-43B3-948B-1728B52AA6E4}">
                <adec:decorative xmlns:adec="http://schemas.microsoft.com/office/drawing/2017/decorative" val="1"/>
              </a:ext>
            </a:extLst>
          </p:cNvPr>
          <p:cNvSpPr/>
          <p:nvPr/>
        </p:nvSpPr>
        <p:spPr>
          <a:xfrm>
            <a:off x="3613609" y="154077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GT pole 6 halo">
            <a:extLst>
              <a:ext uri="{C183D7F6-B498-43B3-948B-1728B52AA6E4}">
                <adec:decorative xmlns:adec="http://schemas.microsoft.com/office/drawing/2017/decorative" val="1"/>
              </a:ext>
            </a:extLst>
          </p:cNvPr>
          <p:cNvSpPr/>
          <p:nvPr/>
        </p:nvSpPr>
        <p:spPr>
          <a:xfrm>
            <a:off x="4225597" y="210623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GT pole 6">
            <a:extLst>
              <a:ext uri="{C183D7F6-B498-43B3-948B-1728B52AA6E4}">
                <adec:decorative xmlns:adec="http://schemas.microsoft.com/office/drawing/2017/decorative" val="1"/>
              </a:ext>
            </a:extLst>
          </p:cNvPr>
          <p:cNvSpPr/>
          <p:nvPr/>
        </p:nvSpPr>
        <p:spPr>
          <a:xfrm>
            <a:off x="4225597" y="210623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GT pole 7 halo">
            <a:extLst>
              <a:ext uri="{C183D7F6-B498-43B3-948B-1728B52AA6E4}">
                <adec:decorative xmlns:adec="http://schemas.microsoft.com/office/drawing/2017/decorative" val="1"/>
              </a:ext>
            </a:extLst>
          </p:cNvPr>
          <p:cNvSpPr/>
          <p:nvPr/>
        </p:nvSpPr>
        <p:spPr>
          <a:xfrm>
            <a:off x="4467388" y="231020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GT pole 7">
            <a:extLst>
              <a:ext uri="{C183D7F6-B498-43B3-948B-1728B52AA6E4}">
                <adec:decorative xmlns:adec="http://schemas.microsoft.com/office/drawing/2017/decorative" val="1"/>
              </a:ext>
            </a:extLst>
          </p:cNvPr>
          <p:cNvSpPr/>
          <p:nvPr/>
        </p:nvSpPr>
        <p:spPr>
          <a:xfrm>
            <a:off x="4467388" y="231020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GT pole 8 halo">
            <a:extLst>
              <a:ext uri="{C183D7F6-B498-43B3-948B-1728B52AA6E4}">
                <adec:decorative xmlns:adec="http://schemas.microsoft.com/office/drawing/2017/decorative" val="1"/>
              </a:ext>
            </a:extLst>
          </p:cNvPr>
          <p:cNvSpPr/>
          <p:nvPr/>
        </p:nvSpPr>
        <p:spPr>
          <a:xfrm>
            <a:off x="4021870" y="18953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GT pole 8">
            <a:extLst>
              <a:ext uri="{C183D7F6-B498-43B3-948B-1728B52AA6E4}">
                <adec:decorative xmlns:adec="http://schemas.microsoft.com/office/drawing/2017/decorative" val="1"/>
              </a:ext>
            </a:extLst>
          </p:cNvPr>
          <p:cNvSpPr/>
          <p:nvPr/>
        </p:nvSpPr>
        <p:spPr>
          <a:xfrm>
            <a:off x="4021870" y="18953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GT pole 9 halo">
            <a:extLst>
              <a:ext uri="{C183D7F6-B498-43B3-948B-1728B52AA6E4}">
                <adec:decorative xmlns:adec="http://schemas.microsoft.com/office/drawing/2017/decorative" val="1"/>
              </a:ext>
            </a:extLst>
          </p:cNvPr>
          <p:cNvSpPr/>
          <p:nvPr/>
        </p:nvSpPr>
        <p:spPr>
          <a:xfrm>
            <a:off x="5311611" y="505670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GT pole 9">
            <a:extLst>
              <a:ext uri="{C183D7F6-B498-43B3-948B-1728B52AA6E4}">
                <adec:decorative xmlns:adec="http://schemas.microsoft.com/office/drawing/2017/decorative" val="1"/>
              </a:ext>
            </a:extLst>
          </p:cNvPr>
          <p:cNvSpPr/>
          <p:nvPr/>
        </p:nvSpPr>
        <p:spPr>
          <a:xfrm>
            <a:off x="5311611" y="505670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GT pole 10 halo">
            <a:extLst>
              <a:ext uri="{C183D7F6-B498-43B3-948B-1728B52AA6E4}">
                <adec:decorative xmlns:adec="http://schemas.microsoft.com/office/drawing/2017/decorative" val="1"/>
              </a:ext>
            </a:extLst>
          </p:cNvPr>
          <p:cNvSpPr/>
          <p:nvPr/>
        </p:nvSpPr>
        <p:spPr>
          <a:xfrm>
            <a:off x="4695040" y="252614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GT pole 10">
            <a:extLst>
              <a:ext uri="{C183D7F6-B498-43B3-948B-1728B52AA6E4}">
                <adec:decorative xmlns:adec="http://schemas.microsoft.com/office/drawing/2017/decorative" val="1"/>
              </a:ext>
            </a:extLst>
          </p:cNvPr>
          <p:cNvSpPr/>
          <p:nvPr/>
        </p:nvSpPr>
        <p:spPr>
          <a:xfrm>
            <a:off x="4695040" y="252614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GT pole 11 halo">
            <a:extLst>
              <a:ext uri="{C183D7F6-B498-43B3-948B-1728B52AA6E4}">
                <adec:decorative xmlns:adec="http://schemas.microsoft.com/office/drawing/2017/decorative" val="1"/>
              </a:ext>
            </a:extLst>
          </p:cNvPr>
          <p:cNvSpPr/>
          <p:nvPr/>
        </p:nvSpPr>
        <p:spPr>
          <a:xfrm>
            <a:off x="5310114" y="487990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GT pole 11">
            <a:extLst>
              <a:ext uri="{C183D7F6-B498-43B3-948B-1728B52AA6E4}">
                <adec:decorative xmlns:adec="http://schemas.microsoft.com/office/drawing/2017/decorative" val="1"/>
              </a:ext>
            </a:extLst>
          </p:cNvPr>
          <p:cNvSpPr/>
          <p:nvPr/>
        </p:nvSpPr>
        <p:spPr>
          <a:xfrm>
            <a:off x="5310114" y="487990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GT pole 12 halo">
            <a:extLst>
              <a:ext uri="{C183D7F6-B498-43B3-948B-1728B52AA6E4}">
                <adec:decorative xmlns:adec="http://schemas.microsoft.com/office/drawing/2017/decorative" val="1"/>
              </a:ext>
            </a:extLst>
          </p:cNvPr>
          <p:cNvSpPr/>
          <p:nvPr/>
        </p:nvSpPr>
        <p:spPr>
          <a:xfrm>
            <a:off x="4882324" y="275981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GT pole 12">
            <a:extLst>
              <a:ext uri="{C183D7F6-B498-43B3-948B-1728B52AA6E4}">
                <adec:decorative xmlns:adec="http://schemas.microsoft.com/office/drawing/2017/decorative" val="1"/>
              </a:ext>
            </a:extLst>
          </p:cNvPr>
          <p:cNvSpPr/>
          <p:nvPr/>
        </p:nvSpPr>
        <p:spPr>
          <a:xfrm>
            <a:off x="4882324" y="275981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GT pole 13 halo">
            <a:extLst>
              <a:ext uri="{C183D7F6-B498-43B3-948B-1728B52AA6E4}">
                <adec:decorative xmlns:adec="http://schemas.microsoft.com/office/drawing/2017/decorative" val="1"/>
              </a:ext>
            </a:extLst>
          </p:cNvPr>
          <p:cNvSpPr/>
          <p:nvPr/>
        </p:nvSpPr>
        <p:spPr>
          <a:xfrm>
            <a:off x="1156324" y="445814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GT pole 13">
            <a:extLst>
              <a:ext uri="{C183D7F6-B498-43B3-948B-1728B52AA6E4}">
                <adec:decorative xmlns:adec="http://schemas.microsoft.com/office/drawing/2017/decorative" val="1"/>
              </a:ext>
            </a:extLst>
          </p:cNvPr>
          <p:cNvSpPr/>
          <p:nvPr/>
        </p:nvSpPr>
        <p:spPr>
          <a:xfrm>
            <a:off x="1156324" y="445814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GT pole 14 halo">
            <a:extLst>
              <a:ext uri="{C183D7F6-B498-43B3-948B-1728B52AA6E4}">
                <adec:decorative xmlns:adec="http://schemas.microsoft.com/office/drawing/2017/decorative" val="1"/>
              </a:ext>
            </a:extLst>
          </p:cNvPr>
          <p:cNvSpPr/>
          <p:nvPr/>
        </p:nvSpPr>
        <p:spPr>
          <a:xfrm>
            <a:off x="1545047" y="1995858"/>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GT pole 14">
            <a:extLst>
              <a:ext uri="{C183D7F6-B498-43B3-948B-1728B52AA6E4}">
                <adec:decorative xmlns:adec="http://schemas.microsoft.com/office/drawing/2017/decorative" val="1"/>
              </a:ext>
            </a:extLst>
          </p:cNvPr>
          <p:cNvSpPr/>
          <p:nvPr/>
        </p:nvSpPr>
        <p:spPr>
          <a:xfrm>
            <a:off x="1545047" y="1995858"/>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GT pole 15 halo">
            <a:extLst>
              <a:ext uri="{C183D7F6-B498-43B3-948B-1728B52AA6E4}">
                <adec:decorative xmlns:adec="http://schemas.microsoft.com/office/drawing/2017/decorative" val="1"/>
              </a:ext>
            </a:extLst>
          </p:cNvPr>
          <p:cNvSpPr/>
          <p:nvPr/>
        </p:nvSpPr>
        <p:spPr>
          <a:xfrm>
            <a:off x="1402689" y="19782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GT pole 15">
            <a:extLst>
              <a:ext uri="{C183D7F6-B498-43B3-948B-1728B52AA6E4}">
                <adec:decorative xmlns:adec="http://schemas.microsoft.com/office/drawing/2017/decorative" val="1"/>
              </a:ext>
            </a:extLst>
          </p:cNvPr>
          <p:cNvSpPr/>
          <p:nvPr/>
        </p:nvSpPr>
        <p:spPr>
          <a:xfrm>
            <a:off x="1402689" y="19782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GT pole 16 halo">
            <a:extLst>
              <a:ext uri="{C183D7F6-B498-43B3-948B-1728B52AA6E4}">
                <adec:decorative xmlns:adec="http://schemas.microsoft.com/office/drawing/2017/decorative" val="1"/>
              </a:ext>
            </a:extLst>
          </p:cNvPr>
          <p:cNvSpPr/>
          <p:nvPr/>
        </p:nvSpPr>
        <p:spPr>
          <a:xfrm>
            <a:off x="2323703" y="490034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GT pole 16">
            <a:extLst>
              <a:ext uri="{C183D7F6-B498-43B3-948B-1728B52AA6E4}">
                <adec:decorative xmlns:adec="http://schemas.microsoft.com/office/drawing/2017/decorative" val="1"/>
              </a:ext>
            </a:extLst>
          </p:cNvPr>
          <p:cNvSpPr/>
          <p:nvPr/>
        </p:nvSpPr>
        <p:spPr>
          <a:xfrm>
            <a:off x="2323703" y="490034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GT pole 17 halo">
            <a:extLst>
              <a:ext uri="{C183D7F6-B498-43B3-948B-1728B52AA6E4}">
                <adec:decorative xmlns:adec="http://schemas.microsoft.com/office/drawing/2017/decorative" val="1"/>
              </a:ext>
            </a:extLst>
          </p:cNvPr>
          <p:cNvSpPr/>
          <p:nvPr/>
        </p:nvSpPr>
        <p:spPr>
          <a:xfrm>
            <a:off x="1404589" y="1931058"/>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GT pole 17">
            <a:extLst>
              <a:ext uri="{C183D7F6-B498-43B3-948B-1728B52AA6E4}">
                <adec:decorative xmlns:adec="http://schemas.microsoft.com/office/drawing/2017/decorative" val="1"/>
              </a:ext>
            </a:extLst>
          </p:cNvPr>
          <p:cNvSpPr/>
          <p:nvPr/>
        </p:nvSpPr>
        <p:spPr>
          <a:xfrm>
            <a:off x="1404589" y="1931058"/>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GT pole 18 halo">
            <a:extLst>
              <a:ext uri="{C183D7F6-B498-43B3-948B-1728B52AA6E4}">
                <adec:decorative xmlns:adec="http://schemas.microsoft.com/office/drawing/2017/decorative" val="1"/>
              </a:ext>
            </a:extLst>
          </p:cNvPr>
          <p:cNvSpPr/>
          <p:nvPr/>
        </p:nvSpPr>
        <p:spPr>
          <a:xfrm>
            <a:off x="981404" y="349700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GT pole 18">
            <a:extLst>
              <a:ext uri="{C183D7F6-B498-43B3-948B-1728B52AA6E4}">
                <adec:decorative xmlns:adec="http://schemas.microsoft.com/office/drawing/2017/decorative" val="1"/>
              </a:ext>
            </a:extLst>
          </p:cNvPr>
          <p:cNvSpPr/>
          <p:nvPr/>
        </p:nvSpPr>
        <p:spPr>
          <a:xfrm>
            <a:off x="981404" y="349700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GT pole 19 halo">
            <a:extLst>
              <a:ext uri="{C183D7F6-B498-43B3-948B-1728B52AA6E4}">
                <adec:decorative xmlns:adec="http://schemas.microsoft.com/office/drawing/2017/decorative" val="1"/>
              </a:ext>
            </a:extLst>
          </p:cNvPr>
          <p:cNvSpPr/>
          <p:nvPr/>
        </p:nvSpPr>
        <p:spPr>
          <a:xfrm>
            <a:off x="708158" y="38573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GT pole 19">
            <a:extLst>
              <a:ext uri="{C183D7F6-B498-43B3-948B-1728B52AA6E4}">
                <adec:decorative xmlns:adec="http://schemas.microsoft.com/office/drawing/2017/decorative" val="1"/>
              </a:ext>
            </a:extLst>
          </p:cNvPr>
          <p:cNvSpPr/>
          <p:nvPr/>
        </p:nvSpPr>
        <p:spPr>
          <a:xfrm>
            <a:off x="708158" y="38573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GT pole 20 halo">
            <a:extLst>
              <a:ext uri="{C183D7F6-B498-43B3-948B-1728B52AA6E4}">
                <adec:decorative xmlns:adec="http://schemas.microsoft.com/office/drawing/2017/decorative" val="1"/>
              </a:ext>
            </a:extLst>
          </p:cNvPr>
          <p:cNvSpPr/>
          <p:nvPr/>
        </p:nvSpPr>
        <p:spPr>
          <a:xfrm>
            <a:off x="1479044" y="202962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GT pole 20">
            <a:extLst>
              <a:ext uri="{C183D7F6-B498-43B3-948B-1728B52AA6E4}">
                <adec:decorative xmlns:adec="http://schemas.microsoft.com/office/drawing/2017/decorative" val="1"/>
              </a:ext>
            </a:extLst>
          </p:cNvPr>
          <p:cNvSpPr/>
          <p:nvPr/>
        </p:nvSpPr>
        <p:spPr>
          <a:xfrm>
            <a:off x="1479044" y="202962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GT pole 21 halo">
            <a:extLst>
              <a:ext uri="{C183D7F6-B498-43B3-948B-1728B52AA6E4}">
                <adec:decorative xmlns:adec="http://schemas.microsoft.com/office/drawing/2017/decorative" val="1"/>
              </a:ext>
            </a:extLst>
          </p:cNvPr>
          <p:cNvSpPr/>
          <p:nvPr/>
        </p:nvSpPr>
        <p:spPr>
          <a:xfrm>
            <a:off x="1597123" y="26898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GT pole 21">
            <a:extLst>
              <a:ext uri="{C183D7F6-B498-43B3-948B-1728B52AA6E4}">
                <adec:decorative xmlns:adec="http://schemas.microsoft.com/office/drawing/2017/decorative" val="1"/>
              </a:ext>
            </a:extLst>
          </p:cNvPr>
          <p:cNvSpPr/>
          <p:nvPr/>
        </p:nvSpPr>
        <p:spPr>
          <a:xfrm>
            <a:off x="1597123" y="26898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GT pole 22 halo">
            <a:extLst>
              <a:ext uri="{C183D7F6-B498-43B3-948B-1728B52AA6E4}">
                <adec:decorative xmlns:adec="http://schemas.microsoft.com/office/drawing/2017/decorative" val="1"/>
              </a:ext>
            </a:extLst>
          </p:cNvPr>
          <p:cNvSpPr/>
          <p:nvPr/>
        </p:nvSpPr>
        <p:spPr>
          <a:xfrm>
            <a:off x="547356" y="215655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GT pole 22">
            <a:extLst>
              <a:ext uri="{C183D7F6-B498-43B3-948B-1728B52AA6E4}">
                <adec:decorative xmlns:adec="http://schemas.microsoft.com/office/drawing/2017/decorative" val="1"/>
              </a:ext>
            </a:extLst>
          </p:cNvPr>
          <p:cNvSpPr/>
          <p:nvPr/>
        </p:nvSpPr>
        <p:spPr>
          <a:xfrm>
            <a:off x="547356" y="215655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GT pole 24 halo">
            <a:extLst>
              <a:ext uri="{C183D7F6-B498-43B3-948B-1728B52AA6E4}">
                <adec:decorative xmlns:adec="http://schemas.microsoft.com/office/drawing/2017/decorative" val="1"/>
              </a:ext>
            </a:extLst>
          </p:cNvPr>
          <p:cNvSpPr/>
          <p:nvPr/>
        </p:nvSpPr>
        <p:spPr>
          <a:xfrm>
            <a:off x="2112747" y="530323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GT pole 24">
            <a:extLst>
              <a:ext uri="{C183D7F6-B498-43B3-948B-1728B52AA6E4}">
                <adec:decorative xmlns:adec="http://schemas.microsoft.com/office/drawing/2017/decorative" val="1"/>
              </a:ext>
            </a:extLst>
          </p:cNvPr>
          <p:cNvSpPr/>
          <p:nvPr/>
        </p:nvSpPr>
        <p:spPr>
          <a:xfrm>
            <a:off x="2112747" y="530323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GT pole 25 halo">
            <a:extLst>
              <a:ext uri="{C183D7F6-B498-43B3-948B-1728B52AA6E4}">
                <adec:decorative xmlns:adec="http://schemas.microsoft.com/office/drawing/2017/decorative" val="1"/>
              </a:ext>
            </a:extLst>
          </p:cNvPr>
          <p:cNvSpPr/>
          <p:nvPr/>
        </p:nvSpPr>
        <p:spPr>
          <a:xfrm>
            <a:off x="1655255" y="48231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GT pole 25">
            <a:extLst>
              <a:ext uri="{C183D7F6-B498-43B3-948B-1728B52AA6E4}">
                <adec:decorative xmlns:adec="http://schemas.microsoft.com/office/drawing/2017/decorative" val="1"/>
              </a:ext>
            </a:extLst>
          </p:cNvPr>
          <p:cNvSpPr/>
          <p:nvPr/>
        </p:nvSpPr>
        <p:spPr>
          <a:xfrm>
            <a:off x="1655255" y="48231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GT pole 26 halo">
            <a:extLst>
              <a:ext uri="{C183D7F6-B498-43B3-948B-1728B52AA6E4}">
                <adec:decorative xmlns:adec="http://schemas.microsoft.com/office/drawing/2017/decorative" val="1"/>
              </a:ext>
            </a:extLst>
          </p:cNvPr>
          <p:cNvSpPr/>
          <p:nvPr/>
        </p:nvSpPr>
        <p:spPr>
          <a:xfrm>
            <a:off x="1881275" y="44493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GT pole 26">
            <a:extLst>
              <a:ext uri="{C183D7F6-B498-43B3-948B-1728B52AA6E4}">
                <adec:decorative xmlns:adec="http://schemas.microsoft.com/office/drawing/2017/decorative" val="1"/>
              </a:ext>
            </a:extLst>
          </p:cNvPr>
          <p:cNvSpPr/>
          <p:nvPr/>
        </p:nvSpPr>
        <p:spPr>
          <a:xfrm>
            <a:off x="1881275" y="44493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GT pole 27 halo">
            <a:extLst>
              <a:ext uri="{C183D7F6-B498-43B3-948B-1728B52AA6E4}">
                <adec:decorative xmlns:adec="http://schemas.microsoft.com/office/drawing/2017/decorative" val="1"/>
              </a:ext>
            </a:extLst>
          </p:cNvPr>
          <p:cNvSpPr/>
          <p:nvPr/>
        </p:nvSpPr>
        <p:spPr>
          <a:xfrm>
            <a:off x="1402305" y="380654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GT pole 27">
            <a:extLst>
              <a:ext uri="{C183D7F6-B498-43B3-948B-1728B52AA6E4}">
                <adec:decorative xmlns:adec="http://schemas.microsoft.com/office/drawing/2017/decorative" val="1"/>
              </a:ext>
            </a:extLst>
          </p:cNvPr>
          <p:cNvSpPr/>
          <p:nvPr/>
        </p:nvSpPr>
        <p:spPr>
          <a:xfrm>
            <a:off x="1402305" y="380654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GT pole 28 halo">
            <a:extLst>
              <a:ext uri="{C183D7F6-B498-43B3-948B-1728B52AA6E4}">
                <adec:decorative xmlns:adec="http://schemas.microsoft.com/office/drawing/2017/decorative" val="1"/>
              </a:ext>
            </a:extLst>
          </p:cNvPr>
          <p:cNvSpPr/>
          <p:nvPr/>
        </p:nvSpPr>
        <p:spPr>
          <a:xfrm>
            <a:off x="1527115" y="201328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GT pole 28">
            <a:extLst>
              <a:ext uri="{C183D7F6-B498-43B3-948B-1728B52AA6E4}">
                <adec:decorative xmlns:adec="http://schemas.microsoft.com/office/drawing/2017/decorative" val="1"/>
              </a:ext>
            </a:extLst>
          </p:cNvPr>
          <p:cNvSpPr/>
          <p:nvPr/>
        </p:nvSpPr>
        <p:spPr>
          <a:xfrm>
            <a:off x="1527115" y="201328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GT pole 29 halo">
            <a:extLst>
              <a:ext uri="{C183D7F6-B498-43B3-948B-1728B52AA6E4}">
                <adec:decorative xmlns:adec="http://schemas.microsoft.com/office/drawing/2017/decorative" val="1"/>
              </a:ext>
            </a:extLst>
          </p:cNvPr>
          <p:cNvSpPr/>
          <p:nvPr/>
        </p:nvSpPr>
        <p:spPr>
          <a:xfrm>
            <a:off x="1431241" y="201642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GT pole 29">
            <a:extLst>
              <a:ext uri="{C183D7F6-B498-43B3-948B-1728B52AA6E4}">
                <adec:decorative xmlns:adec="http://schemas.microsoft.com/office/drawing/2017/decorative" val="1"/>
              </a:ext>
            </a:extLst>
          </p:cNvPr>
          <p:cNvSpPr/>
          <p:nvPr/>
        </p:nvSpPr>
        <p:spPr>
          <a:xfrm>
            <a:off x="1431241" y="201642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GT pole 30 halo">
            <a:extLst>
              <a:ext uri="{C183D7F6-B498-43B3-948B-1728B52AA6E4}">
                <adec:decorative xmlns:adec="http://schemas.microsoft.com/office/drawing/2017/decorative" val="1"/>
              </a:ext>
            </a:extLst>
          </p:cNvPr>
          <p:cNvSpPr/>
          <p:nvPr/>
        </p:nvSpPr>
        <p:spPr>
          <a:xfrm>
            <a:off x="1937735" y="224713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GT pole 30">
            <a:extLst>
              <a:ext uri="{C183D7F6-B498-43B3-948B-1728B52AA6E4}">
                <adec:decorative xmlns:adec="http://schemas.microsoft.com/office/drawing/2017/decorative" val="1"/>
              </a:ext>
            </a:extLst>
          </p:cNvPr>
          <p:cNvSpPr/>
          <p:nvPr/>
        </p:nvSpPr>
        <p:spPr>
          <a:xfrm>
            <a:off x="1937735" y="224713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GT pole 31 halo">
            <a:extLst>
              <a:ext uri="{C183D7F6-B498-43B3-948B-1728B52AA6E4}">
                <adec:decorative xmlns:adec="http://schemas.microsoft.com/office/drawing/2017/decorative" val="1"/>
              </a:ext>
            </a:extLst>
          </p:cNvPr>
          <p:cNvSpPr/>
          <p:nvPr/>
        </p:nvSpPr>
        <p:spPr>
          <a:xfrm>
            <a:off x="1504458" y="202517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GT pole 31">
            <a:extLst>
              <a:ext uri="{C183D7F6-B498-43B3-948B-1728B52AA6E4}">
                <adec:decorative xmlns:adec="http://schemas.microsoft.com/office/drawing/2017/decorative" val="1"/>
              </a:ext>
            </a:extLst>
          </p:cNvPr>
          <p:cNvSpPr/>
          <p:nvPr/>
        </p:nvSpPr>
        <p:spPr>
          <a:xfrm>
            <a:off x="1504458" y="202517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GT pole 32 halo">
            <a:extLst>
              <a:ext uri="{C183D7F6-B498-43B3-948B-1728B52AA6E4}">
                <adec:decorative xmlns:adec="http://schemas.microsoft.com/office/drawing/2017/decorative" val="1"/>
              </a:ext>
            </a:extLst>
          </p:cNvPr>
          <p:cNvSpPr/>
          <p:nvPr/>
        </p:nvSpPr>
        <p:spPr>
          <a:xfrm>
            <a:off x="590555" y="188779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GT pole 32">
            <a:extLst>
              <a:ext uri="{C183D7F6-B498-43B3-948B-1728B52AA6E4}">
                <adec:decorative xmlns:adec="http://schemas.microsoft.com/office/drawing/2017/decorative" val="1"/>
              </a:ext>
            </a:extLst>
          </p:cNvPr>
          <p:cNvSpPr/>
          <p:nvPr/>
        </p:nvSpPr>
        <p:spPr>
          <a:xfrm>
            <a:off x="590555" y="188779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GT pole 33 halo">
            <a:extLst>
              <a:ext uri="{C183D7F6-B498-43B3-948B-1728B52AA6E4}">
                <adec:decorative xmlns:adec="http://schemas.microsoft.com/office/drawing/2017/decorative" val="1"/>
              </a:ext>
            </a:extLst>
          </p:cNvPr>
          <p:cNvSpPr/>
          <p:nvPr/>
        </p:nvSpPr>
        <p:spPr>
          <a:xfrm>
            <a:off x="1399657" y="19550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GT pole 33">
            <a:extLst>
              <a:ext uri="{C183D7F6-B498-43B3-948B-1728B52AA6E4}">
                <adec:decorative xmlns:adec="http://schemas.microsoft.com/office/drawing/2017/decorative" val="1"/>
              </a:ext>
            </a:extLst>
          </p:cNvPr>
          <p:cNvSpPr/>
          <p:nvPr/>
        </p:nvSpPr>
        <p:spPr>
          <a:xfrm>
            <a:off x="1399657" y="19550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GT pole 34 halo">
            <a:extLst>
              <a:ext uri="{C183D7F6-B498-43B3-948B-1728B52AA6E4}">
                <adec:decorative xmlns:adec="http://schemas.microsoft.com/office/drawing/2017/decorative" val="1"/>
              </a:ext>
            </a:extLst>
          </p:cNvPr>
          <p:cNvSpPr/>
          <p:nvPr/>
        </p:nvSpPr>
        <p:spPr>
          <a:xfrm>
            <a:off x="2267743" y="181500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GT pole 34">
            <a:extLst>
              <a:ext uri="{C183D7F6-B498-43B3-948B-1728B52AA6E4}">
                <adec:decorative xmlns:adec="http://schemas.microsoft.com/office/drawing/2017/decorative" val="1"/>
              </a:ext>
            </a:extLst>
          </p:cNvPr>
          <p:cNvSpPr/>
          <p:nvPr/>
        </p:nvSpPr>
        <p:spPr>
          <a:xfrm>
            <a:off x="2267743" y="181500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GT pole 35 halo">
            <a:extLst>
              <a:ext uri="{C183D7F6-B498-43B3-948B-1728B52AA6E4}">
                <adec:decorative xmlns:adec="http://schemas.microsoft.com/office/drawing/2017/decorative" val="1"/>
              </a:ext>
            </a:extLst>
          </p:cNvPr>
          <p:cNvSpPr/>
          <p:nvPr/>
        </p:nvSpPr>
        <p:spPr>
          <a:xfrm>
            <a:off x="1452734" y="202861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GT pole 35">
            <a:extLst>
              <a:ext uri="{C183D7F6-B498-43B3-948B-1728B52AA6E4}">
                <adec:decorative xmlns:adec="http://schemas.microsoft.com/office/drawing/2017/decorative" val="1"/>
              </a:ext>
            </a:extLst>
          </p:cNvPr>
          <p:cNvSpPr/>
          <p:nvPr/>
        </p:nvSpPr>
        <p:spPr>
          <a:xfrm>
            <a:off x="1452734" y="202861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GT pole 36 halo">
            <a:extLst>
              <a:ext uri="{C183D7F6-B498-43B3-948B-1728B52AA6E4}">
                <adec:decorative xmlns:adec="http://schemas.microsoft.com/office/drawing/2017/decorative" val="1"/>
              </a:ext>
            </a:extLst>
          </p:cNvPr>
          <p:cNvSpPr/>
          <p:nvPr/>
        </p:nvSpPr>
        <p:spPr>
          <a:xfrm>
            <a:off x="1125116" y="174912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GT pole 36">
            <a:extLst>
              <a:ext uri="{C183D7F6-B498-43B3-948B-1728B52AA6E4}">
                <adec:decorative xmlns:adec="http://schemas.microsoft.com/office/drawing/2017/decorative" val="1"/>
              </a:ext>
            </a:extLst>
          </p:cNvPr>
          <p:cNvSpPr/>
          <p:nvPr/>
        </p:nvSpPr>
        <p:spPr>
          <a:xfrm>
            <a:off x="1125116" y="174912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GT pole 37 halo">
            <a:extLst>
              <a:ext uri="{C183D7F6-B498-43B3-948B-1728B52AA6E4}">
                <adec:decorative xmlns:adec="http://schemas.microsoft.com/office/drawing/2017/decorative" val="1"/>
              </a:ext>
            </a:extLst>
          </p:cNvPr>
          <p:cNvSpPr/>
          <p:nvPr/>
        </p:nvSpPr>
        <p:spPr>
          <a:xfrm>
            <a:off x="887958" y="19335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GT pole 37">
            <a:extLst>
              <a:ext uri="{C183D7F6-B498-43B3-948B-1728B52AA6E4}">
                <adec:decorative xmlns:adec="http://schemas.microsoft.com/office/drawing/2017/decorative" val="1"/>
              </a:ext>
            </a:extLst>
          </p:cNvPr>
          <p:cNvSpPr/>
          <p:nvPr/>
        </p:nvSpPr>
        <p:spPr>
          <a:xfrm>
            <a:off x="887958" y="19335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GT pole 38 halo">
            <a:extLst>
              <a:ext uri="{C183D7F6-B498-43B3-948B-1728B52AA6E4}">
                <adec:decorative xmlns:adec="http://schemas.microsoft.com/office/drawing/2017/decorative" val="1"/>
              </a:ext>
            </a:extLst>
          </p:cNvPr>
          <p:cNvSpPr/>
          <p:nvPr/>
        </p:nvSpPr>
        <p:spPr>
          <a:xfrm>
            <a:off x="1413910" y="199942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GT pole 38">
            <a:extLst>
              <a:ext uri="{C183D7F6-B498-43B3-948B-1728B52AA6E4}">
                <adec:decorative xmlns:adec="http://schemas.microsoft.com/office/drawing/2017/decorative" val="1"/>
              </a:ext>
            </a:extLst>
          </p:cNvPr>
          <p:cNvSpPr/>
          <p:nvPr/>
        </p:nvSpPr>
        <p:spPr>
          <a:xfrm>
            <a:off x="1413910" y="199942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GT pole 39 halo">
            <a:extLst>
              <a:ext uri="{C183D7F6-B498-43B3-948B-1728B52AA6E4}">
                <adec:decorative xmlns:adec="http://schemas.microsoft.com/office/drawing/2017/decorative" val="1"/>
              </a:ext>
            </a:extLst>
          </p:cNvPr>
          <p:cNvSpPr/>
          <p:nvPr/>
        </p:nvSpPr>
        <p:spPr>
          <a:xfrm>
            <a:off x="1677452" y="163292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GT pole 39">
            <a:extLst>
              <a:ext uri="{C183D7F6-B498-43B3-948B-1728B52AA6E4}">
                <adec:decorative xmlns:adec="http://schemas.microsoft.com/office/drawing/2017/decorative" val="1"/>
              </a:ext>
            </a:extLst>
          </p:cNvPr>
          <p:cNvSpPr/>
          <p:nvPr/>
        </p:nvSpPr>
        <p:spPr>
          <a:xfrm>
            <a:off x="1677452" y="163292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GT pole 40 halo">
            <a:extLst>
              <a:ext uri="{C183D7F6-B498-43B3-948B-1728B52AA6E4}">
                <adec:decorative xmlns:adec="http://schemas.microsoft.com/office/drawing/2017/decorative" val="1"/>
              </a:ext>
            </a:extLst>
          </p:cNvPr>
          <p:cNvSpPr/>
          <p:nvPr/>
        </p:nvSpPr>
        <p:spPr>
          <a:xfrm>
            <a:off x="1312171" y="3062951"/>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GT pole 40">
            <a:extLst>
              <a:ext uri="{C183D7F6-B498-43B3-948B-1728B52AA6E4}">
                <adec:decorative xmlns:adec="http://schemas.microsoft.com/office/drawing/2017/decorative" val="1"/>
              </a:ext>
            </a:extLst>
          </p:cNvPr>
          <p:cNvSpPr/>
          <p:nvPr/>
        </p:nvSpPr>
        <p:spPr>
          <a:xfrm>
            <a:off x="1312171" y="3062951"/>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GT pole 41 halo">
            <a:extLst>
              <a:ext uri="{C183D7F6-B498-43B3-948B-1728B52AA6E4}">
                <adec:decorative xmlns:adec="http://schemas.microsoft.com/office/drawing/2017/decorative" val="1"/>
              </a:ext>
            </a:extLst>
          </p:cNvPr>
          <p:cNvSpPr/>
          <p:nvPr/>
        </p:nvSpPr>
        <p:spPr>
          <a:xfrm>
            <a:off x="1336507" y="164107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GT pole 41">
            <a:extLst>
              <a:ext uri="{C183D7F6-B498-43B3-948B-1728B52AA6E4}">
                <adec:decorative xmlns:adec="http://schemas.microsoft.com/office/drawing/2017/decorative" val="1"/>
              </a:ext>
            </a:extLst>
          </p:cNvPr>
          <p:cNvSpPr/>
          <p:nvPr/>
        </p:nvSpPr>
        <p:spPr>
          <a:xfrm>
            <a:off x="1336507" y="164107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GT pole 42 halo">
            <a:extLst>
              <a:ext uri="{C183D7F6-B498-43B3-948B-1728B52AA6E4}">
                <adec:decorative xmlns:adec="http://schemas.microsoft.com/office/drawing/2017/decorative" val="1"/>
              </a:ext>
            </a:extLst>
          </p:cNvPr>
          <p:cNvSpPr/>
          <p:nvPr/>
        </p:nvSpPr>
        <p:spPr>
          <a:xfrm>
            <a:off x="2928850" y="55108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GT pole 42">
            <a:extLst>
              <a:ext uri="{C183D7F6-B498-43B3-948B-1728B52AA6E4}">
                <adec:decorative xmlns:adec="http://schemas.microsoft.com/office/drawing/2017/decorative" val="1"/>
              </a:ext>
            </a:extLst>
          </p:cNvPr>
          <p:cNvSpPr/>
          <p:nvPr/>
        </p:nvSpPr>
        <p:spPr>
          <a:xfrm>
            <a:off x="2928850" y="55108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GT pole 43 halo">
            <a:extLst>
              <a:ext uri="{C183D7F6-B498-43B3-948B-1728B52AA6E4}">
                <adec:decorative xmlns:adec="http://schemas.microsoft.com/office/drawing/2017/decorative" val="1"/>
              </a:ext>
            </a:extLst>
          </p:cNvPr>
          <p:cNvSpPr/>
          <p:nvPr/>
        </p:nvSpPr>
        <p:spPr>
          <a:xfrm>
            <a:off x="3276621" y="559725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GT pole 43">
            <a:extLst>
              <a:ext uri="{C183D7F6-B498-43B3-948B-1728B52AA6E4}">
                <adec:decorative xmlns:adec="http://schemas.microsoft.com/office/drawing/2017/decorative" val="1"/>
              </a:ext>
            </a:extLst>
          </p:cNvPr>
          <p:cNvSpPr/>
          <p:nvPr/>
        </p:nvSpPr>
        <p:spPr>
          <a:xfrm>
            <a:off x="3276621" y="559725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GT pole 44 halo">
            <a:extLst>
              <a:ext uri="{C183D7F6-B498-43B3-948B-1728B52AA6E4}">
                <adec:decorative xmlns:adec="http://schemas.microsoft.com/office/drawing/2017/decorative" val="1"/>
              </a:ext>
            </a:extLst>
          </p:cNvPr>
          <p:cNvSpPr/>
          <p:nvPr/>
        </p:nvSpPr>
        <p:spPr>
          <a:xfrm>
            <a:off x="2564289" y="569430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GT pole 44">
            <a:extLst>
              <a:ext uri="{C183D7F6-B498-43B3-948B-1728B52AA6E4}">
                <adec:decorative xmlns:adec="http://schemas.microsoft.com/office/drawing/2017/decorative" val="1"/>
              </a:ext>
            </a:extLst>
          </p:cNvPr>
          <p:cNvSpPr/>
          <p:nvPr/>
        </p:nvSpPr>
        <p:spPr>
          <a:xfrm>
            <a:off x="2564289" y="569430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GT pole 45 halo">
            <a:extLst>
              <a:ext uri="{C183D7F6-B498-43B3-948B-1728B52AA6E4}">
                <adec:decorative xmlns:adec="http://schemas.microsoft.com/office/drawing/2017/decorative" val="1"/>
              </a:ext>
            </a:extLst>
          </p:cNvPr>
          <p:cNvSpPr/>
          <p:nvPr/>
        </p:nvSpPr>
        <p:spPr>
          <a:xfrm>
            <a:off x="674166" y="203999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GT pole 45">
            <a:extLst>
              <a:ext uri="{C183D7F6-B498-43B3-948B-1728B52AA6E4}">
                <adec:decorative xmlns:adec="http://schemas.microsoft.com/office/drawing/2017/decorative" val="1"/>
              </a:ext>
            </a:extLst>
          </p:cNvPr>
          <p:cNvSpPr/>
          <p:nvPr/>
        </p:nvSpPr>
        <p:spPr>
          <a:xfrm>
            <a:off x="674166" y="203999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GT pole 46 halo">
            <a:extLst>
              <a:ext uri="{C183D7F6-B498-43B3-948B-1728B52AA6E4}">
                <adec:decorative xmlns:adec="http://schemas.microsoft.com/office/drawing/2017/decorative" val="1"/>
              </a:ext>
            </a:extLst>
          </p:cNvPr>
          <p:cNvSpPr/>
          <p:nvPr/>
        </p:nvSpPr>
        <p:spPr>
          <a:xfrm>
            <a:off x="5069161" y="320075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GT pole 46">
            <a:extLst>
              <a:ext uri="{C183D7F6-B498-43B3-948B-1728B52AA6E4}">
                <adec:decorative xmlns:adec="http://schemas.microsoft.com/office/drawing/2017/decorative" val="1"/>
              </a:ext>
            </a:extLst>
          </p:cNvPr>
          <p:cNvSpPr/>
          <p:nvPr/>
        </p:nvSpPr>
        <p:spPr>
          <a:xfrm>
            <a:off x="5069161" y="320075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GT pole 47 halo">
            <a:extLst>
              <a:ext uri="{C183D7F6-B498-43B3-948B-1728B52AA6E4}">
                <adec:decorative xmlns:adec="http://schemas.microsoft.com/office/drawing/2017/decorative" val="1"/>
              </a:ext>
            </a:extLst>
          </p:cNvPr>
          <p:cNvSpPr/>
          <p:nvPr/>
        </p:nvSpPr>
        <p:spPr>
          <a:xfrm>
            <a:off x="5223674" y="3882215"/>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GT pole 47">
            <a:extLst>
              <a:ext uri="{C183D7F6-B498-43B3-948B-1728B52AA6E4}">
                <adec:decorative xmlns:adec="http://schemas.microsoft.com/office/drawing/2017/decorative" val="1"/>
              </a:ext>
            </a:extLst>
          </p:cNvPr>
          <p:cNvSpPr/>
          <p:nvPr/>
        </p:nvSpPr>
        <p:spPr>
          <a:xfrm>
            <a:off x="5223674" y="3882215"/>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GT pole 48 halo">
            <a:extLst>
              <a:ext uri="{C183D7F6-B498-43B3-948B-1728B52AA6E4}">
                <adec:decorative xmlns:adec="http://schemas.microsoft.com/office/drawing/2017/decorative" val="1"/>
              </a:ext>
            </a:extLst>
          </p:cNvPr>
          <p:cNvSpPr/>
          <p:nvPr/>
        </p:nvSpPr>
        <p:spPr>
          <a:xfrm>
            <a:off x="5174271" y="437381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GT pole 48">
            <a:extLst>
              <a:ext uri="{C183D7F6-B498-43B3-948B-1728B52AA6E4}">
                <adec:decorative xmlns:adec="http://schemas.microsoft.com/office/drawing/2017/decorative" val="1"/>
              </a:ext>
            </a:extLst>
          </p:cNvPr>
          <p:cNvSpPr/>
          <p:nvPr/>
        </p:nvSpPr>
        <p:spPr>
          <a:xfrm>
            <a:off x="5174271" y="437381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GT pole 49 halo">
            <a:extLst>
              <a:ext uri="{C183D7F6-B498-43B3-948B-1728B52AA6E4}">
                <adec:decorative xmlns:adec="http://schemas.microsoft.com/office/drawing/2017/decorative" val="1"/>
              </a:ext>
            </a:extLst>
          </p:cNvPr>
          <p:cNvSpPr/>
          <p:nvPr/>
        </p:nvSpPr>
        <p:spPr>
          <a:xfrm>
            <a:off x="5009707" y="3681517"/>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GT pole 49">
            <a:extLst>
              <a:ext uri="{C183D7F6-B498-43B3-948B-1728B52AA6E4}">
                <adec:decorative xmlns:adec="http://schemas.microsoft.com/office/drawing/2017/decorative" val="1"/>
              </a:ext>
            </a:extLst>
          </p:cNvPr>
          <p:cNvSpPr/>
          <p:nvPr/>
        </p:nvSpPr>
        <p:spPr>
          <a:xfrm>
            <a:off x="5009707" y="3681517"/>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GT pole 50 halo">
            <a:extLst>
              <a:ext uri="{C183D7F6-B498-43B3-948B-1728B52AA6E4}">
                <adec:decorative xmlns:adec="http://schemas.microsoft.com/office/drawing/2017/decorative" val="1"/>
              </a:ext>
            </a:extLst>
          </p:cNvPr>
          <p:cNvSpPr/>
          <p:nvPr/>
        </p:nvSpPr>
        <p:spPr>
          <a:xfrm>
            <a:off x="4738065" y="3962309"/>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GT pole 50">
            <a:extLst>
              <a:ext uri="{C183D7F6-B498-43B3-948B-1728B52AA6E4}">
                <adec:decorative xmlns:adec="http://schemas.microsoft.com/office/drawing/2017/decorative" val="1"/>
              </a:ext>
            </a:extLst>
          </p:cNvPr>
          <p:cNvSpPr/>
          <p:nvPr/>
        </p:nvSpPr>
        <p:spPr>
          <a:xfrm>
            <a:off x="4738065" y="3962309"/>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GT pole 51 halo">
            <a:extLst>
              <a:ext uri="{C183D7F6-B498-43B3-948B-1728B52AA6E4}">
                <adec:decorative xmlns:adec="http://schemas.microsoft.com/office/drawing/2017/decorative" val="1"/>
              </a:ext>
            </a:extLst>
          </p:cNvPr>
          <p:cNvSpPr/>
          <p:nvPr/>
        </p:nvSpPr>
        <p:spPr>
          <a:xfrm>
            <a:off x="5397734" y="458999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GT pole 51">
            <a:extLst>
              <a:ext uri="{C183D7F6-B498-43B3-948B-1728B52AA6E4}">
                <adec:decorative xmlns:adec="http://schemas.microsoft.com/office/drawing/2017/decorative" val="1"/>
              </a:ext>
            </a:extLst>
          </p:cNvPr>
          <p:cNvSpPr/>
          <p:nvPr/>
        </p:nvSpPr>
        <p:spPr>
          <a:xfrm>
            <a:off x="5397734" y="458999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GT pole 52 halo">
            <a:extLst>
              <a:ext uri="{C183D7F6-B498-43B3-948B-1728B52AA6E4}">
                <adec:decorative xmlns:adec="http://schemas.microsoft.com/office/drawing/2017/decorative" val="1"/>
              </a:ext>
            </a:extLst>
          </p:cNvPr>
          <p:cNvSpPr/>
          <p:nvPr/>
        </p:nvSpPr>
        <p:spPr>
          <a:xfrm>
            <a:off x="4952232" y="416456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GT pole 52">
            <a:extLst>
              <a:ext uri="{C183D7F6-B498-43B3-948B-1728B52AA6E4}">
                <adec:decorative xmlns:adec="http://schemas.microsoft.com/office/drawing/2017/decorative" val="1"/>
              </a:ext>
            </a:extLst>
          </p:cNvPr>
          <p:cNvSpPr/>
          <p:nvPr/>
        </p:nvSpPr>
        <p:spPr>
          <a:xfrm>
            <a:off x="4952232" y="416456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GT pole 53 halo">
            <a:extLst>
              <a:ext uri="{C183D7F6-B498-43B3-948B-1728B52AA6E4}">
                <adec:decorative xmlns:adec="http://schemas.microsoft.com/office/drawing/2017/decorative" val="1"/>
              </a:ext>
            </a:extLst>
          </p:cNvPr>
          <p:cNvSpPr/>
          <p:nvPr/>
        </p:nvSpPr>
        <p:spPr>
          <a:xfrm>
            <a:off x="4518855" y="37529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GT pole 53">
            <a:extLst>
              <a:ext uri="{C183D7F6-B498-43B3-948B-1728B52AA6E4}">
                <adec:decorative xmlns:adec="http://schemas.microsoft.com/office/drawing/2017/decorative" val="1"/>
              </a:ext>
            </a:extLst>
          </p:cNvPr>
          <p:cNvSpPr/>
          <p:nvPr/>
        </p:nvSpPr>
        <p:spPr>
          <a:xfrm>
            <a:off x="4518855" y="37529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GT pole 54 halo">
            <a:extLst>
              <a:ext uri="{C183D7F6-B498-43B3-948B-1728B52AA6E4}">
                <adec:decorative xmlns:adec="http://schemas.microsoft.com/office/drawing/2017/decorative" val="1"/>
              </a:ext>
            </a:extLst>
          </p:cNvPr>
          <p:cNvSpPr/>
          <p:nvPr/>
        </p:nvSpPr>
        <p:spPr>
          <a:xfrm>
            <a:off x="2980370" y="1836833"/>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GT pole 54">
            <a:extLst>
              <a:ext uri="{C183D7F6-B498-43B3-948B-1728B52AA6E4}">
                <adec:decorative xmlns:adec="http://schemas.microsoft.com/office/drawing/2017/decorative" val="1"/>
              </a:ext>
            </a:extLst>
          </p:cNvPr>
          <p:cNvSpPr/>
          <p:nvPr/>
        </p:nvSpPr>
        <p:spPr>
          <a:xfrm>
            <a:off x="2980370" y="1836833"/>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BGT pole 55 halo">
            <a:extLst>
              <a:ext uri="{C183D7F6-B498-43B3-948B-1728B52AA6E4}">
                <adec:decorative xmlns:adec="http://schemas.microsoft.com/office/drawing/2017/decorative" val="1"/>
              </a:ext>
            </a:extLst>
          </p:cNvPr>
          <p:cNvSpPr/>
          <p:nvPr/>
        </p:nvSpPr>
        <p:spPr>
          <a:xfrm>
            <a:off x="2932559" y="145666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BGT pole 55">
            <a:extLst>
              <a:ext uri="{C183D7F6-B498-43B3-948B-1728B52AA6E4}">
                <adec:decorative xmlns:adec="http://schemas.microsoft.com/office/drawing/2017/decorative" val="1"/>
              </a:ext>
            </a:extLst>
          </p:cNvPr>
          <p:cNvSpPr/>
          <p:nvPr/>
        </p:nvSpPr>
        <p:spPr>
          <a:xfrm>
            <a:off x="2932559" y="145666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GT pole 56 halo">
            <a:extLst>
              <a:ext uri="{C183D7F6-B498-43B3-948B-1728B52AA6E4}">
                <adec:decorative xmlns:adec="http://schemas.microsoft.com/office/drawing/2017/decorative" val="1"/>
              </a:ext>
            </a:extLst>
          </p:cNvPr>
          <p:cNvSpPr/>
          <p:nvPr/>
        </p:nvSpPr>
        <p:spPr>
          <a:xfrm>
            <a:off x="3298401" y="11972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BGT pole 56">
            <a:extLst>
              <a:ext uri="{C183D7F6-B498-43B3-948B-1728B52AA6E4}">
                <adec:decorative xmlns:adec="http://schemas.microsoft.com/office/drawing/2017/decorative" val="1"/>
              </a:ext>
            </a:extLst>
          </p:cNvPr>
          <p:cNvSpPr/>
          <p:nvPr/>
        </p:nvSpPr>
        <p:spPr>
          <a:xfrm>
            <a:off x="3298401" y="11972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BGT pole 57 halo">
            <a:extLst>
              <a:ext uri="{C183D7F6-B498-43B3-948B-1728B52AA6E4}">
                <adec:decorative xmlns:adec="http://schemas.microsoft.com/office/drawing/2017/decorative" val="1"/>
              </a:ext>
            </a:extLst>
          </p:cNvPr>
          <p:cNvSpPr/>
          <p:nvPr/>
        </p:nvSpPr>
        <p:spPr>
          <a:xfrm>
            <a:off x="3164381" y="166543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BGT pole 57">
            <a:extLst>
              <a:ext uri="{C183D7F6-B498-43B3-948B-1728B52AA6E4}">
                <adec:decorative xmlns:adec="http://schemas.microsoft.com/office/drawing/2017/decorative" val="1"/>
              </a:ext>
            </a:extLst>
          </p:cNvPr>
          <p:cNvSpPr/>
          <p:nvPr/>
        </p:nvSpPr>
        <p:spPr>
          <a:xfrm>
            <a:off x="3164381" y="166543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BGT pole 58 halo">
            <a:extLst>
              <a:ext uri="{C183D7F6-B498-43B3-948B-1728B52AA6E4}">
                <adec:decorative xmlns:adec="http://schemas.microsoft.com/office/drawing/2017/decorative" val="1"/>
              </a:ext>
            </a:extLst>
          </p:cNvPr>
          <p:cNvSpPr/>
          <p:nvPr/>
        </p:nvSpPr>
        <p:spPr>
          <a:xfrm>
            <a:off x="3286727" y="1500466"/>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BGT pole 58">
            <a:extLst>
              <a:ext uri="{C183D7F6-B498-43B3-948B-1728B52AA6E4}">
                <adec:decorative xmlns:adec="http://schemas.microsoft.com/office/drawing/2017/decorative" val="1"/>
              </a:ext>
            </a:extLst>
          </p:cNvPr>
          <p:cNvSpPr/>
          <p:nvPr/>
        </p:nvSpPr>
        <p:spPr>
          <a:xfrm>
            <a:off x="3286727" y="1500466"/>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GT pole 59 halo">
            <a:extLst>
              <a:ext uri="{C183D7F6-B498-43B3-948B-1728B52AA6E4}">
                <adec:decorative xmlns:adec="http://schemas.microsoft.com/office/drawing/2017/decorative" val="1"/>
              </a:ext>
            </a:extLst>
          </p:cNvPr>
          <p:cNvSpPr/>
          <p:nvPr/>
        </p:nvSpPr>
        <p:spPr>
          <a:xfrm>
            <a:off x="1379253" y="486530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BGT pole 59">
            <a:extLst>
              <a:ext uri="{C183D7F6-B498-43B3-948B-1728B52AA6E4}">
                <adec:decorative xmlns:adec="http://schemas.microsoft.com/office/drawing/2017/decorative" val="1"/>
              </a:ext>
            </a:extLst>
          </p:cNvPr>
          <p:cNvSpPr/>
          <p:nvPr/>
        </p:nvSpPr>
        <p:spPr>
          <a:xfrm>
            <a:off x="1379253" y="486530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BGT pole 60 halo">
            <a:extLst>
              <a:ext uri="{C183D7F6-B498-43B3-948B-1728B52AA6E4}">
                <adec:decorative xmlns:adec="http://schemas.microsoft.com/office/drawing/2017/decorative" val="1"/>
              </a:ext>
            </a:extLst>
          </p:cNvPr>
          <p:cNvSpPr/>
          <p:nvPr/>
        </p:nvSpPr>
        <p:spPr>
          <a:xfrm>
            <a:off x="1847385" y="5358810"/>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BGT pole 60">
            <a:extLst>
              <a:ext uri="{C183D7F6-B498-43B3-948B-1728B52AA6E4}">
                <adec:decorative xmlns:adec="http://schemas.microsoft.com/office/drawing/2017/decorative" val="1"/>
              </a:ext>
            </a:extLst>
          </p:cNvPr>
          <p:cNvSpPr/>
          <p:nvPr/>
        </p:nvSpPr>
        <p:spPr>
          <a:xfrm>
            <a:off x="1847385" y="5358810"/>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BGT pole 61 halo">
            <a:extLst>
              <a:ext uri="{C183D7F6-B498-43B3-948B-1728B52AA6E4}">
                <adec:decorative xmlns:adec="http://schemas.microsoft.com/office/drawing/2017/decorative" val="1"/>
              </a:ext>
            </a:extLst>
          </p:cNvPr>
          <p:cNvSpPr/>
          <p:nvPr/>
        </p:nvSpPr>
        <p:spPr>
          <a:xfrm>
            <a:off x="2306110" y="5841872"/>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BGT pole 61">
            <a:extLst>
              <a:ext uri="{C183D7F6-B498-43B3-948B-1728B52AA6E4}">
                <adec:decorative xmlns:adec="http://schemas.microsoft.com/office/drawing/2017/decorative" val="1"/>
              </a:ext>
            </a:extLst>
          </p:cNvPr>
          <p:cNvSpPr/>
          <p:nvPr/>
        </p:nvSpPr>
        <p:spPr>
          <a:xfrm>
            <a:off x="2306110" y="5841872"/>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ur object 1 halo">
            <a:extLst>
              <a:ext uri="{C183D7F6-B498-43B3-948B-1728B52AA6E4}">
                <adec:decorative xmlns:adec="http://schemas.microsoft.com/office/drawing/2017/decorative" val="1"/>
              </a:ext>
            </a:extLst>
          </p:cNvPr>
          <p:cNvSpPr/>
          <p:nvPr/>
        </p:nvSpPr>
        <p:spPr>
          <a:xfrm>
            <a:off x="2113398" y="1611983"/>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ur object 1">
            <a:extLst>
              <a:ext uri="{C183D7F6-B498-43B3-948B-1728B52AA6E4}">
                <adec:decorative xmlns:adec="http://schemas.microsoft.com/office/drawing/2017/decorative" val="1"/>
              </a:ext>
            </a:extLst>
          </p:cNvPr>
          <p:cNvSpPr/>
          <p:nvPr/>
        </p:nvSpPr>
        <p:spPr>
          <a:xfrm>
            <a:off x="2113398" y="1611983"/>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ur object 2 halo">
            <a:extLst>
              <a:ext uri="{C183D7F6-B498-43B3-948B-1728B52AA6E4}">
                <adec:decorative xmlns:adec="http://schemas.microsoft.com/office/drawing/2017/decorative" val="1"/>
              </a:ext>
            </a:extLst>
          </p:cNvPr>
          <p:cNvSpPr/>
          <p:nvPr/>
        </p:nvSpPr>
        <p:spPr>
          <a:xfrm>
            <a:off x="1437991" y="2507254"/>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ur object 2">
            <a:extLst>
              <a:ext uri="{C183D7F6-B498-43B3-948B-1728B52AA6E4}">
                <adec:decorative xmlns:adec="http://schemas.microsoft.com/office/drawing/2017/decorative" val="1"/>
              </a:ext>
            </a:extLst>
          </p:cNvPr>
          <p:cNvSpPr/>
          <p:nvPr/>
        </p:nvSpPr>
        <p:spPr>
          <a:xfrm>
            <a:off x="1437991" y="2507254"/>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ur object 3 halo">
            <a:extLst>
              <a:ext uri="{C183D7F6-B498-43B3-948B-1728B52AA6E4}">
                <adec:decorative xmlns:adec="http://schemas.microsoft.com/office/drawing/2017/decorative" val="1"/>
              </a:ext>
            </a:extLst>
          </p:cNvPr>
          <p:cNvSpPr/>
          <p:nvPr/>
        </p:nvSpPr>
        <p:spPr>
          <a:xfrm>
            <a:off x="1245017" y="2834676"/>
            <a:ext cx="438912" cy="43891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ur object 3">
            <a:extLst>
              <a:ext uri="{C183D7F6-B498-43B3-948B-1728B52AA6E4}">
                <adec:decorative xmlns:adec="http://schemas.microsoft.com/office/drawing/2017/decorative" val="1"/>
              </a:ext>
            </a:extLst>
          </p:cNvPr>
          <p:cNvSpPr/>
          <p:nvPr/>
        </p:nvSpPr>
        <p:spPr>
          <a:xfrm>
            <a:off x="1245017" y="2834676"/>
            <a:ext cx="438912" cy="43891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Legend expectation">
            <a:extLst>
              <a:ext uri="{C183D7F6-B498-43B3-948B-1728B52AA6E4}">
                <adec:decorative xmlns:adec="http://schemas.microsoft.com/office/drawing/2017/decorative" val="1"/>
              </a:ext>
            </a:extLst>
          </p:cNvPr>
          <p:cNvSpPr/>
          <p:nvPr/>
        </p:nvSpPr>
        <p:spPr>
          <a:xfrm>
            <a:off x="6029478" y="1984248"/>
            <a:ext cx="256032" cy="256032"/>
          </a:xfrm>
          <a:prstGeom prst="roundRect">
            <a:avLst>
              <a:gd name="adj" fmla="val 28571"/>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Legend ring expectation halo">
            <a:extLst>
              <a:ext uri="{C183D7F6-B498-43B3-948B-1728B52AA6E4}">
                <adec:decorative xmlns:adec="http://schemas.microsoft.com/office/drawing/2017/decorative" val="1"/>
              </a:ext>
            </a:extLst>
          </p:cNvPr>
          <p:cNvSpPr/>
          <p:nvPr/>
        </p:nvSpPr>
        <p:spPr>
          <a:xfrm>
            <a:off x="6088914" y="2043684"/>
            <a:ext cx="137160" cy="137160"/>
          </a:xfrm>
          <a:prstGeom prst="ellipse">
            <a:avLst/>
          </a:prstGeom>
          <a:noFill/>
          <a:ln w="47625">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Legend ring expectation">
            <a:extLst>
              <a:ext uri="{C183D7F6-B498-43B3-948B-1728B52AA6E4}">
                <adec:decorative xmlns:adec="http://schemas.microsoft.com/office/drawing/2017/decorative" val="1"/>
              </a:ext>
            </a:extLst>
          </p:cNvPr>
          <p:cNvSpPr/>
          <p:nvPr/>
        </p:nvSpPr>
        <p:spPr>
          <a:xfrm>
            <a:off x="6088914" y="2043684"/>
            <a:ext cx="137160" cy="137160"/>
          </a:xfrm>
          <a:prstGeom prst="ellipse">
            <a:avLst/>
          </a:prstGeom>
          <a:noFill/>
          <a:ln w="22225">
            <a:solidFill>
              <a:srgbClr val="B1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Heading expectation"/>
          <p:cNvSpPr txBox="1"/>
          <p:nvPr/>
        </p:nvSpPr>
        <p:spPr>
          <a:xfrm>
            <a:off x="6450102" y="1965960"/>
            <a:ext cx="5193258" cy="341376"/>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Expectation: the BGT register</a:t>
            </a:r>
            <a:endParaRPr lang="en-GB" sz="2000"/>
          </a:p>
        </p:txBody>
      </p:sp>
      <p:sp>
        <p:nvSpPr>
          <p:cNvPr id="138" name="Legend reality">
            <a:extLst>
              <a:ext uri="{C183D7F6-B498-43B3-948B-1728B52AA6E4}">
                <adec:decorative xmlns:adec="http://schemas.microsoft.com/office/drawing/2017/decorative" val="1"/>
              </a:ext>
            </a:extLst>
          </p:cNvPr>
          <p:cNvSpPr/>
          <p:nvPr/>
        </p:nvSpPr>
        <p:spPr>
          <a:xfrm>
            <a:off x="6029478" y="2868168"/>
            <a:ext cx="256032" cy="256032"/>
          </a:xfrm>
          <a:prstGeom prst="roundRect">
            <a:avLst>
              <a:gd name="adj" fmla="val 28571"/>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Legend ring reality halo">
            <a:extLst>
              <a:ext uri="{C183D7F6-B498-43B3-948B-1728B52AA6E4}">
                <adec:decorative xmlns:adec="http://schemas.microsoft.com/office/drawing/2017/decorative" val="1"/>
              </a:ext>
            </a:extLst>
          </p:cNvPr>
          <p:cNvSpPr/>
          <p:nvPr/>
        </p:nvSpPr>
        <p:spPr>
          <a:xfrm>
            <a:off x="6036793" y="2875483"/>
            <a:ext cx="241402" cy="241402"/>
          </a:xfrm>
          <a:prstGeom prst="ellipse">
            <a:avLst/>
          </a:prstGeom>
          <a:noFill/>
          <a:ln w="57150">
            <a:solidFill>
              <a:srgbClr val="1C3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Legend ring reality">
            <a:extLst>
              <a:ext uri="{C183D7F6-B498-43B3-948B-1728B52AA6E4}">
                <adec:decorative xmlns:adec="http://schemas.microsoft.com/office/drawing/2017/decorative" val="1"/>
              </a:ext>
            </a:extLst>
          </p:cNvPr>
          <p:cNvSpPr/>
          <p:nvPr/>
        </p:nvSpPr>
        <p:spPr>
          <a:xfrm>
            <a:off x="6036793" y="2875483"/>
            <a:ext cx="241402" cy="241402"/>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Heading reality"/>
          <p:cNvSpPr txBox="1"/>
          <p:nvPr/>
        </p:nvSpPr>
        <p:spPr>
          <a:xfrm>
            <a:off x="6450102" y="2849880"/>
            <a:ext cx="5193258" cy="341376"/>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1C325B"/>
                </a:solidFill>
                <a:latin typeface="Fira Sans SemiBold"/>
              </a:rPr>
              <a:t>Reality: our pipeline</a:t>
            </a:r>
            <a:endParaRPr lang="en-GB" sz="2000"/>
          </a:p>
        </p:txBody>
      </p:sp>
      <p:pic>
        <p:nvPicPr>
          <p:cNvPr id="145" name="Photo 1" descr="Photo of Jaarbeursplein by day: slim dark lamp posts and bollards along the cycle path and across the paved plaza."/>
          <p:cNvPicPr>
            <a:picLocks noChangeAspect="1"/>
          </p:cNvPicPr>
          <p:nvPr/>
        </p:nvPicPr>
        <p:blipFill>
          <a:blip r:embed="rId3"/>
          <a:srcRect l="38000" t="48321" b="16321"/>
          <a:stretch>
            <a:fillRect/>
          </a:stretch>
        </p:blipFill>
        <p:spPr>
          <a:xfrm>
            <a:off x="6029478" y="3770376"/>
            <a:ext cx="2742933" cy="1173192"/>
          </a:xfrm>
          <a:prstGeom prst="rect">
            <a:avLst/>
          </a:prstGeom>
        </p:spPr>
      </p:pic>
      <p:pic>
        <p:nvPicPr>
          <p:cNvPr id="146" name="Photo 2" descr="Photo of Jaarbeursplein at night: tall leaning lamp posts on both sides of the red paved square, lit street lamps behind."/>
          <p:cNvPicPr>
            <a:picLocks noChangeAspect="1"/>
          </p:cNvPicPr>
          <p:nvPr/>
        </p:nvPicPr>
        <p:blipFill>
          <a:blip r:embed="rId4"/>
          <a:srcRect l="38000" t="30080" b="30080"/>
          <a:stretch>
            <a:fillRect/>
          </a:stretch>
        </p:blipFill>
        <p:spPr>
          <a:xfrm>
            <a:off x="8900427" y="3770376"/>
            <a:ext cx="2742933" cy="1173192"/>
          </a:xfrm>
          <a:prstGeom prst="rect">
            <a:avLst/>
          </a:prstGeom>
        </p:spPr>
      </p:pic>
      <p:sp>
        <p:nvSpPr>
          <p:cNvPr id="137" name="Hero expectation"/>
          <p:cNvSpPr txBox="1"/>
          <p:nvPr/>
        </p:nvSpPr>
        <p:spPr>
          <a:xfrm>
            <a:off x="6029478" y="2270760"/>
            <a:ext cx="5613882" cy="487680"/>
          </a:xfrm>
          <a:prstGeom prst="rect">
            <a:avLst/>
          </a:prstGeom>
          <a:noFill/>
        </p:spPr>
        <p:txBody>
          <a:bodyPr wrap="none" anchor="t" lIns="0" tIns="0" rIns="0" bIns="0">
            <a:noAutofit/>
          </a:bodyPr>
          <a:lstStyle/>
          <a:p>
            <a:pPr marL="0" indent="0" algn="l">
              <a:spcBef>
                <a:spcPts val="0"/>
              </a:spcBef>
              <a:spcAft>
                <a:spcPts val="0"/>
              </a:spcAft>
              <a:buNone/>
            </a:pPr>
            <a:r>
              <a:rPr sz="3200" lang="en-GB">
                <a:solidFill>
                  <a:srgbClr val="2B6797"/>
                </a:solidFill>
                <a:latin typeface="Fira Sans SemiBold"/>
              </a:rPr>
              <a:t>61 poles</a:t>
            </a:r>
            <a:r>
              <a:rPr sz="2000" lang="en-GB">
                <a:solidFill>
                  <a:srgbClr val="263238"/>
                </a:solidFill>
                <a:latin typeface="+mn-lt"/>
              </a:rPr>
              <a:t> 51 lamp posts, 10 bollards</a:t>
            </a:r>
            <a:endParaRPr lang="en-GB" sz="3200"/>
          </a:p>
        </p:txBody>
      </p:sp>
      <p:sp>
        <p:nvSpPr>
          <p:cNvPr id="142" name="Hero reality"/>
          <p:cNvSpPr txBox="1"/>
          <p:nvPr/>
        </p:nvSpPr>
        <p:spPr>
          <a:xfrm>
            <a:off x="6029478" y="3154680"/>
            <a:ext cx="5613882" cy="487680"/>
          </a:xfrm>
          <a:prstGeom prst="rect">
            <a:avLst/>
          </a:prstGeom>
          <a:noFill/>
        </p:spPr>
        <p:txBody>
          <a:bodyPr wrap="none" anchor="t" lIns="0" tIns="0" rIns="0" bIns="0">
            <a:noAutofit/>
          </a:bodyPr>
          <a:lstStyle/>
          <a:p>
            <a:pPr marL="0" indent="0" algn="l">
              <a:spcBef>
                <a:spcPts val="0"/>
              </a:spcBef>
              <a:spcAft>
                <a:spcPts val="0"/>
              </a:spcAft>
              <a:buNone/>
            </a:pPr>
            <a:r>
              <a:rPr sz="3200" lang="en-GB">
                <a:solidFill>
                  <a:srgbClr val="2B6797"/>
                </a:solidFill>
                <a:latin typeface="Fira Sans SemiBold"/>
              </a:rPr>
              <a:t>3 objects</a:t>
            </a:r>
            <a:r>
              <a:rPr sz="2000" lang="en-GB">
                <a:solidFill>
                  <a:srgbClr val="263238"/>
                </a:solidFill>
                <a:latin typeface="+mn-lt"/>
              </a:rPr>
              <a:t> 2 of them on a lamp post</a:t>
            </a:r>
            <a:endParaRPr lang="en-GB" sz="3200"/>
          </a:p>
        </p:txBody>
      </p:sp>
      <p:sp>
        <p:nvSpPr>
          <p:cNvPr id="144" name="Support"/>
          <p:cNvSpPr txBox="1"/>
          <p:nvPr/>
        </p:nvSpPr>
        <p:spPr>
          <a:xfrm>
            <a:off x="6029478" y="5089872"/>
            <a:ext cx="5613882" cy="3048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42 of 61 poles get no LiDAR point above 1.5 m.</a:t>
            </a:r>
            <a:endParaRPr lang="en-GB" sz="2000"/>
          </a:p>
        </p:txBody>
      </p:sp>
      <p:sp>
        <p:nvSpPr>
          <p:cNvPr id="143" name="Small print"/>
          <p:cNvSpPr txBox="1"/>
          <p:nvPr/>
        </p:nvSpPr>
        <p:spPr>
          <a:xfrm>
            <a:off x="6029478" y="5577552"/>
            <a:ext cx="5613882" cy="36576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Poles: BGT, Kadaster,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 Photos: Wikimedia Commons, CC BY-SA 4.0 and CC BY 3.0.</a:t>
            </a:r>
            <a:endParaRPr lang="en-GB" sz="1200"/>
          </a:p>
        </p:txBody>
      </p:sp>
      <p:sp>
        <p:nvSpPr>
          <p:cNvPr id="147" name="Source"/>
          <p:cNvSpPr txBox="1"/>
          <p:nvPr/>
        </p:nvSpPr>
        <p:spPr>
          <a:xfrm>
            <a:off x="6029478" y="6034752"/>
            <a:ext cx="5613882"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148" name="Small print rule chip 4" descr="Evidence for rule 4: Look before you compute"/>
          <p:cNvSpPr txBox="1"/>
          <p:nvPr/>
        </p:nvSpPr>
        <p:spPr>
          <a:xfrm>
            <a:off x="9552661" y="182880"/>
            <a:ext cx="2090699" cy="310896"/>
          </a:xfrm>
          <a:prstGeom prst="rect">
            <a:avLst/>
          </a:prstGeom>
          <a:noFill/>
        </p:spPr>
        <p:txBody>
          <a:bodyPr wrap="none" anchor="ctr" lIns="0" tIns="0" rIns="0" bIns="0">
            <a:noAutofit/>
          </a:bodyPr>
          <a:lstStyle/>
          <a:p>
            <a:r>
              <a:rPr sz="1400" lang="en-GB">
                <a:solidFill>
                  <a:srgbClr val="1C325B"/>
                </a:solidFill>
                <a:latin typeface="Fira Sans SemiBold"/>
              </a:rPr>
              <a:t>Look before you compute</a:t>
            </a:r>
            <a:endParaRPr lang="en-GB" sz="1400"/>
          </a:p>
        </p:txBody>
      </p:sp>
      <p:sp>
        <p:nvSpPr>
          <p:cNvPr id="149" name="Small print rule number 4">
            <a:extLst>
              <a:ext uri="{C183D7F6-B498-43B3-948B-1728B52AA6E4}">
                <adec:decorative xmlns:adec="http://schemas.microsoft.com/office/drawing/2017/decorative" val="1"/>
              </a:ext>
            </a:extLst>
          </p:cNvPr>
          <p:cNvSpPr/>
          <p:nvPr/>
        </p:nvSpPr>
        <p:spPr>
          <a:xfrm>
            <a:off x="916861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4</a:t>
            </a:r>
            <a:endParaRPr lang="en-GB" sz="1400"/>
          </a:p>
        </p:txBody>
      </p:sp>
      <p:sp>
        <p:nvSpPr>
          <p:cNvPr id="150"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2B6797"/>
                </a:solidFill>
                <a:latin typeface="Fira Sans SemiBold"/>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5" name="Footer"/>
          <p:cNvSpPr>
            <a:spLocks noGrp="1"/>
          </p:cNvSpPr>
          <p:nvPr>
            <p:ph type="ftr" sz="quarter" idx="11"/>
          </p:nvPr>
        </p:nvSpPr>
        <p:spPr/>
        <p:txBody>
          <a:bodyPr/>
          <a:lstStyle/>
          <a:p>
            <a:r>
              <a:rPr lang="en-GB"/>
              <a:t>3D Data Science with Python | PyCon NL 2026</a:t>
            </a:r>
          </a:p>
        </p:txBody>
      </p:sp>
      <p:sp>
        <p:nvSpPr>
          <p:cNvPr id="6" name="Slide number"/>
          <p:cNvSpPr>
            <a:spLocks noGrp="1"/>
          </p:cNvSpPr>
          <p:nvPr>
            <p:ph type="sldNum" sz="quarter" idx="12"/>
          </p:nvPr>
        </p:nvSpPr>
        <p:spPr/>
        <p:txBody>
          <a:bodyPr/>
          <a:lstStyle/>
          <a:p>
            <a:fld id="{B6F15528-21DE-4FAA-801E-634DDDAF4B2B}" type="slidenum">
              <a:rPr lang="en-GB"/>
              <a:t>29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From the air, the city is sampled unevenly</a:t>
            </a:r>
          </a:p>
        </p:txBody>
      </p:sp>
      <p:pic>
        <p:nvPicPr>
          <p:cNvPr id="6" name="Concept figure" descr="Left, a map of point density over the 200 m crop: the hall and streets in mid blue, the hall's walls and other facades as bright lines, tree crowns as bright spots, and some darker bands with fewer points. Right, a histogram of the cells with a median of 18 points per square metre."/>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000" lang="en-GB">
                <a:solidFill>
                  <a:srgbClr val="263238"/>
                </a:solidFill>
                <a:latin typeface="+mn-lt"/>
              </a:rPr>
              <a:t>Here the middle 80 % of cells hold 9 to 22 points per m²; median 18.</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Occlusion, flight-strip overlap, angle and material decide where points land.</a:t>
            </a:r>
            <a:endParaRPr lang="en-GB" sz="2000"/>
          </a:p>
          <a:p>
            <a:pPr algn="l" marL="228600" indent="-228600">
              <a:lnSpc>
                <a:spcPct val="95000"/>
              </a:lnSpc>
              <a:spcBef>
                <a:spcPts val="400"/>
              </a:spcBef>
              <a:spcAft>
                <a:spcPts val="0"/>
              </a:spcAft>
              <a:buClr>
                <a:srgbClr val="2B6797"/>
              </a:buClr>
              <a:buFont typeface="Fira Sans"/>
              <a:buChar char="•"/>
            </a:pPr>
            <a:r>
              <a:rPr sz="2000" lang="en-GB">
                <a:solidFill>
                  <a:srgbClr val="263238"/>
                </a:solidFill>
                <a:latin typeface="+mn-lt"/>
              </a:rPr>
              <a:t>Every point carries error: AHN4 specifies at most 5 cm in height; AHN5 publishes no figure yet.</a:t>
            </a:r>
            <a:endParaRPr lang="en-GB" sz="20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Rule 4: density, noise and gaps vary within one file. Measure them before tuning anything.</a:t>
            </a:r>
            <a:endParaRPr lang="en-GB" sz="2000"/>
          </a:p>
        </p:txBody>
      </p:sp>
      <p:sp>
        <p:nvSpPr>
          <p:cNvPr id="9" name="Small print rule chip 4" descr="Evidence for rule 4: Look before you compute"/>
          <p:cNvSpPr txBox="1"/>
          <p:nvPr/>
        </p:nvSpPr>
        <p:spPr>
          <a:xfrm>
            <a:off x="9552661" y="182880"/>
            <a:ext cx="2090699" cy="310896"/>
          </a:xfrm>
          <a:prstGeom prst="rect">
            <a:avLst/>
          </a:prstGeom>
          <a:noFill/>
        </p:spPr>
        <p:txBody>
          <a:bodyPr wrap="none" anchor="ctr" lIns="0" tIns="0" rIns="0" bIns="0">
            <a:noAutofit/>
          </a:bodyPr>
          <a:lstStyle/>
          <a:p>
            <a:r>
              <a:rPr sz="1400" lang="en-GB">
                <a:solidFill>
                  <a:srgbClr val="1C325B"/>
                </a:solidFill>
                <a:latin typeface="Fira Sans SemiBold"/>
              </a:rPr>
              <a:t>Look before you compute</a:t>
            </a:r>
            <a:endParaRPr lang="en-GB" sz="1400"/>
          </a:p>
        </p:txBody>
      </p:sp>
      <p:sp>
        <p:nvSpPr>
          <p:cNvPr id="10" name="Small print rule number 4">
            <a:extLst>
              <a:ext uri="{C183D7F6-B498-43B3-948B-1728B52AA6E4}">
                <adec:decorative xmlns:adec="http://schemas.microsoft.com/office/drawing/2017/decorative" val="1"/>
              </a:ext>
            </a:extLst>
          </p:cNvPr>
          <p:cNvSpPr/>
          <p:nvPr/>
        </p:nvSpPr>
        <p:spPr>
          <a:xfrm>
            <a:off x="9168613" y="182880"/>
            <a:ext cx="310896" cy="310896"/>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marL="0" indent="0">
              <a:spcBef>
                <a:spcPts val="0"/>
              </a:spcBef>
              <a:spcAft>
                <a:spcPts val="0"/>
              </a:spcAft>
              <a:buNone/>
            </a:pPr>
            <a:r>
              <a:rPr sz="1400" lang="en-GB">
                <a:solidFill>
                  <a:srgbClr val="FFFFFF"/>
                </a:solidFill>
                <a:latin typeface="Fira Sans SemiBold"/>
              </a:rPr>
              <a:t>4</a:t>
            </a:r>
            <a:endParaRPr lang="en-GB" sz="1400"/>
          </a:p>
        </p:txBody>
      </p:sp>
      <p:sp>
        <p:nvSpPr>
          <p:cNvPr id="11"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2B6797"/>
                </a:solidFill>
                <a:latin typeface="Fira Sans SemiBold"/>
              </a:rPr>
              <a:t>Reality</a:t>
            </a:r>
            <a:r>
              <a:rPr sz="1200" lang="en-GB">
                <a:solidFill>
                  <a:srgbClr val="455A64"/>
                </a:solidFill>
                <a:latin typeface="+mn-lt"/>
              </a:rPr>
              <a:t>  ·  </a:t>
            </a:r>
            <a:r>
              <a:rPr sz="1200" lang="en-GB">
                <a:solidFill>
                  <a:srgbClr val="455A64"/>
                </a:solidFill>
                <a:latin typeface="+mn-lt"/>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Four rules, each backed by this talk's numbers</a:t>
            </a:r>
          </a:p>
        </p:txBody>
      </p:sp>
      <p:grpSp>
        <p:nvGrpSpPr>
          <p:cNvPr id="3" name="Rules of thumb 1" descr="Rule 1: Think in arrays, not points; 24 B per point per xyz copy; slides 14, 15"/>
          <p:cNvGrpSpPr/>
          <p:nvPr/>
        </p:nvGrpSpPr>
        <p:grpSpPr>
          <a:xfrm>
            <a:off x="548640" y="1600200"/>
            <a:ext cx="5318760" cy="2102976"/>
            <a:chOff x="548640" y="1600200"/>
            <a:chExt cx="5318760" cy="2102976"/>
          </a:xfrm>
        </p:grpSpPr>
        <p:sp>
          <p:nvSpPr>
            <p:cNvPr id="6" name="rule tile 1"/>
            <p:cNvSpPr/>
            <p:nvPr/>
          </p:nvSpPr>
          <p:spPr>
            <a:xfrm>
              <a:off x="54864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number 1"/>
            <p:cNvSpPr/>
            <p:nvPr/>
          </p:nvSpPr>
          <p:spPr>
            <a:xfrm>
              <a:off x="77724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1</a:t>
              </a:r>
            </a:p>
          </p:txBody>
        </p:sp>
        <p:sp>
          <p:nvSpPr>
            <p:cNvPr id="8" name="rule head 1"/>
            <p:cNvSpPr txBox="1"/>
            <p:nvPr/>
          </p:nvSpPr>
          <p:spPr>
            <a:xfrm>
              <a:off x="1517904" y="1886712"/>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Think in arrays, not points</a:t>
              </a:r>
            </a:p>
          </p:txBody>
        </p:sp>
        <p:sp>
          <p:nvSpPr>
            <p:cNvPr id="9" name="rule text 1"/>
            <p:cNvSpPr txBox="1"/>
            <p:nvPr/>
          </p:nvSpPr>
          <p:spPr>
            <a:xfrm>
              <a:off x="1517904" y="2478024"/>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24 B per point per xyz copy</a:t>
              </a:r>
            </a:p>
            <a:p>
              <a:pPr algn="l">
                <a:spcBef>
                  <a:spcPts val="600"/>
                </a:spcBef>
              </a:pPr>
              <a:r>
                <a:rPr sz="2000" b="0" i="0" lang="en-GB">
                  <a:solidFill>
                    <a:srgbClr val="455A64"/>
                  </a:solidFill>
                  <a:latin typeface="Fira Sans"/>
                </a:rPr>
                <a:t>slides 14, 15</a:t>
              </a:r>
            </a:p>
          </p:txBody>
        </p:sp>
      </p:grpSp>
      <p:grpSp>
        <p:nvGrpSpPr>
          <p:cNvPr id="10" name="Rules of thumb 2" descr="Rule 2: Make it small first; 3.0 GB → 0.8 GB peak; slides 16, 17, 19, 22, 23"/>
          <p:cNvGrpSpPr/>
          <p:nvPr/>
        </p:nvGrpSpPr>
        <p:grpSpPr>
          <a:xfrm>
            <a:off x="6324600" y="1600200"/>
            <a:ext cx="5318760" cy="2102976"/>
            <a:chOff x="6324600" y="1600200"/>
            <a:chExt cx="5318760" cy="2102976"/>
          </a:xfrm>
        </p:grpSpPr>
        <p:sp>
          <p:nvSpPr>
            <p:cNvPr id="11" name="rule tile 2"/>
            <p:cNvSpPr/>
            <p:nvPr/>
          </p:nvSpPr>
          <p:spPr>
            <a:xfrm>
              <a:off x="6324600" y="1600200"/>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le number 2"/>
            <p:cNvSpPr/>
            <p:nvPr/>
          </p:nvSpPr>
          <p:spPr>
            <a:xfrm>
              <a:off x="6553200" y="1828800"/>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2</a:t>
              </a:r>
            </a:p>
          </p:txBody>
        </p:sp>
        <p:sp>
          <p:nvSpPr>
            <p:cNvPr id="13" name="rule head 2"/>
            <p:cNvSpPr txBox="1"/>
            <p:nvPr/>
          </p:nvSpPr>
          <p:spPr>
            <a:xfrm>
              <a:off x="7293864" y="1886712"/>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Make it small first</a:t>
              </a:r>
            </a:p>
          </p:txBody>
        </p:sp>
        <p:sp>
          <p:nvSpPr>
            <p:cNvPr id="14" name="rule text 2"/>
            <p:cNvSpPr txBox="1"/>
            <p:nvPr/>
          </p:nvSpPr>
          <p:spPr>
            <a:xfrm>
              <a:off x="7293864" y="2478024"/>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3.0 GB → 0.8 GB peak</a:t>
              </a:r>
            </a:p>
            <a:p>
              <a:pPr algn="l">
                <a:spcBef>
                  <a:spcPts val="600"/>
                </a:spcBef>
              </a:pPr>
              <a:r>
                <a:rPr sz="2000" b="0" i="0" lang="en-GB">
                  <a:solidFill>
                    <a:srgbClr val="455A64"/>
                  </a:solidFill>
                  <a:latin typeface="Fira Sans"/>
                </a:rPr>
                <a:t>slides 16, 17, 19, 22, 23</a:t>
              </a:r>
            </a:p>
          </p:txBody>
        </p:sp>
      </p:grpSp>
      <p:grpSp>
        <p:nvGrpSpPr>
          <p:cNvPr id="15" name="Rules of thumb 3" descr="Rule 3: Let compiled code loop; 130× faster than a loop; slides 24 to 28"/>
          <p:cNvGrpSpPr/>
          <p:nvPr/>
        </p:nvGrpSpPr>
        <p:grpSpPr>
          <a:xfrm>
            <a:off x="548640" y="3977496"/>
            <a:ext cx="5318760" cy="2102976"/>
            <a:chOff x="548640" y="3977496"/>
            <a:chExt cx="5318760" cy="2102976"/>
          </a:xfrm>
        </p:grpSpPr>
        <p:sp>
          <p:nvSpPr>
            <p:cNvPr id="16" name="rule tile 3"/>
            <p:cNvSpPr/>
            <p:nvPr/>
          </p:nvSpPr>
          <p:spPr>
            <a:xfrm>
              <a:off x="54864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le number 3"/>
            <p:cNvSpPr/>
            <p:nvPr/>
          </p:nvSpPr>
          <p:spPr>
            <a:xfrm>
              <a:off x="77724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3</a:t>
              </a:r>
            </a:p>
          </p:txBody>
        </p:sp>
        <p:sp>
          <p:nvSpPr>
            <p:cNvPr id="18" name="rule head 3"/>
            <p:cNvSpPr txBox="1"/>
            <p:nvPr/>
          </p:nvSpPr>
          <p:spPr>
            <a:xfrm>
              <a:off x="1517904" y="4264008"/>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Let compiled code loop</a:t>
              </a:r>
            </a:p>
          </p:txBody>
        </p:sp>
        <p:sp>
          <p:nvSpPr>
            <p:cNvPr id="19" name="rule text 3"/>
            <p:cNvSpPr txBox="1"/>
            <p:nvPr/>
          </p:nvSpPr>
          <p:spPr>
            <a:xfrm>
              <a:off x="1517904" y="4855320"/>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130× faster than a loop</a:t>
              </a:r>
            </a:p>
            <a:p>
              <a:pPr algn="l">
                <a:spcBef>
                  <a:spcPts val="600"/>
                </a:spcBef>
              </a:pPr>
              <a:r>
                <a:rPr sz="2000" b="0" i="0" lang="en-GB">
                  <a:solidFill>
                    <a:srgbClr val="455A64"/>
                  </a:solidFill>
                  <a:latin typeface="Fira Sans"/>
                </a:rPr>
                <a:t>slides 24 to 28</a:t>
              </a:r>
            </a:p>
          </p:txBody>
        </p:sp>
      </p:grpSp>
      <p:grpSp>
        <p:nvGrpSpPr>
          <p:cNvPr id="20" name="Rules of thumb 4" descr="Rule 4: Look before you compute; 61 poles on the register, 3 found; slides 29, 30"/>
          <p:cNvGrpSpPr/>
          <p:nvPr/>
        </p:nvGrpSpPr>
        <p:grpSpPr>
          <a:xfrm>
            <a:off x="6324600" y="3977496"/>
            <a:ext cx="5318760" cy="2102976"/>
            <a:chOff x="6324600" y="3977496"/>
            <a:chExt cx="5318760" cy="2102976"/>
          </a:xfrm>
        </p:grpSpPr>
        <p:sp>
          <p:nvSpPr>
            <p:cNvPr id="21" name="rule tile 4"/>
            <p:cNvSpPr/>
            <p:nvPr/>
          </p:nvSpPr>
          <p:spPr>
            <a:xfrm>
              <a:off x="6324600" y="3977496"/>
              <a:ext cx="5318760" cy="2102976"/>
            </a:xfrm>
            <a:prstGeom prst="roundRect">
              <a:avLst>
                <a:gd name="adj" fmla="val 3478"/>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ule number 4"/>
            <p:cNvSpPr/>
            <p:nvPr/>
          </p:nvSpPr>
          <p:spPr>
            <a:xfrm>
              <a:off x="6553200" y="4206096"/>
              <a:ext cx="512064" cy="512064"/>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2400" b="0" i="0" lang="en-GB">
                  <a:solidFill>
                    <a:srgbClr val="FFFFFF"/>
                  </a:solidFill>
                  <a:latin typeface="Fira Sans SemiBold"/>
                </a:rPr>
                <a:t>4</a:t>
              </a:r>
            </a:p>
          </p:txBody>
        </p:sp>
        <p:sp>
          <p:nvSpPr>
            <p:cNvPr id="23" name="rule head 4"/>
            <p:cNvSpPr txBox="1"/>
            <p:nvPr/>
          </p:nvSpPr>
          <p:spPr>
            <a:xfrm>
              <a:off x="7293864" y="4264008"/>
              <a:ext cx="4120896" cy="396240"/>
            </a:xfrm>
            <a:prstGeom prst="rect">
              <a:avLst/>
            </a:prstGeom>
            <a:noFill/>
          </p:spPr>
          <p:txBody>
            <a:bodyPr wrap="none" anchor="t" lIns="0" tIns="0" rIns="0" bIns="0">
              <a:noAutofit/>
            </a:bodyPr>
            <a:lstStyle/>
            <a:p>
              <a:pPr algn="l"/>
              <a:r>
                <a:rPr sz="2600" b="0" i="0" lang="en-GB">
                  <a:solidFill>
                    <a:srgbClr val="1C325B"/>
                  </a:solidFill>
                  <a:latin typeface="Fira Sans SemiBold"/>
                </a:rPr>
                <a:t>Look before you compute</a:t>
              </a:r>
            </a:p>
          </p:txBody>
        </p:sp>
        <p:sp>
          <p:nvSpPr>
            <p:cNvPr id="24" name="rule text 4"/>
            <p:cNvSpPr txBox="1"/>
            <p:nvPr/>
          </p:nvSpPr>
          <p:spPr>
            <a:xfrm>
              <a:off x="7293864" y="4855320"/>
              <a:ext cx="4120896" cy="1042272"/>
            </a:xfrm>
            <a:prstGeom prst="rect">
              <a:avLst/>
            </a:prstGeom>
            <a:noFill/>
          </p:spPr>
          <p:txBody>
            <a:bodyPr wrap="square" anchor="t" lIns="0" tIns="0" rIns="0" bIns="0">
              <a:noAutofit/>
            </a:bodyPr>
            <a:lstStyle/>
            <a:p>
              <a:pPr algn="l"/>
              <a:r>
                <a:rPr sz="2400" b="0" i="0" lang="en-GB">
                  <a:solidFill>
                    <a:srgbClr val="2B6797"/>
                  </a:solidFill>
                  <a:latin typeface="Fira Sans SemiBold"/>
                </a:rPr>
                <a:t>61 poles on the register, 3 found</a:t>
              </a:r>
            </a:p>
            <a:p>
              <a:pPr algn="l">
                <a:spcBef>
                  <a:spcPts val="600"/>
                </a:spcBef>
              </a:pPr>
              <a:r>
                <a:rPr sz="2000" b="0" i="0" lang="en-GB">
                  <a:solidFill>
                    <a:srgbClr val="455A64"/>
                  </a:solidFill>
                  <a:latin typeface="Fira Sans"/>
                </a:rPr>
                <a:t>slides 29, 30</a:t>
              </a:r>
            </a:p>
          </p:txBody>
        </p:sp>
      </p:grpSp>
      <p:sp>
        <p:nvSpPr>
          <p:cNvPr id="25"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2B6797"/>
                </a:solidFill>
                <a:latin typeface="Fira Sans SemiBold"/>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5" grpId="0"/>
      <p:bldP spid="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What this doesn't do yet, and what's next</a:t>
            </a:r>
          </a:p>
        </p:txBody>
      </p:sp>
      <p:sp>
        <p:nvSpPr>
          <p:cNvPr id="6" name="Takeaway" descr="A baseline in plain Python, not production accuracy."/>
          <p:cNvSpPr/>
          <p:nvPr/>
        </p:nvSpPr>
        <p:spPr>
          <a:xfrm>
            <a:off x="548640" y="1554480"/>
            <a:ext cx="11094720" cy="548640"/>
          </a:xfrm>
          <a:prstGeom prst="roundRect">
            <a:avLst>
              <a:gd name="adj" fmla="val 13333"/>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tIns="0" rIns="274320" bIns="0">
            <a:noAutofit/>
          </a:bodyPr>
          <a:lstStyle/>
          <a:p>
            <a:pPr algn="ctr" marL="0" indent="0">
              <a:spcBef>
                <a:spcPts val="0"/>
              </a:spcBef>
              <a:spcAft>
                <a:spcPts val="0"/>
              </a:spcAft>
              <a:buNone/>
            </a:pPr>
            <a:r>
              <a:rPr sz="2400" lang="en-GB">
                <a:solidFill>
                  <a:srgbClr val="FFFFFF"/>
                </a:solidFill>
                <a:latin typeface="Fira Sans SemiBold"/>
              </a:rPr>
              <a:t>A baseline in plain Python, not production accuracy.</a:t>
            </a:r>
            <a:endParaRPr lang="en-GB" sz="2400"/>
          </a:p>
        </p:txBody>
      </p:sp>
      <p:sp>
        <p:nvSpPr>
          <p:cNvPr id="7" name="Column tile 1">
            <a:extLst>
              <a:ext uri="{C183D7F6-B498-43B3-948B-1728B52AA6E4}">
                <adec:decorative xmlns:adec="http://schemas.microsoft.com/office/drawing/2017/decorative" val="1"/>
              </a:ext>
            </a:extLst>
          </p:cNvPr>
          <p:cNvSpPr/>
          <p:nvPr/>
        </p:nvSpPr>
        <p:spPr>
          <a:xfrm>
            <a:off x="548640" y="2331720"/>
            <a:ext cx="5387340" cy="3071368"/>
          </a:xfrm>
          <a:prstGeom prst="roundRect">
            <a:avLst>
              <a:gd name="adj" fmla="val 23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lumn head 1"/>
          <p:cNvSpPr txBox="1"/>
          <p:nvPr/>
        </p:nvSpPr>
        <p:spPr>
          <a:xfrm>
            <a:off x="777240" y="2532888"/>
            <a:ext cx="493014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Limits</a:t>
            </a:r>
            <a:endParaRPr lang="en-GB" sz="2800"/>
          </a:p>
        </p:txBody>
      </p:sp>
      <p:sp>
        <p:nvSpPr>
          <p:cNvPr id="9" name="Column bullets 1"/>
          <p:cNvSpPr txBox="1"/>
          <p:nvPr/>
        </p:nvSpPr>
        <p:spPr>
          <a:xfrm>
            <a:off x="777240" y="3096768"/>
            <a:ext cx="4930140" cy="21691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400" lang="en-GB">
                <a:solidFill>
                  <a:srgbClr val="263238"/>
                </a:solidFill>
                <a:latin typeface="+mn-lt"/>
              </a:rPr>
              <a:t>3 of 61 poles found</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Vegetation: not scored</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Buildings: 83 % precision, a lower bound</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One 200 m crop, one timed run</a:t>
            </a:r>
            <a:endParaRPr lang="en-GB" sz="2400"/>
          </a:p>
        </p:txBody>
      </p:sp>
      <p:sp>
        <p:nvSpPr>
          <p:cNvPr id="10" name="Column tile 2">
            <a:extLst>
              <a:ext uri="{C183D7F6-B498-43B3-948B-1728B52AA6E4}">
                <adec:decorative xmlns:adec="http://schemas.microsoft.com/office/drawing/2017/decorative" val="1"/>
              </a:ext>
            </a:extLst>
          </p:cNvPr>
          <p:cNvSpPr/>
          <p:nvPr/>
        </p:nvSpPr>
        <p:spPr>
          <a:xfrm>
            <a:off x="6256020" y="2331720"/>
            <a:ext cx="5387340" cy="3071368"/>
          </a:xfrm>
          <a:prstGeom prst="roundRect">
            <a:avLst>
              <a:gd name="adj" fmla="val 2381"/>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lumn head 2"/>
          <p:cNvSpPr txBox="1"/>
          <p:nvPr/>
        </p:nvSpPr>
        <p:spPr>
          <a:xfrm>
            <a:off x="6484620" y="2532888"/>
            <a:ext cx="4930140" cy="426720"/>
          </a:xfrm>
          <a:prstGeom prst="rect">
            <a:avLst/>
          </a:prstGeom>
          <a:noFill/>
        </p:spPr>
        <p:txBody>
          <a:bodyPr wrap="square" anchor="t" lIns="0" tIns="0" rIns="0" bIns="0">
            <a:noAutofit/>
          </a:bodyPr>
          <a:lstStyle/>
          <a:p>
            <a:pPr marL="0" indent="0" algn="l">
              <a:spcBef>
                <a:spcPts val="0"/>
              </a:spcBef>
              <a:spcAft>
                <a:spcPts val="0"/>
              </a:spcAft>
              <a:buNone/>
            </a:pPr>
            <a:r>
              <a:rPr sz="2800" b="0" lang="en-GB">
                <a:solidFill>
                  <a:srgbClr val="1C325B"/>
                </a:solidFill>
                <a:latin typeface="Fira Sans SemiBold"/>
              </a:rPr>
              <a:t>Next</a:t>
            </a:r>
            <a:endParaRPr lang="en-GB" sz="2800"/>
          </a:p>
        </p:txBody>
      </p:sp>
      <p:sp>
        <p:nvSpPr>
          <p:cNvPr id="12" name="Column bullets 2"/>
          <p:cNvSpPr txBox="1"/>
          <p:nvPr/>
        </p:nvSpPr>
        <p:spPr>
          <a:xfrm>
            <a:off x="6484620" y="3096768"/>
            <a:ext cx="4930140" cy="21691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2400" lang="en-GB">
                <a:solidFill>
                  <a:srgbClr val="263238"/>
                </a:solidFill>
                <a:latin typeface="+mn-lt"/>
              </a:rPr>
              <a:t>Ground and clusters on tiles with overlap (B2)</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A classifier for the labels (B5)</a:t>
            </a:r>
            <a:endParaRPr lang="en-GB" sz="2400"/>
          </a:p>
          <a:p>
            <a:pPr algn="l" marL="228600" indent="-228600">
              <a:lnSpc>
                <a:spcPct val="95000"/>
              </a:lnSpc>
              <a:spcBef>
                <a:spcPts val="400"/>
              </a:spcBef>
              <a:spcAft>
                <a:spcPts val="0"/>
              </a:spcAft>
              <a:buClr>
                <a:srgbClr val="2B6797"/>
              </a:buClr>
              <a:buFont typeface="Fira Sans"/>
              <a:buChar char="•"/>
            </a:pPr>
            <a:r>
              <a:rPr sz="2400" lang="en-GB">
                <a:solidFill>
                  <a:srgbClr val="263238"/>
                </a:solidFill>
                <a:latin typeface="+mn-lt"/>
              </a:rPr>
              <a:t>Your own point cloud (B6)</a:t>
            </a:r>
            <a:endParaRPr lang="en-GB" sz="2400"/>
          </a:p>
        </p:txBody>
      </p:sp>
      <p:sp>
        <p:nvSpPr>
          <p:cNvPr id="13" name="Small print breadcrumb"/>
          <p:cNvSpPr txBox="1"/>
          <p:nvPr/>
        </p:nvSpPr>
        <p:spPr>
          <a:xfrm>
            <a:off x="4206240" y="6355080"/>
            <a:ext cx="6400800" cy="228600"/>
          </a:xfrm>
          <a:prstGeom prst="rect">
            <a:avLst/>
          </a:prstGeom>
          <a:noFill/>
        </p:spPr>
        <p:txBody>
          <a:bodyPr wrap="none" anchor="b" lIns="0" tIns="0" rIns="0" bIns="0">
            <a:noAutofit/>
          </a:bodyPr>
          <a:lstStyle/>
          <a:p>
            <a:pPr marL="0" indent="0" algn="r">
              <a:spcBef>
                <a:spcPts val="0"/>
              </a:spcBef>
              <a:spcAft>
                <a:spcPts val="0"/>
              </a:spcAft>
              <a:buNone/>
            </a:pPr>
            <a:r>
              <a:rPr sz="1200" lang="en-GB">
                <a:solidFill>
                  <a:srgbClr val="455A64"/>
                </a:solidFill>
                <a:latin typeface="+mn-lt"/>
              </a:rPr>
              <a:t>Intro</a:t>
            </a:r>
            <a:r>
              <a:rPr sz="1200" lang="en-GB">
                <a:solidFill>
                  <a:srgbClr val="455A64"/>
                </a:solidFill>
                <a:latin typeface="+mn-lt"/>
              </a:rPr>
              <a:t>  ·  </a:t>
            </a:r>
            <a:r>
              <a:rPr sz="1200" lang="en-GB">
                <a:solidFill>
                  <a:srgbClr val="455A64"/>
                </a:solidFill>
                <a:latin typeface="+mn-lt"/>
              </a:rPr>
              <a:t>Data</a:t>
            </a:r>
            <a:r>
              <a:rPr sz="1200" lang="en-GB">
                <a:solidFill>
                  <a:srgbClr val="455A64"/>
                </a:solidFill>
                <a:latin typeface="+mn-lt"/>
              </a:rPr>
              <a:t>  ·  </a:t>
            </a:r>
            <a:r>
              <a:rPr sz="1200" lang="en-GB">
                <a:solidFill>
                  <a:srgbClr val="455A64"/>
                </a:solidFill>
                <a:latin typeface="+mn-lt"/>
              </a:rPr>
              <a:t>Toolbox</a:t>
            </a:r>
            <a:r>
              <a:rPr sz="1200" lang="en-GB">
                <a:solidFill>
                  <a:srgbClr val="455A64"/>
                </a:solidFill>
                <a:latin typeface="+mn-lt"/>
              </a:rPr>
              <a:t>  ·  </a:t>
            </a:r>
            <a:r>
              <a:rPr sz="1200" lang="en-GB">
                <a:solidFill>
                  <a:srgbClr val="455A64"/>
                </a:solidFill>
                <a:latin typeface="+mn-lt"/>
              </a:rPr>
              <a:t>Pipeline</a:t>
            </a:r>
            <a:r>
              <a:rPr sz="1200" lang="en-GB">
                <a:solidFill>
                  <a:srgbClr val="455A64"/>
                </a:solidFill>
                <a:latin typeface="+mn-lt"/>
              </a:rPr>
              <a:t>  ·  </a:t>
            </a:r>
            <a:r>
              <a:rPr sz="1200" lang="en-GB">
                <a:solidFill>
                  <a:srgbClr val="455A64"/>
                </a:solidFill>
                <a:latin typeface="+mn-lt"/>
              </a:rPr>
              <a:t>Memory</a:t>
            </a:r>
            <a:r>
              <a:rPr sz="1200" lang="en-GB">
                <a:solidFill>
                  <a:srgbClr val="455A64"/>
                </a:solidFill>
                <a:latin typeface="+mn-lt"/>
              </a:rPr>
              <a:t>  ·  </a:t>
            </a:r>
            <a:r>
              <a:rPr sz="1200" lang="en-GB">
                <a:solidFill>
                  <a:srgbClr val="455A64"/>
                </a:solidFill>
                <a:latin typeface="+mn-lt"/>
              </a:rPr>
              <a:t>Speed</a:t>
            </a:r>
            <a:r>
              <a:rPr sz="1200" lang="en-GB">
                <a:solidFill>
                  <a:srgbClr val="455A64"/>
                </a:solidFill>
                <a:latin typeface="+mn-lt"/>
              </a:rPr>
              <a:t>  ·  </a:t>
            </a:r>
            <a:r>
              <a:rPr sz="1200" lang="en-GB">
                <a:solidFill>
                  <a:srgbClr val="455A64"/>
                </a:solidFill>
                <a:latin typeface="+mn-lt"/>
              </a:rPr>
              <a:t>Reality</a:t>
            </a:r>
            <a:r>
              <a:rPr sz="1200" lang="en-GB">
                <a:solidFill>
                  <a:srgbClr val="455A64"/>
                </a:solidFill>
                <a:latin typeface="+mn-lt"/>
              </a:rPr>
              <a:t>  ·  </a:t>
            </a:r>
            <a:r>
              <a:rPr sz="1200" lang="en-GB">
                <a:solidFill>
                  <a:srgbClr val="2B6797"/>
                </a:solidFill>
                <a:latin typeface="Fira Sans SemiBold"/>
              </a:rPr>
              <a:t>Wrap-up</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Thank you</a:t>
            </a:r>
          </a:p>
        </p:txBody>
      </p:sp>
      <p:sp>
        <p:nvSpPr>
          <p:cNvPr id="3" name="Contact"/>
          <p:cNvSpPr>
            <a:spLocks noGrp="1"/>
          </p:cNvSpPr>
          <p:nvPr>
            <p:ph type="body" idx="15"/>
          </p:nvPr>
        </p:nvSpPr>
        <p:spPr/>
        <p:txBody>
          <a:bodyPr/>
          <a:lstStyle/>
          <a:p>
            <a:pPr marL="0" indent="0" algn="l">
              <a:spcBef>
                <a:spcPts val="0"/>
              </a:spcBef>
              <a:spcAft>
                <a:spcPts val="1400"/>
              </a:spcAft>
              <a:buNone/>
            </a:pPr>
            <a:r>
              <a:rPr sz="2400" b="0" lang="en-GB">
                <a:solidFill>
                  <a:srgbClr val="B1CAC5"/>
                </a:solidFill>
                <a:latin typeface="+mn-lt"/>
              </a:rPr>
              <a:t>Try it on your own AHN tile.</a:t>
            </a:r>
            <a:endParaRPr lang="en-GB" sz="2400"/>
          </a:p>
          <a:p>
            <a:pPr marL="0" indent="0" algn="l">
              <a:spcBef>
                <a:spcPts val="0"/>
              </a:spcBef>
              <a:spcAft>
                <a:spcPts val="400"/>
              </a:spcAft>
              <a:buNone/>
            </a:pPr>
            <a:r>
              <a:rPr sz="2400" b="1" lang="en-GB">
                <a:solidFill>
                  <a:srgbClr val="FFFFFF"/>
                </a:solidFill>
                <a:latin typeface="+mn-lt"/>
              </a:rPr>
              <a:t>Sergio Peral</a:t>
            </a:r>
            <a:endParaRPr lang="en-GB" sz="2400"/>
          </a:p>
          <a:p>
            <a:pPr marL="0" indent="0" algn="l">
              <a:spcBef>
                <a:spcPts val="0"/>
              </a:spcBef>
              <a:spcAft>
                <a:spcPts val="400"/>
              </a:spcAft>
              <a:buNone/>
            </a:pPr>
            <a:r>
              <a:rPr sz="2400" b="0" lang="en-GB">
                <a:solidFill>
                  <a:srgbClr val="FFFFFF"/>
                </a:solidFill>
                <a:latin typeface="+mn-lt"/>
              </a:rPr>
              <a:t>sergioperalgarijo99@gmail.com</a:t>
            </a:r>
            <a:endParaRPr lang="en-GB" sz="2400"/>
          </a:p>
          <a:p>
            <a:pPr marL="0" indent="0" algn="l">
              <a:spcBef>
                <a:spcPts val="0"/>
              </a:spcBef>
              <a:spcAft>
                <a:spcPts val="400"/>
              </a:spcAft>
              <a:buNone/>
            </a:pPr>
            <a:r>
              <a:rPr sz="2400" b="0" lang="en-GB">
                <a:solidFill>
                  <a:srgbClr val="FFFFFF"/>
                </a:solidFill>
                <a:latin typeface="+mn-lt"/>
              </a:rPr>
              <a:t>github.com/Sloppy1999</a:t>
            </a:r>
            <a:endParaRPr lang="en-GB" sz="2400"/>
          </a:p>
        </p:txBody>
      </p:sp>
      <p:pic>
        <p:nvPicPr>
          <p:cNvPr id="6" name="QR code" descr="QR code linking to https://github.com/Sloppy1999/pycon-nl-2026-3d-data-science"/>
          <p:cNvPicPr>
            <a:picLocks noGrp="1" noChangeAspect="1"/>
          </p:cNvPicPr>
          <p:nvPr>
            <p:ph type="pic" idx="17"/>
          </p:nvPr>
        </p:nvPicPr>
        <p:blipFill>
          <a:blip r:embed="rId2"/>
          <a:srcRect/>
          <a:stretch>
            <a:fillRect/>
          </a:stretch>
        </p:blipFill>
        <p:spPr/>
      </p:pic>
      <p:sp>
        <p:nvSpPr>
          <p:cNvPr id="7" name="Logo tile"/>
          <p:cNvSpPr/>
          <p:nvPr/>
        </p:nvSpPr>
        <p:spPr>
          <a:xfrm>
            <a:off x="10454640" y="548640"/>
            <a:ext cx="118872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Logo" descr="PyCon NL 2026 logo: the Python snakes filled with a Dutch canal house, tulips and a windmill"/>
          <p:cNvPicPr>
            <a:picLocks noChangeAspect="1"/>
          </p:cNvPicPr>
          <p:nvPr/>
        </p:nvPicPr>
        <p:blipFill>
          <a:blip r:embed="rId3"/>
          <a:stretch>
            <a:fillRect/>
          </a:stretch>
        </p:blipFill>
        <p:spPr>
          <a:xfrm>
            <a:off x="10509504" y="603504"/>
            <a:ext cx="1078992" cy="1078992"/>
          </a:xfrm>
          <a:prstGeom prst="rect">
            <a:avLst/>
          </a:prstGeom>
        </p:spPr>
      </p:pic>
      <p:sp>
        <p:nvSpPr>
          <p:cNvPr id="9" name="Callback"/>
          <p:cNvSpPr txBox="1"/>
          <p:nvPr/>
        </p:nvSpPr>
        <p:spPr>
          <a:xfrm>
            <a:off x="548640" y="1828800"/>
            <a:ext cx="8168640" cy="365760"/>
          </a:xfrm>
          <a:prstGeom prst="rect">
            <a:avLst/>
          </a:prstGeom>
          <a:noFill/>
        </p:spPr>
        <p:txBody>
          <a:bodyPr wrap="square" anchor="t" lIns="0" tIns="0" rIns="0" bIns="0">
            <a:noAutofit/>
          </a:bodyPr>
          <a:lstStyle/>
          <a:p>
            <a:pPr marL="0" indent="0" algn="l">
              <a:spcBef>
                <a:spcPts val="0"/>
              </a:spcBef>
              <a:spcAft>
                <a:spcPts val="0"/>
              </a:spcAft>
              <a:buNone/>
            </a:pPr>
            <a:r>
              <a:rPr sz="2400" b="0" lang="en-GB">
                <a:solidFill>
                  <a:srgbClr val="B1CAC5"/>
                </a:solidFill>
                <a:latin typeface="+mn-lt"/>
              </a:rPr>
              <a:t>Write the plan in Python; let compiled code loop.</a:t>
            </a:r>
            <a:endParaRPr lang="en-GB" sz="2400"/>
          </a:p>
        </p:txBody>
      </p:sp>
      <p:sp>
        <p:nvSpPr>
          <p:cNvPr id="4" name="Small print"/>
          <p:cNvSpPr>
            <a:spLocks noGrp="1"/>
          </p:cNvSpPr>
          <p:nvPr>
            <p:ph type="body" idx="19"/>
          </p:nvPr>
        </p:nvSpPr>
        <p:spPr/>
        <p:txBody>
          <a:bodyPr/>
          <a:lstStyle/>
          <a:p>
            <a:pPr marL="0" indent="0" algn="l">
              <a:spcBef>
                <a:spcPts val="0"/>
              </a:spcBef>
              <a:spcAft>
                <a:spcPts val="0"/>
              </a:spcAft>
              <a:buNone/>
            </a:pPr>
            <a:r>
              <a:rPr sz="1200" lang="en-GB">
                <a:solidFill>
                  <a:srgbClr val="B1CAC5"/>
                </a:solidFill>
                <a:latin typeface="+mn-lt"/>
              </a:rPr>
              <a:t>Data: AHN5, Het Waterschapshuis, </a:t>
            </a:r>
            <a:r>
              <a:rPr sz="1200" lang="en-GB">
                <a:solidFill>
                  <a:srgbClr val="B1CAC5"/>
                </a:solidFill>
                <a:latin typeface="+mn-lt"/>
                <a:hlinkClick r:id="rId4">
                  <a:extLst>
                    <a:ext uri="{A12FA001-AC4F-418D-AE19-62706E023703}">
                      <ahyp:hlinkClr xmlns:ahyp="http://schemas.microsoft.com/office/drawing/2018/hyperlinkcolor" val="tx"/>
                    </a:ext>
                  </a:extLst>
                </a:hlinkClick>
              </a:rPr>
              <a:t>CC BY 4.0</a:t>
            </a:r>
            <a:r>
              <a:rPr sz="1200" lang="en-GB">
                <a:solidFill>
                  <a:srgbClr val="B1CAC5"/>
                </a:solidFill>
                <a:latin typeface="+mn-lt"/>
              </a:rPr>
              <a:t>.</a:t>
            </a:r>
            <a:endParaRPr lang="en-GB" sz="1200"/>
          </a:p>
          <a:p>
            <a:pPr marL="0" indent="0" algn="l">
              <a:spcBef>
                <a:spcPts val="0"/>
              </a:spcBef>
              <a:spcAft>
                <a:spcPts val="0"/>
              </a:spcAft>
              <a:buNone/>
            </a:pPr>
            <a:r>
              <a:rPr sz="1200" lang="en-GB">
                <a:solidFill>
                  <a:srgbClr val="B1CAC5"/>
                </a:solidFill>
                <a:latin typeface="+mn-lt"/>
              </a:rPr>
              <a:t>Licence: </a:t>
            </a:r>
            <a:r>
              <a:rPr sz="1200" lang="en-GB">
                <a:solidFill>
                  <a:srgbClr val="B1CAC5"/>
                </a:solidFill>
                <a:latin typeface="+mn-lt"/>
                <a:hlinkClick r:id="rId4">
                  <a:extLst>
                    <a:ext uri="{A12FA001-AC4F-418D-AE19-62706E023703}">
                      <ahyp:hlinkClr xmlns:ahyp="http://schemas.microsoft.com/office/drawing/2018/hyperlinkcolor" val="tx"/>
                    </a:ext>
                  </a:extLst>
                </a:hlinkClick>
              </a:rPr>
              <a:t>creativecommons.org/licenses/by/4.0</a:t>
            </a:r>
            <a:endParaRPr lang="en-GB" sz="1200"/>
          </a:p>
          <a:p>
            <a:pPr marL="0" indent="0" algn="l">
              <a:spcBef>
                <a:spcPts val="0"/>
              </a:spcBef>
              <a:spcAft>
                <a:spcPts val="0"/>
              </a:spcAft>
              <a:buNone/>
            </a:pPr>
            <a:r>
              <a:rPr sz="1200" lang="en-GB">
                <a:solidFill>
                  <a:srgbClr val="B1CAC5"/>
                </a:solidFill>
                <a:latin typeface="+mn-lt"/>
              </a:rPr>
              <a:t>Title shared with F. Poux, 3D Data Science with Python, O'Reilly 2025; this talk is independent.</a:t>
            </a:r>
            <a:endParaRPr lang="en-GB" sz="1200"/>
          </a:p>
        </p:txBody>
      </p:sp>
    </p:spTree>
  </p:cSld>
  <p:clrMapOvr>
    <a:overrideClrMapping bg1="lt1" tx1="dk1" bg2="lt2" tx2="dk2" accent1="accent1" accent2="accent2" accent3="accent3" accent4="accent4" accent5="accent5" accent6="accent6" hlink="accent2" folHlink="accent2"/>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Why not just use C++?</a:t>
            </a:r>
          </a:p>
        </p:txBody>
      </p:sp>
      <p:sp>
        <p:nvSpPr>
          <p:cNvPr id="6" name="Appendix bullets"/>
          <p:cNvSpPr txBox="1"/>
          <p:nvPr/>
        </p:nvSpPr>
        <p:spPr>
          <a:xfrm>
            <a:off x="548640" y="1554480"/>
            <a:ext cx="11094720" cy="3472688"/>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The heavy steps already run in compiled code: Open3D and SciPy's KDTree in C++, VTK under PyVista in C++, LAZ decoding in lazrs (Rust).</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Python only orchestrates: no step loops over points, and the whole crop runs from load to paint-back in 0.6 s (single run, renders excluded, indicative).</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The price is per call, not per language: 439 ns per loop step of slide 24 (several NumPy calls each), 3.4 ns per point inside NumPy, 3.2 µs for the cheapest KDTree call, 9.8 µs for an empty k = 16 query.</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Here only the batched call used all cores: kNN in one call took 1.6 s on 1 thread, 165 ms on 16.</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Compiled code pays off when your step has no batched call: a custom per-point kernel you would otherwise loop over in Python.</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It also pays off when Python itself is the constraint: hard real-time budgets, embedded targets without a Python runtime. Not measured here.</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NOT TESTED for this talk: Numba, Cython, writing your own C++ extension. No numbers quoted.</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The PCL code on slide 2 shows the shape only: NOT RUN (no PCL toolchain on the build machine).</a:t>
            </a:r>
            <a:endParaRPr lang="en-GB" sz="1600"/>
          </a:p>
        </p:txBody>
      </p:sp>
      <p:sp>
        <p:nvSpPr>
          <p:cNvPr id="7" name="Small print"/>
          <p:cNvSpPr txBox="1"/>
          <p:nvPr/>
        </p:nvSpPr>
        <p:spPr>
          <a:xfrm>
            <a:off x="548640" y="5069552"/>
            <a:ext cx="11094720" cy="114808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Timings: median of repeated runs. Pipeline runtime: one run.</a:t>
            </a:r>
            <a:endParaRPr lang="en-GB" sz="1200"/>
          </a:p>
          <a:p>
            <a:pPr marL="0" indent="0" algn="l">
              <a:spcBef>
                <a:spcPts val="400"/>
              </a:spcBef>
              <a:spcAft>
                <a:spcPts val="0"/>
              </a:spcAft>
              <a:buNone/>
            </a:pPr>
            <a:r>
              <a:rPr sz="1200" b="0" lang="en-GB">
                <a:solidFill>
                  <a:srgbClr val="455A64"/>
                </a:solidFill>
                <a:latin typeface="+mn-lt"/>
              </a:rPr>
              <a:t>Conditions: Ryzen 7 5700X, 8 cores / 16 threads, 31.3 GiB RAM; Linux (Omarchy, kernel 7.2.5-3-omarchy); Python 3.13.15, NumPy 2.5.3, SciPy 1.18.1, Open3D 0.20.0, laspy 2.7.0; N = 722 961 points, 7 runs after 1 warm-up, median and IQR of wall time over the timed runs; governor performance; boost on; measured 2026-10-11 20:08 UTC; data: the AHN5 crop of slide 5 (ahn.nl, Het Waterschapshuis,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Per-call costs: SciPy KDTree, one query point far outside the cloud (radius query, and kNN with k = 16), median of 7 timeit repeats of 20 000 calls.</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How does this scale to billions of points?</a:t>
            </a:r>
          </a:p>
        </p:txBody>
      </p:sp>
      <p:sp>
        <p:nvSpPr>
          <p:cNvPr id="6" name="Appendix bullets"/>
          <p:cNvSpPr txBox="1"/>
          <p:nvPr/>
        </p:nvSpPr>
        <p:spPr>
          <a:xfrm>
            <a:off x="548640" y="1554480"/>
            <a:ext cx="11094720" cy="1597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AHN files: 1 km file 135000_455000, 21 013 926 points (130 MB LAZ); 5 × 6.25 km file 2023_C_31HZ2, 926 203 338 points (5.1 GB); its AHN4 edition: 1 290 104 537 points.</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LAS records alone: 25.9 GB at 30 B per point (format 6); our pipeline (slides 14 and 16): 74.2 GB. Computed, not run.</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COPC: laspy's CopcReader reads one box over HTTP with .query(Bounds(mins, maxs)). The same box as our crop, read remotely from the AHN5 1 km file: 722 961 points, the same as the local crop, about 16 MB in 33 requests and 1.5 s (single run).</a:t>
            </a:r>
            <a:endParaRPr lang="en-GB" sz="16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Which GPU options actually help?</a:t>
            </a:r>
          </a:p>
        </p:txBody>
      </p:sp>
      <p:sp>
        <p:nvSpPr>
          <p:cNvPr id="6" name="Appendix bullets"/>
          <p:cNvSpPr txBox="1"/>
          <p:nvPr/>
        </p:nvSpPr>
        <p:spPr>
          <a:xfrm>
            <a:off x="548640" y="1554480"/>
            <a:ext cx="11094720" cy="2386584"/>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400" lang="en-GB">
                <a:solidFill>
                  <a:srgbClr val="263238"/>
                </a:solidFill>
                <a:latin typeface="+mn-lt"/>
              </a:rPr>
              <a:t>The open3d 0.20.0 wheel on PyPI is built with CUDA 12.6; o3d.core.cuda.is_available() is True on the test machine (RTX 3060). A CPU build, open3d-cpu 0.20.0, exists for Linux x86_64.</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Plane fitting and DBSCAN are barely faster (table): their tensor docstrings say they wrap a CPU implementation and copy the data.</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PyTorch3D has no documented install for Python 3.13: PyPI's latest is 0.7.4 (2023-05-10, macOS x86_64 wheels only), GitHub has v0.7.9 (2025-11-28), INSTALL.md lists PyTorch 2.1.0 to 2.4.1, and torch has cp313 wheels only from 2.5.0.</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Source build of v0.7.9 against torch 2.14.1 (CPU, gcc 16.2.1) fails: C++20 required. An unofficial -std=c++20 patch builds and runs on CPU. CUDA build UNVERIFIED.</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PyTorch3D knn_points on CPU, 100 000 × 100 000 points, k = 8: 29.4 s, against 55 ms for a SciPy KDTree build and query with workers=-1 (single runs).</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NOT TESTED: the Open3D wheel without a GPU or driver, Open3D's PyTorch ops, a GPU run of this pipeline.</a:t>
            </a:r>
            <a:endParaRPr lang="en-GB" sz="1400"/>
          </a:p>
        </p:txBody>
      </p:sp>
      <p:sp>
        <p:nvSpPr>
          <p:cNvPr id="7" name="Table caption"/>
          <p:cNvSpPr txBox="1"/>
          <p:nvPr/>
        </p:nvSpPr>
        <p:spPr>
          <a:xfrm>
            <a:off x="548640" y="4050792"/>
            <a:ext cx="11094720" cy="308864"/>
          </a:xfrm>
          <a:prstGeom prst="rect">
            <a:avLst/>
          </a:prstGeom>
          <a:noFill/>
        </p:spPr>
        <p:txBody>
          <a:bodyPr wrap="square" anchor="t" lIns="0" tIns="0" rIns="0" bIns="0">
            <a:noAutofit/>
          </a:bodyPr>
          <a:lstStyle/>
          <a:p>
            <a:pPr marL="0" indent="0" algn="l">
              <a:spcBef>
                <a:spcPts val="0"/>
              </a:spcBef>
              <a:spcAft>
                <a:spcPts val="0"/>
              </a:spcAft>
              <a:buNone/>
            </a:pPr>
            <a:r>
              <a:rPr sz="1600" b="0" lang="en-GB">
                <a:solidFill>
                  <a:srgbClr val="1C325B"/>
                </a:solidFill>
                <a:latin typeface="Fira Sans SemiBold"/>
              </a:rPr>
              <a:t>Open3D tensor API, 1 000 000 float32 points, RTX 3060 against CPU: single runs, indicative</a:t>
            </a:r>
            <a:endParaRPr lang="en-GB" sz="1600"/>
          </a:p>
        </p:txBody>
      </p:sp>
      <p:graphicFrame>
        <p:nvGraphicFramePr>
          <p:cNvPr id="8" name="Appendix table" descr="Open3D tensor API, 1 000 000 float32 points, RTX 3060 against CPU: single runs, indicative. Columns: Operation, CUDA, CPU. 3 rows."/>
          <p:cNvGraphicFramePr>
            <a:graphicFrameLocks noGrp="1"/>
          </p:cNvGraphicFramePr>
          <p:nvPr/>
        </p:nvGraphicFramePr>
        <p:xfrm>
          <a:off x="548640" y="4359656"/>
          <a:ext cx="11094720" cy="1139952"/>
        </p:xfrm>
        <a:graphic>
          <a:graphicData uri="http://schemas.openxmlformats.org/drawingml/2006/table">
            <a:tbl>
              <a:tblPr firstRow="0" bandRow="0">
                <a:tableStyleId>{2D5ABB26-0587-4C30-8999-92F81FD0307C}</a:tableStyleId>
              </a:tblPr>
              <a:tblGrid>
                <a:gridCol w="4538749"/>
                <a:gridCol w="3866342"/>
                <a:gridCol w="2689629"/>
              </a:tblGrid>
              <a:tr h="284988">
                <a:tc>
                  <a:txBody>
                    <a:bodyPr/>
                    <a:lstStyle/>
                    <a:p>
                      <a:pPr marL="0" indent="0" algn="l">
                        <a:lnSpc>
                          <a:spcPct val="95000"/>
                        </a:lnSpc>
                        <a:spcBef>
                          <a:spcPts val="0"/>
                        </a:spcBef>
                        <a:spcAft>
                          <a:spcPts val="0"/>
                        </a:spcAft>
                        <a:buNone/>
                      </a:pPr>
                      <a:r>
                        <a:rPr sz="1400" lang="en-GB">
                          <a:solidFill>
                            <a:srgbClr val="FFFFFF"/>
                          </a:solidFill>
                          <a:latin typeface="Fira Sans SemiBold"/>
                        </a:rPr>
                        <a:t>Operation</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400" lang="en-GB">
                          <a:solidFill>
                            <a:srgbClr val="FFFFFF"/>
                          </a:solidFill>
                          <a:latin typeface="Fira Sans SemiBold"/>
                        </a:rPr>
                        <a:t>CUDA</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400" lang="en-GB">
                          <a:solidFill>
                            <a:srgbClr val="FFFFFF"/>
                          </a:solidFill>
                          <a:latin typeface="Fira Sans SemiBold"/>
                        </a:rPr>
                        <a:t>CPU</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284988">
                <a:tc>
                  <a:txBody>
                    <a:bodyPr/>
                    <a:lstStyle/>
                    <a:p>
                      <a:pPr marL="0" indent="0" algn="l">
                        <a:lnSpc>
                          <a:spcPct val="95000"/>
                        </a:lnSpc>
                        <a:spcBef>
                          <a:spcPts val="0"/>
                        </a:spcBef>
                        <a:spcAft>
                          <a:spcPts val="0"/>
                        </a:spcAft>
                        <a:buNone/>
                      </a:pPr>
                      <a:r>
                        <a:rPr sz="1400" lang="en-GB">
                          <a:solidFill>
                            <a:srgbClr val="263238"/>
                          </a:solidFill>
                          <a:latin typeface="+mn-lt"/>
                        </a:rPr>
                        <a:t>Voxel downsampling</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98 ms first call, 4.2 ms second</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250 ms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284988">
                <a:tc>
                  <a:txBody>
                    <a:bodyPr/>
                    <a:lstStyle/>
                    <a:p>
                      <a:pPr marL="0" indent="0" algn="l">
                        <a:lnSpc>
                          <a:spcPct val="95000"/>
                        </a:lnSpc>
                        <a:spcBef>
                          <a:spcPts val="0"/>
                        </a:spcBef>
                        <a:spcAft>
                          <a:spcPts val="0"/>
                        </a:spcAft>
                        <a:buNone/>
                      </a:pPr>
                      <a:r>
                        <a:rPr sz="1400" lang="en-GB">
                          <a:solidFill>
                            <a:srgbClr val="263238"/>
                          </a:solidFill>
                          <a:latin typeface="+mn-lt"/>
                        </a:rPr>
                        <a:t>segment_plane</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62 ms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68 ms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284988">
                <a:tc>
                  <a:txBody>
                    <a:bodyPr/>
                    <a:lstStyle/>
                    <a:p>
                      <a:pPr marL="0" indent="0" algn="l">
                        <a:lnSpc>
                          <a:spcPct val="95000"/>
                        </a:lnSpc>
                        <a:spcBef>
                          <a:spcPts val="0"/>
                        </a:spcBef>
                        <a:spcAft>
                          <a:spcPts val="0"/>
                        </a:spcAft>
                        <a:buNone/>
                      </a:pPr>
                      <a:r>
                        <a:rPr sz="1400" lang="en-GB">
                          <a:solidFill>
                            <a:srgbClr val="263238"/>
                          </a:solidFill>
                          <a:latin typeface="+mn-lt"/>
                        </a:rPr>
                        <a:t>cluster_dbscan</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721 ms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748 ms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9" name="Small print"/>
          <p:cNvSpPr txBox="1"/>
          <p:nvPr/>
        </p:nvSpPr>
        <p:spPr>
          <a:xfrm>
            <a:off x="548640" y="5486112"/>
            <a:ext cx="11094720" cy="73152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Single runs on one machine (Ryzen 7 5700X, RTX 3060, Linux/Omarchy), CPython 3.13.15, Open3D 0.20.0 (CUDA 12.6 wheel), SciPy 1.18.1; PyTorch3D v0.7.9 (patched CPU build) on torch 2.14.1+cpu; synthetic point clouds (1 000 000 points for the Open3D table, 100 000 for knn_points); indicative only. No PyTorch3D GPU numbers: CUDA build UNVERIFIED.</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What can replace a KDTree?</a:t>
            </a:r>
          </a:p>
        </p:txBody>
      </p:sp>
      <p:sp>
        <p:nvSpPr>
          <p:cNvPr id="6" name="Table caption"/>
          <p:cNvSpPr txBox="1"/>
          <p:nvPr/>
        </p:nvSpPr>
        <p:spPr>
          <a:xfrm>
            <a:off x="548640" y="1554480"/>
            <a:ext cx="7033260" cy="308864"/>
          </a:xfrm>
          <a:prstGeom prst="rect">
            <a:avLst/>
          </a:prstGeom>
          <a:noFill/>
        </p:spPr>
        <p:txBody>
          <a:bodyPr wrap="square" anchor="t" lIns="0" tIns="0" rIns="0" bIns="0">
            <a:noAutofit/>
          </a:bodyPr>
          <a:lstStyle/>
          <a:p>
            <a:pPr marL="0" indent="0" algn="l">
              <a:spcBef>
                <a:spcPts val="0"/>
              </a:spcBef>
              <a:spcAft>
                <a:spcPts val="0"/>
              </a:spcAft>
              <a:buNone/>
            </a:pPr>
            <a:r>
              <a:rPr sz="1600" b="0" lang="en-GB">
                <a:solidFill>
                  <a:srgbClr val="1C325B"/>
                </a:solidFill>
                <a:latin typeface="Fira Sans SemiBold"/>
              </a:rPr>
              <a:t>Neighbour search options (Open3D 0.20.0, SciPy 1.18.1)</a:t>
            </a:r>
            <a:endParaRPr lang="en-GB" sz="1600"/>
          </a:p>
        </p:txBody>
      </p:sp>
      <p:graphicFrame>
        <p:nvGraphicFramePr>
          <p:cNvPr id="7" name="Appendix table" descr="Neighbour search options (Open3D 0.20.0, SciPy 1.18.1). Columns: Option, Use it for, Note. 5 rows."/>
          <p:cNvGraphicFramePr>
            <a:graphicFrameLocks noGrp="1"/>
          </p:cNvGraphicFramePr>
          <p:nvPr/>
        </p:nvGraphicFramePr>
        <p:xfrm>
          <a:off x="548640" y="1863344"/>
          <a:ext cx="7033260" cy="3331464"/>
        </p:xfrm>
        <a:graphic>
          <a:graphicData uri="http://schemas.openxmlformats.org/drawingml/2006/table">
            <a:tbl>
              <a:tblPr firstRow="0" bandRow="0">
                <a:tableStyleId>{2D5ABB26-0587-4C30-8999-92F81FD0307C}</a:tableStyleId>
              </a:tblPr>
              <a:tblGrid>
                <a:gridCol w="2338851"/>
                <a:gridCol w="2450225"/>
                <a:gridCol w="2244184"/>
              </a:tblGrid>
              <a:tr h="284988">
                <a:tc>
                  <a:txBody>
                    <a:bodyPr/>
                    <a:lstStyle/>
                    <a:p>
                      <a:pPr marL="0" indent="0" algn="l">
                        <a:lnSpc>
                          <a:spcPct val="95000"/>
                        </a:lnSpc>
                        <a:spcBef>
                          <a:spcPts val="0"/>
                        </a:spcBef>
                        <a:spcAft>
                          <a:spcPts val="0"/>
                        </a:spcAft>
                        <a:buNone/>
                      </a:pPr>
                      <a:r>
                        <a:rPr sz="1400" lang="en-GB">
                          <a:solidFill>
                            <a:srgbClr val="FFFFFF"/>
                          </a:solidFill>
                          <a:latin typeface="Fira Sans SemiBold"/>
                        </a:rPr>
                        <a:t>Option</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400" lang="en-GB">
                          <a:solidFill>
                            <a:srgbClr val="FFFFFF"/>
                          </a:solidFill>
                          <a:latin typeface="Fira Sans SemiBold"/>
                        </a:rPr>
                        <a:t>Use it for</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400" lang="en-GB">
                          <a:solidFill>
                            <a:srgbClr val="FFFFFF"/>
                          </a:solidFill>
                          <a:latin typeface="Fira Sans SemiBold"/>
                        </a:rPr>
                        <a:t>Note</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487680">
                <a:tc>
                  <a:txBody>
                    <a:bodyPr/>
                    <a:lstStyle/>
                    <a:p>
                      <a:pPr marL="0" indent="0" algn="l">
                        <a:lnSpc>
                          <a:spcPct val="95000"/>
                        </a:lnSpc>
                        <a:spcBef>
                          <a:spcPts val="0"/>
                        </a:spcBef>
                        <a:spcAft>
                          <a:spcPts val="0"/>
                        </a:spcAft>
                        <a:buNone/>
                      </a:pPr>
                      <a:r>
                        <a:rPr sz="1400" lang="en-GB">
                          <a:solidFill>
                            <a:srgbClr val="263238"/>
                          </a:solidFill>
                          <a:latin typeface="+mn-lt"/>
                        </a:rPr>
                        <a:t>SciPy KDTree, one call</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All points at once; workers=-1 for all cores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This talk's choice; numbers at right</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487680">
                <a:tc>
                  <a:txBody>
                    <a:bodyPr/>
                    <a:lstStyle/>
                    <a:p>
                      <a:pPr marL="0" indent="0" algn="l">
                        <a:lnSpc>
                          <a:spcPct val="95000"/>
                        </a:lnSpc>
                        <a:spcBef>
                          <a:spcPts val="0"/>
                        </a:spcBef>
                        <a:spcAft>
                          <a:spcPts val="0"/>
                        </a:spcAft>
                        <a:buNone/>
                      </a:pPr>
                      <a:r>
                        <a:rPr sz="1400" lang="en-GB">
                          <a:solidFill>
                            <a:srgbClr val="263238"/>
                          </a:solidFill>
                          <a:latin typeface="+mn-lt"/>
                        </a:rPr>
                        <a:t>Open3D KDTreeFlann</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search_knn_vector_3d and friends, one point per call</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Per point, it is still a Python loop</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690372">
                <a:tc>
                  <a:txBody>
                    <a:bodyPr/>
                    <a:lstStyle/>
                    <a:p>
                      <a:pPr marL="0" indent="0" algn="l">
                        <a:lnSpc>
                          <a:spcPct val="95000"/>
                        </a:lnSpc>
                        <a:spcBef>
                          <a:spcPts val="0"/>
                        </a:spcBef>
                        <a:spcAft>
                          <a:spcPts val="0"/>
                        </a:spcAft>
                        <a:buNone/>
                      </a:pPr>
                      <a:r>
                        <a:rPr sz="1400" lang="en-GB">
                          <a:solidFill>
                            <a:srgbClr val="263238"/>
                          </a:solidFill>
                          <a:latin typeface="+mn-lt"/>
                        </a:rPr>
                        <a:t>Open3D NearestNeighborSearch</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Batched kNN, fixed-radius and hybrid search (tensor API)</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Many threads by default; radius search returns indices, distances, splits</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690372">
                <a:tc>
                  <a:txBody>
                    <a:bodyPr/>
                    <a:lstStyle/>
                    <a:p>
                      <a:pPr marL="0" indent="0" algn="l">
                        <a:lnSpc>
                          <a:spcPct val="95000"/>
                        </a:lnSpc>
                        <a:spcBef>
                          <a:spcPts val="0"/>
                        </a:spcBef>
                        <a:spcAft>
                          <a:spcPts val="0"/>
                        </a:spcAft>
                        <a:buNone/>
                      </a:pPr>
                      <a:r>
                        <a:rPr sz="1400" lang="en-GB">
                          <a:solidFill>
                            <a:srgbClr val="263238"/>
                          </a:solidFill>
                          <a:latin typeface="+mn-lt"/>
                        </a:rPr>
                        <a:t>Voxel grid hashing</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One int64 key per voxel, then np.unique</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400" lang="en-GB">
                          <a:solidFill>
                            <a:srgbClr val="263238"/>
                          </a:solidFill>
                          <a:latin typeface="+mn-lt"/>
                        </a:rPr>
                        <a:t>Fixed cell size; np.unique(axis=0) is no faster than a dict loop</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690372">
                <a:tc>
                  <a:txBody>
                    <a:bodyPr/>
                    <a:lstStyle/>
                    <a:p>
                      <a:pPr marL="0" indent="0" algn="l">
                        <a:lnSpc>
                          <a:spcPct val="95000"/>
                        </a:lnSpc>
                        <a:spcBef>
                          <a:spcPts val="0"/>
                        </a:spcBef>
                        <a:spcAft>
                          <a:spcPts val="0"/>
                        </a:spcAft>
                        <a:buNone/>
                      </a:pPr>
                      <a:r>
                        <a:rPr sz="1400" lang="en-GB">
                          <a:solidFill>
                            <a:srgbClr val="263238"/>
                          </a:solidFill>
                          <a:latin typeface="+mn-lt"/>
                        </a:rPr>
                        <a:t>Octree (o3d.geometry.Octree)</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Hierarchical cells for level of detail (in memory)</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400" lang="en-GB">
                          <a:solidFill>
                            <a:srgbClr val="263238"/>
                          </a:solidFill>
                          <a:latin typeface="+mn-lt"/>
                        </a:rPr>
                        <a:t>Not benchmarked here; out-of-core octrees are what COPC files store (B2)</a:t>
                      </a:r>
                      <a:endParaRPr lang="en-GB" sz="14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8" name="Appendix bullets"/>
          <p:cNvSpPr txBox="1"/>
          <p:nvPr/>
        </p:nvSpPr>
        <p:spPr>
          <a:xfrm>
            <a:off x="7856220" y="1554480"/>
            <a:ext cx="3787140" cy="2487676"/>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400" lang="en-GB">
                <a:solidFill>
                  <a:srgbClr val="263238"/>
                </a:solidFill>
                <a:latin typeface="+mn-lt"/>
              </a:rPr>
              <a:t>kNN, k = 16, 722 961 points: Python loop 9.6 s, one call 1.6 s (1 thread), 165 ms (16 threads).</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So the loop costs 6.2× against one call on one thread, and 58× against all cores.</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Fixed cost per call: 3.2 µs for an empty radius query, 9.8 µs for an empty k = 16 query; a typical query takes 14.1 µs.</a:t>
            </a:r>
            <a:endParaRPr lang="en-GB" sz="1400"/>
          </a:p>
          <a:p>
            <a:pPr algn="l" marL="228600" indent="-228600">
              <a:lnSpc>
                <a:spcPct val="95000"/>
              </a:lnSpc>
              <a:spcBef>
                <a:spcPts val="400"/>
              </a:spcBef>
              <a:spcAft>
                <a:spcPts val="0"/>
              </a:spcAft>
              <a:buClr>
                <a:srgbClr val="2B6797"/>
              </a:buClr>
              <a:buFont typeface="Fira Sans"/>
              <a:buChar char="•"/>
            </a:pPr>
            <a:r>
              <a:rPr sz="1400" lang="en-GB">
                <a:solidFill>
                  <a:srgbClr val="263238"/>
                </a:solidFill>
                <a:latin typeface="+mn-lt"/>
              </a:rPr>
              <a:t>Not shown: a brute-force double loop, because it changes the algorithm as well as the number of calls.</a:t>
            </a:r>
            <a:endParaRPr lang="en-GB" sz="1400"/>
          </a:p>
        </p:txBody>
      </p:sp>
      <p:sp>
        <p:nvSpPr>
          <p:cNvPr id="9" name="Small print"/>
          <p:cNvSpPr txBox="1"/>
          <p:nvPr/>
        </p:nvSpPr>
        <p:spPr>
          <a:xfrm>
            <a:off x="548640" y="5303232"/>
            <a:ext cx="11094720" cy="91440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Conditions: Ryzen 7 5700X, 8 cores / 16 threads, 31.3 GiB RAM; Linux (Omarchy, kernel 7.2.5-3-omarchy); Python 3.13.15, NumPy 2.5.3, SciPy 1.18.1, Open3D 0.20.0, laspy 2.7.0; N = 722 961 points, 7 runs after 1 warm-up, median and IQR of wall time over the timed runs; governor performance; boost on; measured 2026-10-11 20:08 UTC; data: the AHN5 crop of slide 5 (ahn.nl, Het Waterschapshuis,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 Tree build excluded from every timing. Per-call costs: SciPy KDTree, median of 7 timeit repeats of 20 000 calls; empty queries use one point far outside the cloud, typical ones a seeded sample of 20 000 crop points.</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Could a classifier replace the labelling rules?</a:t>
            </a:r>
          </a:p>
        </p:txBody>
      </p:sp>
      <p:sp>
        <p:nvSpPr>
          <p:cNvPr id="6" name="Appendix bullets"/>
          <p:cNvSpPr txBox="1"/>
          <p:nvPr/>
        </p:nvSpPr>
        <p:spPr>
          <a:xfrm>
            <a:off x="548640" y="1554480"/>
            <a:ext cx="11094720" cy="1083056"/>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Idea from F. Poux (PCA + Random Forest): describe each cluster by the eigenvalues of its covariance matrix (linearity, planarity, sphericity, plus verticality) and let a Random Forest name it.</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In Python: one batched np.linalg.eigh over all 1 024 clusters takes 11 ms; a loop over clusters with np.cov takes 53 ms (4.9×), same features.</a:t>
            </a:r>
            <a:endParaRPr lang="en-GB" sz="1600"/>
          </a:p>
        </p:txBody>
      </p:sp>
      <p:sp>
        <p:nvSpPr>
          <p:cNvPr id="7" name="Table caption"/>
          <p:cNvSpPr txBox="1"/>
          <p:nvPr/>
        </p:nvSpPr>
        <p:spPr>
          <a:xfrm>
            <a:off x="548640" y="2747264"/>
            <a:ext cx="11094720" cy="340614"/>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1C325B"/>
                </a:solidFill>
                <a:latin typeface="Fira Sans SemiBold"/>
              </a:rPr>
              <a:t>Building or not, against AHN class 6, share of points named right (427 853 points in 1 006 clusters)</a:t>
            </a:r>
            <a:endParaRPr lang="en-GB" sz="1800"/>
          </a:p>
        </p:txBody>
      </p:sp>
      <p:graphicFrame>
        <p:nvGraphicFramePr>
          <p:cNvPr id="8" name="Appendix table" descr="Building or not, against AHN class 6, share of points named right (427 853 points in 1 006 clusters). Columns: Labeller, AHN buildings, Everything else, Balanced. 3 rows."/>
          <p:cNvGraphicFramePr>
            <a:graphicFrameLocks noGrp="1"/>
          </p:cNvGraphicFramePr>
          <p:nvPr/>
        </p:nvGraphicFramePr>
        <p:xfrm>
          <a:off x="548640" y="3087878"/>
          <a:ext cx="11094720" cy="1255776"/>
        </p:xfrm>
        <a:graphic>
          <a:graphicData uri="http://schemas.openxmlformats.org/drawingml/2006/table">
            <a:tbl>
              <a:tblPr firstRow="0" bandRow="0">
                <a:tableStyleId>{2D5ABB26-0587-4C30-8999-92F81FD0307C}</a:tableStyleId>
              </a:tblPr>
              <a:tblGrid>
                <a:gridCol w="5575808"/>
                <a:gridCol w="1820672"/>
                <a:gridCol w="1877568"/>
                <a:gridCol w="1820672"/>
              </a:tblGrid>
              <a:tr h="313944">
                <a:tc>
                  <a:txBody>
                    <a:bodyPr/>
                    <a:lstStyle/>
                    <a:p>
                      <a:pPr marL="0" indent="0" algn="l">
                        <a:lnSpc>
                          <a:spcPct val="95000"/>
                        </a:lnSpc>
                        <a:spcBef>
                          <a:spcPts val="0"/>
                        </a:spcBef>
                        <a:spcAft>
                          <a:spcPts val="0"/>
                        </a:spcAft>
                        <a:buNone/>
                      </a:pPr>
                      <a:r>
                        <a:rPr sz="1600" lang="en-GB">
                          <a:solidFill>
                            <a:srgbClr val="FFFFFF"/>
                          </a:solidFill>
                          <a:latin typeface="Fira Sans SemiBold"/>
                        </a:rPr>
                        <a:t>Labeller</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AHN buildings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Everything else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Balanced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Four rules of slide 19</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99.3 %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33.2 %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66.3 %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Random Forest, eigenvalue features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68.8 %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92.4 %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80.6 %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Random Forest, + the rules' inputs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94.2 %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63.8 %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79.0 %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9" name="Small print"/>
          <p:cNvSpPr txBox="1"/>
          <p:nvPr/>
        </p:nvSpPr>
        <p:spPr>
          <a:xfrm>
            <a:off x="548640" y="5069552"/>
            <a:ext cx="11094720" cy="114808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Forest: scikit-learn, cross-validated on 50 m blocks (5 folds), so no block is in training and test at once. Only building vs not: AHN has no vegetation class. Rules tuned on this crop (in-sample). AHN files many facades as class 1, so facade fragments count against the rules. One area, 104 AHN building clusters: indicative.</a:t>
            </a:r>
            <a:endParaRPr lang="en-GB" sz="1200"/>
          </a:p>
          <a:p>
            <a:pPr marL="0" indent="0" algn="l">
              <a:spcBef>
                <a:spcPts val="400"/>
              </a:spcBef>
              <a:spcAft>
                <a:spcPts val="0"/>
              </a:spcAft>
              <a:buNone/>
            </a:pPr>
            <a:r>
              <a:rPr sz="1200" b="0" lang="en-GB">
                <a:solidFill>
                  <a:srgbClr val="455A64"/>
                </a:solidFill>
                <a:latin typeface="+mn-lt"/>
              </a:rPr>
              <a:t>Conditions: Ryzen 7 5700X, 8 cores / 16 threads, 31.3 GiB RAM; Linux (Omarchy, kernel 7.2.5-3-omarchy); Python 3.13.15, NumPy 2.5.3, SciPy 1.18.1, Open3D 0.20.0, laspy 2.7.0, scikit-learn 1.9.1; N = 139 804 voxels in clusters, 7 runs after 1 warm-up, median and IQR of wall time over the timed runs; governor performance; boost on; measured 2026-10-11 20:07 UTC; data: the AHN5 crop of slide 5 (ahn.nl, Het Waterschapshuis, </a:t>
            </a:r>
            <a:r>
              <a:rPr sz="1200" b="0" lang="en-GB">
                <a:solidFill>
                  <a:srgbClr val="455A64"/>
                </a:solidFill>
                <a:latin typeface="+mn-lt"/>
                <a:hlinkClick r:id="rId2">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Where can I get my own point cloud?</a:t>
            </a:r>
          </a:p>
        </p:txBody>
      </p:sp>
      <p:sp>
        <p:nvSpPr>
          <p:cNvPr id="6" name="Table caption"/>
          <p:cNvSpPr txBox="1"/>
          <p:nvPr/>
        </p:nvSpPr>
        <p:spPr>
          <a:xfrm>
            <a:off x="548640" y="1554480"/>
            <a:ext cx="11094720" cy="340614"/>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1C325B"/>
                </a:solidFill>
                <a:latin typeface="Fira Sans SemiBold"/>
              </a:rPr>
              <a:t>Open sources (all carry a licence: cite it)</a:t>
            </a:r>
            <a:endParaRPr lang="en-GB" sz="1800"/>
          </a:p>
        </p:txBody>
      </p:sp>
      <p:graphicFrame>
        <p:nvGraphicFramePr>
          <p:cNvPr id="7" name="Appendix table" descr="Open sources (all carry a licence: cite it). Columns: Source, What you get, Note. 6 rows."/>
          <p:cNvGraphicFramePr>
            <a:graphicFrameLocks noGrp="1"/>
          </p:cNvGraphicFramePr>
          <p:nvPr/>
        </p:nvGraphicFramePr>
        <p:xfrm>
          <a:off x="548640" y="1895094"/>
          <a:ext cx="11094720" cy="2429256"/>
        </p:xfrm>
        <a:graphic>
          <a:graphicData uri="http://schemas.openxmlformats.org/drawingml/2006/table">
            <a:tbl>
              <a:tblPr firstRow="0" bandRow="0">
                <a:tableStyleId>{2D5ABB26-0587-4C30-8999-92F81FD0307C}</a:tableStyleId>
              </a:tblPr>
              <a:tblGrid>
                <a:gridCol w="2324608"/>
                <a:gridCol w="5452262"/>
                <a:gridCol w="3317850"/>
              </a:tblGrid>
              <a:tr h="313944">
                <a:tc>
                  <a:txBody>
                    <a:bodyPr/>
                    <a:lstStyle/>
                    <a:p>
                      <a:pPr marL="0" indent="0" algn="l">
                        <a:lnSpc>
                          <a:spcPct val="95000"/>
                        </a:lnSpc>
                        <a:spcBef>
                          <a:spcPts val="0"/>
                        </a:spcBef>
                        <a:spcAft>
                          <a:spcPts val="0"/>
                        </a:spcAft>
                        <a:buNone/>
                      </a:pPr>
                      <a:r>
                        <a:rPr sz="1600" lang="en-GB">
                          <a:solidFill>
                            <a:srgbClr val="FFFFFF"/>
                          </a:solidFill>
                          <a:latin typeface="Fira Sans SemiBold"/>
                        </a:rPr>
                        <a:t>Source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What you get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Note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AHN (ahn.nl)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Airborne LiDAR, all of the Netherlands, classified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This talk; </a:t>
                      </a:r>
                      <a:r>
                        <a:rPr sz="1600" lang="en-GB">
                          <a:solidFill>
                            <a:srgbClr val="263238"/>
                          </a:solidFill>
                          <a:latin typeface="+mn-lt"/>
                          <a:hlinkClick r:id="rId2">
                            <a:extLst>
                              <a:ext uri="{A12FA001-AC4F-418D-AE19-62706E023703}">
                                <ahyp:hlinkClr xmlns:ahyp="http://schemas.microsoft.com/office/drawing/2018/hyperlinkcolor" val="tx"/>
                              </a:ext>
                            </a:extLst>
                          </a:hlinkClick>
                        </a:rPr>
                        <a:t>CC BY 4.0</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3DBAG (3dbag.nl)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Every Dutch building as a 3D model, made from AHN</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Meshes, not points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OpenTopography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LiDAR and photogrammetry catalogue, mostly US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Filter by method, cut an area</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545592">
                <a:tc>
                  <a:txBody>
                    <a:bodyPr/>
                    <a:lstStyle/>
                    <a:p>
                      <a:pPr marL="0" indent="0" algn="l">
                        <a:lnSpc>
                          <a:spcPct val="95000"/>
                        </a:lnSpc>
                        <a:spcBef>
                          <a:spcPts val="0"/>
                        </a:spcBef>
                        <a:spcAft>
                          <a:spcPts val="0"/>
                        </a:spcAft>
                        <a:buNone/>
                      </a:pPr>
                      <a:r>
                        <a:rPr sz="1600" lang="en-GB">
                          <a:solidFill>
                            <a:srgbClr val="263238"/>
                          </a:solidFill>
                          <a:latin typeface="+mn-lt"/>
                        </a:rPr>
                        <a:t>National and city portals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France's LiDAR HD, Vancouver's open data, …</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Tiles, like AHN files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Open Heritage 3D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Terrestrial laser scans of heritage sites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Licence and citation per data set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Sketchfab, TurboSquid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3D models (meshes)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Filter for free and downloadable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bl>
          </a:graphicData>
        </a:graphic>
      </p:graphicFrame>
      <p:sp>
        <p:nvSpPr>
          <p:cNvPr id="8" name="Appendix bullets"/>
          <p:cNvSpPr txBox="1"/>
          <p:nvPr/>
        </p:nvSpPr>
        <p:spPr>
          <a:xfrm>
            <a:off x="548640" y="4434078"/>
            <a:ext cx="11094720" cy="851408"/>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Your own capture: photogrammetry (phone, camera) gives dense colour but noisy edges; LiDAR measures each pulse.</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Only LiDAR returns several echoes per pulse: slide 19's vegetation rule needs them, a photo sees one surface per pixel.</a:t>
            </a:r>
            <a:endParaRPr lang="en-GB" sz="1600"/>
          </a:p>
        </p:txBody>
      </p:sp>
      <p:sp>
        <p:nvSpPr>
          <p:cNvPr id="9"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Sources from F. Poux's beginner video on 3D tools (YouTube, 2025), except 3DBAG. Links checked 2026-10-11.</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39</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Which libraries have stopped moving?</a:t>
            </a:r>
          </a:p>
        </p:txBody>
      </p:sp>
      <p:sp>
        <p:nvSpPr>
          <p:cNvPr id="6" name="Table caption"/>
          <p:cNvSpPr txBox="1"/>
          <p:nvPr/>
        </p:nvSpPr>
        <p:spPr>
          <a:xfrm>
            <a:off x="548640" y="1554480"/>
            <a:ext cx="11094720" cy="340614"/>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1C325B"/>
                </a:solidFill>
                <a:latin typeface="Fira Sans SemiBold"/>
              </a:rPr>
              <a:t>Archived or stale: check before you depend on them</a:t>
            </a:r>
            <a:endParaRPr lang="en-GB" sz="1800"/>
          </a:p>
        </p:txBody>
      </p:sp>
      <p:graphicFrame>
        <p:nvGraphicFramePr>
          <p:cNvPr id="7" name="Appendix table" descr="Archived or stale: check before you depend on them. Columns: Library, Status, Latest release, Note. 7 rows."/>
          <p:cNvGraphicFramePr>
            <a:graphicFrameLocks noGrp="1"/>
          </p:cNvGraphicFramePr>
          <p:nvPr/>
        </p:nvGraphicFramePr>
        <p:xfrm>
          <a:off x="548640" y="1895094"/>
          <a:ext cx="11094720" cy="2743200"/>
        </p:xfrm>
        <a:graphic>
          <a:graphicData uri="http://schemas.openxmlformats.org/drawingml/2006/table">
            <a:tbl>
              <a:tblPr firstRow="0" bandRow="0">
                <a:tableStyleId>{2D5ABB26-0587-4C30-8999-92F81FD0307C}</a:tableStyleId>
              </a:tblPr>
              <a:tblGrid>
                <a:gridCol w="1979454"/>
                <a:gridCol w="1564013"/>
                <a:gridCol w="2052768"/>
                <a:gridCol w="5498485"/>
              </a:tblGrid>
              <a:tr h="313944">
                <a:tc>
                  <a:txBody>
                    <a:bodyPr/>
                    <a:lstStyle/>
                    <a:p>
                      <a:pPr marL="0" indent="0" algn="l">
                        <a:lnSpc>
                          <a:spcPct val="95000"/>
                        </a:lnSpc>
                        <a:spcBef>
                          <a:spcPts val="0"/>
                        </a:spcBef>
                        <a:spcAft>
                          <a:spcPts val="0"/>
                        </a:spcAft>
                        <a:buNone/>
                      </a:pPr>
                      <a:r>
                        <a:rPr sz="1600" lang="en-GB">
                          <a:solidFill>
                            <a:srgbClr val="FFFFFF"/>
                          </a:solidFill>
                          <a:latin typeface="Fira Sans SemiBold"/>
                        </a:rPr>
                        <a:t>Library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Status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Latest release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Note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python-pcl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archived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2019-05-10</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Repository archived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pclpy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stale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2018-08-24</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Not archived, effectively unmaintained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pylas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archived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2020-10-12</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Use laspy instead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MinkowskiEngine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stale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2021-05-21</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Not archived; check the repository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545592">
                <a:tc>
                  <a:txBody>
                    <a:bodyPr/>
                    <a:lstStyle/>
                    <a:p>
                      <a:pPr marL="0" indent="0" algn="l">
                        <a:lnSpc>
                          <a:spcPct val="95000"/>
                        </a:lnSpc>
                        <a:spcBef>
                          <a:spcPts val="0"/>
                        </a:spcBef>
                        <a:spcAft>
                          <a:spcPts val="0"/>
                        </a:spcAft>
                        <a:buNone/>
                      </a:pPr>
                      <a:r>
                        <a:rPr sz="1600" lang="en-GB">
                          <a:solidFill>
                            <a:srgbClr val="263238"/>
                          </a:solidFill>
                          <a:latin typeface="+mn-lt"/>
                        </a:rPr>
                        <a:t>TensorFlow Graphics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stale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2021-12-03</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Not archived; check the repository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OpenSfM</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stale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2020-08-11</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Repository still active, no release since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MMDetection3D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stale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2024-01-08</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Check your PyTorch version still works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8" name="Appendix bullets"/>
          <p:cNvSpPr txBox="1"/>
          <p:nvPr/>
        </p:nvSpPr>
        <p:spPr>
          <a:xfrm>
            <a:off x="548640" y="4748022"/>
            <a:ext cx="11094720" cy="1133856"/>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Of 119 libraries and applications checked, 87 released within a year; 11 are stale and 2 archived.</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pip install can fetch the wrong thing: PyTorch3D's newest releases are not on PyPI, and the kaolin package on PyPI is only a placeholder.</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A release date is not quality: a finished library may be stable. It is a reason to look, not to reject.</a:t>
            </a:r>
            <a:endParaRPr lang="en-GB" sz="1600"/>
          </a:p>
        </p:txBody>
      </p:sp>
      <p:sp>
        <p:nvSpPr>
          <p:cNvPr id="9"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Status from PyPI release dates and GitHub, checked 2026-10-11. Full list: docs/ECOSYSTEM.md.</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40</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Where today's pipeline sits in a 3D project</a:t>
            </a:r>
          </a:p>
        </p:txBody>
      </p:sp>
      <p:grpSp>
        <p:nvGrpSpPr>
          <p:cNvPr id="3" name="Workflow" descr="A ring of six numbered stages, clockwise, with the Python libraries under each. 1 Acquisition, scan the scene, laspy, with a close-up of single points as laspy reads them; 2 Preparation, clean and register, NumPy and Open3D; 3 Exploration, model and label, Open3D and SciPy, with the clustered point cloud; 4 Analysis, measure, monitor, NumPy and SciPy; 5 Visualisation, see it, trust it, PyVista, with the final labelled render; 6 Application, ship it. Stages 1 and 2 are coloured as data, 3 and 4 as understanding, 5 and 6 as delivery. Dashed arrows through the middle lead from analysis back to preparation and from visualisation back to acquisition: loop back when the data surprises you."/>
          <p:cNvGrpSpPr/>
          <p:nvPr/>
        </p:nvGrpSpPr>
        <p:grpSpPr>
          <a:xfrm>
            <a:off x="906780" y="1706392"/>
            <a:ext cx="9464040" cy="4039288"/>
            <a:chOff x="906780" y="1706392"/>
            <a:chExt cx="9464040" cy="4039288"/>
          </a:xfrm>
        </p:grpSpPr>
        <p:cxnSp>
          <p:nvCxnSpPr>
            <p:cNvPr id="6" name="arrow 1"/>
            <p:cNvCxnSpPr/>
            <p:nvPr/>
          </p:nvCxnSpPr>
          <p:spPr>
            <a:xfrm>
              <a:off x="5158740" y="2300752"/>
              <a:ext cx="960120" cy="0"/>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arrow 2"/>
            <p:cNvCxnSpPr/>
            <p:nvPr/>
          </p:nvCxnSpPr>
          <p:spPr>
            <a:xfrm>
              <a:off x="6947800" y="2730332"/>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arrow 3"/>
            <p:cNvCxnSpPr/>
            <p:nvPr/>
          </p:nvCxnSpPr>
          <p:spPr>
            <a:xfrm flipH="1">
              <a:off x="6947800" y="4155616"/>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arrow 4"/>
            <p:cNvCxnSpPr/>
            <p:nvPr/>
          </p:nvCxnSpPr>
          <p:spPr>
            <a:xfrm flipH="1">
              <a:off x="5158740" y="5151320"/>
              <a:ext cx="960120" cy="0"/>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arrow 5"/>
            <p:cNvCxnSpPr/>
            <p:nvPr/>
          </p:nvCxnSpPr>
          <p:spPr>
            <a:xfrm flipH="1" flipV="1">
              <a:off x="3930280" y="4155616"/>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arrow 6"/>
            <p:cNvCxnSpPr/>
            <p:nvPr/>
          </p:nvCxnSpPr>
          <p:spPr>
            <a:xfrm flipV="1">
              <a:off x="3930280" y="2730332"/>
              <a:ext cx="399520" cy="566124"/>
            </a:xfrm>
            <a:prstGeom prst="line">
              <a:avLst/>
            </a:prstGeom>
            <a:ln w="44450">
              <a:solidFill>
                <a:srgbClr val="1C325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loop 7"/>
            <p:cNvCxnSpPr/>
            <p:nvPr/>
          </p:nvCxnSpPr>
          <p:spPr>
            <a:xfrm flipV="1">
              <a:off x="6644640" y="2826532"/>
              <a:ext cx="0" cy="1799008"/>
            </a:xfrm>
            <a:prstGeom prst="line">
              <a:avLst/>
            </a:prstGeom>
            <a:ln w="38100">
              <a:solidFill>
                <a:srgbClr val="2B679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loop 8"/>
            <p:cNvCxnSpPr/>
            <p:nvPr/>
          </p:nvCxnSpPr>
          <p:spPr>
            <a:xfrm flipV="1">
              <a:off x="4632960" y="2826532"/>
              <a:ext cx="0" cy="1799008"/>
            </a:xfrm>
            <a:prstGeom prst="line">
              <a:avLst/>
            </a:prstGeom>
            <a:ln w="38100">
              <a:solidFill>
                <a:srgbClr val="2B679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stage disc 1"/>
            <p:cNvSpPr/>
            <p:nvPr/>
          </p:nvSpPr>
          <p:spPr>
            <a:xfrm>
              <a:off x="4198620" y="1866412"/>
              <a:ext cx="868680" cy="868680"/>
            </a:xfrm>
            <a:prstGeom prst="ellipse">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1</a:t>
              </a:r>
            </a:p>
          </p:txBody>
        </p:sp>
        <p:sp>
          <p:nvSpPr>
            <p:cNvPr id="15" name="stage label 1"/>
            <p:cNvSpPr txBox="1"/>
            <p:nvPr/>
          </p:nvSpPr>
          <p:spPr>
            <a:xfrm>
              <a:off x="1912620" y="1706392"/>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Acquisition</a:t>
              </a:r>
            </a:p>
            <a:p>
              <a:pPr algn="r"/>
              <a:r>
                <a:rPr sz="2000" b="0" i="0" lang="en-GB">
                  <a:solidFill>
                    <a:srgbClr val="263238"/>
                  </a:solidFill>
                  <a:latin typeface="Fira Sans"/>
                </a:rPr>
                <a:t>Scan the scene</a:t>
              </a:r>
            </a:p>
            <a:p>
              <a:pPr algn="r"/>
              <a:r>
                <a:rPr sz="2000" b="0" i="0" lang="en-GB">
                  <a:solidFill>
                    <a:srgbClr val="2B6797"/>
                  </a:solidFill>
                  <a:latin typeface="Fira Sans SemiBold"/>
                </a:rPr>
                <a:t>laspy</a:t>
              </a:r>
            </a:p>
          </p:txBody>
        </p:sp>
        <p:sp>
          <p:nvSpPr>
            <p:cNvPr id="16" name="stage disc 2"/>
            <p:cNvSpPr/>
            <p:nvPr/>
          </p:nvSpPr>
          <p:spPr>
            <a:xfrm>
              <a:off x="6210300" y="1866412"/>
              <a:ext cx="868680" cy="868680"/>
            </a:xfrm>
            <a:prstGeom prst="ellipse">
              <a:avLst/>
            </a:prstGeom>
            <a:solidFill>
              <a:srgbClr val="1C32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2</a:t>
              </a:r>
            </a:p>
          </p:txBody>
        </p:sp>
        <p:sp>
          <p:nvSpPr>
            <p:cNvPr id="17" name="stage label 2"/>
            <p:cNvSpPr txBox="1"/>
            <p:nvPr/>
          </p:nvSpPr>
          <p:spPr>
            <a:xfrm>
              <a:off x="7261860" y="1706392"/>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Preparation</a:t>
              </a:r>
            </a:p>
            <a:p>
              <a:pPr algn="l"/>
              <a:r>
                <a:rPr sz="2000" b="0" i="0" lang="en-GB">
                  <a:solidFill>
                    <a:srgbClr val="263238"/>
                  </a:solidFill>
                  <a:latin typeface="Fira Sans"/>
                </a:rPr>
                <a:t>Clean and register</a:t>
              </a:r>
            </a:p>
            <a:p>
              <a:pPr algn="l"/>
              <a:r>
                <a:rPr sz="2000" b="0" i="0" lang="en-GB">
                  <a:solidFill>
                    <a:srgbClr val="2B6797"/>
                  </a:solidFill>
                  <a:latin typeface="Fira Sans SemiBold"/>
                </a:rPr>
                <a:t>NumPy, Open3D</a:t>
              </a:r>
            </a:p>
          </p:txBody>
        </p:sp>
        <p:sp>
          <p:nvSpPr>
            <p:cNvPr id="18" name="stage disc 3"/>
            <p:cNvSpPr/>
            <p:nvPr/>
          </p:nvSpPr>
          <p:spPr>
            <a:xfrm>
              <a:off x="7216140" y="3291696"/>
              <a:ext cx="868680" cy="868680"/>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3</a:t>
              </a:r>
            </a:p>
          </p:txBody>
        </p:sp>
        <p:sp>
          <p:nvSpPr>
            <p:cNvPr id="19" name="stage label 3"/>
            <p:cNvSpPr txBox="1"/>
            <p:nvPr/>
          </p:nvSpPr>
          <p:spPr>
            <a:xfrm>
              <a:off x="8267700" y="3131676"/>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Exploration</a:t>
              </a:r>
            </a:p>
            <a:p>
              <a:pPr algn="l"/>
              <a:r>
                <a:rPr sz="2000" b="0" i="0" lang="en-GB">
                  <a:solidFill>
                    <a:srgbClr val="263238"/>
                  </a:solidFill>
                  <a:latin typeface="Fira Sans"/>
                </a:rPr>
                <a:t>Model and label</a:t>
              </a:r>
            </a:p>
            <a:p>
              <a:pPr algn="l"/>
              <a:r>
                <a:rPr sz="2000" b="0" i="0" lang="en-GB">
                  <a:solidFill>
                    <a:srgbClr val="2B6797"/>
                  </a:solidFill>
                  <a:latin typeface="Fira Sans SemiBold"/>
                </a:rPr>
                <a:t>Open3D, SciPy</a:t>
              </a:r>
            </a:p>
          </p:txBody>
        </p:sp>
        <p:sp>
          <p:nvSpPr>
            <p:cNvPr id="20" name="stage disc 4"/>
            <p:cNvSpPr/>
            <p:nvPr/>
          </p:nvSpPr>
          <p:spPr>
            <a:xfrm>
              <a:off x="6210300" y="4716980"/>
              <a:ext cx="868680" cy="868680"/>
            </a:xfrm>
            <a:prstGeom prst="ellipse">
              <a:avLst/>
            </a:prstGeom>
            <a:solidFill>
              <a:srgbClr val="2B67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FFFFFF"/>
                  </a:solidFill>
                  <a:latin typeface="Fira Sans SemiBold"/>
                </a:rPr>
                <a:t>4</a:t>
              </a:r>
            </a:p>
          </p:txBody>
        </p:sp>
        <p:sp>
          <p:nvSpPr>
            <p:cNvPr id="21" name="stage label 4"/>
            <p:cNvSpPr txBox="1"/>
            <p:nvPr/>
          </p:nvSpPr>
          <p:spPr>
            <a:xfrm>
              <a:off x="7261860" y="4556960"/>
              <a:ext cx="2103120" cy="1188720"/>
            </a:xfrm>
            <a:prstGeom prst="rect">
              <a:avLst/>
            </a:prstGeom>
            <a:noFill/>
          </p:spPr>
          <p:txBody>
            <a:bodyPr wrap="square" anchor="ctr" lIns="0" tIns="0" rIns="0" bIns="0">
              <a:noAutofit/>
            </a:bodyPr>
            <a:lstStyle/>
            <a:p>
              <a:pPr algn="l"/>
              <a:r>
                <a:rPr sz="2800" b="0" i="0" lang="en-GB">
                  <a:solidFill>
                    <a:srgbClr val="1C325B"/>
                  </a:solidFill>
                  <a:latin typeface="Fira Sans SemiBold"/>
                </a:rPr>
                <a:t>Analysis</a:t>
              </a:r>
            </a:p>
            <a:p>
              <a:pPr algn="l"/>
              <a:r>
                <a:rPr sz="2000" b="0" i="0" lang="en-GB">
                  <a:solidFill>
                    <a:srgbClr val="263238"/>
                  </a:solidFill>
                  <a:latin typeface="Fira Sans"/>
                </a:rPr>
                <a:t>Measure, monitor</a:t>
              </a:r>
            </a:p>
            <a:p>
              <a:pPr algn="l"/>
              <a:r>
                <a:rPr sz="2000" b="0" i="0" lang="en-GB">
                  <a:solidFill>
                    <a:srgbClr val="2B6797"/>
                  </a:solidFill>
                  <a:latin typeface="Fira Sans SemiBold"/>
                </a:rPr>
                <a:t>NumPy, SciPy</a:t>
              </a:r>
            </a:p>
          </p:txBody>
        </p:sp>
        <p:sp>
          <p:nvSpPr>
            <p:cNvPr id="22" name="stage disc 5"/>
            <p:cNvSpPr/>
            <p:nvPr/>
          </p:nvSpPr>
          <p:spPr>
            <a:xfrm>
              <a:off x="4198620" y="4716980"/>
              <a:ext cx="868680" cy="868680"/>
            </a:xfrm>
            <a:prstGeom prst="ellipse">
              <a:avLst/>
            </a:prstGeom>
            <a:solidFill>
              <a:srgbClr val="B1CAC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1C325B"/>
                  </a:solidFill>
                  <a:latin typeface="Fira Sans SemiBold"/>
                </a:rPr>
                <a:t>5</a:t>
              </a:r>
            </a:p>
          </p:txBody>
        </p:sp>
        <p:sp>
          <p:nvSpPr>
            <p:cNvPr id="23" name="stage label 5"/>
            <p:cNvSpPr txBox="1"/>
            <p:nvPr/>
          </p:nvSpPr>
          <p:spPr>
            <a:xfrm>
              <a:off x="1912620" y="4556960"/>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Visualisation</a:t>
              </a:r>
            </a:p>
            <a:p>
              <a:pPr algn="r"/>
              <a:r>
                <a:rPr sz="2000" b="0" i="0" lang="en-GB">
                  <a:solidFill>
                    <a:srgbClr val="263238"/>
                  </a:solidFill>
                  <a:latin typeface="Fira Sans"/>
                </a:rPr>
                <a:t>See it, trust it</a:t>
              </a:r>
            </a:p>
            <a:p>
              <a:pPr algn="r"/>
              <a:r>
                <a:rPr sz="2000" b="0" i="0" lang="en-GB">
                  <a:solidFill>
                    <a:srgbClr val="2B6797"/>
                  </a:solidFill>
                  <a:latin typeface="Fira Sans SemiBold"/>
                </a:rPr>
                <a:t>PyVista</a:t>
              </a:r>
            </a:p>
          </p:txBody>
        </p:sp>
        <p:sp>
          <p:nvSpPr>
            <p:cNvPr id="24" name="stage disc 6"/>
            <p:cNvSpPr/>
            <p:nvPr/>
          </p:nvSpPr>
          <p:spPr>
            <a:xfrm>
              <a:off x="3192780" y="3291696"/>
              <a:ext cx="868680" cy="868680"/>
            </a:xfrm>
            <a:prstGeom prst="ellipse">
              <a:avLst/>
            </a:prstGeom>
            <a:solidFill>
              <a:srgbClr val="B1CAC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noAutofit/>
            </a:bodyPr>
            <a:lstStyle/>
            <a:p>
              <a:pPr algn="ctr"/>
              <a:r>
                <a:rPr sz="3200" b="0" i="0" lang="en-GB">
                  <a:solidFill>
                    <a:srgbClr val="1C325B"/>
                  </a:solidFill>
                  <a:latin typeface="Fira Sans SemiBold"/>
                </a:rPr>
                <a:t>6</a:t>
              </a:r>
            </a:p>
          </p:txBody>
        </p:sp>
        <p:sp>
          <p:nvSpPr>
            <p:cNvPr id="25" name="stage label 6"/>
            <p:cNvSpPr txBox="1"/>
            <p:nvPr/>
          </p:nvSpPr>
          <p:spPr>
            <a:xfrm>
              <a:off x="906780" y="3131676"/>
              <a:ext cx="2103120" cy="1188720"/>
            </a:xfrm>
            <a:prstGeom prst="rect">
              <a:avLst/>
            </a:prstGeom>
            <a:noFill/>
          </p:spPr>
          <p:txBody>
            <a:bodyPr wrap="square" anchor="ctr" lIns="0" tIns="0" rIns="0" bIns="0">
              <a:noAutofit/>
            </a:bodyPr>
            <a:lstStyle/>
            <a:p>
              <a:pPr algn="r"/>
              <a:r>
                <a:rPr sz="2800" b="0" i="0" lang="en-GB">
                  <a:solidFill>
                    <a:srgbClr val="1C325B"/>
                  </a:solidFill>
                  <a:latin typeface="Fira Sans SemiBold"/>
                </a:rPr>
                <a:t>Application</a:t>
              </a:r>
            </a:p>
            <a:p>
              <a:pPr algn="r"/>
              <a:r>
                <a:rPr sz="2000" b="0" i="0" lang="en-GB">
                  <a:solidFill>
                    <a:srgbClr val="263238"/>
                  </a:solidFill>
                  <a:latin typeface="Fira Sans"/>
                </a:rPr>
                <a:t>Ship it</a:t>
              </a:r>
            </a:p>
          </p:txBody>
        </p:sp>
        <p:sp>
          <p:nvSpPr>
            <p:cNvPr id="26" name="loop note"/>
            <p:cNvSpPr txBox="1"/>
            <p:nvPr/>
          </p:nvSpPr>
          <p:spPr>
            <a:xfrm>
              <a:off x="4861560" y="3177396"/>
              <a:ext cx="1554480" cy="1097280"/>
            </a:xfrm>
            <a:prstGeom prst="rect">
              <a:avLst/>
            </a:prstGeom>
            <a:noFill/>
          </p:spPr>
          <p:txBody>
            <a:bodyPr wrap="square" anchor="ctr" lIns="0" tIns="0" rIns="0" bIns="0">
              <a:noAutofit/>
            </a:bodyPr>
            <a:lstStyle/>
            <a:p>
              <a:pPr algn="ctr"/>
              <a:r>
                <a:rPr sz="2000" b="0" i="0" lang="en-GB">
                  <a:solidFill>
                    <a:srgbClr val="2B6797"/>
                  </a:solidFill>
                  <a:latin typeface="Fira Sans"/>
                </a:rPr>
                <a:t>Loop back when the data surprises</a:t>
              </a:r>
            </a:p>
          </p:txBody>
        </p:sp>
      </p:grpSp>
      <p:pic>
        <p:nvPicPr>
          <p:cNvPr id="27" name="Workflow image 1" descr="Close-up render of the crop: single points as laspy reads them."/>
          <p:cNvPicPr>
            <a:picLocks noChangeAspect="1"/>
          </p:cNvPicPr>
          <p:nvPr/>
        </p:nvPicPr>
        <p:blipFill>
          <a:blip r:embed="rId2"/>
          <a:stretch>
            <a:fillRect/>
          </a:stretch>
        </p:blipFill>
        <p:spPr>
          <a:xfrm>
            <a:off x="751332" y="1707429"/>
            <a:ext cx="1051560" cy="1186647"/>
          </a:xfrm>
          <a:prstGeom prst="rect">
            <a:avLst/>
          </a:prstGeom>
        </p:spPr>
      </p:pic>
      <p:pic>
        <p:nvPicPr>
          <p:cNvPr id="28" name="Workflow image 3" descr="The clusters render: ground grey, each cluster in one of four colours."/>
          <p:cNvPicPr>
            <a:picLocks noChangeAspect="1"/>
          </p:cNvPicPr>
          <p:nvPr/>
        </p:nvPicPr>
        <p:blipFill>
          <a:blip r:embed="rId3"/>
          <a:stretch>
            <a:fillRect/>
          </a:stretch>
        </p:blipFill>
        <p:spPr>
          <a:xfrm>
            <a:off x="10480548" y="3132712"/>
            <a:ext cx="1051560" cy="1186647"/>
          </a:xfrm>
          <a:prstGeom prst="rect">
            <a:avLst/>
          </a:prstGeom>
        </p:spPr>
      </p:pic>
      <p:pic>
        <p:nvPicPr>
          <p:cNvPr id="29" name="Workflow image 5" descr="The final render: ground, buildings, vegetation and street furniture."/>
          <p:cNvPicPr>
            <a:picLocks noChangeAspect="1"/>
          </p:cNvPicPr>
          <p:nvPr/>
        </p:nvPicPr>
        <p:blipFill>
          <a:blip r:embed="rId4"/>
          <a:stretch>
            <a:fillRect/>
          </a:stretch>
        </p:blipFill>
        <p:spPr>
          <a:xfrm>
            <a:off x="751332" y="4557996"/>
            <a:ext cx="1051560" cy="1186647"/>
          </a:xfrm>
          <a:prstGeom prst="rect">
            <a:avLst/>
          </a:prstGeom>
        </p:spPr>
      </p:pic>
      <p:sp>
        <p:nvSpPr>
          <p:cNvPr id="30" name="Source"/>
          <p:cNvSpPr txBox="1"/>
          <p:nvPr/>
        </p:nvSpPr>
        <p:spPr>
          <a:xfrm>
            <a:off x="548640" y="6034752"/>
            <a:ext cx="11094720" cy="182880"/>
          </a:xfrm>
          <a:prstGeom prst="rect">
            <a:avLst/>
          </a:prstGeom>
          <a:noFill/>
        </p:spPr>
        <p:txBody>
          <a:bodyPr wrap="square" anchor="t" lIns="0" tIns="0" rIns="0" bIns="0">
            <a:noAutofit/>
          </a:bodyPr>
          <a:lstStyle/>
          <a:p>
            <a:pPr marL="0" indent="0" algn="l">
              <a:spcBef>
                <a:spcPts val="0"/>
              </a:spcBef>
              <a:spcAft>
                <a:spcPts val="0"/>
              </a:spcAft>
              <a:buNone/>
            </a:pPr>
            <a:r>
              <a:rPr sz="1200" b="0" lang="en-GB">
                <a:solidFill>
                  <a:srgbClr val="455A64"/>
                </a:solidFill>
                <a:latin typeface="+mn-lt"/>
              </a:rPr>
              <a:t>Data: AHN5, Het Waterschapshuis, </a:t>
            </a:r>
            <a:r>
              <a:rPr sz="1200" b="0" lang="en-GB">
                <a:solidFill>
                  <a:srgbClr val="455A64"/>
                </a:solidFill>
                <a:latin typeface="+mn-lt"/>
                <a:hlinkClick r:id="rId5">
                  <a:extLst>
                    <a:ext uri="{A12FA001-AC4F-418D-AE19-62706E023703}">
                      <ahyp:hlinkClr xmlns:ahyp="http://schemas.microsoft.com/office/drawing/2018/hyperlinkcolor" val="tx"/>
                    </a:ext>
                  </a:extLst>
                </a:hlinkClick>
              </a:rPr>
              <a:t>CC BY 4.0</a:t>
            </a:r>
            <a:r>
              <a:rPr sz="1200" b="0" lang="en-GB">
                <a:solidFill>
                  <a:srgbClr val="455A64"/>
                </a:solidFill>
                <a:latin typeface="+mn-lt"/>
              </a:rPr>
              <a:t>.</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41</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Coordinates mean nothing without a frame</a:t>
            </a:r>
          </a:p>
        </p:txBody>
      </p:sp>
      <p:pic>
        <p:nvPicPr>
          <p:cNvPr id="6" name="Concept figure" descr="Left, a map frame of the Netherlands in RD New with the crop as a tiny square far from the origin. Middle, the crop's own 200 m frame, with the same point near its top right corner. Below, the RD coordinate and the float32 step: 1.6 cm in RD, 15 micrometres local. Right, two axis triads: Z up as in LAS and RD with NAP, and Y up, left-handed, as in Unity."/>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AHN: RD New metres plus NAP heights, EPSG:7415, stored in the file.</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Subtract a local origin: float32 then resolves micrometres, not 1.6 cm.</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Tools disagree on the up axis and on lat, lon order: check, never assume.</a:t>
            </a:r>
            <a:endParaRPr lang="en-GB" sz="16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Every array needs a frame: reference system, units, origin and which axis is up.</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42</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A transform is a matrix, and order matters</a:t>
            </a:r>
          </a:p>
        </p:txBody>
      </p:sp>
      <p:pic>
        <p:nvPicPr>
          <p:cNvPr id="6" name="Concept figure" descr="Two panels with the same L-shaped footprint. Left, rotated 90 degrees about the origin and then shifted 5 m right: it lands right of the original. Right, shifted first and then rotated: it lands far above the original. Same rotation, same shift, different results."/>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Rigid transform: rotation R and shift t in one homogeneous four by four matrix.</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Apply it to all points at once: P @ R.T + t, or pcd.transform(T).</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Euler angles hide a convention: SciPy's 'xyz' and 'XYZ' differ.</a:t>
            </a:r>
            <a:endParaRPr lang="en-GB" sz="16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One four by four matrix moves a whole cloud; composing them is not commutative.</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43</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Neighbourhood size changes the answer</a:t>
            </a:r>
          </a:p>
        </p:txBody>
      </p:sp>
      <p:pic>
        <p:nvPicPr>
          <p:cNvPr id="6" name="Concept figure" descr="Line chart of normal error in degrees against neighbourhood radius in metres. Both curves start high at the smallest radius because of noise. The curve for a point far from the ridge falls towards zero. The curve for a point near the ridge reaches its lowest error around half a metre and then climbs again as the neighbourhood spills over the edge."/>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Too small: a few noisy points, unstable normals and features.</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Too large: the neighbourhood crosses edges and blurs them.</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Tie the radius to point spacing; eps on slide 18 and the voxel on slide 16 are the same choice.</a:t>
            </a:r>
            <a:endParaRPr lang="en-GB" sz="16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Points have no neighbours until you choose a radius; that choice is a model parameter.</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44</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Memory follows N, and the algorithm</a:t>
            </a:r>
          </a:p>
        </p:txBody>
      </p:sp>
      <p:pic>
        <p:nvPicPr>
          <p:cNvPr id="6" name="Concept figure" descr="Log-log chart of memory against number of points. A solid line for the float64 coordinates crosses the 32 GB RAM line only near a billion points. A dashed line for all pairwise distances crosses it below a hundred thousand points. Dotted verticals mark this crop, the 1 km AHN file and the big AHN file."/>
          <p:cNvPicPr>
            <a:picLocks noChangeAspect="1"/>
          </p:cNvPicPr>
          <p:nvPr/>
        </p:nvPicPr>
        <p:blipFill>
          <a:blip r:embed="rId2"/>
          <a:stretch>
            <a:fillRect/>
          </a:stretch>
        </p:blipFill>
        <p:spPr>
          <a:xfrm>
            <a:off x="548640" y="1554480"/>
            <a:ext cx="6583680" cy="4114800"/>
          </a:xfrm>
          <a:prstGeom prst="rect">
            <a:avLst/>
          </a:prstGeom>
        </p:spPr>
      </p:pic>
      <p:sp>
        <p:nvSpPr>
          <p:cNvPr id="8" name="Concept bullets"/>
          <p:cNvSpPr txBox="1"/>
          <p:nvPr/>
        </p:nvSpPr>
        <p:spPr>
          <a:xfrm>
            <a:off x="7452360" y="2697480"/>
            <a:ext cx="4191000" cy="3520152"/>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This crop's pairwise distances: 3 894 GB. Its xyz: well under 1 GB.</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Trees and grids keep neighbour search near N log N.</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Past RAM, stream: chunks, tiles and COPC boxes (B2).</a:t>
            </a:r>
            <a:endParaRPr lang="en-GB" sz="1600"/>
          </a:p>
        </p:txBody>
      </p:sp>
      <p:sp>
        <p:nvSpPr>
          <p:cNvPr id="7" name="Support"/>
          <p:cNvSpPr txBox="1"/>
          <p:nvPr/>
        </p:nvSpPr>
        <p:spPr>
          <a:xfrm>
            <a:off x="7452360" y="1554480"/>
            <a:ext cx="4191000" cy="914400"/>
          </a:xfrm>
          <a:prstGeom prst="rect">
            <a:avLst/>
          </a:prstGeom>
          <a:noFill/>
        </p:spPr>
        <p:txBody>
          <a:bodyPr wrap="square" anchor="t" lIns="0" tIns="0" rIns="0" bIns="0">
            <a:noAutofit/>
          </a:bodyPr>
          <a:lstStyle/>
          <a:p>
            <a:pPr marL="0" indent="0" algn="l">
              <a:spcBef>
                <a:spcPts val="0"/>
              </a:spcBef>
              <a:spcAft>
                <a:spcPts val="0"/>
              </a:spcAft>
              <a:buNone/>
            </a:pPr>
            <a:r>
              <a:rPr sz="2000" b="0" lang="en-GB">
                <a:solidFill>
                  <a:srgbClr val="263238"/>
                </a:solidFill>
                <a:latin typeface="+mn-lt"/>
              </a:rPr>
              <a:t>Linear work fits; anything quadratic in N never will. Pick algorithms by their growth.</a:t>
            </a:r>
            <a:endParaRPr lang="en-GB" sz="20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45</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Ideas outlive the library you use</a:t>
            </a:r>
          </a:p>
        </p:txBody>
      </p:sp>
      <p:sp>
        <p:nvSpPr>
          <p:cNvPr id="6" name="Table caption"/>
          <p:cNvSpPr txBox="1"/>
          <p:nvPr/>
        </p:nvSpPr>
        <p:spPr>
          <a:xfrm>
            <a:off x="548640" y="1554480"/>
            <a:ext cx="11094720" cy="340614"/>
          </a:xfrm>
          <a:prstGeom prst="rect">
            <a:avLst/>
          </a:prstGeom>
          <a:noFill/>
        </p:spPr>
        <p:txBody>
          <a:bodyPr wrap="square" anchor="t" lIns="0" tIns="0" rIns="0" bIns="0">
            <a:noAutofit/>
          </a:bodyPr>
          <a:lstStyle/>
          <a:p>
            <a:pPr marL="0" indent="0" algn="l">
              <a:spcBef>
                <a:spcPts val="0"/>
              </a:spcBef>
              <a:spcAft>
                <a:spcPts val="0"/>
              </a:spcAft>
              <a:buNone/>
            </a:pPr>
            <a:r>
              <a:rPr sz="1800" b="0" lang="en-GB">
                <a:solidFill>
                  <a:srgbClr val="1C325B"/>
                </a:solidFill>
                <a:latin typeface="Fira Sans SemiBold"/>
              </a:rPr>
              <a:t>Foundational idea, and how three libraries spell it (Open3D 0.20, PyVista 0.49, trimesh 5.1)</a:t>
            </a:r>
            <a:endParaRPr lang="en-GB" sz="1800"/>
          </a:p>
        </p:txBody>
      </p:sp>
      <p:graphicFrame>
        <p:nvGraphicFramePr>
          <p:cNvPr id="7" name="Appendix table" descr="Foundational idea, and how three libraries spell it (Open3D 0.20, PyVista 0.49, trimesh 5.1). Columns: Idea, Open3D, PyVista, trimesh. 5 rows."/>
          <p:cNvGraphicFramePr>
            <a:graphicFrameLocks noGrp="1"/>
          </p:cNvGraphicFramePr>
          <p:nvPr/>
        </p:nvGraphicFramePr>
        <p:xfrm>
          <a:off x="548640" y="1895094"/>
          <a:ext cx="11094719" cy="1883664"/>
        </p:xfrm>
        <a:graphic>
          <a:graphicData uri="http://schemas.openxmlformats.org/drawingml/2006/table">
            <a:tbl>
              <a:tblPr firstRow="0" bandRow="0">
                <a:tableStyleId>{2D5ABB26-0587-4C30-8999-92F81FD0307C}</a:tableStyleId>
              </a:tblPr>
              <a:tblGrid>
                <a:gridCol w="2943497"/>
                <a:gridCol w="2717074"/>
                <a:gridCol w="2717074"/>
                <a:gridCol w="2717074"/>
              </a:tblGrid>
              <a:tr h="313944">
                <a:tc>
                  <a:txBody>
                    <a:bodyPr/>
                    <a:lstStyle/>
                    <a:p>
                      <a:pPr marL="0" indent="0" algn="l">
                        <a:lnSpc>
                          <a:spcPct val="95000"/>
                        </a:lnSpc>
                        <a:spcBef>
                          <a:spcPts val="0"/>
                        </a:spcBef>
                        <a:spcAft>
                          <a:spcPts val="0"/>
                        </a:spcAft>
                        <a:buNone/>
                      </a:pPr>
                      <a:r>
                        <a:rPr sz="1600" lang="en-GB">
                          <a:solidFill>
                            <a:srgbClr val="FFFFFF"/>
                          </a:solidFill>
                          <a:latin typeface="Fira Sans SemiBold"/>
                        </a:rPr>
                        <a:t>Idea</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Open3D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PyVista</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trimesh</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Points as an N×3 array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PointCloud.points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PolyData(points)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PointCloud(vertices)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Surface with connectivity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TriangleMesh</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PolyData with faces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Trimesh</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Regular grid of cells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VoxelGrid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ImageData</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Trimesh.voxelized(pitch)</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Rigid transform, 4 by 4</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transform(T)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transform(T)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apply_transform(T)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Neighbourhoods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KDTreeFlann</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find_closest_point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proximity, nearest</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8" name="Appendix bullets"/>
          <p:cNvSpPr txBox="1"/>
          <p:nvPr/>
        </p:nvSpPr>
        <p:spPr>
          <a:xfrm>
            <a:off x="548640" y="3888486"/>
            <a:ext cx="11094720" cy="619760"/>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600" lang="en-GB">
                <a:solidFill>
                  <a:srgbClr val="263238"/>
                </a:solidFill>
                <a:latin typeface="+mn-lt"/>
              </a:rPr>
              <a:t>NumPy is the common language: every row converts with np.asarray, sometimes as a copy (slide 15).</a:t>
            </a:r>
            <a:endParaRPr lang="en-GB" sz="1600"/>
          </a:p>
          <a:p>
            <a:pPr algn="l" marL="228600" indent="-228600">
              <a:lnSpc>
                <a:spcPct val="95000"/>
              </a:lnSpc>
              <a:spcBef>
                <a:spcPts val="400"/>
              </a:spcBef>
              <a:spcAft>
                <a:spcPts val="0"/>
              </a:spcAft>
              <a:buClr>
                <a:srgbClr val="2B6797"/>
              </a:buClr>
              <a:buFont typeface="Fira Sans"/>
              <a:buChar char="•"/>
            </a:pPr>
            <a:r>
              <a:rPr sz="1600" lang="en-GB">
                <a:solidFill>
                  <a:srgbClr val="263238"/>
                </a:solidFill>
                <a:latin typeface="+mn-lt"/>
              </a:rPr>
              <a:t>Learn the idea once; map it to whichever library the job needs. None does everything (slide 13).</a:t>
            </a:r>
            <a:endParaRPr lang="en-GB" sz="1600"/>
          </a:p>
        </p:txBody>
      </p:sp>
      <p:sp>
        <p:nvSpPr>
          <p:cNvPr id="9" name="Small print"/>
          <p:cNvSpPr txBox="1"/>
          <p:nvPr/>
        </p:nvSpPr>
        <p:spPr>
          <a:xfrm>
            <a:off x="548640" y="5851872"/>
            <a:ext cx="11094720" cy="365760"/>
          </a:xfrm>
          <a:prstGeom prst="rect">
            <a:avLst/>
          </a:prstGeom>
          <a:noFill/>
        </p:spPr>
        <p:txBody>
          <a:bodyPr wrap="square" anchor="b" lIns="0" tIns="0" rIns="0" bIns="0">
            <a:noAutofit/>
          </a:bodyPr>
          <a:lstStyle/>
          <a:p>
            <a:pPr marL="0" indent="0" algn="l">
              <a:spcBef>
                <a:spcPts val="0"/>
              </a:spcBef>
              <a:spcAft>
                <a:spcPts val="0"/>
              </a:spcAft>
              <a:buNone/>
            </a:pPr>
            <a:r>
              <a:rPr sz="1200" b="0" lang="en-GB">
                <a:solidFill>
                  <a:srgbClr val="455A64"/>
                </a:solidFill>
                <a:latin typeface="+mn-lt"/>
              </a:rPr>
              <a:t>Names checked by import in this project's environment on 2026-10-12. APIs change between releases: read the docs of your version.</a:t>
            </a:r>
            <a:endParaRPr lang="en-GB" sz="12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46</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Seven ideas worth presenting, in order</a:t>
            </a:r>
          </a:p>
        </p:txBody>
      </p:sp>
      <p:sp>
        <p:nvSpPr>
          <p:cNvPr id="6" name="Table caption"/>
          <p:cNvSpPr txBox="1"/>
          <p:nvPr/>
        </p:nvSpPr>
        <p:spPr>
          <a:xfrm>
            <a:off x="548640" y="1554480"/>
            <a:ext cx="11094720" cy="324739"/>
          </a:xfrm>
          <a:prstGeom prst="rect">
            <a:avLst/>
          </a:prstGeom>
          <a:noFill/>
        </p:spPr>
        <p:txBody>
          <a:bodyPr wrap="square" anchor="t" lIns="0" tIns="0" rIns="0" bIns="0">
            <a:noAutofit/>
          </a:bodyPr>
          <a:lstStyle/>
          <a:p>
            <a:pPr marL="0" indent="0" algn="l">
              <a:spcBef>
                <a:spcPts val="0"/>
              </a:spcBef>
              <a:spcAft>
                <a:spcPts val="0"/>
              </a:spcAft>
              <a:buNone/>
            </a:pPr>
            <a:r>
              <a:rPr sz="1700" b="0" lang="en-GB">
                <a:solidFill>
                  <a:srgbClr val="1C325B"/>
                </a:solidFill>
                <a:latin typeface="Fira Sans SemiBold"/>
              </a:rPr>
              <a:t>Priority for a beginner audience, and where each idea joins the main deck</a:t>
            </a:r>
            <a:endParaRPr lang="en-GB" sz="1700"/>
          </a:p>
        </p:txBody>
      </p:sp>
      <p:graphicFrame>
        <p:nvGraphicFramePr>
          <p:cNvPr id="7" name="Appendix table" descr="Priority for a beginner audience, and where each idea joins the main deck. Columns: #, Idea, One line for the audience, Joins at. 7 rows."/>
          <p:cNvGraphicFramePr>
            <a:graphicFrameLocks noGrp="1"/>
          </p:cNvGraphicFramePr>
          <p:nvPr/>
        </p:nvGraphicFramePr>
        <p:xfrm>
          <a:off x="548640" y="1879219"/>
          <a:ext cx="11094721" cy="2612898"/>
        </p:xfrm>
        <a:graphic>
          <a:graphicData uri="http://schemas.openxmlformats.org/drawingml/2006/table">
            <a:tbl>
              <a:tblPr firstRow="0" bandRow="0">
                <a:tableStyleId>{2D5ABB26-0587-4C30-8999-92F81FD0307C}</a:tableStyleId>
              </a:tblPr>
              <a:tblGrid>
                <a:gridCol w="583933"/>
                <a:gridCol w="3737169"/>
                <a:gridCol w="4204315"/>
                <a:gridCol w="2569304"/>
              </a:tblGrid>
              <a:tr h="299466">
                <a:tc>
                  <a:txBody>
                    <a:bodyPr/>
                    <a:lstStyle/>
                    <a:p>
                      <a:pPr marL="0" indent="0" algn="l">
                        <a:lnSpc>
                          <a:spcPct val="95000"/>
                        </a:lnSpc>
                        <a:spcBef>
                          <a:spcPts val="0"/>
                        </a:spcBef>
                        <a:spcAft>
                          <a:spcPts val="0"/>
                        </a:spcAft>
                        <a:buNone/>
                      </a:pPr>
                      <a:r>
                        <a:rPr sz="1500" lang="en-GB">
                          <a:solidFill>
                            <a:srgbClr val="FFFFFF"/>
                          </a:solidFill>
                          <a:latin typeface="Fira Sans SemiBold"/>
                        </a:rPr>
                        <a:t>#</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500" lang="en-GB">
                          <a:solidFill>
                            <a:srgbClr val="FFFFFF"/>
                          </a:solidFill>
                          <a:latin typeface="Fira Sans SemiBold"/>
                        </a:rPr>
                        <a:t>Idea</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500" lang="en-GB">
                          <a:solidFill>
                            <a:srgbClr val="FFFFFF"/>
                          </a:solidFill>
                          <a:latin typeface="Fira Sans SemiBold"/>
                        </a:rPr>
                        <a:t>One line for the audience</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500" lang="en-GB">
                          <a:solidFill>
                            <a:srgbClr val="FFFFFF"/>
                          </a:solidFill>
                          <a:latin typeface="Fira Sans SemiBold"/>
                        </a:rPr>
                        <a:t>Joins at</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1</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A point cloud is an array (slide 8)</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N rows, x y z plus attributes, no order, no links</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slide 8, rule 1</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2</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Every array needs a frame (C2)</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Reference system, units, origin, up axis</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slide 14</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516636">
                <a:tc>
                  <a:txBody>
                    <a:bodyPr/>
                    <a:lstStyle/>
                    <a:p>
                      <a:pPr marL="0" indent="0" algn="l">
                        <a:lnSpc>
                          <a:spcPct val="95000"/>
                        </a:lnSpc>
                        <a:spcBef>
                          <a:spcPts val="0"/>
                        </a:spcBef>
                        <a:spcAft>
                          <a:spcPts val="0"/>
                        </a:spcAft>
                        <a:buNone/>
                      </a:pPr>
                      <a:r>
                        <a:rPr sz="1500" lang="en-GB">
                          <a:solidFill>
                            <a:srgbClr val="263238"/>
                          </a:solidFill>
                          <a:latin typeface="+mn-lt"/>
                        </a:rPr>
                        <a:t>3</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Neighbourhood size changes the answer (C4)</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Radius, eps and voxel size are model choices</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slides 16 to 18</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4</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Samples, not the surface (C5)</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Density and error vary; measure first</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slide 30, in the main deck</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5</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Memory follows N and the algorithm (C6)</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Linear fits, quadratic never does</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slide 22, rule 2</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6</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Three representations (C1)</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Points measure, meshes connect, voxels index</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500" lang="en-GB">
                          <a:solidFill>
                            <a:srgbClr val="263238"/>
                          </a:solidFill>
                          <a:latin typeface="+mn-lt"/>
                        </a:rPr>
                        <a:t>slide 8, in the main deck</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299466">
                <a:tc>
                  <a:txBody>
                    <a:bodyPr/>
                    <a:lstStyle/>
                    <a:p>
                      <a:pPr marL="0" indent="0" algn="l">
                        <a:lnSpc>
                          <a:spcPct val="95000"/>
                        </a:lnSpc>
                        <a:spcBef>
                          <a:spcPts val="0"/>
                        </a:spcBef>
                        <a:spcAft>
                          <a:spcPts val="0"/>
                        </a:spcAft>
                        <a:buNone/>
                      </a:pPr>
                      <a:r>
                        <a:rPr sz="1500" lang="en-GB">
                          <a:solidFill>
                            <a:srgbClr val="263238"/>
                          </a:solidFill>
                          <a:latin typeface="+mn-lt"/>
                        </a:rPr>
                        <a:t>7</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Transforms as matrices (C3)</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One matrix per frame change, order matters</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500" lang="en-GB">
                          <a:solidFill>
                            <a:srgbClr val="263238"/>
                          </a:solidFill>
                          <a:latin typeface="+mn-lt"/>
                        </a:rPr>
                        <a:t>after slide 14</a:t>
                      </a:r>
                      <a:endParaRPr lang="en-GB" sz="15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bl>
          </a:graphicData>
        </a:graphic>
      </p:graphicFrame>
      <p:sp>
        <p:nvSpPr>
          <p:cNvPr id="8" name="Appendix bullets"/>
          <p:cNvSpPr txBox="1"/>
          <p:nvPr/>
        </p:nvSpPr>
        <p:spPr>
          <a:xfrm>
            <a:off x="548640" y="4601845"/>
            <a:ext cx="11094720" cy="1025144"/>
          </a:xfrm>
          <a:prstGeom prst="rect">
            <a:avLst/>
          </a:prstGeom>
          <a:noFill/>
        </p:spPr>
        <p:txBody>
          <a:bodyPr wrap="square" anchor="t" lIns="0" tIns="0" rIns="0" bIns="0">
            <a:noAutofit/>
          </a:bodyPr>
          <a:lstStyle/>
          <a:p>
            <a:pPr algn="l" marL="228600" indent="-228600">
              <a:lnSpc>
                <a:spcPct val="95000"/>
              </a:lnSpc>
              <a:spcBef>
                <a:spcPts val="0"/>
              </a:spcBef>
              <a:spcAft>
                <a:spcPts val="0"/>
              </a:spcAft>
              <a:buClr>
                <a:srgbClr val="2B6797"/>
              </a:buClr>
              <a:buFont typeface="Fira Sans"/>
              <a:buChar char="•"/>
            </a:pPr>
            <a:r>
              <a:rPr sz="1500" lang="en-GB">
                <a:solidFill>
                  <a:srgbClr val="263238"/>
                </a:solidFill>
                <a:latin typeface="+mn-lt"/>
              </a:rPr>
              <a:t>Narrative: what the data is (1, 6), where it is (2, 7), what is near what (3), how far to trust it (4), how big it gets (5). Close with C7: ideas outlive tools.</a:t>
            </a:r>
            <a:endParaRPr lang="en-GB" sz="1500"/>
          </a:p>
          <a:p>
            <a:pPr algn="l" marL="228600" indent="-228600">
              <a:lnSpc>
                <a:spcPct val="95000"/>
              </a:lnSpc>
              <a:spcBef>
                <a:spcPts val="400"/>
              </a:spcBef>
              <a:spcAft>
                <a:spcPts val="0"/>
              </a:spcAft>
              <a:buClr>
                <a:srgbClr val="2B6797"/>
              </a:buClr>
              <a:buFont typeface="Fira Sans"/>
              <a:buChar char="•"/>
            </a:pPr>
            <a:r>
              <a:rPr sz="1500" lang="en-GB">
                <a:solidFill>
                  <a:srgbClr val="263238"/>
                </a:solidFill>
                <a:latin typeface="+mn-lt"/>
              </a:rPr>
              <a:t>In the 30 minute slot the main deck carries 1, 4 and 6 in full (slides 8 and 30; the workflow ring is backup B8) and 2, 3 and 5 in short form; add C2 and C4 first if time allows.</a:t>
            </a:r>
            <a:endParaRPr lang="en-GB" sz="1500"/>
          </a:p>
        </p:txBody>
      </p:sp>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47</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Glossary of 3D data terms</a:t>
            </a:r>
          </a:p>
        </p:txBody>
      </p:sp>
      <p:graphicFrame>
        <p:nvGraphicFramePr>
          <p:cNvPr id="6" name="Appendix table" descr="Table. Columns: Term, Meaning in this talk. 10 rows."/>
          <p:cNvGraphicFramePr>
            <a:graphicFrameLocks noGrp="1"/>
          </p:cNvGraphicFramePr>
          <p:nvPr/>
        </p:nvGraphicFramePr>
        <p:xfrm>
          <a:off x="548640" y="1554480"/>
          <a:ext cx="11094720" cy="3453384"/>
        </p:xfrm>
        <a:graphic>
          <a:graphicData uri="http://schemas.openxmlformats.org/drawingml/2006/table">
            <a:tbl>
              <a:tblPr firstRow="0" bandRow="0">
                <a:tableStyleId>{2D5ABB26-0587-4C30-8999-92F81FD0307C}</a:tableStyleId>
              </a:tblPr>
              <a:tblGrid>
                <a:gridCol w="2516328"/>
                <a:gridCol w="8578392"/>
              </a:tblGrid>
              <a:tr h="313944">
                <a:tc>
                  <a:txBody>
                    <a:bodyPr/>
                    <a:lstStyle/>
                    <a:p>
                      <a:pPr marL="0" indent="0" algn="l">
                        <a:lnSpc>
                          <a:spcPct val="95000"/>
                        </a:lnSpc>
                        <a:spcBef>
                          <a:spcPts val="0"/>
                        </a:spcBef>
                        <a:spcAft>
                          <a:spcPts val="0"/>
                        </a:spcAft>
                        <a:buNone/>
                      </a:pPr>
                      <a:r>
                        <a:rPr sz="1600" lang="en-GB">
                          <a:solidFill>
                            <a:srgbClr val="FFFFFF"/>
                          </a:solidFill>
                          <a:latin typeface="Fira Sans SemiBold"/>
                        </a:rPr>
                        <a:t>Term</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c>
                  <a:txBody>
                    <a:bodyPr/>
                    <a:lstStyle/>
                    <a:p>
                      <a:pPr marL="0" indent="0" algn="l">
                        <a:lnSpc>
                          <a:spcPct val="95000"/>
                        </a:lnSpc>
                        <a:spcBef>
                          <a:spcPts val="0"/>
                        </a:spcBef>
                        <a:spcAft>
                          <a:spcPts val="0"/>
                        </a:spcAft>
                        <a:buNone/>
                      </a:pPr>
                      <a:r>
                        <a:rPr sz="1600" lang="en-GB">
                          <a:solidFill>
                            <a:srgbClr val="FFFFFF"/>
                          </a:solidFill>
                          <a:latin typeface="Fira Sans SemiBold"/>
                        </a:rPr>
                        <a:t>Meaning in this talk</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1C325B"/>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Point cloud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An unordered set of 3D points, stored as an N×3 array plus attribute columns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Mesh</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Vertices plus faces (usually triangles) that define a surface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Voxel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A cell of a regular 3D grid; voxel downsampling keeps one point per cell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CRS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Coordinate reference system: what the numbers mean on Earth (here RD New + NAP)</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Rigid transform</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Rotation plus translation, written as one four by four matrix</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Neighbourhood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The points within a radius or the k nearest; found with a KD-tree or grid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Normal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Direction perpendicular to the local surface, estimated from a neighbourhood</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Density</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Points per square metre; varies with overlap, occlusion and surface</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LAS, LAZ, COPC</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c>
                  <a:txBody>
                    <a:bodyPr/>
                    <a:lstStyle/>
                    <a:p>
                      <a:pPr marL="0" indent="0" algn="l">
                        <a:lnSpc>
                          <a:spcPct val="95000"/>
                        </a:lnSpc>
                        <a:spcBef>
                          <a:spcPts val="0"/>
                        </a:spcBef>
                        <a:spcAft>
                          <a:spcPts val="0"/>
                        </a:spcAft>
                        <a:buNone/>
                      </a:pPr>
                      <a:r>
                        <a:rPr sz="1600" lang="en-GB">
                          <a:solidFill>
                            <a:srgbClr val="263238"/>
                          </a:solidFill>
                          <a:latin typeface="+mn-lt"/>
                        </a:rPr>
                        <a:t>LiDAR file format; its compressed form; LAZ organised as an octree for box reads</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E0E0E0"/>
                    </a:solidFill>
                  </a:tcPr>
                </a:tc>
              </a:tr>
              <a:tr h="313944">
                <a:tc>
                  <a:txBody>
                    <a:bodyPr/>
                    <a:lstStyle/>
                    <a:p>
                      <a:pPr marL="0" indent="0" algn="l">
                        <a:lnSpc>
                          <a:spcPct val="95000"/>
                        </a:lnSpc>
                        <a:spcBef>
                          <a:spcPts val="0"/>
                        </a:spcBef>
                        <a:spcAft>
                          <a:spcPts val="0"/>
                        </a:spcAft>
                        <a:buNone/>
                      </a:pPr>
                      <a:r>
                        <a:rPr sz="1600" lang="en-GB">
                          <a:solidFill>
                            <a:srgbClr val="263238"/>
                          </a:solidFill>
                          <a:latin typeface="+mn-lt"/>
                        </a:rPr>
                        <a:t>Return</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c>
                  <a:txBody>
                    <a:bodyPr/>
                    <a:lstStyle/>
                    <a:p>
                      <a:pPr marL="0" indent="0" algn="l">
                        <a:lnSpc>
                          <a:spcPct val="95000"/>
                        </a:lnSpc>
                        <a:spcBef>
                          <a:spcPts val="0"/>
                        </a:spcBef>
                        <a:spcAft>
                          <a:spcPts val="0"/>
                        </a:spcAft>
                        <a:buNone/>
                      </a:pPr>
                      <a:r>
                        <a:rPr sz="1600" lang="en-GB">
                          <a:solidFill>
                            <a:srgbClr val="263238"/>
                          </a:solidFill>
                          <a:latin typeface="+mn-lt"/>
                        </a:rPr>
                        <a:t>One echo of a laser pulse; a pulse through a tree can give several</a:t>
                      </a:r>
                      <a:endParaRPr lang="en-GB" sz="1600"/>
                    </a:p>
                  </a:txBody>
                  <a:tcPr marL="73152" marR="73152" marT="27432" marB="27432">
                    <a:lnL w="12700" cap="flat" cmpd="sng" algn="ctr">
                      <a:solidFill>
                        <a:srgbClr val="FFFFFF"/>
                      </a:solidFill>
                      <a:prstDash val="solid"/>
                    </a:lnL>
                    <a:lnR w="12700" cap="flat" cmpd="sng" algn="ctr">
                      <a:solidFill>
                        <a:srgbClr val="FFFFFF"/>
                      </a:solidFill>
                      <a:prstDash val="solid"/>
                    </a:lnR>
                    <a:lnT w="12700" cap="flat" cmpd="sng" algn="ctr">
                      <a:solidFill>
                        <a:srgbClr val="FFFFFF"/>
                      </a:solidFill>
                      <a:prstDash val="solid"/>
                    </a:lnT>
                    <a:lnB w="12700" cap="flat" cmpd="sng" algn="ctr">
                      <a:solidFill>
                        <a:srgbClr val="FFFFFF"/>
                      </a:solidFill>
                      <a:prstDash val="solid"/>
                    </a:lnB>
                    <a:solidFill>
                      <a:srgbClr val="FFFFFF"/>
                    </a:solidFill>
                  </a:tcPr>
                </a:tc>
              </a:tr>
            </a:tbl>
          </a:graphicData>
        </a:graphic>
      </p:graphicFrame>
      <p:sp>
        <p:nvSpPr>
          <p:cNvPr id="4" name="Footer"/>
          <p:cNvSpPr>
            <a:spLocks noGrp="1"/>
          </p:cNvSpPr>
          <p:nvPr>
            <p:ph type="ftr" sz="quarter" idx="11"/>
          </p:nvPr>
        </p:nvSpPr>
        <p:spPr/>
        <p:txBody>
          <a:bodyPr/>
          <a:lstStyle/>
          <a:p>
            <a:r>
              <a:rPr lang="en-GB"/>
              <a:t>3D Data Science with Python | PyCon NL 2026</a:t>
            </a:r>
          </a:p>
        </p:txBody>
      </p:sp>
      <p:sp>
        <p:nvSpPr>
          <p:cNvPr id="5" name="Slide number"/>
          <p:cNvSpPr>
            <a:spLocks noGrp="1"/>
          </p:cNvSpPr>
          <p:nvPr>
            <p:ph type="sldNum" sz="quarter" idx="12"/>
          </p:nvPr>
        </p:nvSpPr>
        <p:spPr/>
        <p:txBody>
          <a:bodyPr/>
          <a:lstStyle/>
          <a:p>
            <a:fld id="{B6F15528-21DE-4FAA-801E-634DDDAF4B2B}" type="slidenum">
              <a:rPr lang="en-GB"/>
              <a:t>48</a:t>
            </a:fld>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yCon NL 2026">
  <a:themeElements>
    <a:clrScheme name="PyCon NL 2026">
      <a:dk1>
        <a:srgbClr val="263238"/>
      </a:dk1>
      <a:lt1>
        <a:srgbClr val="FFFFFF"/>
      </a:lt1>
      <a:dk2>
        <a:srgbClr val="1C325B"/>
      </a:dk2>
      <a:lt2>
        <a:srgbClr val="E0E0E0"/>
      </a:lt2>
      <a:accent1>
        <a:srgbClr val="2B6797"/>
      </a:accent1>
      <a:accent2>
        <a:srgbClr val="B1CAC5"/>
      </a:accent2>
      <a:accent3>
        <a:srgbClr val="1C325B"/>
      </a:accent3>
      <a:accent4>
        <a:srgbClr val="455A64"/>
      </a:accent4>
      <a:accent5>
        <a:srgbClr val="9CA3AF"/>
      </a:accent5>
      <a:accent6>
        <a:srgbClr val="E0E0E0"/>
      </a:accent6>
      <a:hlink>
        <a:srgbClr val="2B6797"/>
      </a:hlink>
      <a:folHlink>
        <a:srgbClr val="2B6797"/>
      </a:folHlink>
    </a:clrScheme>
    <a:fontScheme name="PyCon NL 2026">
      <a:majorFont>
        <a:latin typeface="Fira Sans" panose="020B0503050000020004"/>
        <a:ea typeface=""/>
        <a:cs typeface=""/>
      </a:majorFont>
      <a:minorFont>
        <a:latin typeface="Fira Sans" panose="020B0503050000020004"/>
        <a:ea typeface=""/>
        <a:cs typeface=""/>
      </a:minorFont>
    </a:fontScheme>
    <a:fmtScheme name="PyCon NL 2026">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accent1"/>
        </a:solidFill>
        <a:ln>
          <a:noFill/>
        </a:ln>
      </a:spPr>
      <a:bodyPr rtlCol="0" anchor="ctr"/>
      <a:lstStyle>
        <a:defPPr algn="ctr">
          <a:defRPr lang="en-GB" sz="2000">
            <a:solidFill>
              <a:schemeClr val="lt1"/>
            </a:solidFill>
          </a:defRPr>
        </a:defPPr>
      </a:lstStyle>
      <a:style>
        <a:lnRef idx="0">
          <a:schemeClr val="accent1"/>
        </a:lnRef>
        <a:fillRef idx="1">
          <a:schemeClr val="accent1"/>
        </a:fillRef>
        <a:effectRef idx="0">
          <a:schemeClr val="accent1"/>
        </a:effectRef>
        <a:fontRef idx="minor">
          <a:schemeClr val="lt1"/>
        </a:fontRef>
      </a:style>
    </a:spDef>
    <a:lnDef>
      <a:spPr>
        <a:ln w="19050">
          <a:solidFill>
            <a:schemeClr val="accent4"/>
          </a:solidFill>
        </a:ln>
      </a:spPr>
      <a:bodyPr/>
      <a:lstStyle/>
      <a:style>
        <a:lnRef idx="1">
          <a:schemeClr val="accent4"/>
        </a:lnRef>
        <a:fillRef idx="0">
          <a:schemeClr val="accent4"/>
        </a:fillRef>
        <a:effectRef idx="0">
          <a:schemeClr val="accent4"/>
        </a:effectRef>
        <a:fontRef idx="minor">
          <a:schemeClr val="tx1"/>
        </a:fontRef>
      </a:style>
    </a:lnDef>
    <a:txDef>
      <a:spPr>
        <a:noFill/>
      </a:spPr>
      <a:bodyPr wrap="square" lIns="0" tIns="0" rIns="0" bIns="0" rtlCol="0">
        <a:spAutoFit/>
      </a:bodyPr>
      <a:lstStyle>
        <a:defPPr>
          <a:defRPr lang="en-GB" sz="2000" dirty="0">
            <a:solidFill>
              <a:schemeClr val="tx1"/>
            </a:solidFill>
          </a:defRPr>
        </a:defPPr>
      </a:lstStyle>
    </a:txDef>
  </a:objectDefaults>
  <a:extraClrSchemeLst/>
</a:theme>
</file>

<file path=ppt/theme/theme2.xml><?xml version="1.0" encoding="utf-8"?>
<a:theme xmlns:a="http://schemas.openxmlformats.org/drawingml/2006/main" name="PyCon NL 2026">
  <a:themeElements>
    <a:clrScheme name="PyCon NL 2026">
      <a:dk1>
        <a:srgbClr val="263238"/>
      </a:dk1>
      <a:lt1>
        <a:srgbClr val="FFFFFF"/>
      </a:lt1>
      <a:dk2>
        <a:srgbClr val="1C325B"/>
      </a:dk2>
      <a:lt2>
        <a:srgbClr val="E0E0E0"/>
      </a:lt2>
      <a:accent1>
        <a:srgbClr val="2B6797"/>
      </a:accent1>
      <a:accent2>
        <a:srgbClr val="B1CAC5"/>
      </a:accent2>
      <a:accent3>
        <a:srgbClr val="1C325B"/>
      </a:accent3>
      <a:accent4>
        <a:srgbClr val="455A64"/>
      </a:accent4>
      <a:accent5>
        <a:srgbClr val="9CA3AF"/>
      </a:accent5>
      <a:accent6>
        <a:srgbClr val="E0E0E0"/>
      </a:accent6>
      <a:hlink>
        <a:srgbClr val="2B6797"/>
      </a:hlink>
      <a:folHlink>
        <a:srgbClr val="2B6797"/>
      </a:folHlink>
    </a:clrScheme>
    <a:fontScheme name="PyCon NL 2026">
      <a:majorFont>
        <a:latin typeface="Fira Sans" panose="020B0503050000020004"/>
        <a:ea typeface=""/>
        <a:cs typeface=""/>
      </a:majorFont>
      <a:minorFont>
        <a:latin typeface="Fira Sans" panose="020B0503050000020004"/>
        <a:ea typeface=""/>
        <a:cs typeface=""/>
      </a:minorFont>
    </a:fontScheme>
    <a:fmtScheme name="PyCon NL 2026">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accent1"/>
        </a:solidFill>
        <a:ln>
          <a:noFill/>
        </a:ln>
      </a:spPr>
      <a:bodyPr rtlCol="0" anchor="ctr"/>
      <a:lstStyle>
        <a:defPPr algn="ctr">
          <a:defRPr lang="en-GB" sz="2000">
            <a:solidFill>
              <a:schemeClr val="lt1"/>
            </a:solidFill>
          </a:defRPr>
        </a:defPPr>
      </a:lstStyle>
      <a:style>
        <a:lnRef idx="0">
          <a:schemeClr val="accent1"/>
        </a:lnRef>
        <a:fillRef idx="1">
          <a:schemeClr val="accent1"/>
        </a:fillRef>
        <a:effectRef idx="0">
          <a:schemeClr val="accent1"/>
        </a:effectRef>
        <a:fontRef idx="minor">
          <a:schemeClr val="lt1"/>
        </a:fontRef>
      </a:style>
    </a:spDef>
    <a:lnDef>
      <a:spPr>
        <a:ln w="19050">
          <a:solidFill>
            <a:schemeClr val="accent4"/>
          </a:solidFill>
        </a:ln>
      </a:spPr>
      <a:bodyPr/>
      <a:lstStyle/>
      <a:style>
        <a:lnRef idx="1">
          <a:schemeClr val="accent4"/>
        </a:lnRef>
        <a:fillRef idx="0">
          <a:schemeClr val="accent4"/>
        </a:fillRef>
        <a:effectRef idx="0">
          <a:schemeClr val="accent4"/>
        </a:effectRef>
        <a:fontRef idx="minor">
          <a:schemeClr val="tx1"/>
        </a:fontRef>
      </a:style>
    </a:lnDef>
    <a:txDef>
      <a:spPr>
        <a:noFill/>
      </a:spPr>
      <a:bodyPr wrap="square" lIns="0" tIns="0" rIns="0" bIns="0" rtlCol="0">
        <a:spAutoFit/>
      </a:bodyPr>
      <a:lstStyle>
        <a:defPPr>
          <a:defRPr lang="en-GB" sz="2000" dirty="0">
            <a:solidFill>
              <a:schemeClr val="tx1"/>
            </a:solidFill>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48</Slides>
  <Notes>48</Notes>
  <HiddenSlides>15</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Data Science with Python</dc:title>
  <dc:creator>Sergio Peral</dc:creator>
  <cp:lastModifiedBy>Sergio Peral</cp:lastModifiedBy>
  <dc:language>en-GB</dc:language>
  <cp:revision>1</cp:revision>
  <dcterms:created xsi:type="dcterms:W3CDTF">2026-10-13T23:11:16Z</dcterms:created>
  <dcterms:modified xsi:type="dcterms:W3CDTF">2026-10-13T23:11:16Z</dcterms:modified>
</cp:coreProperties>
</file>