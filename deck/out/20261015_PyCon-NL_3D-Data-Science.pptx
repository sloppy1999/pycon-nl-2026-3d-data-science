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 id="273"/>
            <p14:sldId id="274"/>
          </p14:sldIdLst>
        </p14:section>
        <p14:section name="Landscape" id="{8732EF79-AE0B-58DF-972A-54AD5E8564E7}">
          <p14:sldIdLst>
            <p14:sldId id="275"/>
            <p14:sldId id="276"/>
          </p14:sldIdLst>
        </p14:section>
        <p14:section name="Pipeline" id="{EC630927-BFAE-5D8A-B61A-65E18449044C}">
          <p14:sldIdLst>
            <p14:sldId id="277"/>
            <p14:sldId id="278"/>
            <p14:sldId id="279"/>
            <p14:sldId id="280"/>
            <p14:sldId id="281"/>
            <p14:sldId id="282"/>
            <p14:sldId id="283"/>
            <p14:sldId id="284"/>
            <p14:sldId id="285"/>
            <p14:sldId id="286"/>
          </p14:sldIdLst>
        </p14:section>
        <p14:section name="Performance" id="{F91C7034-C18A-5F43-AD8B-059D4F0584F7}">
          <p14:sldIdLst>
            <p14:sldId id="287"/>
            <p14:sldId id="288"/>
            <p14:sldId id="289"/>
            <p14:sldId id="290"/>
            <p14:sldId id="291"/>
          </p14:sldIdLst>
        </p14:section>
        <p14:section name="RAM" id="{FC093E39-7134-57DE-B3D4-50466B1AA227}">
          <p14:sldIdLst>
            <p14:sldId id="292"/>
          </p14:sldIdLst>
        </p14:section>
        <p14:section name="Close" id="{135F424C-7FE6-5892-BFB5-AB3C758E24F6}">
          <p14:sldIdLst>
            <p14:sldId id="293"/>
            <p14:sldId id="294"/>
          </p14:sldIdLst>
        </p14:section>
        <p14:section name="Appendix" id="{2B4E84C8-F2D2-5B60-9919-95FFB9414073}">
          <p14:sldIdLst>
            <p14:sldId id="295"/>
            <p14:sldId id="296"/>
            <p14:sldId id="297"/>
            <p14:sldId id="298"/>
            <p14:sldId id="299"/>
            <p14:sldId id="300"/>
            <p14:sldId id="301"/>
          </p14:sldIdLst>
        </p14:section>
        <p14:section name="Mental models" id="{E4DD9C9C-5990-5F85-8856-F43FD0FCEB52}">
          <p14:sldIdLst>
            <p14:sldId id="302"/>
            <p14:sldId id="303"/>
            <p14:sldId id="304"/>
            <p14:sldId id="305"/>
            <p14:sldId id="306"/>
            <p14:sldId id="307"/>
            <p14:sldId id="30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4599"/>
          <c:y val="0.0200"/>
          <c:w val="0.5365"/>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9CA3AF"/>
              </a:solidFill>
              <a:ln>
                <a:noFill/>
              </a:ln>
            </c:spPr>
          </c:dPt>
          <c:dPt>
            <c:idx val="2"/>
            <c:spPr>
              <a:solidFill>
                <a:srgbClr val="9CA3AF"/>
              </a:solidFill>
              <a:ln>
                <a:noFill/>
              </a:ln>
            </c:spPr>
          </c:dPt>
          <c:dPt>
            <c:idx val="3"/>
            <c:spPr>
              <a:solidFill>
                <a:srgbClr val="2B6797"/>
              </a:solidFill>
              <a:ln>
                <a:noFill/>
              </a:ln>
            </c:spPr>
          </c:dPt>
          <c:dPt>
            <c:idx val="4"/>
            <c:spPr>
              <a:solidFill>
                <a:srgbClr val="2B6797"/>
              </a:solidFill>
              <a:ln>
                <a:noFill/>
              </a:ln>
            </c:spPr>
          </c:dPt>
          <c:dLbls>
            <c:dLbl>
              <c:idx val="0"/>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32 GB RAM</c:v>
                </c:pt>
                <c:pt idx="1">
                  <c:v>LAS records
(computed)</c:v>
                </c:pt>
                <c:pt idx="2">
                  <c:v>+ float64 xyz
(computed)</c:v>
                </c:pt>
                <c:pt idx="3">
                  <c:v>Our pipeline
(computed)</c:v>
                </c:pt>
                <c:pt idx="4">
                  <c:v>Chunked, 1 km file
(measured)</c:v>
                </c:pt>
              </c:strCache>
            </c:strRef>
          </c:cat>
          <c:val>
            <c:numRef>
              <c:f>Sheet1!$B$2:$B$6</c:f>
              <c:numCache>
                <c:formatCode>0.0</c:formatCode>
                <c:ptCount val="5"/>
                <c:pt idx="0">
                  <c:v>32.0</c:v>
                </c:pt>
                <c:pt idx="1">
                  <c:v>25.877822320908308</c:v>
                </c:pt>
                <c:pt idx="2">
                  <c:v>46.580080177634954</c:v>
                </c:pt>
                <c:pt idx="3">
                  <c:v>74.24490390114173</c:v>
                </c:pt>
                <c:pt idx="4">
                  <c:v>0.8194465637207031</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23.</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and the next slides use exactly that.</a:t>
            </a:r>
          </a:p>
          <a:p/>
          <a:p>
            <a:r>
              <a:t>TIME: 30 s, ends at 1:25</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10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a:p>
            <a:r>
              <a:t>• Credit (was the slide caption, moved here 2026-10-13): meme template: the Scooby-Doo unmasking scene (Hanna-Barbera). Python and C++ logos belong to their owners; no endorsement implied.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1:55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5.</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Small print: Blue outline: used in today's pipeline. Logos belong to their owners; no endorsement implied. 119 libraries checked on PyPI and GitHub: docs/ECOSYSTEM.md in the repo.</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5; laspy's header.parse_crs() needs it</a:t>
            </a:r>
          </a:p>
          <a:p>
            <a:r>
              <a:t>• Numba (B1, the escape hatch for a kernel that has no batched call) and Dask (arrays bigger than RAM, slide 26)</a:t>
            </a:r>
          </a:p>
          <a:p>
            <a:r>
              <a:t>• trimesh and PyTorch3D: named on slide 9 as not in this pipeline; scikit-learn: the Random Forest of backup B5. PyTorch (backup B3) is dropped from the wall, PyTorch3D covers the Learn row</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65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 26 shows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a:t>
            </a:r>
          </a:p>
          <a:p/>
          <a:p>
            <a:r>
              <a:t>TIME: 40 s, ends at 3:40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Whatever the data, a 3D project goes round the same ring, and each stage has its Python tool. The two dark blue stages get the data. One, acquisition: a scanner, a camera or a depth sensor gives you raw points, and laspy reads them from the LAZ file; this is what single points look like. Two, preparation: you clean the data and register scans into one coordinate system, with NumPy and Open3D. NumPy is the glue throughout: every library hands the next one an N by 3 array. The two lighter blue stages understand it. Three, exploration: Open3D and SciPy give you voxels, planes and clusters, here each cluster in its own colour. Four, analysis: you measure and monitor, again in NumPy and SciPy. The two green stages deliver it. Five, visualisation: PyVista draws the result, because you need to see it to trust it. Six, application: it ends up in a product. And the dashed arrows are the real story: you loop back, from analysis to preparation, from a render to a re-scan, whenever the data surprises you. Today's example is a small version of stages one to five. First, four rules of thumb I wish I'd had on day one.</a:t>
            </a:r>
          </a:p>
          <a:p/>
          <a:p>
            <a:r>
              <a:t>TIME: 145 s, ends at 6:05</a:t>
            </a:r>
          </a:p>
          <a:p/>
          <a:p>
            <a:r>
              <a:t>LIKELY QUESTION: Where does most of the time go?</a:t>
            </a:r>
          </a:p>
          <a:p/>
          <a:p>
            <a:r>
              <a:t>ANSWER: Preparation, nearly always. Registration, cleaning and checking coordinates take far longer than any model, which is why the rules of thumb on the next slide are about getting the data small and trustworthy first.</a:t>
            </a:r>
          </a:p>
          <a:p/>
          <a:p>
            <a:r>
              <a:t>TRACE:</a:t>
            </a:r>
          </a:p>
          <a:p>
            <a:r>
              <a:t>• content.yaml slide 7 stages (the former chain slide merged in: laspy, NumPy, Open3D, PyVista with an image each); simplified from Figure 1-12, "A high-level view of the 3D data science workflow", in the book 3D Data Science with Python (O'Reilly)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6:50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8 rules; the same four rules close the talk on slide 27 with their evidence</a:t>
            </a:r>
          </a:p>
          <a:p/>
          <a:p>
            <a:r>
              <a:t>WHERE IN THE TALK:</a:t>
            </a:r>
          </a:p>
          <a:p>
            <a:r>
              <a:t>• 1 Think in arrays: slides 6, 10 and 11 (N by 3 arrays, copy or view at every hand-off)</a:t>
            </a:r>
          </a:p>
          <a:p>
            <a:r>
              <a:t>• 2 Look before you compute: slides 5, 20 and 26 (AHN classes, street furniture against the BGT register, the gotchas)</a:t>
            </a:r>
          </a:p>
          <a:p>
            <a:r>
              <a:t>• 3 Make it small first: slides 13 and 15 (voxels, tiles, streaming chunks)</a:t>
            </a:r>
          </a:p>
          <a:p>
            <a:r>
              <a:t>• 4 Let compiled code loop: slides 21 to 25 (the quiz, the toll, the profiler, free threads)</a:t>
            </a:r>
          </a:p>
          <a:p/>
          <a:p>
            <a:r>
              <a:t>MENTAL MODEL: The rules rest on the hidden mental-models section (C2 to C9, with citations; C1 and C5 are slides 6 and 20; slide 7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So how do these libraries hand data to each other?</a:t>
            </a:r>
          </a:p>
          <a:p/>
          <a:p>
            <a:r>
              <a:t>TIME: 55 s, ends at 7:45</a:t>
            </a:r>
          </a:p>
          <a:p/>
          <a:p>
            <a:r>
              <a:t>LIKELY QUESTION: [pending]</a:t>
            </a:r>
          </a:p>
          <a:p/>
          <a:p>
            <a:r>
              <a:t>ANSWER: [pending]</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8:55</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9). If skipped, say on slide 11: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are measured here (their slide is removed)</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12, 8.2 ms.</a:t>
            </a:r>
          </a:p>
          <a:p/>
          <a:p>
            <a:r>
              <a:t>WHY IT MATTERS:</a:t>
            </a:r>
          </a:p>
          <a:p>
            <a:r>
              <a:t>• Memory: one float64 xyz copy is 24 B per point (results/memory.json); 21 013 926 points × 24 B = 0.47 GB per copy of a 1 km AHN file, and the load-everything pipeline holds several (slide 25)</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9:20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10),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10:25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10),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11:20</a:t>
            </a:r>
          </a:p>
          <a:p/>
          <a:p>
            <a:r>
              <a:t>LIKELY QUESTION: Why average? Why not keep one real point per voxel?</a:t>
            </a:r>
          </a:p>
          <a:p/>
          <a:p>
            <a:r>
              <a:t>ANSWER: You can, and in the chunked read (backup B2) I do exactly that, because it streams. Open3D's voxel_down_sample returns the centroid: I checked that it equals the per-voxel mean, on a grid anchored half a voxel below the minimum corner.</a:t>
            </a:r>
          </a:p>
          <a:p/>
          <a:p>
            <a:r>
              <a:t>TRACE:</a:t>
            </a:r>
          </a:p>
          <a:p>
            <a:r>
              <a:t>• Sketch caption: 0.5 m voxels</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12:35</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14 title no longer says 'Utrecht isn't flat': on the Jaarbeurs crop one plane ties with the tiles (results/pipeline.json single_plane); the joke now runs the other way</a:t>
            </a:r>
          </a:p>
          <a:p/>
          <a:p>
            <a:r>
              <a:t>TRACE:</a:t>
            </a:r>
          </a:p>
          <a:p>
            <a:r>
              <a:t>• Sketch caption: one plane per tile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13:30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Sketch caption: eps = 0.75 m</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14:40</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Sketch caption: shape → class</a:t>
            </a:r>
          </a:p>
          <a:p>
            <a:r>
              <a:t>• Small print: Street furniture: 3 objects, 53 points, drawn enlarged. Poles nearly vanish.</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17 and 18;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15:20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18: "every render here is PyVista, off-screen, one fixed camera".</a:t>
            </a:r>
          </a:p>
          <a:p/>
          <a:p>
            <a:r>
              <a:t>TRACE:</a:t>
            </a:r>
          </a:p>
          <a:p>
            <a:r>
              <a:t>• Sketch caption: nearest voxel's label</a:t>
            </a:r>
          </a:p>
          <a:p>
            <a:r>
              <a:t>• Small print: Street furniture: 3 objects, 53 points, drawn enlarged. Poles nearly vanish.</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65 s, ends at 16:25</a:t>
            </a:r>
          </a:p>
          <a:p/>
          <a:p>
            <a:r>
              <a:t>LIKELY QUESTION: Can I run this on my own AHN file?</a:t>
            </a:r>
          </a:p>
          <a:p/>
          <a:p>
            <a:r>
              <a:t>ANSWER: Yes, that's what the repo is for. For a whole 1 km AHN file or larger, start with the chunked read (backup B2), and expect to retune voxel size, tile size and eps for a different point density. Not in the Netherlands? Backup B6 lists other open sources.</a:t>
            </a:r>
          </a:p>
          <a:p/>
          <a:p>
            <a:r>
              <a:t>CHECKPOINT: Skip-first order: 26, 25, 18, 11. Target: leave this slide by 16:25. Leaving after 17:25: skip 26 and 25. Leaving after 18:55: also skip 18, and tell only one story on 26. Further on: reach slide 26 by 23:45, otherwise skip it. To skip: one sentence, then click.</a:t>
            </a:r>
          </a:p>
          <a:p/>
          <a:p>
            <a:r>
              <a:t>CHECK BEFORE THE TALK:</a:t>
            </a:r>
          </a:p>
          <a:p>
            <a:r>
              <a:t>• Repo URL is still a placeholder (content.yaml)</a:t>
            </a:r>
          </a:p>
          <a:p>
            <a:r>
              <a:t>• Other open sources (B6): research: reports/videos.md V1</a:t>
            </a:r>
          </a:p>
          <a:p/>
          <a:p>
            <a:r>
              <a:t>TRACE:</a:t>
            </a:r>
          </a:p>
          <a:p>
            <a:r>
              <a:t>• Small print: One run, indicative; renders not included. Street furniture drawn enlarged.</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So why do poles get so few points?</a:t>
            </a:r>
          </a:p>
          <a:p/>
          <a:p>
            <a:r>
              <a:t>TIME: 40 s, ends at 17:05</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Photo credit: 2021 · Robot8A · CC BY-SA 4.0</a:t>
            </a:r>
          </a:p>
          <a:p>
            <a:r>
              <a:t>• Photo credit: 2014 · V. van Werkhooven · CC BY 3.0</a:t>
            </a:r>
          </a:p>
          <a:p>
            <a:r>
              <a:t>• Small print: Poles: BGT (Kadaster, CC BY 4.0) via PDOK, 2026-10-12. Points: within 0.6 m, over 1.5 m above ground. Photos: Jaarbeursplein, Wikimedia Commons.</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Slide 20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Now, one simple question about every point.</a:t>
            </a:r>
          </a:p>
          <a:p/>
          <a:p>
            <a:r>
              <a:t>TIME: 40 s, ends at 17:45</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16).</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19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75 s, ends at 19:00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80 s, ends at 20:20</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23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12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21:55</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22:50</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22 gives the loop against the expression</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22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23:40</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26: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21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24:35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23:45. Later than that: skip this slide.</a:t>
            </a:r>
          </a:p>
          <a:p/>
          <a:p>
            <a:r>
              <a:t>IF SKIPPED: Skip-first number 3. If skipped, say the one fact on slide 26: "a full-size AHN file has 926 203 338 points".</a:t>
            </a:r>
          </a:p>
          <a:p/>
          <a:p>
            <a:r>
              <a:t>TRACE:</a:t>
            </a:r>
          </a:p>
          <a:p>
            <a:r>
              <a:t>• Small print: Bytes per point measured on the 1 km AHN file 135000_455000 (21 013 926 points); totals for 2023_C_31HZ2.LAZ computed, not run. Our pipeline: load and voxel downsampling (slides 12 and 13), all arrays kept, after gc.collect() and malloc_trim(0); peak 154 B per point.</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12 and 13);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27 rules (the rules of slide 8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Thank you to the Python community and to all of you for being here.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28: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16":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16's...":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12).</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12</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20).</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15 and the...": status judgement; source: judgement; slides 13 and 15</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27).</a:t>
            </a:r>
          </a:p>
          <a:p/>
          <a:p>
            <a:r>
              <a:t>LIMITS AND DISAGREEMENTS:</a:t>
            </a:r>
          </a:p>
          <a:p>
            <a:r>
              <a:t>• Complexity classes hide constants: an N log N method with a Python loop per point can still lose (slides 21 to 23).</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(B2).": status verified; source: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10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10; results/python_facts.json; research: reports/mental_models.md section 8</a:t>
            </a:r>
          </a:p>
          <a:p>
            <a:r>
              <a:t>• Bullet 2 "Learn the idea once; map it to whichever library the job...": status judgement; source: judgement; slide 9</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12 and C4 after slide 15;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6 and 8</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13</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16;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hyperlink" Target="https://creativecommons.org/licenses/by/4.0/"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16.png"/><Relationship Id="rId5" Type="http://schemas.openxmlformats.org/officeDocument/2006/relationships/hyperlink" Target="https://creativecommons.org/licenses/by/4.0/" TargetMode="Externa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image" Target="../media/image16.png"/><Relationship Id="rId8" Type="http://schemas.openxmlformats.org/officeDocument/2006/relationships/hyperlink" Target="https://creativecommons.org/licenses/by/4.0/"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creativecommons.org/licenses/by/4.0/"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4.png"/><Relationship Id="rId4" Type="http://schemas.openxmlformats.org/officeDocument/2006/relationships/hyperlink" Target="https://creativecommons.org/licenses/by/4.0/"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5.png"/><Relationship Id="rId4" Type="http://schemas.openxmlformats.org/officeDocument/2006/relationships/hyperlink" Target="https://creativecommons.org/licenses/by/4.0/"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6.png"/><Relationship Id="rId4" Type="http://schemas.openxmlformats.org/officeDocument/2006/relationships/hyperlink" Target="https://creativecommons.org/licenses/by/4.0/"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7.png"/><Relationship Id="rId4" Type="http://schemas.openxmlformats.org/officeDocument/2006/relationships/hyperlink" Target="https://creativecommons.org/licenses/by/4.0/"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28.png"/><Relationship Id="rId4" Type="http://schemas.openxmlformats.org/officeDocument/2006/relationships/hyperlink" Target="https://creativecommons.org/licenses/by/4.0/"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 Id="rId3" Type="http://schemas.openxmlformats.org/officeDocument/2006/relationships/image" Target="../media/image29.jpg"/><Relationship Id="rId4" Type="http://schemas.openxmlformats.org/officeDocument/2006/relationships/image" Target="../media/image30.jpg"/><Relationship Id="rId5" Type="http://schemas.openxmlformats.org/officeDocument/2006/relationships/hyperlink" Target="https://creativecommons.org/licenses/by/4.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Note box"/>
          <p:cNvSpPr/>
          <p:nvPr/>
        </p:nvSpPr>
        <p:spPr>
          <a:xfrm>
            <a:off x="6324600" y="4571712"/>
            <a:ext cx="5318760" cy="1645920"/>
          </a:xfrm>
          <a:prstGeom prst="roundRect">
            <a:avLst>
              <a:gd name="adj" fmla="val 4444"/>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ote"/>
          <p:cNvSpPr txBox="1"/>
          <p:nvPr/>
        </p:nvSpPr>
        <p:spPr>
          <a:xfrm>
            <a:off x="6489192" y="4708872"/>
            <a:ext cx="4989576" cy="137160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Why the counts differ: both average the points in each 0.5 m voxel, but the grids sit in different places. PCL anchors its voxels at multiples of the leaf size; Open3D at the minimum corner minus half a voxel.</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is the interface. C++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492863" cy="4663152"/>
          </a:xfrm>
          <a:prstGeom prst="rect">
            <a:avLst/>
          </a:prstGeom>
        </p:spPr>
      </p:pic>
      <p:sp>
        <p:nvSpPr>
          <p:cNvPr id="8" name="Meme bullets"/>
          <p:cNvSpPr txBox="1"/>
          <p:nvPr/>
        </p:nvSpPr>
        <p:spPr>
          <a:xfrm>
            <a:off x="4498703" y="2133600"/>
            <a:ext cx="7144657" cy="408403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p:txBody>
      </p:sp>
      <p:sp>
        <p:nvSpPr>
          <p:cNvPr id="9" name="Note box"/>
          <p:cNvSpPr/>
          <p:nvPr/>
        </p:nvSpPr>
        <p:spPr>
          <a:xfrm>
            <a:off x="4498703" y="5394672"/>
            <a:ext cx="7144657"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ote"/>
          <p:cNvSpPr txBox="1"/>
          <p:nvPr/>
        </p:nvSpPr>
        <p:spPr>
          <a:xfrm>
            <a:off x="4663295" y="5531832"/>
            <a:ext cx="6815473"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Python is used as a proxy to write higher-level code: the heavy loops run below it, in compiled code.</a:t>
            </a:r>
            <a:endParaRPr lang="en-GB" sz="1800"/>
          </a:p>
        </p:txBody>
      </p:sp>
      <p:sp>
        <p:nvSpPr>
          <p:cNvPr id="7" name="Support"/>
          <p:cNvSpPr txBox="1"/>
          <p:nvPr/>
        </p:nvSpPr>
        <p:spPr>
          <a:xfrm>
            <a:off x="4498703" y="1554480"/>
            <a:ext cx="7144657"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3D."/>
          <p:cNvGrpSpPr/>
          <p:nvPr/>
        </p:nvGrpSpPr>
        <p:grpSpPr>
          <a:xfrm>
            <a:off x="548640" y="1600200"/>
            <a:ext cx="11094720" cy="4617432"/>
            <a:chOff x="548640" y="1600200"/>
            <a:chExt cx="11094720" cy="4617432"/>
          </a:xfrm>
        </p:grpSpPr>
        <p:sp>
          <p:nvSpPr>
            <p:cNvPr id="6" name="wall_label_1"/>
            <p:cNvSpPr txBox="1"/>
            <p:nvPr/>
          </p:nvSpPr>
          <p:spPr>
            <a:xfrm>
              <a:off x="548640" y="160020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821074"/>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41586" y="1691640"/>
              <a:ext cx="422366" cy="429406"/>
            </a:xfrm>
            <a:prstGeom prst="rect">
              <a:avLst/>
            </a:prstGeom>
          </p:spPr>
        </p:pic>
        <p:sp>
          <p:nvSpPr>
            <p:cNvPr id="11" name="tile_ref_1_2"/>
            <p:cNvSpPr txBox="1"/>
            <p:nvPr/>
          </p:nvSpPr>
          <p:spPr>
            <a:xfrm>
              <a:off x="5098542"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541182" y="1691640"/>
              <a:ext cx="1659539" cy="429406"/>
            </a:xfrm>
            <a:prstGeom prst="rect">
              <a:avLst/>
            </a:prstGeom>
          </p:spPr>
        </p:pic>
        <p:sp>
          <p:nvSpPr>
            <p:cNvPr id="14" name="tile_ref_1_3"/>
            <p:cNvSpPr txBox="1"/>
            <p:nvPr/>
          </p:nvSpPr>
          <p:spPr>
            <a:xfrm>
              <a:off x="7316724"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54929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225483" y="2640730"/>
              <a:ext cx="1418208" cy="638194"/>
            </a:xfrm>
            <a:prstGeom prst="rect">
              <a:avLst/>
            </a:prstGeom>
          </p:spPr>
        </p:pic>
        <p:sp>
          <p:nvSpPr>
            <p:cNvPr id="18" name="wall_tile_2_2"/>
            <p:cNvSpPr/>
            <p:nvPr/>
          </p:nvSpPr>
          <p:spPr>
            <a:xfrm>
              <a:off x="5098542"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38066" y="2640730"/>
              <a:ext cx="429406" cy="429406"/>
            </a:xfrm>
            <a:prstGeom prst="rect">
              <a:avLst/>
            </a:prstGeom>
          </p:spPr>
        </p:pic>
        <p:sp>
          <p:nvSpPr>
            <p:cNvPr id="20" name="tile_ref_2_2"/>
            <p:cNvSpPr txBox="1"/>
            <p:nvPr/>
          </p:nvSpPr>
          <p:spPr>
            <a:xfrm>
              <a:off x="5098542"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156248" y="2640730"/>
              <a:ext cx="429406" cy="429406"/>
            </a:xfrm>
            <a:prstGeom prst="rect">
              <a:avLst/>
            </a:prstGeom>
          </p:spPr>
        </p:pic>
        <p:sp>
          <p:nvSpPr>
            <p:cNvPr id="23" name="tile_ref_2_3"/>
            <p:cNvSpPr txBox="1"/>
            <p:nvPr/>
          </p:nvSpPr>
          <p:spPr>
            <a:xfrm>
              <a:off x="7316724"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717879" y="2640730"/>
              <a:ext cx="1742508" cy="638194"/>
            </a:xfrm>
            <a:prstGeom prst="rect">
              <a:avLst/>
            </a:prstGeom>
          </p:spPr>
        </p:pic>
        <p:sp>
          <p:nvSpPr>
            <p:cNvPr id="26" name="wall_label_3"/>
            <p:cNvSpPr txBox="1"/>
            <p:nvPr/>
          </p:nvSpPr>
          <p:spPr>
            <a:xfrm>
              <a:off x="548640" y="349837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49837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665812"/>
              <a:ext cx="1925574" cy="486207"/>
            </a:xfrm>
            <a:prstGeom prst="rect">
              <a:avLst/>
            </a:prstGeom>
          </p:spPr>
        </p:pic>
        <p:sp>
          <p:nvSpPr>
            <p:cNvPr id="29" name="wall_tile_3_2"/>
            <p:cNvSpPr/>
            <p:nvPr/>
          </p:nvSpPr>
          <p:spPr>
            <a:xfrm>
              <a:off x="5098542" y="349837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765701"/>
              <a:ext cx="1925574" cy="286429"/>
            </a:xfrm>
            <a:prstGeom prst="rect">
              <a:avLst/>
            </a:prstGeom>
          </p:spPr>
        </p:pic>
        <p:sp>
          <p:nvSpPr>
            <p:cNvPr id="31" name="wall_label_4"/>
            <p:cNvSpPr txBox="1"/>
            <p:nvPr/>
          </p:nvSpPr>
          <p:spPr>
            <a:xfrm>
              <a:off x="548640" y="444746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44746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185973" y="4538909"/>
              <a:ext cx="1497228" cy="638194"/>
            </a:xfrm>
            <a:prstGeom prst="rect">
              <a:avLst/>
            </a:prstGeom>
          </p:spPr>
        </p:pic>
        <p:sp>
          <p:nvSpPr>
            <p:cNvPr id="34" name="wall_tile_4_2"/>
            <p:cNvSpPr/>
            <p:nvPr/>
          </p:nvSpPr>
          <p:spPr>
            <a:xfrm>
              <a:off x="5098542" y="444746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557717" y="4538909"/>
              <a:ext cx="1190105" cy="638194"/>
            </a:xfrm>
            <a:prstGeom prst="rect">
              <a:avLst/>
            </a:prstGeom>
          </p:spPr>
        </p:pic>
        <p:sp>
          <p:nvSpPr>
            <p:cNvPr id="36" name="wall_label_5"/>
            <p:cNvSpPr txBox="1"/>
            <p:nvPr/>
          </p:nvSpPr>
          <p:spPr>
            <a:xfrm>
              <a:off x="548640" y="5396558"/>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657104" y="5487998"/>
              <a:ext cx="554967" cy="429406"/>
            </a:xfrm>
            <a:prstGeom prst="rect">
              <a:avLst/>
            </a:prstGeom>
          </p:spPr>
        </p:pic>
        <p:sp>
          <p:nvSpPr>
            <p:cNvPr id="39" name="tile_ref_5_1"/>
            <p:cNvSpPr txBox="1"/>
            <p:nvPr/>
          </p:nvSpPr>
          <p:spPr>
            <a:xfrm>
              <a:off x="2880360" y="593569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3D logo"/>
            <p:cNvPicPr>
              <a:picLocks noChangeAspect="1"/>
            </p:cNvPicPr>
            <p:nvPr/>
          </p:nvPicPr>
          <p:blipFill>
            <a:blip r:embed="rId13"/>
            <a:stretch>
              <a:fillRect/>
            </a:stretch>
          </p:blipFill>
          <p:spPr>
            <a:xfrm>
              <a:off x="5189982" y="5561585"/>
              <a:ext cx="1925574" cy="491021"/>
            </a:xfrm>
            <a:prstGeom prst="rect">
              <a:avLst/>
            </a:prstGeom>
          </p:spPr>
        </p:pic>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2941153" cy="3318984"/>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358473" y="1554480"/>
            <a:ext cx="2941153" cy="3318984"/>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668101" y="3012804"/>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35128" y="1760400"/>
            <a:ext cx="1886712" cy="1188720"/>
            <a:chOff x="1135128" y="1760400"/>
            <a:chExt cx="1886712" cy="1188720"/>
          </a:xfrm>
        </p:grpSpPr>
        <p:sp>
          <p:nvSpPr>
            <p:cNvPr id="9" name="Edge arrow"/>
            <p:cNvSpPr/>
            <p:nvPr/>
          </p:nvSpPr>
          <p:spPr>
            <a:xfrm>
              <a:off x="1941324" y="2235888"/>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35128" y="1760400"/>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318984"/>
            <a:chOff x="8031480" y="1554480"/>
            <a:chExt cx="3611880" cy="331898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1740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1740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1740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76827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76827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76827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11913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11913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11913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47000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47000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47000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38208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382086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382086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17173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17173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17173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52259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52259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52259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Note box"/>
          <p:cNvSpPr/>
          <p:nvPr/>
        </p:nvSpPr>
        <p:spPr>
          <a:xfrm>
            <a:off x="548640" y="5056344"/>
            <a:ext cx="6750986"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Note"/>
          <p:cNvSpPr txBox="1"/>
          <p:nvPr/>
        </p:nvSpPr>
        <p:spPr>
          <a:xfrm>
            <a:off x="713232" y="5193504"/>
            <a:ext cx="6421802"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Goal: ground, buildings, vegetation, street furniture; scored against AHN.</a:t>
            </a:r>
            <a:endParaRPr lang="en-GB" sz="1800"/>
          </a:p>
        </p:txBody>
      </p:sp>
      <p:sp>
        <p:nvSpPr>
          <p:cNvPr id="3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3D project moves through six stages</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cNvGrpSpPr/>
          <p:nvPr/>
        </p:nvGrpSpPr>
        <p:grpSpPr>
          <a:xfrm>
            <a:off x="548640" y="1600200"/>
            <a:ext cx="11094720" cy="3947160"/>
            <a:chOff x="548640" y="1600200"/>
            <a:chExt cx="11094720" cy="3947160"/>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587752"/>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838448"/>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784344"/>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Use views, not copies</a:t>
            </a:r>
          </a:p>
        </p:txBody>
      </p:sp>
      <p:sp>
        <p:nvSpPr>
          <p:cNvPr id="7" name="Takeaway" descr="Every unnecessary xyz copy costs 24 B per point → 0.5 GB per 1 km AHN file."/>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Every unnecessary xyz copy costs 24 B per point → 0.5 GB per 1 km AHN file.</a:t>
            </a:r>
            <a:endParaRPr lang="en-GB" sz="2400"/>
          </a:p>
        </p:txBody>
      </p:sp>
      <p:grpSp>
        <p:nvGrpSpPr>
          <p:cNvPr id="3" name="Copy or view" descr="Legend. Copy: two names, each on its own block of memory; new memory → costs time &amp; RAM. View: two names on one block of memory; same memory → free, writes show through."/>
          <p:cNvGrpSpPr/>
          <p:nvPr/>
        </p:nvGrpSpPr>
        <p:grpSpPr>
          <a:xfrm>
            <a:off x="548640" y="2331720"/>
            <a:ext cx="11094720" cy="1444752"/>
            <a:chOff x="548640" y="2331720"/>
            <a:chExt cx="11094720" cy="1444752"/>
          </a:xfrm>
        </p:grpSpPr>
        <p:cxnSp>
          <p:nvCxnSpPr>
            <p:cNvPr id="8" name="panel rule"/>
            <p:cNvCxnSpPr/>
            <p:nvPr/>
          </p:nvCxnSpPr>
          <p:spPr>
            <a:xfrm>
              <a:off x="6096000" y="2331720"/>
              <a:ext cx="0" cy="1444752"/>
            </a:xfrm>
            <a:prstGeom prst="line">
              <a:avLst/>
            </a:prstGeom>
            <a:ln w="12700">
              <a:solidFill>
                <a:srgbClr val="9CA3AF"/>
              </a:solidFill>
            </a:ln>
          </p:spPr>
          <p:style>
            <a:lnRef idx="2">
              <a:schemeClr val="accent1"/>
            </a:lnRef>
            <a:fillRef idx="0">
              <a:schemeClr val="accent1"/>
            </a:fillRef>
            <a:effectRef idx="1">
              <a:schemeClr val="accent1"/>
            </a:effectRef>
            <a:fontRef idx="minor">
              <a:schemeClr val="tx1"/>
            </a:fontRef>
          </p:style>
        </p:cxnSp>
        <p:sp>
          <p:nvSpPr>
            <p:cNvPr id="9" name="copy title"/>
            <p:cNvSpPr txBox="1"/>
            <p:nvPr/>
          </p:nvSpPr>
          <p:spPr>
            <a:xfrm>
              <a:off x="548640" y="2331720"/>
              <a:ext cx="2605532"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problem: copies</a:t>
              </a:r>
            </a:p>
          </p:txBody>
        </p:sp>
        <p:sp>
          <p:nvSpPr>
            <p:cNvPr id="10" name="copy pill"/>
            <p:cNvSpPr/>
            <p:nvPr/>
          </p:nvSpPr>
          <p:spPr>
            <a:xfrm>
              <a:off x="3154172" y="2331720"/>
              <a:ext cx="1203960" cy="438912"/>
            </a:xfrm>
            <a:prstGeom prst="roundRect">
              <a:avLst>
                <a:gd name="adj" fmla="val 50000"/>
              </a:avLst>
            </a:prstGeom>
            <a:solidFill>
              <a:srgbClr val="FFFFFF"/>
            </a:solidFill>
            <a:ln w="254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1C325B"/>
                  </a:solidFill>
                  <a:latin typeface="Fira Sans SemiBold"/>
                </a:rPr>
                <a:t>copy</a:t>
              </a:r>
            </a:p>
          </p:txBody>
        </p:sp>
        <p:sp>
          <p:nvSpPr>
            <p:cNvPr id="11" name="copy name 1"/>
            <p:cNvSpPr txBox="1"/>
            <p:nvPr/>
          </p:nvSpPr>
          <p:spPr>
            <a:xfrm>
              <a:off x="54864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12" name="copy name 2"/>
            <p:cNvSpPr txBox="1"/>
            <p:nvPr/>
          </p:nvSpPr>
          <p:spPr>
            <a:xfrm>
              <a:off x="54864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13" name="copy cell"/>
            <p:cNvSpPr/>
            <p:nvPr/>
          </p:nvSpPr>
          <p:spPr>
            <a:xfrm>
              <a:off x="118872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46304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73736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201168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228600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118872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py cell"/>
            <p:cNvSpPr/>
            <p:nvPr/>
          </p:nvSpPr>
          <p:spPr>
            <a:xfrm>
              <a:off x="146304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py cell"/>
            <p:cNvSpPr/>
            <p:nvPr/>
          </p:nvSpPr>
          <p:spPr>
            <a:xfrm>
              <a:off x="173736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opy cell"/>
            <p:cNvSpPr/>
            <p:nvPr/>
          </p:nvSpPr>
          <p:spPr>
            <a:xfrm>
              <a:off x="201168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py cell"/>
            <p:cNvSpPr/>
            <p:nvPr/>
          </p:nvSpPr>
          <p:spPr>
            <a:xfrm>
              <a:off x="228600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py ref"/>
            <p:cNvCxnSpPr/>
            <p:nvPr/>
          </p:nvCxnSpPr>
          <p:spPr>
            <a:xfrm>
              <a:off x="841248" y="3072384"/>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py ref"/>
            <p:cNvCxnSpPr/>
            <p:nvPr/>
          </p:nvCxnSpPr>
          <p:spPr>
            <a:xfrm>
              <a:off x="841248" y="3602736"/>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opy meaning"/>
            <p:cNvSpPr txBox="1"/>
            <p:nvPr/>
          </p:nvSpPr>
          <p:spPr>
            <a:xfrm>
              <a:off x="292608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new memory → costs time &amp; RAM</a:t>
              </a:r>
            </a:p>
          </p:txBody>
        </p:sp>
        <p:sp>
          <p:nvSpPr>
            <p:cNvPr id="26" name="view title"/>
            <p:cNvSpPr txBox="1"/>
            <p:nvPr/>
          </p:nvSpPr>
          <p:spPr>
            <a:xfrm>
              <a:off x="6370320" y="2331720"/>
              <a:ext cx="2490978"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solution: views</a:t>
              </a:r>
            </a:p>
          </p:txBody>
        </p:sp>
        <p:sp>
          <p:nvSpPr>
            <p:cNvPr id="27" name="view pill"/>
            <p:cNvSpPr/>
            <p:nvPr/>
          </p:nvSpPr>
          <p:spPr>
            <a:xfrm>
              <a:off x="8861298" y="2331720"/>
              <a:ext cx="1187501" cy="43891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FFFFFF"/>
                  </a:solidFill>
                  <a:latin typeface="Fira Sans SemiBold"/>
                </a:rPr>
                <a:t>view</a:t>
              </a:r>
            </a:p>
          </p:txBody>
        </p:sp>
        <p:sp>
          <p:nvSpPr>
            <p:cNvPr id="28" name="view name 1"/>
            <p:cNvSpPr txBox="1"/>
            <p:nvPr/>
          </p:nvSpPr>
          <p:spPr>
            <a:xfrm>
              <a:off x="637032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9" name="view name 2"/>
            <p:cNvSpPr txBox="1"/>
            <p:nvPr/>
          </p:nvSpPr>
          <p:spPr>
            <a:xfrm>
              <a:off x="637032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30" name="view cell"/>
            <p:cNvSpPr/>
            <p:nvPr/>
          </p:nvSpPr>
          <p:spPr>
            <a:xfrm>
              <a:off x="701040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ew cell"/>
            <p:cNvSpPr/>
            <p:nvPr/>
          </p:nvSpPr>
          <p:spPr>
            <a:xfrm>
              <a:off x="728472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ew cell"/>
            <p:cNvSpPr/>
            <p:nvPr/>
          </p:nvSpPr>
          <p:spPr>
            <a:xfrm>
              <a:off x="755904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ew cell"/>
            <p:cNvSpPr/>
            <p:nvPr/>
          </p:nvSpPr>
          <p:spPr>
            <a:xfrm>
              <a:off x="783336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ew cell"/>
            <p:cNvSpPr/>
            <p:nvPr/>
          </p:nvSpPr>
          <p:spPr>
            <a:xfrm>
              <a:off x="810768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view ref"/>
            <p:cNvCxnSpPr/>
            <p:nvPr/>
          </p:nvCxnSpPr>
          <p:spPr>
            <a:xfrm>
              <a:off x="6662928" y="3072384"/>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view ref"/>
            <p:cNvCxnSpPr/>
            <p:nvPr/>
          </p:nvCxnSpPr>
          <p:spPr>
            <a:xfrm flipV="1">
              <a:off x="6662928" y="3337560"/>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view meaning"/>
            <p:cNvSpPr txBox="1"/>
            <p:nvPr/>
          </p:nvSpPr>
          <p:spPr>
            <a:xfrm>
              <a:off x="874776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same memory → free, writes show through</a:t>
              </a:r>
            </a:p>
          </p:txBody>
        </p:sp>
      </p:grpSp>
      <p:cxnSp>
        <p:nvCxnSpPr>
          <p:cNvPr id="38" name="Legend rule">
            <a:extLst>
              <a:ext uri="{C183D7F6-B498-43B3-948B-1728B52AA6E4}">
                <adec:decorative xmlns:adec="http://schemas.microsoft.com/office/drawing/2017/decorative" val="1"/>
              </a:ext>
            </a:extLst>
          </p:cNvPr>
          <p:cNvCxnSpPr/>
          <p:nvPr/>
        </p:nvCxnSpPr>
        <p:spPr>
          <a:xfrm>
            <a:off x="548640" y="3886200"/>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9" name="Handoffs" descr="Takeaway: every unnecessary xyz copy costs 24 B per point, 0.5 GB per 1 km AHN file. The problem, copies: two names, each on its own block of memory; new memory costs time and RAM. The solution, views: two names on one block; same memory, free,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3968352"/>
            <a:ext cx="11094720" cy="1828800"/>
            <a:chOff x="548640" y="3968352"/>
            <a:chExt cx="11094720" cy="1828800"/>
          </a:xfrm>
        </p:grpSpPr>
        <p:sp>
          <p:nvSpPr>
            <p:cNvPr id="40" name="Handoffs_code_1"/>
            <p:cNvSpPr/>
            <p:nvPr/>
          </p:nvSpPr>
          <p:spPr>
            <a:xfrm>
              <a:off x="548640" y="3968352"/>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las.xyz</a:t>
              </a:r>
            </a:p>
          </p:txBody>
        </p:sp>
        <p:sp>
          <p:nvSpPr>
            <p:cNvPr id="41" name="Handoffs_pill_1"/>
            <p:cNvSpPr/>
            <p:nvPr/>
          </p:nvSpPr>
          <p:spPr>
            <a:xfrm>
              <a:off x="4343400" y="3995784"/>
              <a:ext cx="1092962"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2" name="Handoffs_text_1"/>
            <p:cNvSpPr txBox="1"/>
            <p:nvPr/>
          </p:nvSpPr>
          <p:spPr>
            <a:xfrm>
              <a:off x="5847842" y="3968352"/>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new array, every access</a:t>
              </a:r>
            </a:p>
          </p:txBody>
        </p:sp>
        <p:sp>
          <p:nvSpPr>
            <p:cNvPr id="43" name="Handoffs_code_2"/>
            <p:cNvSpPr/>
            <p:nvPr/>
          </p:nvSpPr>
          <p:spPr>
            <a:xfrm>
              <a:off x="548640" y="4443840"/>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Vector3dVector(xyz)</a:t>
              </a:r>
            </a:p>
          </p:txBody>
        </p:sp>
        <p:sp>
          <p:nvSpPr>
            <p:cNvPr id="44" name="Handoffs_pill_2"/>
            <p:cNvSpPr/>
            <p:nvPr/>
          </p:nvSpPr>
          <p:spPr>
            <a:xfrm>
              <a:off x="4343400" y="4471272"/>
              <a:ext cx="1092962"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5" name="Handoffs_text_2"/>
            <p:cNvSpPr txBox="1"/>
            <p:nvPr/>
          </p:nvSpPr>
          <p:spPr>
            <a:xfrm>
              <a:off x="5847842" y="4443840"/>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float32: 39× slower</a:t>
              </a:r>
            </a:p>
          </p:txBody>
        </p:sp>
        <p:sp>
          <p:nvSpPr>
            <p:cNvPr id="46" name="Handoffs_code_3"/>
            <p:cNvSpPr/>
            <p:nvPr/>
          </p:nvSpPr>
          <p:spPr>
            <a:xfrm>
              <a:off x="548640" y="4919328"/>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np.asarray(pcd.points)</a:t>
              </a:r>
            </a:p>
          </p:txBody>
        </p:sp>
        <p:sp>
          <p:nvSpPr>
            <p:cNvPr id="47" name="Handoffs_pill_3"/>
            <p:cNvSpPr/>
            <p:nvPr/>
          </p:nvSpPr>
          <p:spPr>
            <a:xfrm>
              <a:off x="4343400" y="4946760"/>
              <a:ext cx="1092962"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48" name="Handoffs_text_3"/>
            <p:cNvSpPr txBox="1"/>
            <p:nvPr/>
          </p:nvSpPr>
          <p:spPr>
            <a:xfrm>
              <a:off x="5847842" y="4919328"/>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writes reach the point cloud</a:t>
              </a:r>
            </a:p>
          </p:txBody>
        </p:sp>
        <p:sp>
          <p:nvSpPr>
            <p:cNvPr id="49" name="Handoffs_code_4"/>
            <p:cNvSpPr/>
            <p:nvPr/>
          </p:nvSpPr>
          <p:spPr>
            <a:xfrm>
              <a:off x="548640" y="5394816"/>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pv.PolyData(pts)</a:t>
              </a:r>
            </a:p>
          </p:txBody>
        </p:sp>
        <p:sp>
          <p:nvSpPr>
            <p:cNvPr id="50" name="Handoffs_pill_4"/>
            <p:cNvSpPr/>
            <p:nvPr/>
          </p:nvSpPr>
          <p:spPr>
            <a:xfrm>
              <a:off x="4343400" y="5422248"/>
              <a:ext cx="1092962"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51" name="Handoffs_text_4"/>
            <p:cNvSpPr txBox="1"/>
            <p:nvPr/>
          </p:nvSpPr>
          <p:spPr>
            <a:xfrm>
              <a:off x="5847842" y="5394816"/>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same memory as pts</a:t>
              </a:r>
            </a:p>
          </p:txBody>
        </p:sp>
      </p:grpSp>
      <p:sp>
        <p:nvSpPr>
          <p:cNvPr id="52" name="Note box">
            <a:extLst>
              <a:ext uri="{C183D7F6-B498-43B3-948B-1728B52AA6E4}">
                <adec:decorative xmlns:adec="http://schemas.microsoft.com/office/drawing/2017/decorative" val="1"/>
              </a:ext>
            </a:extLst>
          </p:cNvPr>
          <p:cNvSpPr/>
          <p:nvPr/>
        </p:nvSpPr>
        <p:spPr>
          <a:xfrm>
            <a:off x="9403080" y="868680"/>
            <a:ext cx="2240280" cy="512064"/>
          </a:xfrm>
          <a:prstGeom prst="rect">
            <a:avLst/>
          </a:prstGeom>
          <a:solidFill>
            <a:srgbClr val="DF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Note"/>
          <p:cNvSpPr txBox="1"/>
          <p:nvPr/>
        </p:nvSpPr>
        <p:spPr>
          <a:xfrm>
            <a:off x="9540240" y="941832"/>
            <a:ext cx="196596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Why 24 B? x, y and z are three float64 values: 3 × 8 B.</a:t>
            </a:r>
            <a:endParaRPr lang="en-GB" sz="12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 laspy hands you NumPy</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7461504" cy="266700"/>
            <a:chOff x="402336" y="2400300"/>
            <a:chExt cx="7461504" cy="266700"/>
          </a:xfrm>
        </p:grpSpPr>
        <p:sp>
          <p:nvSpPr>
            <p:cNvPr id="6" name="Key line bar"/>
            <p:cNvSpPr/>
            <p:nvPr/>
          </p:nvSpPr>
          <p:spPr>
            <a:xfrm>
              <a:off x="402336" y="2400300"/>
              <a:ext cx="746150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7461504" cy="201168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pic>
        <p:nvPicPr>
          <p:cNvPr id="9" name="Render" descr="The crop as a point cloud, coloured by height: the hall roof white, the ground blue."/>
          <p:cNvPicPr>
            <a:picLocks noChangeAspect="1"/>
          </p:cNvPicPr>
          <p:nvPr/>
        </p:nvPicPr>
        <p:blipFill>
          <a:blip r:embed="rId2"/>
          <a:stretch>
            <a:fillRect/>
          </a:stretch>
        </p:blipFill>
        <p:spPr>
          <a:xfrm>
            <a:off x="8264642" y="1554480"/>
            <a:ext cx="3378718" cy="3812760"/>
          </a:xfrm>
          <a:prstGeom prst="rect">
            <a:avLst/>
          </a:prstGeom>
        </p:spPr>
      </p:pic>
      <p:pic>
        <p:nvPicPr>
          <p:cNvPr id="10" name="Before and after" descr="The crop's points 135914.6 m from the origin, then after subtracting header.mins: near zero. float32 step 1.6 cm becomes 15 µm."/>
          <p:cNvPicPr>
            <a:picLocks noChangeAspect="1"/>
          </p:cNvPicPr>
          <p:nvPr/>
        </p:nvPicPr>
        <p:blipFill>
          <a:blip r:embed="rId3"/>
          <a:stretch>
            <a:fillRect/>
          </a:stretch>
        </p:blipFill>
        <p:spPr>
          <a:xfrm>
            <a:off x="548640" y="3675888"/>
            <a:ext cx="7487402" cy="1668879"/>
          </a:xfrm>
          <a:prstGeom prst="rect">
            <a:avLst/>
          </a:prstGeom>
        </p:spPr>
      </p:pic>
      <p:sp>
        <p:nvSpPr>
          <p:cNvPr id="11" name="Takeaway bar"/>
          <p:cNvSpPr/>
          <p:nvPr/>
        </p:nvSpPr>
        <p:spPr>
          <a:xfrm>
            <a:off x="548640" y="5458680"/>
            <a:ext cx="64008" cy="5029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731520" y="5458680"/>
            <a:ext cx="10911840" cy="502920"/>
          </a:xfrm>
          <a:prstGeom prst="rect">
            <a:avLst/>
          </a:prstGeom>
          <a:noFill/>
        </p:spPr>
        <p:txBody>
          <a:bodyPr wrap="square" anchor="b" lIns="0" tIns="0" rIns="0" bIns="0">
            <a:noAutofit/>
          </a:bodyPr>
          <a:lstStyle/>
          <a:p>
            <a:pPr marL="0" indent="0" algn="l">
              <a:spcBef>
                <a:spcPts val="0"/>
              </a:spcBef>
              <a:spcAft>
                <a:spcPts val="0"/>
              </a:spcAft>
              <a:buNone/>
            </a:pPr>
            <a:r>
              <a:rPr sz="3000" b="1" lang="en-GB">
                <a:solidFill>
                  <a:srgbClr val="1C325B"/>
                </a:solidFill>
                <a:latin typeface="+mn-lt"/>
              </a:rPr>
              <a:t>Subtract a local origin before anything else.</a:t>
            </a:r>
            <a:endParaRPr lang="en-GB" sz="3000"/>
          </a:p>
        </p:txBody>
      </p:sp>
      <p:sp>
        <p:nvSpPr>
          <p:cNvPr id="13"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 one average per voxel</a:t>
            </a:r>
          </a:p>
        </p:txBody>
      </p:sp>
      <p:pic>
        <p:nvPicPr>
          <p:cNvPr id="6" name="!!render" descr="Same view as slide 12 after voxel downsampling: fewer points, same size, same area."/>
          <p:cNvPicPr>
            <a:picLocks noChangeAspect="1"/>
          </p:cNvPicPr>
          <p:nvPr/>
        </p:nvPicPr>
        <p:blipFill>
          <a:blip r:embed="rId2"/>
          <a:stretch>
            <a:fillRect/>
          </a:stretch>
        </p:blipFill>
        <p:spPr>
          <a:xfrm>
            <a:off x="8405095" y="1554480"/>
            <a:ext cx="3238265" cy="3654264"/>
          </a:xfrm>
          <a:prstGeom prst="rect">
            <a:avLst/>
          </a:prstGeom>
        </p:spPr>
      </p:pic>
      <p:grpSp>
        <p:nvGrpSpPr>
          <p:cNvPr id="3" name="!!hl">
            <a:extLst>
              <a:ext uri="{C183D7F6-B498-43B3-948B-1728B52AA6E4}">
                <adec:decorative xmlns:adec="http://schemas.microsoft.com/office/drawing/2017/decorative" val="1"/>
              </a:ext>
            </a:extLst>
          </p:cNvPr>
          <p:cNvGrpSpPr/>
          <p:nvPr/>
        </p:nvGrpSpPr>
        <p:grpSpPr>
          <a:xfrm>
            <a:off x="402336" y="1600200"/>
            <a:ext cx="7728439" cy="266700"/>
            <a:chOff x="402336" y="1600200"/>
            <a:chExt cx="7728439" cy="266700"/>
          </a:xfrm>
        </p:grpSpPr>
        <p:sp>
          <p:nvSpPr>
            <p:cNvPr id="7" name="Key line bar"/>
            <p:cNvSpPr/>
            <p:nvPr/>
          </p:nvSpPr>
          <p:spPr>
            <a:xfrm>
              <a:off x="402336" y="1600200"/>
              <a:ext cx="7728439"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16002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554480"/>
            <a:ext cx="7728439" cy="10515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pic>
        <p:nvPicPr>
          <p:cNvPr id="10" name="Voxel before and after" descr="Left, a 3 by 1.5 metre patch of the crop from above, one layer of voxels, with the 0.5 metre cells drawn: 95 points. Right of it, the same patch: the 95 points faded, and one larger average point in each of the 18 cells."/>
          <p:cNvPicPr>
            <a:picLocks noChangeAspect="1"/>
          </p:cNvPicPr>
          <p:nvPr/>
        </p:nvPicPr>
        <p:blipFill>
          <a:blip r:embed="rId3"/>
          <a:stretch>
            <a:fillRect/>
          </a:stretch>
        </p:blipFill>
        <p:spPr>
          <a:xfrm>
            <a:off x="548640" y="2743200"/>
            <a:ext cx="6716482" cy="2465544"/>
          </a:xfrm>
          <a:prstGeom prst="rect">
            <a:avLst/>
          </a:prstGeom>
        </p:spPr>
      </p:pic>
      <p:sp>
        <p:nvSpPr>
          <p:cNvPr id="11" name="Takeaway bar"/>
          <p:cNvSpPr/>
          <p:nvPr/>
        </p:nvSpPr>
        <p:spPr>
          <a:xfrm>
            <a:off x="548640" y="5345904"/>
            <a:ext cx="64008" cy="5791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upport"/>
          <p:cNvSpPr txBox="1"/>
          <p:nvPr/>
        </p:nvSpPr>
        <p:spPr>
          <a:xfrm>
            <a:off x="731520" y="5345904"/>
            <a:ext cx="10911840" cy="579120"/>
          </a:xfrm>
          <a:prstGeom prst="rect">
            <a:avLst/>
          </a:prstGeom>
          <a:noFill/>
        </p:spPr>
        <p:txBody>
          <a:bodyPr wrap="square" anchor="ctr" lIns="0" tIns="0" rIns="0" bIns="0">
            <a:noAutofit/>
          </a:bodyPr>
          <a:lstStyle/>
          <a:p>
            <a:pPr marL="0" indent="0" algn="l">
              <a:spcBef>
                <a:spcPts val="0"/>
              </a:spcBef>
              <a:spcAft>
                <a:spcPts val="0"/>
              </a:spcAft>
              <a:buNone/>
            </a:pPr>
            <a:r>
              <a:rPr sz="3200" b="1" lang="en-GB">
                <a:solidFill>
                  <a:srgbClr val="1C325B"/>
                </a:solidFill>
                <a:latin typeface="+mn-lt"/>
              </a:rPr>
              <a:t>722 961 points in → 232 180 out at 0.5 m voxels.</a:t>
            </a:r>
            <a:endParaRPr lang="en-GB" sz="3200"/>
          </a:p>
        </p:txBody>
      </p:sp>
      <p:sp>
        <p:nvSpPr>
          <p:cNvPr id="13" name="!!src"/>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 one plane per tile</a:t>
            </a:r>
          </a:p>
        </p:txBody>
      </p:sp>
      <p:grpSp>
        <p:nvGrpSpPr>
          <p:cNvPr id="3" name="Code key line">
            <a:extLst>
              <a:ext uri="{C183D7F6-B498-43B3-948B-1728B52AA6E4}">
                <adec:decorative xmlns:adec="http://schemas.microsoft.com/office/drawing/2017/decorative" val="1"/>
              </a:ext>
            </a:extLst>
          </p:cNvPr>
          <p:cNvGrpSpPr/>
          <p:nvPr/>
        </p:nvGrpSpPr>
        <p:grpSpPr>
          <a:xfrm>
            <a:off x="402336" y="2133600"/>
            <a:ext cx="6181344" cy="266700"/>
            <a:chOff x="402336" y="2133600"/>
            <a:chExt cx="6181344" cy="266700"/>
          </a:xfrm>
        </p:grpSpPr>
        <p:sp>
          <p:nvSpPr>
            <p:cNvPr id="6" name="Key line bar"/>
            <p:cNvSpPr/>
            <p:nvPr/>
          </p:nvSpPr>
          <p:spPr>
            <a:xfrm>
              <a:off x="402336" y="21336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1336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pic>
        <p:nvPicPr>
          <p:cNvPr id="9" name="Render" descr="Same view: ground points in slate grey, labelled Ground, everything else still coloured by height."/>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Side view: ground points along a gently sloping street, a building and a tree above them; a dashed line splits two tiles and each tile has its own straight plane through its ground points."/>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Fit one plane per tile;</a:t>
            </a:r>
            <a:endParaRPr lang="en-GB" sz="2800"/>
          </a:p>
          <a:p>
            <a:pPr marL="0" indent="0" algn="l">
              <a:spcBef>
                <a:spcPts val="0"/>
              </a:spcBef>
              <a:spcAft>
                <a:spcPts val="0"/>
              </a:spcAft>
              <a:buNone/>
            </a:pPr>
            <a:r>
              <a:rPr sz="2800" b="1" lang="en-GB">
                <a:solidFill>
                  <a:srgbClr val="1C325B"/>
                </a:solidFill>
                <a:latin typeface="+mn-lt"/>
              </a:rPr>
              <a:t>roofs get none.</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 DBSCAN groups what touches</a:t>
            </a:r>
          </a:p>
        </p:txBody>
      </p:sp>
      <p:grpSp>
        <p:nvGrpSpPr>
          <p:cNvPr id="3" name="Code key line">
            <a:extLst>
              <a:ext uri="{C183D7F6-B498-43B3-948B-1728B52AA6E4}">
                <adec:decorative xmlns:adec="http://schemas.microsoft.com/office/drawing/2017/decorative" val="1"/>
              </a:ext>
            </a:extLst>
          </p:cNvPr>
          <p:cNvGrpSpPr/>
          <p:nvPr/>
        </p:nvGrpSpPr>
        <p:grpSpPr>
          <a:xfrm>
            <a:off x="402336" y="2933700"/>
            <a:ext cx="6181344" cy="266700"/>
            <a:chOff x="402336" y="2933700"/>
            <a:chExt cx="6181344" cy="266700"/>
          </a:xfrm>
        </p:grpSpPr>
        <p:sp>
          <p:nvSpPr>
            <p:cNvPr id="6" name="Key line bar"/>
            <p:cNvSpPr/>
            <p:nvPr/>
          </p:nvSpPr>
          <p:spPr>
            <a:xfrm>
              <a:off x="402336" y="29337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9337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pic>
        <p:nvPicPr>
          <p:cNvPr id="9" name="Render" descr="Same view: ground stays slate grey, labelled Ground; the other points are grouped into clusters, each drawn in one of four cycling colours (blue, sage, grey, light grey), with noise dimmed."/>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wo groups of points, each a cluster because every point has neighbours within eps, drawn as a dashed circle; one lone point far away is nois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Neighbours within eps</a:t>
            </a:r>
            <a:endParaRPr lang="en-GB" sz="2800"/>
          </a:p>
          <a:p>
            <a:pPr marL="0" indent="0" algn="l">
              <a:spcBef>
                <a:spcPts val="0"/>
              </a:spcBef>
              <a:spcAft>
                <a:spcPts val="0"/>
              </a:spcAft>
              <a:buNone/>
            </a:pPr>
            <a:r>
              <a:rPr sz="2800" b="1" lang="en-GB">
                <a:solidFill>
                  <a:srgbClr val="1C325B"/>
                </a:solidFill>
                <a:latin typeface="+mn-lt"/>
              </a:rPr>
              <a:t>make a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 rules name the clusters</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pic>
        <p:nvPicPr>
          <p:cNvPr id="9" name="Render" descr="Same view with four classes, each labelled directly: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cluster shapes, a tree crown with many echoes, a wide flat building and a thin pole, each with an arrow to its class colour: vegetation, buildings, street furnitur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The first rule that fires</a:t>
            </a:r>
            <a:endParaRPr lang="en-GB" sz="2800"/>
          </a:p>
          <a:p>
            <a:pPr marL="0" indent="0" algn="l">
              <a:spcBef>
                <a:spcPts val="0"/>
              </a:spcBef>
              <a:spcAft>
                <a:spcPts val="0"/>
              </a:spcAft>
              <a:buNone/>
            </a:pPr>
            <a:r>
              <a:rPr sz="2800" b="1" lang="en-GB">
                <a:solidFill>
                  <a:srgbClr val="1C325B"/>
                </a:solidFill>
                <a:latin typeface="+mn-lt"/>
              </a:rPr>
              <a:t>names the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 PyVista paints every point</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6181344" cy="266700"/>
            <a:chOff x="402336" y="2400300"/>
            <a:chExt cx="6181344" cy="266700"/>
          </a:xfrm>
        </p:grpSpPr>
        <p:sp>
          <p:nvSpPr>
            <p:cNvPr id="6" name="Key line bar"/>
            <p:cNvSpPr/>
            <p:nvPr/>
          </p:nvSpPr>
          <p:spPr>
            <a:xfrm>
              <a:off x="402336" y="24003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pic>
        <p:nvPicPr>
          <p:cNvPr id="9" name="Render" descr="Same view: the four class labels painted back from the 232 180 voxel points onto all 722 961 original points;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large voxel points in their class colours with many small original points around them; each small point takes the colour of its nearest voxel point."/>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Paint the labels back</a:t>
            </a:r>
            <a:endParaRPr lang="en-GB" sz="2800"/>
          </a:p>
          <a:p>
            <a:pPr marL="0" indent="0" algn="l">
              <a:spcBef>
                <a:spcPts val="0"/>
              </a:spcBef>
              <a:spcAft>
                <a:spcPts val="0"/>
              </a:spcAft>
              <a:buNone/>
            </a:pPr>
            <a:r>
              <a:rPr sz="2800" b="1" lang="en-GB">
                <a:solidFill>
                  <a:srgbClr val="1C325B"/>
                </a:solidFill>
                <a:latin typeface="+mn-lt"/>
              </a:rPr>
              <a:t>onto every point.</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2 to 17: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944368"/>
            <a:chOff x="548640" y="2011680"/>
            <a:chExt cx="5613882" cy="2944368"/>
          </a:xfrm>
        </p:grpSpPr>
        <p:sp>
          <p:nvSpPr>
            <p:cNvPr id="7" name="table 0.1"/>
            <p:cNvSpPr txBox="1"/>
            <p:nvPr/>
          </p:nvSpPr>
          <p:spPr>
            <a:xfrm>
              <a:off x="548640" y="2011680"/>
              <a:ext cx="121412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420624"/>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32304"/>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32304"/>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32304"/>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32304"/>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32304"/>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52928"/>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52928"/>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52928"/>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52928"/>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5292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73552"/>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73552"/>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73552"/>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73552"/>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73552"/>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694176"/>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694176"/>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694176"/>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694176"/>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694176"/>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4114800"/>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4114800"/>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4114800"/>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4114800"/>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4114800"/>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535424"/>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535424"/>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535424"/>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535424"/>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53542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3" name="Label 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el 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el 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6107904"/>
            <a:ext cx="5613882" cy="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ource"/>
          <p:cNvSpPr txBox="1"/>
          <p:nvPr/>
        </p:nvSpPr>
        <p:spPr>
          <a:xfrm>
            <a:off x="548640" y="6217632"/>
            <a:ext cx="5613882" cy="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48321" b="16321"/>
          <a:stretch>
            <a:fillRect/>
          </a:stretch>
        </p:blipFill>
        <p:spPr>
          <a:xfrm>
            <a:off x="6029478" y="3770376"/>
            <a:ext cx="2742933" cy="1173192"/>
          </a:xfrm>
          <a:prstGeom prst="rect">
            <a:avLst/>
          </a:prstGeom>
        </p:spPr>
      </p:pic>
      <p:pic>
        <p:nvPicPr>
          <p:cNvPr id="146" name="Photo 2" descr="Photo of Jaarbeursplein at night: tall leaning lamp posts on both sides of the red paved square, lit street lamps behind."/>
          <p:cNvPicPr>
            <a:picLocks noChangeAspect="1"/>
          </p:cNvPicPr>
          <p:nvPr/>
        </p:nvPicPr>
        <p:blipFill>
          <a:blip r:embed="rId4"/>
          <a:srcRect l="38000" t="30080" b="30080"/>
          <a:stretch>
            <a:fillRect/>
          </a:stretch>
        </p:blipFill>
        <p:spPr>
          <a:xfrm>
            <a:off x="8900427" y="3770376"/>
            <a:ext cx="2742933" cy="117319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508987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57755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Photos: Wikimedia Commons, CC BY-SA 4.0 and CC BY 3.0.</a:t>
            </a:r>
            <a:endParaRPr lang="en-GB" sz="1200"/>
          </a:p>
        </p:txBody>
      </p:sp>
      <p:sp>
        <p:nvSpPr>
          <p:cNvPr id="147" name="Source"/>
          <p:cNvSpPr txBox="1"/>
          <p:nvPr/>
        </p:nvSpPr>
        <p:spPr>
          <a:xfrm>
            <a:off x="6029478" y="6034752"/>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12,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11" name="Ops"/>
          <p:cNvSpPr txBox="1"/>
          <p:nvPr/>
        </p:nvSpPr>
        <p:spPr>
          <a:xfrm>
            <a:off x="548640" y="3459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Loop: 12 calls × 722 961 rows = 8.7 million calls</a:t>
            </a:r>
            <a:endParaRPr lang="en-GB" sz="2000"/>
          </a:p>
        </p:txBody>
      </p:sp>
      <p:sp>
        <p:nvSpPr>
          <p:cNvPr id="12" name="Ops"/>
          <p:cNvSpPr txBox="1"/>
          <p:nvPr/>
        </p:nvSpPr>
        <p:spPr>
          <a:xfrm>
            <a:off x="548640" y="385572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1" lang="en-GB">
                <a:solidFill>
                  <a:srgbClr val="263238"/>
                </a:solidFill>
                <a:latin typeface="+mn-lt"/>
              </a:rPr>
              <a:t>One expression: 7 calls in total</a:t>
            </a:r>
            <a:endParaRPr lang="en-GB" sz="2000"/>
          </a:p>
        </p:txBody>
      </p:sp>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130×</a:t>
            </a:r>
            <a:r>
              <a:rPr sz="2000" lang="en-GB">
                <a:solidFill>
                  <a:srgbClr val="263238"/>
                </a:solidFill>
                <a:latin typeface="+mn-lt"/>
              </a:rPr>
              <a:t> slower</a:t>
            </a:r>
            <a:endParaRPr lang="en-GB" sz="80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sp>
        <p:nvSpPr>
          <p:cNvPr id="6" name="Takeaway"/>
          <p:cNvSpPr txBox="1"/>
          <p:nvPr/>
        </p:nvSpPr>
        <p:spPr>
          <a:xfrm>
            <a:off x="548640" y="5379432"/>
            <a:ext cx="11094720" cy="426720"/>
          </a:xfrm>
          <a:prstGeom prst="rect">
            <a:avLst/>
          </a:prstGeom>
          <a:noFill/>
        </p:spPr>
        <p:txBody>
          <a:bodyPr wrap="square" anchor="t" lIns="0" tIns="0" rIns="0" bIns="0">
            <a:noAutofit/>
          </a:bodyPr>
          <a:lstStyle/>
          <a:p>
            <a:pPr marL="0" indent="0" algn="l">
              <a:spcBef>
                <a:spcPts val="0"/>
              </a:spcBef>
              <a:spcAft>
                <a:spcPts val="0"/>
              </a:spcAft>
              <a:buNone/>
            </a:pPr>
            <a:r>
              <a:rPr sz="2800" b="1" lang="en-GB">
                <a:solidFill>
                  <a:srgbClr val="263238"/>
                </a:solidFill>
                <a:latin typeface="+mn-lt"/>
              </a:rPr>
              <a:t>Prefer one call on the whole array over N calls on single points.</a:t>
            </a:r>
            <a:endParaRPr lang="en-GB" sz="2800"/>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158728" cy="2599656"/>
            <a:chOff x="548640" y="1600200"/>
            <a:chExt cx="11158728" cy="2599656"/>
          </a:xfrm>
        </p:grpSpPr>
        <p:sp>
          <p:nvSpPr>
            <p:cNvPr id="7" name="toll_lane_top"/>
            <p:cNvSpPr txBox="1"/>
            <p:nvPr/>
          </p:nvSpPr>
          <p:spPr>
            <a:xfrm>
              <a:off x="548640" y="2368900"/>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8" name="toll_lane_bottom"/>
            <p:cNvSpPr txBox="1"/>
            <p:nvPr/>
          </p:nvSpPr>
          <p:spPr>
            <a:xfrm>
              <a:off x="548640" y="2963260"/>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9" name="toll_boundary"/>
            <p:cNvCxnSpPr/>
            <p:nvPr/>
          </p:nvCxnSpPr>
          <p:spPr>
            <a:xfrm>
              <a:off x="548640" y="2871820"/>
              <a:ext cx="11094720" cy="0"/>
            </a:xfrm>
            <a:prstGeom prst="line">
              <a:avLst/>
            </a:prstGeom>
            <a:ln w="28575">
              <a:solidFill>
                <a:srgbClr val="2B6797"/>
              </a:solidFill>
              <a:prstDash val="dash"/>
            </a:ln>
          </p:spPr>
          <p:style>
            <a:lnRef idx="2">
              <a:schemeClr val="accent1"/>
            </a:lnRef>
            <a:fillRef idx="0">
              <a:schemeClr val="accent1"/>
            </a:fillRef>
            <a:effectRef idx="1">
              <a:schemeClr val="accent1"/>
            </a:effectRef>
            <a:fontRef idx="minor">
              <a:schemeClr val="tx1"/>
            </a:fontRef>
          </p:style>
        </p:cxnSp>
        <p:sp>
          <p:nvSpPr>
            <p:cNvPr id="10" name="toll_loop_code"/>
            <p:cNvSpPr/>
            <p:nvPr/>
          </p:nvSpPr>
          <p:spPr>
            <a:xfrm>
              <a:off x="2468880" y="1600200"/>
              <a:ext cx="3291840"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1" name="loop_down_1"/>
            <p:cNvCxnSpPr/>
            <p:nvPr/>
          </p:nvCxnSpPr>
          <p:spPr>
            <a:xfrm>
              <a:off x="265176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loop_work_1"/>
            <p:cNvSpPr/>
            <p:nvPr/>
          </p:nvSpPr>
          <p:spPr>
            <a:xfrm>
              <a:off x="261518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loop_up_1"/>
            <p:cNvCxnSpPr/>
            <p:nvPr/>
          </p:nvCxnSpPr>
          <p:spPr>
            <a:xfrm flipV="1">
              <a:off x="2798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loop_toll_1"/>
            <p:cNvSpPr/>
            <p:nvPr/>
          </p:nvSpPr>
          <p:spPr>
            <a:xfrm>
              <a:off x="250545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loop_down_2"/>
            <p:cNvCxnSpPr/>
            <p:nvPr/>
          </p:nvCxnSpPr>
          <p:spPr>
            <a:xfrm>
              <a:off x="299923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loop_work_2"/>
            <p:cNvSpPr/>
            <p:nvPr/>
          </p:nvSpPr>
          <p:spPr>
            <a:xfrm>
              <a:off x="296265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loop_up_2"/>
            <p:cNvCxnSpPr/>
            <p:nvPr/>
          </p:nvCxnSpPr>
          <p:spPr>
            <a:xfrm flipV="1">
              <a:off x="3145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loop_toll_2"/>
            <p:cNvSpPr/>
            <p:nvPr/>
          </p:nvSpPr>
          <p:spPr>
            <a:xfrm>
              <a:off x="285292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loop_down_3"/>
            <p:cNvCxnSpPr/>
            <p:nvPr/>
          </p:nvCxnSpPr>
          <p:spPr>
            <a:xfrm>
              <a:off x="334670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loop_work_3"/>
            <p:cNvSpPr/>
            <p:nvPr/>
          </p:nvSpPr>
          <p:spPr>
            <a:xfrm>
              <a:off x="331012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loop_up_3"/>
            <p:cNvCxnSpPr/>
            <p:nvPr/>
          </p:nvCxnSpPr>
          <p:spPr>
            <a:xfrm flipV="1">
              <a:off x="349300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loop_toll_3"/>
            <p:cNvSpPr/>
            <p:nvPr/>
          </p:nvSpPr>
          <p:spPr>
            <a:xfrm>
              <a:off x="320040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loop_down_4"/>
            <p:cNvCxnSpPr/>
            <p:nvPr/>
          </p:nvCxnSpPr>
          <p:spPr>
            <a:xfrm>
              <a:off x="369417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oop_work_4"/>
            <p:cNvSpPr/>
            <p:nvPr/>
          </p:nvSpPr>
          <p:spPr>
            <a:xfrm>
              <a:off x="365760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loop_up_4"/>
            <p:cNvCxnSpPr/>
            <p:nvPr/>
          </p:nvCxnSpPr>
          <p:spPr>
            <a:xfrm flipV="1">
              <a:off x="384048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loop_toll_4"/>
            <p:cNvSpPr/>
            <p:nvPr/>
          </p:nvSpPr>
          <p:spPr>
            <a:xfrm>
              <a:off x="354787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loop_down_5"/>
            <p:cNvCxnSpPr/>
            <p:nvPr/>
          </p:nvCxnSpPr>
          <p:spPr>
            <a:xfrm>
              <a:off x="404164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oop_work_5"/>
            <p:cNvSpPr/>
            <p:nvPr/>
          </p:nvSpPr>
          <p:spPr>
            <a:xfrm>
              <a:off x="4005072"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loop_up_5"/>
            <p:cNvCxnSpPr/>
            <p:nvPr/>
          </p:nvCxnSpPr>
          <p:spPr>
            <a:xfrm flipV="1">
              <a:off x="418795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loop_toll_5"/>
            <p:cNvSpPr/>
            <p:nvPr/>
          </p:nvSpPr>
          <p:spPr>
            <a:xfrm>
              <a:off x="3895344"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loop_down_6"/>
            <p:cNvCxnSpPr/>
            <p:nvPr/>
          </p:nvCxnSpPr>
          <p:spPr>
            <a:xfrm>
              <a:off x="438912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loop_work_6"/>
            <p:cNvSpPr/>
            <p:nvPr/>
          </p:nvSpPr>
          <p:spPr>
            <a:xfrm>
              <a:off x="435254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loop_up_6"/>
            <p:cNvCxnSpPr/>
            <p:nvPr/>
          </p:nvCxnSpPr>
          <p:spPr>
            <a:xfrm flipV="1">
              <a:off x="453542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loop_toll_6"/>
            <p:cNvSpPr/>
            <p:nvPr/>
          </p:nvSpPr>
          <p:spPr>
            <a:xfrm>
              <a:off x="424281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loop_down_7"/>
            <p:cNvCxnSpPr/>
            <p:nvPr/>
          </p:nvCxnSpPr>
          <p:spPr>
            <a:xfrm>
              <a:off x="473659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loop_work_7"/>
            <p:cNvSpPr/>
            <p:nvPr/>
          </p:nvSpPr>
          <p:spPr>
            <a:xfrm>
              <a:off x="470001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loop_up_7"/>
            <p:cNvCxnSpPr/>
            <p:nvPr/>
          </p:nvCxnSpPr>
          <p:spPr>
            <a:xfrm flipV="1">
              <a:off x="488289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loop_toll_7"/>
            <p:cNvSpPr/>
            <p:nvPr/>
          </p:nvSpPr>
          <p:spPr>
            <a:xfrm>
              <a:off x="459028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loop_down_8"/>
            <p:cNvCxnSpPr/>
            <p:nvPr/>
          </p:nvCxnSpPr>
          <p:spPr>
            <a:xfrm>
              <a:off x="5084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loop_work_8"/>
            <p:cNvSpPr/>
            <p:nvPr/>
          </p:nvSpPr>
          <p:spPr>
            <a:xfrm>
              <a:off x="504748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loop_up_8"/>
            <p:cNvCxnSpPr/>
            <p:nvPr/>
          </p:nvCxnSpPr>
          <p:spPr>
            <a:xfrm flipV="1">
              <a:off x="523036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loop_toll_8"/>
            <p:cNvSpPr/>
            <p:nvPr/>
          </p:nvSpPr>
          <p:spPr>
            <a:xfrm>
              <a:off x="493776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loop_down_9"/>
            <p:cNvCxnSpPr/>
            <p:nvPr/>
          </p:nvCxnSpPr>
          <p:spPr>
            <a:xfrm>
              <a:off x="5431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loop_work_9"/>
            <p:cNvSpPr/>
            <p:nvPr/>
          </p:nvSpPr>
          <p:spPr>
            <a:xfrm>
              <a:off x="539496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loop_up_9"/>
            <p:cNvCxnSpPr/>
            <p:nvPr/>
          </p:nvCxnSpPr>
          <p:spPr>
            <a:xfrm flipV="1">
              <a:off x="557784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loop_toll_9"/>
            <p:cNvSpPr/>
            <p:nvPr/>
          </p:nvSpPr>
          <p:spPr>
            <a:xfrm>
              <a:off x="528523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oll_times"/>
            <p:cNvSpPr txBox="1"/>
            <p:nvPr/>
          </p:nvSpPr>
          <p:spPr>
            <a:xfrm>
              <a:off x="5742432" y="3477480"/>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48"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49" name="call_down_1"/>
            <p:cNvCxnSpPr/>
            <p:nvPr/>
          </p:nvCxnSpPr>
          <p:spPr>
            <a:xfrm>
              <a:off x="73883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call_work_1"/>
            <p:cNvSpPr/>
            <p:nvPr/>
          </p:nvSpPr>
          <p:spPr>
            <a:xfrm>
              <a:off x="7333488" y="3523200"/>
              <a:ext cx="4264152" cy="292608"/>
            </a:xfrm>
            <a:prstGeom prst="roundRect">
              <a:avLst>
                <a:gd name="adj" fmla="val 25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all_up_1"/>
            <p:cNvCxnSpPr/>
            <p:nvPr/>
          </p:nvCxnSpPr>
          <p:spPr>
            <a:xfrm flipV="1">
              <a:off x="78455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call_toll_1"/>
            <p:cNvSpPr/>
            <p:nvPr/>
          </p:nvSpPr>
          <p:spPr>
            <a:xfrm>
              <a:off x="724204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oll_caption_loop"/>
            <p:cNvSpPr txBox="1"/>
            <p:nvPr/>
          </p:nvSpPr>
          <p:spPr>
            <a:xfrm>
              <a:off x="2468880" y="3870672"/>
              <a:ext cx="4462272" cy="329184"/>
            </a:xfrm>
            <a:prstGeom prst="rect">
              <a:avLst/>
            </a:prstGeom>
            <a:noFill/>
          </p:spPr>
          <p:txBody>
            <a:bodyPr wrap="square" anchor="t" lIns="0" tIns="0" rIns="0" bIns="0">
              <a:noAutofit/>
            </a:bodyPr>
            <a:lstStyle/>
            <a:p>
              <a:pPr algn="l"/>
              <a:r>
                <a:rPr sz="1800" b="0" i="0" lang="en-GB">
                  <a:solidFill>
                    <a:srgbClr val="263238"/>
                  </a:solidFill>
                  <a:latin typeface="Fira Sans"/>
                </a:rPr>
                <a:t>N trips: 317 ms</a:t>
              </a:r>
            </a:p>
          </p:txBody>
        </p:sp>
        <p:sp>
          <p:nvSpPr>
            <p:cNvPr id="54" name="toll_caption_call"/>
            <p:cNvSpPr txBox="1"/>
            <p:nvPr/>
          </p:nvSpPr>
          <p:spPr>
            <a:xfrm>
              <a:off x="7205472" y="3870672"/>
              <a:ext cx="4437888" cy="329184"/>
            </a:xfrm>
            <a:prstGeom prst="rect">
              <a:avLst/>
            </a:prstGeom>
            <a:noFill/>
          </p:spPr>
          <p:txBody>
            <a:bodyPr wrap="square" anchor="t" lIns="0" tIns="0" rIns="0" bIns="0">
              <a:noAutofit/>
            </a:bodyPr>
            <a:lstStyle/>
            <a:p>
              <a:pPr algn="l"/>
              <a:r>
                <a:rPr sz="1800" b="0" i="0" lang="en-GB">
                  <a:solidFill>
                    <a:srgbClr val="263238"/>
                  </a:solidFill>
                  <a:latin typeface="Fira Sans"/>
                </a:rPr>
                <a:t>1 trip: 2.4 ms</a:t>
              </a:r>
            </a:p>
          </p:txBody>
        </p:sp>
        <p:sp>
          <p:nvSpPr>
            <p:cNvPr id="55" name="legend_toll_swatch"/>
            <p:cNvSpPr/>
            <p:nvPr/>
          </p:nvSpPr>
          <p:spPr>
            <a:xfrm>
              <a:off x="9148470" y="167335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legend_toll"/>
            <p:cNvSpPr txBox="1"/>
            <p:nvPr/>
          </p:nvSpPr>
          <p:spPr>
            <a:xfrm>
              <a:off x="9532518" y="1600200"/>
              <a:ext cx="1575003" cy="274320"/>
            </a:xfrm>
            <a:prstGeom prst="rect">
              <a:avLst/>
            </a:prstGeom>
            <a:noFill/>
          </p:spPr>
          <p:txBody>
            <a:bodyPr wrap="none" anchor="ctr" lIns="0" tIns="0" rIns="0" bIns="0">
              <a:noAutofit/>
            </a:bodyPr>
            <a:lstStyle/>
            <a:p>
              <a:pPr algn="l"/>
              <a:r>
                <a:rPr sz="1600" b="0" i="0" lang="en-GB">
                  <a:solidFill>
                    <a:srgbClr val="263238"/>
                  </a:solidFill>
                  <a:latin typeface="Fira Sans"/>
                </a:rPr>
                <a:t>toll per crossing</a:t>
              </a:r>
            </a:p>
          </p:txBody>
        </p:sp>
        <p:sp>
          <p:nvSpPr>
            <p:cNvPr id="57" name="legend_work_swatch"/>
            <p:cNvSpPr/>
            <p:nvPr/>
          </p:nvSpPr>
          <p:spPr>
            <a:xfrm>
              <a:off x="9148470" y="1929384"/>
              <a:ext cx="292608" cy="164592"/>
            </a:xfrm>
            <a:prstGeom prst="roundRect">
              <a:avLst>
                <a:gd name="adj" fmla="val 44444"/>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legend_work"/>
            <p:cNvSpPr txBox="1"/>
            <p:nvPr/>
          </p:nvSpPr>
          <p:spPr>
            <a:xfrm>
              <a:off x="9532518" y="1874520"/>
              <a:ext cx="2174850" cy="274320"/>
            </a:xfrm>
            <a:prstGeom prst="rect">
              <a:avLst/>
            </a:prstGeom>
            <a:noFill/>
          </p:spPr>
          <p:txBody>
            <a:bodyPr wrap="none" anchor="ctr" lIns="0" tIns="0" rIns="0" bIns="0">
              <a:noAutofit/>
            </a:bodyPr>
            <a:lstStyle/>
            <a:p>
              <a:pPr algn="l"/>
              <a:r>
                <a:rPr sz="1600" b="0" i="0" lang="en-GB">
                  <a:solidFill>
                    <a:srgbClr val="263238"/>
                  </a:solidFill>
                  <a:latin typeface="Fira Sans"/>
                </a:rPr>
                <a:t>work in compiled code</a:t>
              </a:r>
            </a:p>
          </p:txBody>
        </p:sp>
        <p:cxnSp>
          <p:nvCxnSpPr>
            <p:cNvPr id="59" name="legend_arrow_swatch"/>
            <p:cNvCxnSpPr/>
            <p:nvPr/>
          </p:nvCxnSpPr>
          <p:spPr>
            <a:xfrm>
              <a:off x="9148470" y="2286000"/>
              <a:ext cx="292608" cy="0"/>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legend_arrow"/>
            <p:cNvSpPr txBox="1"/>
            <p:nvPr/>
          </p:nvSpPr>
          <p:spPr>
            <a:xfrm>
              <a:off x="9532518" y="2148840"/>
              <a:ext cx="1445158" cy="274320"/>
            </a:xfrm>
            <a:prstGeom prst="rect">
              <a:avLst/>
            </a:prstGeom>
            <a:noFill/>
          </p:spPr>
          <p:txBody>
            <a:bodyPr wrap="none" anchor="ctr" lIns="0" tIns="0" rIns="0" bIns="0">
              <a:noAutofit/>
            </a:bodyPr>
            <a:lstStyle/>
            <a:p>
              <a:pPr algn="l"/>
              <a:r>
                <a:rPr sz="1600" b="0" i="0" lang="en-GB">
                  <a:solidFill>
                    <a:srgbClr val="263238"/>
                  </a:solidFill>
                  <a:latin typeface="Fira Sans"/>
                </a:rPr>
                <a:t>call and return</a:t>
              </a:r>
            </a:p>
          </p:txBody>
        </p:sp>
      </p:grpSp>
      <p:sp>
        <p:nvSpPr>
          <p:cNvPr id="61" name="Hero"/>
          <p:cNvSpPr txBox="1"/>
          <p:nvPr/>
        </p:nvSpPr>
        <p:spPr>
          <a:xfrm>
            <a:off x="548640" y="441931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62" name="Hero label"/>
          <p:cNvSpPr txBox="1"/>
          <p:nvPr/>
        </p:nvSpPr>
        <p:spPr>
          <a:xfrm>
            <a:off x="3077718" y="489429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a:t>
            </a:r>
            <a:endParaRPr lang="en-GB" sz="2000"/>
          </a:p>
        </p:txBody>
      </p:sp>
      <p:sp>
        <p:nvSpPr>
          <p:cNvPr id="6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Terminal background">
            <a:extLst>
              <a:ext uri="{C183D7F6-B498-43B3-948B-1728B52AA6E4}">
                <adec:decorative xmlns:adec="http://schemas.microsoft.com/office/drawing/2017/decorative" val="1"/>
              </a:ext>
            </a:extLst>
          </p:cNvPr>
          <p:cNvSpPr/>
          <p:nvPr/>
        </p:nvSpPr>
        <p:spPr>
          <a:xfrm>
            <a:off x="402336" y="1554480"/>
            <a:ext cx="11241024" cy="35814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 profile command"/>
          <p:cNvSpPr txBox="1"/>
          <p:nvPr/>
        </p:nvSpPr>
        <p:spPr>
          <a:xfrm>
            <a:off x="539496" y="1554480"/>
            <a:ext cx="1110386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3253452"/>
            <a:chOff x="548640" y="2186940"/>
            <a:chExt cx="11094720" cy="3253452"/>
          </a:xfrm>
        </p:grpSpPr>
        <p:sp>
          <p:nvSpPr>
            <p:cNvPr id="9" name="legend python swatch"/>
            <p:cNvSpPr/>
            <p:nvPr/>
          </p:nvSpPr>
          <p:spPr>
            <a:xfrm>
              <a:off x="5687619" y="2250948"/>
              <a:ext cx="237744" cy="237744"/>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python"/>
            <p:cNvSpPr txBox="1"/>
            <p:nvPr/>
          </p:nvSpPr>
          <p:spPr>
            <a:xfrm>
              <a:off x="5998515" y="2186940"/>
              <a:ext cx="981329" cy="365760"/>
            </a:xfrm>
            <a:prstGeom prst="rect">
              <a:avLst/>
            </a:prstGeom>
            <a:noFill/>
          </p:spPr>
          <p:txBody>
            <a:bodyPr wrap="none" anchor="ctr" lIns="0" tIns="0" rIns="0" bIns="0">
              <a:noAutofit/>
            </a:bodyPr>
            <a:lstStyle/>
            <a:p>
              <a:pPr algn="l"/>
              <a:r>
                <a:rPr sz="2200" b="0" i="0" lang="en-GB">
                  <a:solidFill>
                    <a:srgbClr val="263238"/>
                  </a:solidFill>
                  <a:latin typeface="Fira Sans"/>
                </a:rPr>
                <a:t>Python</a:t>
              </a:r>
            </a:p>
          </p:txBody>
        </p:sp>
        <p:sp>
          <p:nvSpPr>
            <p:cNvPr id="11" name="legend native swatch"/>
            <p:cNvSpPr/>
            <p:nvPr/>
          </p:nvSpPr>
          <p:spPr>
            <a:xfrm>
              <a:off x="7345604" y="2250948"/>
              <a:ext cx="237744" cy="237744"/>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native"/>
            <p:cNvSpPr txBox="1"/>
            <p:nvPr/>
          </p:nvSpPr>
          <p:spPr>
            <a:xfrm>
              <a:off x="7656500" y="2186940"/>
              <a:ext cx="2338654" cy="365760"/>
            </a:xfrm>
            <a:prstGeom prst="rect">
              <a:avLst/>
            </a:prstGeom>
            <a:noFill/>
          </p:spPr>
          <p:txBody>
            <a:bodyPr wrap="none" anchor="ctr" lIns="0" tIns="0" rIns="0" bIns="0">
              <a:noAutofit/>
            </a:bodyPr>
            <a:lstStyle/>
            <a:p>
              <a:pPr algn="l"/>
              <a:r>
                <a:rPr sz="2200" b="0" i="0" lang="en-GB">
                  <a:solidFill>
                    <a:srgbClr val="263238"/>
                  </a:solidFill>
                  <a:latin typeface="Fira Sans"/>
                </a:rPr>
                <a:t>native, i.e. NumPy</a:t>
              </a:r>
            </a:p>
          </p:txBody>
        </p:sp>
        <p:sp>
          <p:nvSpPr>
            <p:cNvPr id="13" name="legend system swatch"/>
            <p:cNvSpPr/>
            <p:nvPr/>
          </p:nvSpPr>
          <p:spPr>
            <a:xfrm>
              <a:off x="10360914" y="2250948"/>
              <a:ext cx="237744" cy="237744"/>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system"/>
            <p:cNvSpPr txBox="1"/>
            <p:nvPr/>
          </p:nvSpPr>
          <p:spPr>
            <a:xfrm>
              <a:off x="10671810" y="2186940"/>
              <a:ext cx="971550" cy="365760"/>
            </a:xfrm>
            <a:prstGeom prst="rect">
              <a:avLst/>
            </a:prstGeom>
            <a:noFill/>
          </p:spPr>
          <p:txBody>
            <a:bodyPr wrap="none" anchor="ctr" lIns="0" tIns="0" rIns="0" bIns="0">
              <a:noAutofit/>
            </a:bodyPr>
            <a:lstStyle/>
            <a:p>
              <a:pPr algn="l"/>
              <a:r>
                <a:rPr sz="2200" b="0" i="0" lang="en-GB">
                  <a:solidFill>
                    <a:srgbClr val="263238"/>
                  </a:solidFill>
                  <a:latin typeface="Fira Sans"/>
                </a:rPr>
                <a:t>system</a:t>
              </a:r>
            </a:p>
          </p:txBody>
        </p:sp>
        <p:sp>
          <p:nvSpPr>
            <p:cNvPr id="15" name="tag"/>
            <p:cNvSpPr txBox="1"/>
            <p:nvPr/>
          </p:nvSpPr>
          <p:spPr>
            <a:xfrm>
              <a:off x="548640" y="2662428"/>
              <a:ext cx="1038860" cy="662487"/>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6" name="code"/>
            <p:cNvSpPr txBox="1"/>
            <p:nvPr/>
          </p:nvSpPr>
          <p:spPr>
            <a:xfrm>
              <a:off x="1587500" y="2662428"/>
              <a:ext cx="5562600" cy="66248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7" name="share"/>
            <p:cNvSpPr txBox="1"/>
            <p:nvPr/>
          </p:nvSpPr>
          <p:spPr>
            <a:xfrm>
              <a:off x="7259828" y="2662428"/>
              <a:ext cx="986688" cy="66248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8" name="code"/>
            <p:cNvSpPr txBox="1"/>
            <p:nvPr/>
          </p:nvSpPr>
          <p:spPr>
            <a:xfrm>
              <a:off x="1587500" y="3324915"/>
              <a:ext cx="5562600" cy="66248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9" name="share"/>
            <p:cNvSpPr txBox="1"/>
            <p:nvPr/>
          </p:nvSpPr>
          <p:spPr>
            <a:xfrm>
              <a:off x="7259828" y="3324915"/>
              <a:ext cx="986688" cy="66248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20" name="code"/>
            <p:cNvSpPr txBox="1"/>
            <p:nvPr/>
          </p:nvSpPr>
          <p:spPr>
            <a:xfrm>
              <a:off x="1587500" y="3987402"/>
              <a:ext cx="5562600" cy="66248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1" name="bar python"/>
            <p:cNvSpPr/>
            <p:nvPr/>
          </p:nvSpPr>
          <p:spPr>
            <a:xfrm>
              <a:off x="7150100" y="4069698"/>
              <a:ext cx="97941" cy="497895"/>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native"/>
            <p:cNvSpPr/>
            <p:nvPr/>
          </p:nvSpPr>
          <p:spPr>
            <a:xfrm>
              <a:off x="7248041" y="4069698"/>
              <a:ext cx="1984391" cy="49789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 system"/>
            <p:cNvSpPr/>
            <p:nvPr/>
          </p:nvSpPr>
          <p:spPr>
            <a:xfrm>
              <a:off x="9232432" y="4069698"/>
              <a:ext cx="41251" cy="497895"/>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hare"/>
            <p:cNvSpPr txBox="1"/>
            <p:nvPr/>
          </p:nvSpPr>
          <p:spPr>
            <a:xfrm>
              <a:off x="9383411" y="3987402"/>
              <a:ext cx="986688" cy="662487"/>
            </a:xfrm>
            <a:prstGeom prst="rect">
              <a:avLst/>
            </a:prstGeom>
            <a:noFill/>
          </p:spPr>
          <p:txBody>
            <a:bodyPr wrap="none" anchor="ctr" lIns="0" tIns="0" rIns="0" bIns="0">
              <a:noAutofit/>
            </a:bodyPr>
            <a:lstStyle/>
            <a:p>
              <a:pPr algn="l"/>
              <a:r>
                <a:rPr sz="2800" b="1" i="0" lang="en-GB">
                  <a:solidFill>
                    <a:srgbClr val="2B6797"/>
                  </a:solidFill>
                  <a:latin typeface="Fira Sans"/>
                </a:rPr>
                <a:t>88 %</a:t>
              </a:r>
            </a:p>
          </p:txBody>
        </p:sp>
        <p:sp>
          <p:nvSpPr>
            <p:cNvPr id="25" name="time"/>
            <p:cNvSpPr txBox="1"/>
            <p:nvPr/>
          </p:nvSpPr>
          <p:spPr>
            <a:xfrm>
              <a:off x="10369235" y="3987402"/>
              <a:ext cx="957072" cy="662487"/>
            </a:xfrm>
            <a:prstGeom prst="rect">
              <a:avLst/>
            </a:prstGeom>
            <a:noFill/>
          </p:spPr>
          <p:txBody>
            <a:bodyPr wrap="none" anchor="ctr" lIns="0" tIns="0" rIns="0" bIns="0">
              <a:noAutofit/>
            </a:bodyPr>
            <a:lstStyle/>
            <a:p>
              <a:pPr algn="l"/>
              <a:r>
                <a:rPr sz="2400" b="0" i="0" lang="en-GB">
                  <a:solidFill>
                    <a:srgbClr val="455A64"/>
                  </a:solidFill>
                  <a:latin typeface="Fira Sans"/>
                </a:rPr>
                <a:t>10.5 s</a:t>
              </a:r>
            </a:p>
          </p:txBody>
        </p:sp>
        <p:cxnSp>
          <p:nvCxnSpPr>
            <p:cNvPr id="26" name="rule"/>
            <p:cNvCxnSpPr/>
            <p:nvPr/>
          </p:nvCxnSpPr>
          <p:spPr>
            <a:xfrm>
              <a:off x="548640" y="4713897"/>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tag"/>
            <p:cNvSpPr txBox="1"/>
            <p:nvPr/>
          </p:nvSpPr>
          <p:spPr>
            <a:xfrm>
              <a:off x="548640" y="4777905"/>
              <a:ext cx="1038860" cy="662487"/>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8" name="code"/>
            <p:cNvSpPr txBox="1"/>
            <p:nvPr/>
          </p:nvSpPr>
          <p:spPr>
            <a:xfrm>
              <a:off x="1587500" y="4777905"/>
              <a:ext cx="5562600" cy="66248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9" name="bar native"/>
            <p:cNvSpPr/>
            <p:nvPr/>
          </p:nvSpPr>
          <p:spPr>
            <a:xfrm>
              <a:off x="7150100" y="4860201"/>
              <a:ext cx="14715" cy="49789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hare"/>
            <p:cNvSpPr txBox="1"/>
            <p:nvPr/>
          </p:nvSpPr>
          <p:spPr>
            <a:xfrm>
              <a:off x="7275749" y="4777905"/>
              <a:ext cx="986688" cy="662487"/>
            </a:xfrm>
            <a:prstGeom prst="rect">
              <a:avLst/>
            </a:prstGeom>
            <a:noFill/>
          </p:spPr>
          <p:txBody>
            <a:bodyPr wrap="none" anchor="ctr" lIns="0" tIns="0" rIns="0" bIns="0">
              <a:noAutofit/>
            </a:bodyPr>
            <a:lstStyle/>
            <a:p>
              <a:pPr algn="l"/>
              <a:r>
                <a:rPr sz="2800" b="1" i="0" lang="en-GB">
                  <a:solidFill>
                    <a:srgbClr val="2B6797"/>
                  </a:solidFill>
                  <a:latin typeface="Fira Sans"/>
                </a:rPr>
                <a:t>0.7 %</a:t>
              </a:r>
            </a:p>
          </p:txBody>
        </p:sp>
        <p:sp>
          <p:nvSpPr>
            <p:cNvPr id="31" name="time"/>
            <p:cNvSpPr txBox="1"/>
            <p:nvPr/>
          </p:nvSpPr>
          <p:spPr>
            <a:xfrm>
              <a:off x="8308158" y="4777905"/>
              <a:ext cx="957072" cy="662487"/>
            </a:xfrm>
            <a:prstGeom prst="rect">
              <a:avLst/>
            </a:prstGeom>
            <a:noFill/>
          </p:spPr>
          <p:txBody>
            <a:bodyPr wrap="none" anchor="ctr" lIns="0" tIns="0" rIns="0" bIns="0">
              <a:noAutofit/>
            </a:bodyPr>
            <a:lstStyle/>
            <a:p>
              <a:pPr algn="l"/>
              <a:r>
                <a:rPr sz="2400" b="0" i="0" lang="en-GB">
                  <a:solidFill>
                    <a:srgbClr val="455A64"/>
                  </a:solidFill>
                  <a:latin typeface="Fira Sans"/>
                </a:rPr>
                <a:t>79 ms</a:t>
              </a:r>
            </a:p>
          </p:txBody>
        </p:sp>
      </p:grpSp>
      <p:sp>
        <p:nvSpPr>
          <p:cNvPr id="8"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times are share × the 11.9 s run.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11" name="Ops"/>
          <p:cNvSpPr txBox="1"/>
          <p:nvPr/>
        </p:nvSpPr>
        <p:spPr>
          <a:xfrm>
            <a:off x="548640" y="3459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Loop: 12 calls × 722 961 rows = 8.7 million calls</a:t>
            </a:r>
            <a:endParaRPr lang="en-GB" sz="2000"/>
          </a:p>
        </p:txBody>
      </p:sp>
      <p:sp>
        <p:nvSpPr>
          <p:cNvPr id="12" name="Ops"/>
          <p:cNvSpPr txBox="1"/>
          <p:nvPr/>
        </p:nvSpPr>
        <p:spPr>
          <a:xfrm>
            <a:off x="548640" y="385572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8 threads: same calls, 1.1 million each</a:t>
            </a:r>
            <a:endParaRPr lang="en-GB" sz="2000"/>
          </a:p>
        </p:txBody>
      </p:sp>
      <p:sp>
        <p:nvSpPr>
          <p:cNvPr id="13" name="Ops"/>
          <p:cNvSpPr txBox="1"/>
          <p:nvPr/>
        </p:nvSpPr>
        <p:spPr>
          <a:xfrm>
            <a:off x="548640" y="42519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1" lang="en-GB">
                <a:solidFill>
                  <a:srgbClr val="263238"/>
                </a:solidFill>
                <a:latin typeface="+mn-lt"/>
              </a:rPr>
              <a:t>NumPy: 7 calls in total</a:t>
            </a:r>
            <a:endParaRPr lang="en-GB" sz="2000"/>
          </a:p>
        </p:txBody>
      </p:sp>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5.5×</a:t>
            </a:r>
            <a:r>
              <a:rPr sz="2000" lang="en-GB">
                <a:solidFill>
                  <a:srgbClr val="263238"/>
                </a:solidFill>
                <a:latin typeface="+mn-lt"/>
              </a:rPr>
              <a:t> faster on 8 free threads</a:t>
            </a:r>
            <a:endParaRPr lang="en-GB" sz="80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a reference bar for 32 GB of RAM, then LAS records at 25.9 GB, plus a float64 copy of the coordinates at 46.6 GB, and our load and voxel downsampling steps (slides 12 and 13), all arrays kept, at 74.2 GB; a dashed line continues the end of the 32 GB bar down across the data bars; the three data bars are computed, not run; a last, short bar shows the peak of the chunked approach, 0.8 GB, measured on the 1 km file."/>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sp>
        <p:nvSpPr>
          <p:cNvPr id="9" name="Over the limit 2">
            <a:extLst>
              <a:ext uri="{C183D7F6-B498-43B3-948B-1728B52AA6E4}">
                <adec:decorative xmlns:adec="http://schemas.microsoft.com/office/drawing/2017/decorative" val="1"/>
              </a:ext>
            </a:extLst>
          </p:cNvPr>
          <p:cNvSpPr/>
          <p:nvPr/>
        </p:nvSpPr>
        <p:spPr>
          <a:xfrm>
            <a:off x="3577495" y="2789646"/>
            <a:ext cx="327471" cy="68405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er the limit 3">
            <a:extLst>
              <a:ext uri="{C183D7F6-B498-43B3-948B-1728B52AA6E4}">
                <adec:decorative xmlns:adec="http://schemas.microsoft.com/office/drawing/2017/decorative" val="1"/>
              </a:ext>
            </a:extLst>
          </p:cNvPr>
          <p:cNvSpPr/>
          <p:nvPr/>
        </p:nvSpPr>
        <p:spPr>
          <a:xfrm>
            <a:off x="3577495" y="3781532"/>
            <a:ext cx="948828" cy="68405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Threshold line 1">
            <a:extLst>
              <a:ext uri="{C183D7F6-B498-43B3-948B-1728B52AA6E4}">
                <adec:decorative xmlns:adec="http://schemas.microsoft.com/office/drawing/2017/decorative" val="1"/>
              </a:ext>
            </a:extLst>
          </p:cNvPr>
          <p:cNvCxnSpPr/>
          <p:nvPr/>
        </p:nvCxnSpPr>
        <p:spPr>
          <a:xfrm>
            <a:off x="3577495" y="651961"/>
            <a:ext cx="0" cy="99050"/>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2" name="Threshold line 2">
            <a:extLst>
              <a:ext uri="{C183D7F6-B498-43B3-948B-1728B52AA6E4}">
                <adec:decorative xmlns:adec="http://schemas.microsoft.com/office/drawing/2017/decorative" val="1"/>
              </a:ext>
            </a:extLst>
          </p:cNvPr>
          <p:cNvCxnSpPr/>
          <p:nvPr/>
        </p:nvCxnSpPr>
        <p:spPr>
          <a:xfrm>
            <a:off x="3577495" y="1489934"/>
            <a:ext cx="0" cy="252963"/>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3" name="Threshold line 3">
            <a:extLst>
              <a:ext uri="{C183D7F6-B498-43B3-948B-1728B52AA6E4}">
                <adec:decorative xmlns:adec="http://schemas.microsoft.com/office/drawing/2017/decorative" val="1"/>
              </a:ext>
            </a:extLst>
          </p:cNvPr>
          <p:cNvCxnSpPr/>
          <p:nvPr/>
        </p:nvCxnSpPr>
        <p:spPr>
          <a:xfrm>
            <a:off x="3577495" y="2536684"/>
            <a:ext cx="0" cy="2181870"/>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4" name="Threshold line 4">
            <a:extLst>
              <a:ext uri="{C183D7F6-B498-43B3-948B-1728B52AA6E4}">
                <adec:decorative xmlns:adec="http://schemas.microsoft.com/office/drawing/2017/decorative" val="1"/>
              </a:ext>
            </a:extLst>
          </p:cNvPr>
          <p:cNvCxnSpPr/>
          <p:nvPr/>
        </p:nvCxnSpPr>
        <p:spPr>
          <a:xfrm>
            <a:off x="3577495" y="5512341"/>
            <a:ext cx="0" cy="99050"/>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7" name="Note box">
            <a:extLst>
              <a:ext uri="{C183D7F6-B498-43B3-948B-1728B52AA6E4}">
                <adec:decorative xmlns:adec="http://schemas.microsoft.com/office/drawing/2017/decorative" val="1"/>
              </a:ext>
            </a:extLst>
          </p:cNvPr>
          <p:cNvSpPr/>
          <p:nvPr/>
        </p:nvSpPr>
        <p:spPr>
          <a:xfrm>
            <a:off x="6029478" y="3855720"/>
            <a:ext cx="5613882" cy="512064"/>
          </a:xfrm>
          <a:prstGeom prst="rect">
            <a:avLst/>
          </a:prstGeom>
          <a:solidFill>
            <a:srgbClr val="DF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ote"/>
          <p:cNvSpPr txBox="1"/>
          <p:nvPr/>
        </p:nvSpPr>
        <p:spPr>
          <a:xfrm>
            <a:off x="6166638" y="3928872"/>
            <a:ext cx="533956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Why not 24 B? Each point is held several times: LAS record 30 B + float64 xyz 24 B + Open3D copy 24 B + the downsampled cloud and the rest.</a:t>
            </a:r>
            <a:endParaRPr lang="en-GB" sz="1200"/>
          </a:p>
        </p:txBody>
      </p:sp>
      <p:sp>
        <p:nvSpPr>
          <p:cNvPr id="19" name="Machine line"/>
          <p:cNvSpPr txBox="1"/>
          <p:nvPr/>
        </p:nvSpPr>
        <p:spPr>
          <a:xfrm>
            <a:off x="6029478" y="4642104"/>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 I stream the file in chunks and keep one point per voxel.</a:t>
            </a:r>
            <a:endParaRPr lang="en-GB" sz="2000"/>
          </a:p>
        </p:txBody>
      </p:sp>
      <p:sp>
        <p:nvSpPr>
          <p:cNvPr id="15" name="Hero"/>
          <p:cNvSpPr txBox="1"/>
          <p:nvPr/>
        </p:nvSpPr>
        <p:spPr>
          <a:xfrm>
            <a:off x="6029478"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86 B</a:t>
            </a:r>
            <a:r>
              <a:rPr sz="2000" lang="en-GB">
                <a:solidFill>
                  <a:srgbClr val="263238"/>
                </a:solidFill>
                <a:latin typeface="+mn-lt"/>
              </a:rPr>
              <a:t> per point in our pipeline</a:t>
            </a:r>
            <a:endParaRPr lang="en-GB" sz="8000"/>
          </a:p>
        </p:txBody>
      </p:sp>
      <p:sp>
        <p:nvSpPr>
          <p:cNvPr id="16" name="Support"/>
          <p:cNvSpPr txBox="1"/>
          <p:nvPr/>
        </p:nvSpPr>
        <p:spPr>
          <a:xfrm>
            <a:off x="6029478" y="34137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6, 11</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19, 26</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13, 26</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21 to 25</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Thank you</a:t>
            </a:r>
          </a:p>
        </p:txBody>
      </p:sp>
      <p:sp>
        <p:nvSpPr>
          <p:cNvPr id="3" name="Contact"/>
          <p:cNvSpPr>
            <a:spLocks noGrp="1"/>
          </p:cNvSpPr>
          <p:nvPr>
            <p:ph type="body" idx="15"/>
          </p:nvPr>
        </p:nvSpPr>
        <p:spPr/>
        <p:txBody>
          <a:bodyPr/>
          <a:lstStyle/>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To the Python community and to everyone here today.</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Data: AHN5,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21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12 and 13):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16</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16's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15 and the voxel on slide 13 are the same choice.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(B2).</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10).</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9).</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83006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6,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13 to 15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20,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26,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6 and 7,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81901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6, 21 and 7)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42</Slides>
  <Notes>42</Notes>
  <HiddenSlides>14</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2026-10-13T01:03:17Z</dcterms:created>
  <dcterms:modified xsi:type="dcterms:W3CDTF">2026-10-13T01:03:17Z</dcterms:modified>
</cp:coreProperties>
</file>