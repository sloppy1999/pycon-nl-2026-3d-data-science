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7"/>
    <p:sldId id="268" r:id="rId8"/>
    <p:sldId id="269" r:id="rId9"/>
    <p:sldId id="270" r:id="rId10"/>
    <p:sldId id="271" r:id="rId11"/>
    <p:sldId id="272" r:id="rId12"/>
    <p:sldId id="273" r:id="rId13"/>
    <p:sldId id="274" r:id="rId14"/>
    <p:sldId id="275" r:id="rId15"/>
    <p:sldId id="276" r:id="rId16"/>
    <p:sldId id="277" r:id="rId17"/>
    <p:sldId id="278" r:id="rId18"/>
    <p:sldId id="279" r:id="rId19"/>
    <p:sldId id="280" r:id="rId20"/>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 id="273"/>
            <p14:sldId id="274"/>
          </p14:sldIdLst>
        </p14:section>
        <p14:section name="Landscape" id="{8732EF79-AE0B-58DF-972A-54AD5E8564E7}">
          <p14:sldIdLst>
            <p14:sldId id="275"/>
            <p14:sldId id="276"/>
          </p14:sldIdLst>
        </p14:section>
        <p14:section name="Pipeline" id="{EC630927-BFAE-5D8A-B61A-65E18449044C}">
          <p14:sldIdLst>
            <p14:sldId id="277"/>
            <p14:sldId id="278"/>
            <p14:sldId id="279"/>
            <p14:sldId id="280"/>
            <p14:sldId id="281"/>
            <p14:sldId id="282"/>
            <p14:sldId id="283"/>
            <p14:sldId id="284"/>
            <p14:sldId id="285"/>
            <p14:sldId id="286"/>
          </p14:sldIdLst>
        </p14:section>
        <p14:section name="Performance" id="{F91C7034-C18A-5F43-AD8B-059D4F0584F7}">
          <p14:sldIdLst>
            <p14:sldId id="287"/>
            <p14:sldId id="288"/>
            <p14:sldId id="289"/>
            <p14:sldId id="290"/>
            <p14:sldId id="291"/>
          </p14:sldIdLst>
        </p14:section>
        <p14:section name="RAM" id="{FC093E39-7134-57DE-B3D4-50466B1AA227}">
          <p14:sldIdLst>
            <p14:sldId id="292"/>
          </p14:sldIdLst>
        </p14:section>
        <p14:section name="Close" id="{135F424C-7FE6-5892-BFB5-AB3C758E24F6}">
          <p14:sldIdLst>
            <p14:sldId id="293"/>
            <p14:sldId id="294"/>
          </p14:sldIdLst>
        </p14:section>
        <p14:section name="Appendix" id="{2B4E84C8-F2D2-5B60-9919-95FFB9414073}">
          <p14:sldIdLst>
            <p14:sldId id="295"/>
            <p14:sldId id="296"/>
            <p14:sldId id="297"/>
            <p14:sldId id="298"/>
            <p14:sldId id="299"/>
            <p14:sldId id="300"/>
            <p14:sldId id="301"/>
          </p14:sldIdLst>
        </p14:section>
        <p14:section name="Mental models" id="{E4DD9C9C-5990-5F85-8856-F43FD0FCEB52}">
          <p14:sldIdLst>
            <p14:sldId id="302"/>
            <p14:sldId id="303"/>
            <p14:sldId id="304"/>
            <p14:sldId id="305"/>
            <p14:sldId id="306"/>
            <p14:sldId id="307"/>
            <p14:sldId id="30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39.xml"/><Relationship Id="rId57" Type="http://schemas.openxmlformats.org/officeDocument/2006/relationships/slide" Target="slides/slide40.xml"/><Relationship Id="rId58" Type="http://schemas.openxmlformats.org/officeDocument/2006/relationships/slide" Target="slides/slide41.xml"/><Relationship Id="rId59"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9CA3AF"/>
              </a:solidFill>
              <a:ln>
                <a:noFill/>
              </a:ln>
            </c:spPr>
          </c:dPt>
          <c:dPt>
            <c:idx val="2"/>
            <c:spPr>
              <a:solidFill>
                <a:srgbClr val="2B6797"/>
              </a:solidFill>
              <a:ln>
                <a:noFill/>
              </a:ln>
            </c:spPr>
          </c:dPt>
          <c:dPt>
            <c:idx val="3"/>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Sheet1!$A$2:$A$5</c:f>
              <c:strCache>
                <c:ptCount val="4"/>
                <c:pt idx="0">
                  <c:v>Loop</c:v>
                </c:pt>
                <c:pt idx="1">
                  <c:v>GIL
×8</c:v>
                </c:pt>
                <c:pt idx="2">
                  <c:v>No GIL
×8</c:v>
                </c:pt>
                <c:pt idx="3">
                  <c:v>1 call</c:v>
                </c:pt>
              </c:strCache>
            </c:strRef>
          </c:cat>
          <c:val>
            <c:numRef>
              <c:f>Sheet1!$B$2:$B$5</c:f>
              <c:numCache>
                <c:formatCode>0.000</c:formatCode>
                <c:ptCount val="4"/>
                <c:pt idx="0">
                  <c:v>335.80125799926464</c:v>
                </c:pt>
                <c:pt idx="1">
                  <c:v>346.5098630003922</c:v>
                </c:pt>
                <c:pt idx="2">
                  <c:v>61.14176099799806</c:v>
                </c:pt>
                <c:pt idx="3">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4249"/>
          <c:y val="0.0200"/>
          <c:w val="0.571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9CA3AF"/>
              </a:solidFill>
              <a:ln>
                <a:noFill/>
              </a:ln>
            </c:spPr>
          </c:dPt>
          <c:dPt>
            <c:idx val="2"/>
            <c:spPr>
              <a:solidFill>
                <a:srgbClr val="9CA3AF"/>
              </a:solidFill>
              <a:ln>
                <a:noFill/>
              </a:ln>
            </c:spPr>
          </c:dPt>
          <c:dPt>
            <c:idx val="3"/>
            <c:spPr>
              <a:solidFill>
                <a:srgbClr val="2B6797"/>
              </a:solidFill>
              <a:ln>
                <a:noFill/>
              </a:ln>
            </c:spPr>
          </c:dPt>
          <c:dPt>
            <c:idx val="4"/>
            <c:spPr>
              <a:solidFill>
                <a:srgbClr val="9CA3AF"/>
              </a:solidFill>
              <a:ln>
                <a:noFill/>
              </a:ln>
            </c:spPr>
          </c:dPt>
          <c:dPt>
            <c:idx val="5"/>
            <c:spPr>
              <a:solidFill>
                <a:srgbClr val="2B6797"/>
              </a:solidFill>
              <a:ln>
                <a:noFill/>
              </a:ln>
            </c:spPr>
          </c:dPt>
          <c:dLbls>
            <c:dLbl>
              <c:idx val="0"/>
              <c:delete val="1"/>
            </c:dLbl>
            <c:numFmt formatCode="0.0&quot; Gi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Sheet1!$A$2:$A$7</c:f>
              <c:strCache>
                <c:ptCount val="6"/>
                <c:pt idx="0">
                  <c:v>32 GiB RAM</c:v>
                </c:pt>
                <c:pt idx="1">
                  <c:v>LAS records
(computed)</c:v>
                </c:pt>
                <c:pt idx="2">
                  <c:v>+ float64 xyz
(computed)</c:v>
                </c:pt>
                <c:pt idx="3">
                  <c:v>Load + voxels
(extrapolated)</c:v>
                </c:pt>
                <c:pt idx="4">
                  <c:v>Load + voxels,
1 km (measured)</c:v>
                </c:pt>
                <c:pt idx="5">
                  <c:v>Chunked,
1 km (measured)</c:v>
                </c:pt>
              </c:strCache>
            </c:strRef>
          </c:cat>
          <c:val>
            <c:numRef>
              <c:f>Sheet1!$B$2:$B$7</c:f>
              <c:numCache>
                <c:formatCode>0.0</c:formatCode>
                <c:ptCount val="6"/>
                <c:pt idx="0">
                  <c:v>32.0</c:v>
                </c:pt>
                <c:pt idx="1">
                  <c:v>25.877822320908308</c:v>
                </c:pt>
                <c:pt idx="2">
                  <c:v>46.580080177634954</c:v>
                </c:pt>
                <c:pt idx="3">
                  <c:v>74.24490390114173</c:v>
                </c:pt>
                <c:pt idx="4">
                  <c:v>3.0208663940429688</c:v>
                </c:pt>
                <c:pt idx="5">
                  <c:v>0.8194465637207031</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23.</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Let's see who's really behind the mask. Python is the interface. Take NumPy: when you add two arrays, a compiled C core does the loop, with some C++ in parts. Open3D is C++, PyVista draws with VTK, also C++, and laspy decodes with Rust. So the C++ never went away; you just call it from Python, and the next slides use exactly that.</a:t>
            </a:r>
          </a:p>
          <a:p/>
          <a:p>
            <a:r>
              <a:t>TIME: 30 s, ends at 1:25</a:t>
            </a:r>
          </a:p>
          <a:p/>
          <a:p>
            <a:r>
              <a:t>LIKELY QUESTION: Is Python really just a wrapper?</a:t>
            </a:r>
          </a:p>
          <a:p/>
          <a:p>
            <a:r>
              <a:t>ANSWER: For the heavy 3D libraries, yes: Open3D and VTK (under PyVista) are C++, NumPy's core is C with some C++, and the lazrs decoder behind laspy is Rust; Python calls compiled code. That is also why the hand-off between libraries on slide 10 costs something.</a:t>
            </a:r>
          </a:p>
          <a:p/>
          <a:p>
            <a:r>
              <a:t>CHECK BEFORE THE TALK:</a:t>
            </a:r>
          </a:p>
          <a:p>
            <a:r>
              <a:t>• NumPy is mostly C (its core), with C++ in parts and BLAS/LAPACK underneath; the slide says "a compiled C core, with some C++" on purpose. Say "C++" for Open3D and VTK, which are C++ throughout</a:t>
            </a:r>
          </a:p>
          <a:p>
            <a:r>
              <a:t>• Legibility: the caption and both logos should read from the back of the room (check on the presenting projector). The template and the logos belong to their owners; no endorsement is implied (small print on the slide)</a:t>
            </a:r>
          </a:p>
          <a:p/>
          <a:p>
            <a:r>
              <a:t>TRACE:</a:t>
            </a:r>
          </a:p>
          <a:p>
            <a:r>
              <a:t>• deck/assets/meme/python_cpp_unmasking.png: the Scooby-Doo unmasking template with the Python and C++ logos added</a:t>
            </a:r>
          </a:p>
          <a:p>
            <a:r>
              <a:t>• Logos: Wikimedia Commons, Python-logo-notext.svg and ISO_C++_Logo.svg</a:t>
            </a:r>
          </a:p>
          <a:p>
            <a:r>
              <a:t>• Credit (was the slide caption, moved here 2026-10-13): meme template: the Scooby-Doo unmasking scene (Hanna-Barbera). Python and C++ logos belong to their owners; no endorsement implied.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1:55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5.</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Small print: Blue outline: used in today's pipeline. Logos belong to their owners; no endorsement implied. 119 libraries checked on PyPI and GitHub: docs/ECOSYSTEM.md in the repo.</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5; laspy's header.parse_crs() needs it</a:t>
            </a:r>
          </a:p>
          <a:p>
            <a:r>
              <a:t>• Numba (B1, the escape hatch for a kernel that has no batched call) and Dask (arrays bigger than RAM, slide 26)</a:t>
            </a:r>
          </a:p>
          <a:p>
            <a:r>
              <a:t>• trimesh and PyTorch3D: named on slide 9 as not in this pipeline; scikit-learn: the Random Forest of backup B5. PyTorch (backup B3) is dropped from the wall, PyTorch3D covers the Learn row</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65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 26 shows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 is this thing, as data? One house, drawn three ways. A scanner gives you the left one, a point cloud: an N by 3 array of x, y and z plus a column per attribute, samples of the surface with nothing joining them. A mesh adds the connections, so area and volume exist. A voxel grid trades exact positions for a regular index of space. Today's pipeline stays with points and uses voxels only to downsample. Each of the three trades something.</a:t>
            </a:r>
          </a:p>
          <a:p/>
          <a:p>
            <a:r>
              <a:t>TIME: 40 s, ends at 3:40</a:t>
            </a:r>
          </a:p>
          <a:p/>
          <a:p>
            <a:r>
              <a:t>LIKELY QUESTION: Should I turn my point cloud into a mesh or voxels first?</a:t>
            </a:r>
          </a:p>
          <a:p/>
          <a:p>
            <a:r>
              <a:t>ANSWER: Only when the question needs it: area, volume or a solid render want a mesh; occupancy and neighbour lookups like voxels. Every conversion loses detail and adds a parameter you then have to defend, such as the voxel size or the meshing depth. This pipeline stays with points.</a:t>
            </a:r>
          </a:p>
          <a:p/>
          <a:p>
            <a:r>
              <a:t>TRACE:</a:t>
            </a:r>
          </a:p>
          <a:p>
            <a:r>
              <a:t>• deck/appendix.yaml C1 (bullets, figure, citations; shown here as a main slide)</a:t>
            </a:r>
          </a:p>
          <a:p>
            <a:r>
              <a:t>• deck/concepts/make_figures.py: deck/assets/concepts/c1_representations.png, results/concepts.json c1</a:t>
            </a:r>
          </a:p>
          <a:p>
            <a:r>
              <a:t>• research: reports/mental_models.md section 1</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Whatever the data, a 3D project goes round the same ring, and each stage has its Python tool. The two dark blue stages get the data. One, acquisition: a scanner, a camera or a depth sensor gives you raw points, and laspy reads them from the LAZ file; this is what single points look like. Two, preparation: you clean the data and register scans into one coordinate system, with NumPy and Open3D. NumPy is the glue throughout: every library hands the next one an N by 3 array. The two lighter blue stages understand it. Three, exploration: Open3D and SciPy give you voxels, planes and clusters, here each cluster in its own colour. Four, analysis: you measure and monitor, again in NumPy and SciPy. The two green stages deliver it. Five, visualisation: PyVista draws the result, because you need to see it to trust it. Six, application: it ends up in a product. And the dashed arrows are the real story: you loop back, from analysis to preparation, from a render to a re-scan, whenever the data surprises you. Today's example is a small version of stages one to five. First, four rules of thumb I wish I'd had on day one.</a:t>
            </a:r>
          </a:p>
          <a:p/>
          <a:p>
            <a:r>
              <a:t>TIME: 145 s, ends at 6:05</a:t>
            </a:r>
          </a:p>
          <a:p/>
          <a:p>
            <a:r>
              <a:t>LIKELY QUESTION: Where does most of the time go?</a:t>
            </a:r>
          </a:p>
          <a:p/>
          <a:p>
            <a:r>
              <a:t>ANSWER: Preparation, nearly always. Registration, cleaning and checking coordinates take far longer than any model, which is why the rules of thumb on the next slide are about getting the data small and trustworthy first.</a:t>
            </a:r>
          </a:p>
          <a:p/>
          <a:p>
            <a:r>
              <a:t>TRACE:</a:t>
            </a:r>
          </a:p>
          <a:p>
            <a:r>
              <a:t>• content.yaml slide 7 stages (the former chain slide merged in: laspy, NumPy, Open3D, PyVista with an image each); simplified from Figure 1-12, "A high-level view of the 3D data science workflow", in the book 3D Data Science with Python (O'Reilly)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6:50</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8 rules; the same four rules close the talk on slide 27 with their evidence</a:t>
            </a:r>
          </a:p>
          <a:p/>
          <a:p>
            <a:r>
              <a:t>WHERE IN THE TALK:</a:t>
            </a:r>
          </a:p>
          <a:p>
            <a:r>
              <a:t>• 1 Think in arrays: slides 6, 10 and 11 (N by 3 arrays, copy or view at every hand-off)</a:t>
            </a:r>
          </a:p>
          <a:p>
            <a:r>
              <a:t>• 2 Look before you compute: slides 5, 20 and 26 (AHN classes, street furniture against the BGT register, the gotchas)</a:t>
            </a:r>
          </a:p>
          <a:p>
            <a:r>
              <a:t>• 3 Make it small first: slides 13 and 15 (voxels, tiles, streaming chunks)</a:t>
            </a:r>
          </a:p>
          <a:p>
            <a:r>
              <a:t>• 4 Let compiled code loop: slides 21 to 25 (the quiz, the toll, the profiler, free threads)</a:t>
            </a:r>
          </a:p>
          <a:p/>
          <a:p>
            <a:r>
              <a:t>MENTAL MODEL: The rules rest on the hidden mental-models section (C2 to C9, with citations; C1 and C5 are slides 6 and 20; slide 7 is the workflow);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So how do these libraries hand data to each other?</a:t>
            </a:r>
          </a:p>
          <a:p/>
          <a:p>
            <a:r>
              <a:t>TIME: 55 s, ends at 7:45</a:t>
            </a:r>
          </a:p>
          <a:p/>
          <a:p>
            <a:r>
              <a:t>LIKELY QUESTION: [pending]</a:t>
            </a:r>
          </a:p>
          <a:p/>
          <a:p>
            <a:r>
              <a:t>ANSWER: [pending]</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a:p/>
          <a:p>
            <a:r>
              <a:t>MENTAL MODEL: Hidden C7 (ideas outlive the library you use): the same idea spelled in Open3D, PyVista and trimesh.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8:55</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9). If skipped, say on slide 11: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are measured here (their slide is removed)</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5 (ahn.nl, Het Waterschapshuis, CC BY 4.0). Copy or view: checked by writing to one side and reading the other, and with np.shares_memory. float32: Vector3dVector of a float32 copy, 317 ms, against the float64 xyz of slide 12, 8.2 ms.</a:t>
            </a:r>
          </a:p>
          <a:p/>
          <a:p>
            <a:r>
              <a:t>WHY IT MATTERS:</a:t>
            </a:r>
          </a:p>
          <a:p>
            <a:r>
              <a:t>• Memory: one float64 xyz copy is 24 B per point (results/memory.json); 21 013 926 points × 24 B = 0.47 GiB per copy of a 1 km AHN file, and the load-everything pipeline holds several (slide 25)</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9:20</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10),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10:25</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10),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11:20</a:t>
            </a:r>
          </a:p>
          <a:p/>
          <a:p>
            <a:r>
              <a:t>LIKELY QUESTION: Why average? Why not keep one real point per voxel?</a:t>
            </a:r>
          </a:p>
          <a:p/>
          <a:p>
            <a:r>
              <a:t>ANSWER: You can, and in the chunked read (backup B2) I do exactly that, because it streams. Open3D's voxel_down_sample returns the centroid: I checked that it equals the per-voxel mean, on a grid anchored half a voxel below the minimum corner.</a:t>
            </a:r>
          </a:p>
          <a:p/>
          <a:p>
            <a:r>
              <a:t>TRACE:</a:t>
            </a:r>
          </a:p>
          <a:p>
            <a:r>
              <a:t>• Sketch caption: 0.5 m voxels</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Around the Jaarbeurs Utrecht is flat, but this crop has a very large roof, so one RANSAC plane per 25 m tile, never one per point. Per tile I keep only the low points, within 1.5 metres of the tile's second percentile, so RANSAC never sees the treetops. Then one segment_plane call. Careful with one thing: after subtracting header.mins, z is height above the lowest point of the crop, not above the terrain. So I never cut at an absolute height. The check is relative: a plane steeper than 15 degrees, or 2.5 metres above the median tile plane, is a roof that slipped through, and that tile borrows the nearest good plane. Here 20 of 64 tiles are roof. This is exactly the code that was scored: 98.4 % precision and 94.4 % recall against AHN's own ground class, which the pipeline never saw. Agreement with a reference label on one crop, not field truth. With the ground gone, let's group what's left.</a:t>
            </a:r>
          </a:p>
          <a:p/>
          <a:p>
            <a:r>
              <a:t>TIME: 75 s, ends at 12:35</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Its parameters are tuned for this flat crop; hilly terrain or tiles that are almost all roof need retuning or a dedicated filter.</a:t>
            </a:r>
          </a:p>
          <a:p/>
          <a:p>
            <a:r>
              <a:t>CHECK BEFORE THE TALK:</a:t>
            </a:r>
          </a:p>
          <a:p>
            <a:r>
              <a:t>• The old slide line ground[low[inl]] = z0 &lt; 5 used an absolute height above the crop minimum. On this crop it split the tiles the same way, but the scored pipeline repaired flagged tiles and the slide did not, so the slide showed a different mask from the one that was scored. Fixed 2026-10-14: the slide code now equals results/labels_crop.npz.</a:t>
            </a:r>
          </a:p>
          <a:p/>
          <a:p>
            <a:r>
              <a:t>TRACE:</a:t>
            </a:r>
          </a:p>
          <a:p>
            <a:r>
              <a:t>• snippets/s10_ground.py</a:t>
            </a:r>
          </a:p>
          <a:p>
            <a:r>
              <a:t>• pipeline/steps.py (remove_ground</a:t>
            </a:r>
          </a:p>
          <a:p>
            <a:r>
              <a:t>• check_planes)</a:t>
            </a:r>
          </a:p>
          <a:p>
            <a:r>
              <a:t>• results/pipeline.json</a:t>
            </a:r>
          </a:p>
          <a:p>
            <a:r>
              <a:t>• results/labels_crop.npz</a:t>
            </a:r>
          </a:p>
          <a:p/>
          <a:p>
            <a:r>
              <a:t>LINE BY LINE:</a:t>
            </a:r>
          </a:p>
          <a:p>
            <a:r>
              <a:t>• for i in tiles(P, 25) (key line): 25 m squares in plan view; i holds the indices of one tile into P (the voxels)</a:t>
            </a:r>
          </a:p>
          <a:p>
            <a:r>
              <a:t>• z0 = np.percentile(P[i, 2], 2): the tile's low height, robust to a few points below the ground</a:t>
            </a:r>
          </a:p>
          <a:p>
            <a:r>
              <a:t>• low = i[P[i, 2] &lt; z0 + 1.5]: candidates, still indices into P, in ascending order</a:t>
            </a:r>
          </a:p>
          <a:p>
            <a:r>
              <a:t>• t = down.select_by_index(low); segment_plane(0.4, 3, 300, probability=1.0): 0.4 m tolerance, 3 points per try, 300 tries; probability=1.0 disables the early stop so two seeded runs agree</a:t>
            </a:r>
          </a:p>
          <a:p>
            <a:r>
              <a:t>• fits += [(i, low, inl, plane)]: inl indexes the sub-cloud t, so low[inl] maps the inliers back to P</a:t>
            </a:r>
          </a:p>
          <a:p>
            <a:r>
              <a:t>• check_planes: flags planes tilted more than 15 degrees or more than 2.5 m above the median tile plane; a flagged tile takes the nearest accepted plane, its ground = candidates within 0.4 m of it. Same function the pipeline runs.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1 026 clusters, and 10 % of those voxels are noise that belong to no cluster. A cluster is just a blob, not yet a building or a tree. Naming the blobs is the next step.</a:t>
            </a:r>
          </a:p>
          <a:p/>
          <a:p>
            <a:r>
              <a:t>TIME: 55 s, ends at 13:30</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Sketch caption: eps = 0.75 m</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1 026</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14:40</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82 %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Sketch caption: shape → class</a:t>
            </a:r>
          </a:p>
          <a:p>
            <a:r>
              <a:t>• Small print: Street furniture: 3 objects, 53 points, drawn enlarged. Poles nearly vanish.</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17 and 18;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pipeline/steps.py;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15:20</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18: "every render here is PyVista, off-screen, one fixed camera".</a:t>
            </a:r>
          </a:p>
          <a:p/>
          <a:p>
            <a:r>
              <a:t>TRACE:</a:t>
            </a:r>
          </a:p>
          <a:p>
            <a:r>
              <a:t>• Sketch caption: nearest voxel's label</a:t>
            </a:r>
          </a:p>
          <a:p>
            <a:r>
              <a:t>• Small print: Street furniture: 3 objects, 53 points, drawn enlarged. Poles nearly vanish.</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1 026 clusters, NumPy's rules turned the clusters into four classes, and SciPy painted those back onto every point. From file to labels that's 1.0 seconds on this crop, one run, so take it as indicative, and not a single Python loop over points. First, a confession about street furniture.</a:t>
            </a:r>
          </a:p>
          <a:p/>
          <a:p>
            <a:r>
              <a:t>TIME: 65 s, ends at 16:25</a:t>
            </a:r>
          </a:p>
          <a:p/>
          <a:p>
            <a:r>
              <a:t>LIKELY QUESTION: Can I run this on my own AHN file?</a:t>
            </a:r>
          </a:p>
          <a:p/>
          <a:p>
            <a:r>
              <a:t>ANSWER: Yes, that's what the repo is for. For a whole 1 km AHN file or larger, start with the chunked read (backup B2), and expect to retune voxel size, tile size and eps for a different point density. Not in the Netherlands? Backup B6 lists other open sources.</a:t>
            </a:r>
          </a:p>
          <a:p/>
          <a:p>
            <a:r>
              <a:t>CHECKPOINT: Skip-first order: 26, 25, 18, 11. Target: leave this slide by 16:25. Leaving after 17:25: skip 26 and 25. Leaving after 18:55: also skip 18, and tell only one story on 26. Further on: reach slide 26 by 23:45, otherwise skip it. To skip: one sentence, then click.</a:t>
            </a:r>
          </a:p>
          <a:p/>
          <a:p>
            <a:r>
              <a:t>CHECK BEFORE THE TALK:</a:t>
            </a:r>
          </a:p>
          <a:p>
            <a:r>
              <a:t>• QR repository verified publicly accessible on 2026-10-14</a:t>
            </a:r>
          </a:p>
          <a:p>
            <a:r>
              <a:t>• Other open sources (B6): research: reports/videos.md V1</a:t>
            </a:r>
          </a:p>
          <a:p/>
          <a:p>
            <a:r>
              <a:t>TRACE:</a:t>
            </a:r>
          </a:p>
          <a:p>
            <a:r>
              <a:t>• Small print: One run, indicative; renders not included. Street furniture drawn enlarged.</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Before and after: same stored camera. Four predicted classes plus unlabelled; runtime excludes rendering.</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61 ms, copy into Open3D 8.0 ms, voxels 123 ms, ground 99 ms, clusters 270 ms, labels 260 ms, paint-back 178 ms; total 999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So why do poles get so few points?</a:t>
            </a:r>
          </a:p>
          <a:p/>
          <a:p>
            <a:r>
              <a:t>TIME: 40 s, ends at 17:05</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Photo credit: 2021 · Robot8A · CC BY-SA 4.0</a:t>
            </a:r>
          </a:p>
          <a:p>
            <a:r>
              <a:t>• Photo credit: 2014 · V. van Werkhooven · CC BY 3.0</a:t>
            </a:r>
          </a:p>
          <a:p>
            <a:r>
              <a:t>• Small print: Poles: BGT (Kadaster, CC BY 4.0) via PDOK, 2026-10-12. Points: within 0.6 m, over 1.5 m above ground. Photos: Jaarbeursplein, Wikimedia Commons.</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the two candidates within 0.51 m and 0.49 m of a lamp post; the third is 4.97 m from the nearest one</a:t>
            </a:r>
          </a:p>
          <a:p>
            <a:r>
              <a:t>• Map: 60 of the 61 poles project inside the render (one falls just outside the frame)</a:t>
            </a:r>
          </a:p>
          <a:p/>
          <a:p>
            <a:r>
              <a:t>MENTAL MODEL: Slide 20 (a point cloud samples the surface unevenly) follows: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Why so few points on a pole? Because a scanner doesn't see the city, it samples it. This map counts points per square metre in our crop, median 18. Walls and tree crowns stack points into bright lines and spots, and some bands are thin, so a thin pole can fall between the samples. A radius tuned in one corner can fail in the next: measure density and error before you tune anything. We've turned the scan into labels. Now let's look at the Python decisions that made the pipeline fast enough to be practical. Think in arrays and let compiled code loop: first, a quiz.</a:t>
            </a:r>
          </a:p>
          <a:p/>
          <a:p>
            <a:r>
              <a:t>TIME: 40 s, ends at 17:45</a:t>
            </a:r>
          </a:p>
          <a:p/>
          <a:p>
            <a:r>
              <a:t>LIKELY QUESTION: Is the density on the map the density of the surface?</a:t>
            </a:r>
          </a:p>
          <a:p/>
          <a:p>
            <a:r>
              <a:t>ANSWER: Not quite: a map cell counts every point above it, so walls and tree crowns look denser than they are as surfaces; a per-surface density needs normals. And the published accuracy is a specification for the whole data set, not a guarantee for each point.</a:t>
            </a:r>
          </a:p>
          <a:p/>
          <a:p>
            <a:r>
              <a:t>TRACE:</a:t>
            </a:r>
          </a:p>
          <a:p>
            <a:r>
              <a:t>• deck/appendix.yaml C5 (bullets, figure, citations; shown here as a main slide)</a:t>
            </a:r>
          </a:p>
          <a:p>
            <a:r>
              <a:t>• deck/concepts/make_figures.py: deck/assets/concepts/c5_density.png, results/concepts.json c5</a:t>
            </a:r>
          </a:p>
          <a:p>
            <a:r>
              <a:t>• data/utrecht_jaarbeurs_200m.laz</a:t>
            </a:r>
          </a:p>
          <a:p>
            <a:r>
              <a:t>• research: reports/mental_models.md section 6</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16).</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19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75 s, ends at 19:00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Even a loop over plain Python floats, which avoids NumPy scalars, takes 78 ms, plus 107 ms to build those lists with P.tolist(). So where does the time go?</a:t>
            </a:r>
          </a:p>
          <a:p/>
          <a:p>
            <a:r>
              <a:t>TIME: 80 s, ends at 20:20</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23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12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5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That's rule four, let compiled code loop. It's why the loops in our pipeline run over 64 tiles and 1 026 clusters, never over 722 961 points: Python orchestrates, the libraries do the arithmetic. So how do you find such a loop in your own code?</a:t>
            </a:r>
          </a:p>
          <a:p/>
          <a:p>
            <a:r>
              <a:t>TIME: 95 s, ends at 21:55</a:t>
            </a:r>
          </a:p>
          <a:p/>
          <a:p>
            <a:r>
              <a:t>LIKELY QUESTION: Is this only a NumPy problem?</a:t>
            </a:r>
          </a:p>
          <a:p/>
          <a:p>
            <a:r>
              <a:t>ANSWER: No. C++ libraries pay a toll per call too. One SciPy KDTree query costs 9.8 µs even when it finds nothing, against 2.1 µs per point inside one call, so a kNN loop is 6.2× slower. That cliff is smaller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CC BY 4.0). Loop-step time includes indexing and arithmetic, not just call overhead. The NumPy expression makes several array operations; the diagram shows the batching principle.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And if you wonder why it says 10 seconds when slide 22 said 317 milliseconds: the profiler ran each version 30 times. Per call that is about 349 ms and 2.6 ms, close to the standalone numbers. The profiler tells you which line; the benchmark tells you how much. Could threads rescue this loop?</a:t>
            </a:r>
          </a:p>
          <a:p/>
          <a:p>
            <a:r>
              <a:t>TIME: 55 s, ends at 22:50</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22 gives the loop against the expression</a:t>
            </a:r>
          </a:p>
          <a:p/>
          <a:p>
            <a:r>
              <a:t>DISCREPANCY: Slide 24 shows share × the whole 11.9 s profiled run (imports and LAZ reading included) for 30 calls of each version. Divided by the repeats: 349 ms and 2.6 ms per call, against 317 ms and 2.4 ms unprofiled (slide 22). The remaining ~10 % on the loop is not attributed: sampling overhead, a different run and sampling granularity were not separated. Both measure the same code (bench/cpuprof/loop.py compiles the slide regions of s16_loop.py and s16_vec.py) on the same array and plane (bench_cliff.json plane.coefficients).</a:t>
            </a:r>
          </a:p>
          <a:p/>
          <a:p>
            <a:r>
              <a:t>HOW TO READ IT:</a:t>
            </a:r>
          </a:p>
          <a:p>
            <a:r>
              <a:t>• Rows: the lines of the slide-18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22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That's one loop on one 8-core machine, not a verdict on free-threaded Python. But the lesson holds: free threading spreads the toll over your cores; it doesn't remove it. Now the other way 3D data hurts: memory.</a:t>
            </a:r>
          </a:p>
          <a:p/>
          <a:p>
            <a:r>
              <a:t>TIME: 50 s, ends at 23:40</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26: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5 (ahn.nl, Het Waterschapshuis, CC BY 4.0). Loop: the slide 21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Rule three, make it small first, is about memory. The AHN file that holds this area has 926 203 338 points. Just its LAS records and one float64 copy of xyz are 46.6 GiB: that's arithmetic on record sizes, not a run. On a smaller 1 km file I measured about 86 bytes kept per point for loading and voxel downsampling. Scaled up, 74.2 GiB, and more at peak. It works on my machine, just not for this file. On that 1 km file, loading everything peaked at 3.0 GiB; streaming it in chunks of a million points peaked at 0.8 GiB, measured both times. Chunking keeps the first point per voxel instead of the average, and the output still grows with the data, so it's not a constant-memory trick. It's a budget: know your copies, and stream what doesn't fit.</a:t>
            </a:r>
          </a:p>
          <a:p/>
          <a:p>
            <a:r>
              <a:t>TIME: 55 s, ends at 24:35</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23:45. Later than that: skip this slide.</a:t>
            </a:r>
          </a:p>
          <a:p/>
          <a:p>
            <a:r>
              <a:t>IF SKIPPED: Skip-first number 3. If skipped, say the one fact on slide 26: "a full-size AHN file has 926 203 338 points".</a:t>
            </a:r>
          </a:p>
          <a:p/>
          <a:p>
            <a:r>
              <a:t>TRACE:</a:t>
            </a:r>
          </a:p>
          <a:p>
            <a:r>
              <a:t>• Small print: Bytes per point measured on the 1 km AHN file 135000_455000 (21 013 926 points); totals for 2023_C_31HZ2.LAZ computed, not run. Our pipeline: load and voxel downsampling (slides 12 and 13), all arrays kept, after gc.collect() and malloc_trim(0); peak 154 B per point.</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12 and 13);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GiB = 2³⁰ bytes.</a:t>
            </a:r>
          </a:p>
          <a:p/>
          <a:p>
            <a:r>
              <a:t>WHAT IS ON THE SLIDE:</a:t>
            </a:r>
          </a:p>
          <a:p>
            <a:r>
              <a:t>• Title: the AHN5 file that holds this area, 2023_C_31HZ2, is 5 by 6.25 km with 926 203 338 points; loading it whole needs more than the 32 GiB of a big laptop</a:t>
            </a:r>
          </a:p>
          <a:p>
            <a:r>
              <a:t>• Bars: one reference bar, 32 GiB of RAM (navy), then three computed bars for that file: the LAS records alone (30 B per point for point format 6), plus a float64 xyz copy (24 B per point more), and our load and voxel steps with every array kept (86 B per point); the dashed line is 32 GiB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GiB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GiB to 0.8 GiB.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27 rules (the rules of slide 8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Thank you to the Python community and to all of you for being here.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Book title overlap is covered only if asked; the closing slide keeps the data attribution.</a:t>
            </a:r>
          </a:p>
          <a:p/>
          <a:p>
            <a:r>
              <a:t>TRACE:</a:t>
            </a:r>
          </a:p>
          <a:p>
            <a:r>
              <a:t>• content.yaml slide 28: QR repository returned HTTP 200 on 2026-10-14; contact is configured.</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GiB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16":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16's...":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12).</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12</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(slide 20).</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15 and the...": status judgement; source: judgement; slides 13 and 15</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(slide 27).</a:t>
            </a:r>
          </a:p>
          <a:p/>
          <a:p>
            <a:r>
              <a:t>LIMITS AND DISAGREEMENTS:</a:t>
            </a:r>
          </a:p>
          <a:p>
            <a:r>
              <a:t>• Complexity classes hide constants: an N log N method with a Python loop per point can still lose (slides 21 to 23).</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(B2).": status verified; source: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10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10; results/python_facts.json; research: reports/mental_models.md section 8</a:t>
            </a:r>
          </a:p>
          <a:p>
            <a:r>
              <a:t>• Bullet 2 "Learn the idea once; map it to whichever library the job...": status judgement; source: judgement; slide 9</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12 and C4 after slide 15;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6 and 8</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carries 1, 4 and 6 in...":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13</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16;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creativecommons.org/licenses/by/4.0/"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4.png"/><Relationship Id="rId4" Type="http://schemas.openxmlformats.org/officeDocument/2006/relationships/hyperlink" Target="https://creativecommons.org/licenses/by/4.0/"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image" Target="../media/image25.png"/><Relationship Id="rId4" Type="http://schemas.openxmlformats.org/officeDocument/2006/relationships/hyperlink" Target="https://creativecommons.org/licenses/by/4.0/"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6.png"/><Relationship Id="rId4" Type="http://schemas.openxmlformats.org/officeDocument/2006/relationships/hyperlink" Target="https://creativecommons.org/licenses/by/4.0/"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image" Target="../media/image27.png"/><Relationship Id="rId4" Type="http://schemas.openxmlformats.org/officeDocument/2006/relationships/hyperlink" Target="https://creativecommons.org/licenses/by/4.0/"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28.png"/><Relationship Id="rId4" Type="http://schemas.openxmlformats.org/officeDocument/2006/relationships/hyperlink" Target="https://creativecommons.org/licenses/by/4.0/"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9.jpg"/><Relationship Id="rId4" Type="http://schemas.openxmlformats.org/officeDocument/2006/relationships/image" Target="../media/image30.jpg"/><Relationship Id="rId5" Type="http://schemas.openxmlformats.org/officeDocument/2006/relationships/hyperlink" Target="https://creativecommons.org/licenses/by/4.0/"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Note box"/>
          <p:cNvSpPr/>
          <p:nvPr/>
        </p:nvSpPr>
        <p:spPr>
          <a:xfrm>
            <a:off x="6324600" y="4571712"/>
            <a:ext cx="5318760" cy="1645920"/>
          </a:xfrm>
          <a:prstGeom prst="roundRect">
            <a:avLst>
              <a:gd name="adj" fmla="val 4444"/>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ote"/>
          <p:cNvSpPr txBox="1"/>
          <p:nvPr/>
        </p:nvSpPr>
        <p:spPr>
          <a:xfrm>
            <a:off x="6489192" y="4708872"/>
            <a:ext cx="4989576" cy="137160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Why the counts differ: both average the points in each 0.5 m voxel, but the grids sit in different places. PCL anchors its voxels at multiples of the leaf size; Open3D at the minimum corner minus half a voxel.</a:t>
            </a:r>
            <a:endParaRPr lang="en-GB" sz="1800"/>
          </a:p>
        </p:txBody>
      </p:sp>
      <p:sp>
        <p:nvSpPr>
          <p:cNvPr id="1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 output: recorded Linux / PCL run; not rerun on this machine.</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is the interface. C++ does the work</a:t>
            </a:r>
          </a:p>
        </p:txBody>
      </p:sp>
      <p:pic>
        <p:nvPicPr>
          <p:cNvPr id="6" name="Meme" descr="Scooby-Doo unmasking meme. Top: Fred touches the hood of a tied-up ghost whose head is the Python logo. Bottom: the unmasked figure's head is the C++ logo. Caption: Let's see who's really behind the mask."/>
          <p:cNvPicPr>
            <a:picLocks noChangeAspect="1"/>
          </p:cNvPicPr>
          <p:nvPr/>
        </p:nvPicPr>
        <p:blipFill>
          <a:blip r:embed="rId2"/>
          <a:stretch>
            <a:fillRect/>
          </a:stretch>
        </p:blipFill>
        <p:spPr>
          <a:xfrm>
            <a:off x="548640" y="1554480"/>
            <a:ext cx="3492863" cy="4663152"/>
          </a:xfrm>
          <a:prstGeom prst="rect">
            <a:avLst/>
          </a:prstGeom>
        </p:spPr>
      </p:pic>
      <p:sp>
        <p:nvSpPr>
          <p:cNvPr id="8" name="Meme bullets"/>
          <p:cNvSpPr txBox="1"/>
          <p:nvPr/>
        </p:nvSpPr>
        <p:spPr>
          <a:xfrm>
            <a:off x="4498703" y="2133600"/>
            <a:ext cx="7144657" cy="408403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NumPy: a compiled C core, with some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Open3D: C++, wrapped for Python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PyVista: VTK, which is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laspy: the lazrs decoder is Rust</a:t>
            </a:r>
            <a:endParaRPr lang="en-GB" sz="2000"/>
          </a:p>
        </p:txBody>
      </p:sp>
      <p:sp>
        <p:nvSpPr>
          <p:cNvPr id="9" name="Note box"/>
          <p:cNvSpPr/>
          <p:nvPr/>
        </p:nvSpPr>
        <p:spPr>
          <a:xfrm>
            <a:off x="4498703" y="5394672"/>
            <a:ext cx="7144657" cy="822960"/>
          </a:xfrm>
          <a:prstGeom prst="roundRect">
            <a:avLst>
              <a:gd name="adj" fmla="val 8888"/>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ote"/>
          <p:cNvSpPr txBox="1"/>
          <p:nvPr/>
        </p:nvSpPr>
        <p:spPr>
          <a:xfrm>
            <a:off x="4663295" y="5531832"/>
            <a:ext cx="6815473"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Python is used as a proxy to write higher-level code: the heavy loops run below it, in compiled code.</a:t>
            </a:r>
            <a:endParaRPr lang="en-GB" sz="1800"/>
          </a:p>
        </p:txBody>
      </p:sp>
      <p:sp>
        <p:nvSpPr>
          <p:cNvPr id="7" name="Support"/>
          <p:cNvSpPr txBox="1"/>
          <p:nvPr/>
        </p:nvSpPr>
        <p:spPr>
          <a:xfrm>
            <a:off x="4498703" y="1554480"/>
            <a:ext cx="7144657"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call you make here runs compiled code</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3D."/>
          <p:cNvGrpSpPr/>
          <p:nvPr/>
        </p:nvGrpSpPr>
        <p:grpSpPr>
          <a:xfrm>
            <a:off x="548640" y="1600200"/>
            <a:ext cx="11094720" cy="4617432"/>
            <a:chOff x="548640" y="1600200"/>
            <a:chExt cx="11094720" cy="4617432"/>
          </a:xfrm>
        </p:grpSpPr>
        <p:sp>
          <p:nvSpPr>
            <p:cNvPr id="6" name="wall_label_1"/>
            <p:cNvSpPr txBox="1"/>
            <p:nvPr/>
          </p:nvSpPr>
          <p:spPr>
            <a:xfrm>
              <a:off x="548640" y="160020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821074"/>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41586" y="1691640"/>
              <a:ext cx="422366" cy="429406"/>
            </a:xfrm>
            <a:prstGeom prst="rect">
              <a:avLst/>
            </a:prstGeom>
          </p:spPr>
        </p:pic>
        <p:sp>
          <p:nvSpPr>
            <p:cNvPr id="11" name="tile_ref_1_2"/>
            <p:cNvSpPr txBox="1"/>
            <p:nvPr/>
          </p:nvSpPr>
          <p:spPr>
            <a:xfrm>
              <a:off x="5098542"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541182" y="1691640"/>
              <a:ext cx="1659539" cy="429406"/>
            </a:xfrm>
            <a:prstGeom prst="rect">
              <a:avLst/>
            </a:prstGeom>
          </p:spPr>
        </p:pic>
        <p:sp>
          <p:nvSpPr>
            <p:cNvPr id="14" name="tile_ref_1_3"/>
            <p:cNvSpPr txBox="1"/>
            <p:nvPr/>
          </p:nvSpPr>
          <p:spPr>
            <a:xfrm>
              <a:off x="7316724"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54929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225483" y="2640730"/>
              <a:ext cx="1418208" cy="638194"/>
            </a:xfrm>
            <a:prstGeom prst="rect">
              <a:avLst/>
            </a:prstGeom>
          </p:spPr>
        </p:pic>
        <p:sp>
          <p:nvSpPr>
            <p:cNvPr id="18" name="wall_tile_2_2"/>
            <p:cNvSpPr/>
            <p:nvPr/>
          </p:nvSpPr>
          <p:spPr>
            <a:xfrm>
              <a:off x="5098542"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38066" y="2640730"/>
              <a:ext cx="429406" cy="429406"/>
            </a:xfrm>
            <a:prstGeom prst="rect">
              <a:avLst/>
            </a:prstGeom>
          </p:spPr>
        </p:pic>
        <p:sp>
          <p:nvSpPr>
            <p:cNvPr id="20" name="tile_ref_2_2"/>
            <p:cNvSpPr txBox="1"/>
            <p:nvPr/>
          </p:nvSpPr>
          <p:spPr>
            <a:xfrm>
              <a:off x="5098542"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156248" y="2640730"/>
              <a:ext cx="429406" cy="429406"/>
            </a:xfrm>
            <a:prstGeom prst="rect">
              <a:avLst/>
            </a:prstGeom>
          </p:spPr>
        </p:pic>
        <p:sp>
          <p:nvSpPr>
            <p:cNvPr id="23" name="tile_ref_2_3"/>
            <p:cNvSpPr txBox="1"/>
            <p:nvPr/>
          </p:nvSpPr>
          <p:spPr>
            <a:xfrm>
              <a:off x="7316724"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717879" y="2640730"/>
              <a:ext cx="1742508" cy="638194"/>
            </a:xfrm>
            <a:prstGeom prst="rect">
              <a:avLst/>
            </a:prstGeom>
          </p:spPr>
        </p:pic>
        <p:sp>
          <p:nvSpPr>
            <p:cNvPr id="26" name="wall_label_3"/>
            <p:cNvSpPr txBox="1"/>
            <p:nvPr/>
          </p:nvSpPr>
          <p:spPr>
            <a:xfrm>
              <a:off x="548640" y="349837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49837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665812"/>
              <a:ext cx="1925574" cy="486207"/>
            </a:xfrm>
            <a:prstGeom prst="rect">
              <a:avLst/>
            </a:prstGeom>
          </p:spPr>
        </p:pic>
        <p:sp>
          <p:nvSpPr>
            <p:cNvPr id="29" name="wall_tile_3_2"/>
            <p:cNvSpPr/>
            <p:nvPr/>
          </p:nvSpPr>
          <p:spPr>
            <a:xfrm>
              <a:off x="5098542" y="349837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765701"/>
              <a:ext cx="1925574" cy="286429"/>
            </a:xfrm>
            <a:prstGeom prst="rect">
              <a:avLst/>
            </a:prstGeom>
          </p:spPr>
        </p:pic>
        <p:sp>
          <p:nvSpPr>
            <p:cNvPr id="31" name="wall_label_4"/>
            <p:cNvSpPr txBox="1"/>
            <p:nvPr/>
          </p:nvSpPr>
          <p:spPr>
            <a:xfrm>
              <a:off x="548640" y="444746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44746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185973" y="4538909"/>
              <a:ext cx="1497228" cy="638194"/>
            </a:xfrm>
            <a:prstGeom prst="rect">
              <a:avLst/>
            </a:prstGeom>
          </p:spPr>
        </p:pic>
        <p:sp>
          <p:nvSpPr>
            <p:cNvPr id="34" name="wall_tile_4_2"/>
            <p:cNvSpPr/>
            <p:nvPr/>
          </p:nvSpPr>
          <p:spPr>
            <a:xfrm>
              <a:off x="5098542" y="444746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557717" y="4538909"/>
              <a:ext cx="1190105" cy="638194"/>
            </a:xfrm>
            <a:prstGeom prst="rect">
              <a:avLst/>
            </a:prstGeom>
          </p:spPr>
        </p:pic>
        <p:sp>
          <p:nvSpPr>
            <p:cNvPr id="36" name="wall_label_5"/>
            <p:cNvSpPr txBox="1"/>
            <p:nvPr/>
          </p:nvSpPr>
          <p:spPr>
            <a:xfrm>
              <a:off x="548640" y="5396558"/>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657104" y="5487998"/>
              <a:ext cx="554967" cy="429406"/>
            </a:xfrm>
            <a:prstGeom prst="rect">
              <a:avLst/>
            </a:prstGeom>
          </p:spPr>
        </p:pic>
        <p:sp>
          <p:nvSpPr>
            <p:cNvPr id="39" name="tile_ref_5_1"/>
            <p:cNvSpPr txBox="1"/>
            <p:nvPr/>
          </p:nvSpPr>
          <p:spPr>
            <a:xfrm>
              <a:off x="2880360" y="593569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3D logo"/>
            <p:cNvPicPr>
              <a:picLocks noChangeAspect="1"/>
            </p:cNvPicPr>
            <p:nvPr/>
          </p:nvPicPr>
          <p:blipFill>
            <a:blip r:embed="rId13"/>
            <a:stretch>
              <a:fillRect/>
            </a:stretch>
          </p:blipFill>
          <p:spPr>
            <a:xfrm>
              <a:off x="5189982" y="5561585"/>
              <a:ext cx="1925574" cy="491021"/>
            </a:xfrm>
            <a:prstGeom prst="rect">
              <a:avLst/>
            </a:prstGeom>
          </p:spPr>
        </p:pic>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2941153" cy="3318984"/>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358473" y="1554480"/>
            <a:ext cx="2941153" cy="3318984"/>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668101" y="3012804"/>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31699" y="1760400"/>
            <a:ext cx="1893570" cy="1188720"/>
            <a:chOff x="1131699" y="1760400"/>
            <a:chExt cx="1893570" cy="1188720"/>
          </a:xfrm>
        </p:grpSpPr>
        <p:sp>
          <p:nvSpPr>
            <p:cNvPr id="9" name="Edge arrow"/>
            <p:cNvSpPr/>
            <p:nvPr/>
          </p:nvSpPr>
          <p:spPr>
            <a:xfrm>
              <a:off x="1941324" y="2235888"/>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31699" y="1760400"/>
              <a:ext cx="1893570"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318984"/>
            <a:chOff x="8031480" y="1554480"/>
            <a:chExt cx="3611880" cy="331898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21088" y="206654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1740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1740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21088" y="241740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76827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76827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21088" y="276827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11913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11913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21088" y="311913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47000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47000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21088" y="347000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382086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382086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21088" y="382086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17173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17173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21088" y="417173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52259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52259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21088" y="452259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Note box"/>
          <p:cNvSpPr/>
          <p:nvPr/>
        </p:nvSpPr>
        <p:spPr>
          <a:xfrm>
            <a:off x="548640" y="5056344"/>
            <a:ext cx="6750986" cy="822960"/>
          </a:xfrm>
          <a:prstGeom prst="roundRect">
            <a:avLst>
              <a:gd name="adj" fmla="val 8888"/>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Note"/>
          <p:cNvSpPr txBox="1"/>
          <p:nvPr/>
        </p:nvSpPr>
        <p:spPr>
          <a:xfrm>
            <a:off x="713232" y="5193504"/>
            <a:ext cx="6421802"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Goal: ground, buildings, vegetation, street furniture; scored against AHN.</a:t>
            </a:r>
            <a:endParaRPr lang="en-GB" sz="1800"/>
          </a:p>
        </p:txBody>
      </p:sp>
      <p:sp>
        <p:nvSpPr>
          <p:cNvPr id="3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no gap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Point cloud: an unordered N×3 array plus attributes; no neighbours stored.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Mesh: vertices plus faces, so surfaces, normals and areas are defined.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Voxel grid: occupied cells at one resolution; detail below a cell is gone.</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3D project moves through six stages</a:t>
            </a:r>
          </a:p>
        </p:txBody>
      </p:sp>
      <p:grpSp>
        <p:nvGrpSpPr>
          <p:cNvPr id="3" name="Workflow" descr="A ring of six numbered stages, clockwise, with the Python libraries under each. 1 Acquisition, scan the scene, laspy, with a close-up of single points as laspy reads them; 2 Preparation, clean and register, NumPy and Open3D; 3 Exploration, model and label, Open3D and SciPy, with the clustered point cloud; 4 Analysis, measure, monitor, NumPy and SciPy; 5 Visualisation, see it, trust it, PyVista, with the final labelled render; 6 Application, ship it. Stages 1 and 2 are coloured as data, 3 and 4 as understanding, 5 and 6 as delivery. Dashed arrows through the middle lead from analysis back to preparation and from visualisation back to acquisition: loop back when the data surprises you."/>
          <p:cNvGrpSpPr/>
          <p:nvPr/>
        </p:nvGrpSpPr>
        <p:grpSpPr>
          <a:xfrm>
            <a:off x="906780" y="1706392"/>
            <a:ext cx="9464040" cy="4039288"/>
            <a:chOff x="906780" y="1706392"/>
            <a:chExt cx="9464040" cy="4039288"/>
          </a:xfrm>
        </p:grpSpPr>
        <p:cxnSp>
          <p:nvCxnSpPr>
            <p:cNvPr id="6" name="arrow 1"/>
            <p:cNvCxnSpPr/>
            <p:nvPr/>
          </p:nvCxnSpPr>
          <p:spPr>
            <a:xfrm>
              <a:off x="5158740" y="2300752"/>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arrow 2"/>
            <p:cNvCxnSpPr/>
            <p:nvPr/>
          </p:nvCxnSpPr>
          <p:spPr>
            <a:xfrm>
              <a:off x="694780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arrow 3"/>
            <p:cNvCxnSpPr/>
            <p:nvPr/>
          </p:nvCxnSpPr>
          <p:spPr>
            <a:xfrm flipH="1">
              <a:off x="694780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arrow 4"/>
            <p:cNvCxnSpPr/>
            <p:nvPr/>
          </p:nvCxnSpPr>
          <p:spPr>
            <a:xfrm flipH="1">
              <a:off x="5158740" y="5151320"/>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arrow 5"/>
            <p:cNvCxnSpPr/>
            <p:nvPr/>
          </p:nvCxnSpPr>
          <p:spPr>
            <a:xfrm flipH="1" flipV="1">
              <a:off x="393028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arrow 6"/>
            <p:cNvCxnSpPr/>
            <p:nvPr/>
          </p:nvCxnSpPr>
          <p:spPr>
            <a:xfrm flipV="1">
              <a:off x="393028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loop 7"/>
            <p:cNvCxnSpPr/>
            <p:nvPr/>
          </p:nvCxnSpPr>
          <p:spPr>
            <a:xfrm flipV="1">
              <a:off x="664464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loop 8"/>
            <p:cNvCxnSpPr/>
            <p:nvPr/>
          </p:nvCxnSpPr>
          <p:spPr>
            <a:xfrm flipV="1">
              <a:off x="463296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stage disc 1"/>
            <p:cNvSpPr/>
            <p:nvPr/>
          </p:nvSpPr>
          <p:spPr>
            <a:xfrm>
              <a:off x="419862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1</a:t>
              </a:r>
            </a:p>
          </p:txBody>
        </p:sp>
        <p:sp>
          <p:nvSpPr>
            <p:cNvPr id="15" name="stage label 1"/>
            <p:cNvSpPr txBox="1"/>
            <p:nvPr/>
          </p:nvSpPr>
          <p:spPr>
            <a:xfrm>
              <a:off x="1912620" y="1706392"/>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Acquisition</a:t>
              </a:r>
            </a:p>
            <a:p>
              <a:pPr algn="r"/>
              <a:r>
                <a:rPr sz="2000" b="0" i="0" lang="en-GB">
                  <a:solidFill>
                    <a:srgbClr val="263238"/>
                  </a:solidFill>
                  <a:latin typeface="Fira Sans"/>
                </a:rPr>
                <a:t>Scan the scene</a:t>
              </a:r>
            </a:p>
            <a:p>
              <a:pPr algn="r"/>
              <a:r>
                <a:rPr sz="2000" b="0" i="0" lang="en-GB">
                  <a:solidFill>
                    <a:srgbClr val="2B6797"/>
                  </a:solidFill>
                  <a:latin typeface="Fira Sans SemiBold"/>
                </a:rPr>
                <a:t>laspy</a:t>
              </a:r>
            </a:p>
          </p:txBody>
        </p:sp>
        <p:sp>
          <p:nvSpPr>
            <p:cNvPr id="16" name="stage disc 2"/>
            <p:cNvSpPr/>
            <p:nvPr/>
          </p:nvSpPr>
          <p:spPr>
            <a:xfrm>
              <a:off x="621030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2</a:t>
              </a:r>
            </a:p>
          </p:txBody>
        </p:sp>
        <p:sp>
          <p:nvSpPr>
            <p:cNvPr id="17" name="stage label 2"/>
            <p:cNvSpPr txBox="1"/>
            <p:nvPr/>
          </p:nvSpPr>
          <p:spPr>
            <a:xfrm>
              <a:off x="7261860" y="1706392"/>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Preparation</a:t>
              </a:r>
            </a:p>
            <a:p>
              <a:pPr algn="l"/>
              <a:r>
                <a:rPr sz="2000" b="0" i="0" lang="en-GB">
                  <a:solidFill>
                    <a:srgbClr val="263238"/>
                  </a:solidFill>
                  <a:latin typeface="Fira Sans"/>
                </a:rPr>
                <a:t>Clean and register</a:t>
              </a:r>
            </a:p>
            <a:p>
              <a:pPr algn="l"/>
              <a:r>
                <a:rPr sz="2000" b="0" i="0" lang="en-GB">
                  <a:solidFill>
                    <a:srgbClr val="2B6797"/>
                  </a:solidFill>
                  <a:latin typeface="Fira Sans SemiBold"/>
                </a:rPr>
                <a:t>NumPy, Open3D</a:t>
              </a:r>
            </a:p>
          </p:txBody>
        </p:sp>
        <p:sp>
          <p:nvSpPr>
            <p:cNvPr id="18" name="stage disc 3"/>
            <p:cNvSpPr/>
            <p:nvPr/>
          </p:nvSpPr>
          <p:spPr>
            <a:xfrm>
              <a:off x="7216140" y="3291696"/>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3</a:t>
              </a:r>
            </a:p>
          </p:txBody>
        </p:sp>
        <p:sp>
          <p:nvSpPr>
            <p:cNvPr id="19" name="stage label 3"/>
            <p:cNvSpPr txBox="1"/>
            <p:nvPr/>
          </p:nvSpPr>
          <p:spPr>
            <a:xfrm>
              <a:off x="8267700" y="3131676"/>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Exploration</a:t>
              </a:r>
            </a:p>
            <a:p>
              <a:pPr algn="l"/>
              <a:r>
                <a:rPr sz="2000" b="0" i="0" lang="en-GB">
                  <a:solidFill>
                    <a:srgbClr val="263238"/>
                  </a:solidFill>
                  <a:latin typeface="Fira Sans"/>
                </a:rPr>
                <a:t>Model and label</a:t>
              </a:r>
            </a:p>
            <a:p>
              <a:pPr algn="l"/>
              <a:r>
                <a:rPr sz="2000" b="0" i="0" lang="en-GB">
                  <a:solidFill>
                    <a:srgbClr val="2B6797"/>
                  </a:solidFill>
                  <a:latin typeface="Fira Sans SemiBold"/>
                </a:rPr>
                <a:t>Open3D, SciPy</a:t>
              </a:r>
            </a:p>
          </p:txBody>
        </p:sp>
        <p:sp>
          <p:nvSpPr>
            <p:cNvPr id="20" name="stage disc 4"/>
            <p:cNvSpPr/>
            <p:nvPr/>
          </p:nvSpPr>
          <p:spPr>
            <a:xfrm>
              <a:off x="6210300" y="4716980"/>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4</a:t>
              </a:r>
            </a:p>
          </p:txBody>
        </p:sp>
        <p:sp>
          <p:nvSpPr>
            <p:cNvPr id="21" name="stage label 4"/>
            <p:cNvSpPr txBox="1"/>
            <p:nvPr/>
          </p:nvSpPr>
          <p:spPr>
            <a:xfrm>
              <a:off x="7261860" y="4556960"/>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Analysis</a:t>
              </a:r>
            </a:p>
            <a:p>
              <a:pPr algn="l"/>
              <a:r>
                <a:rPr sz="2000" b="0" i="0" lang="en-GB">
                  <a:solidFill>
                    <a:srgbClr val="263238"/>
                  </a:solidFill>
                  <a:latin typeface="Fira Sans"/>
                </a:rPr>
                <a:t>Measure, monitor</a:t>
              </a:r>
            </a:p>
            <a:p>
              <a:pPr algn="l"/>
              <a:r>
                <a:rPr sz="2000" b="0" i="0" lang="en-GB">
                  <a:solidFill>
                    <a:srgbClr val="2B6797"/>
                  </a:solidFill>
                  <a:latin typeface="Fira Sans SemiBold"/>
                </a:rPr>
                <a:t>NumPy, SciPy</a:t>
              </a:r>
            </a:p>
          </p:txBody>
        </p:sp>
        <p:sp>
          <p:nvSpPr>
            <p:cNvPr id="22" name="stage disc 5"/>
            <p:cNvSpPr/>
            <p:nvPr/>
          </p:nvSpPr>
          <p:spPr>
            <a:xfrm>
              <a:off x="4198620" y="4716980"/>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5</a:t>
              </a:r>
            </a:p>
          </p:txBody>
        </p:sp>
        <p:sp>
          <p:nvSpPr>
            <p:cNvPr id="23" name="stage label 5"/>
            <p:cNvSpPr txBox="1"/>
            <p:nvPr/>
          </p:nvSpPr>
          <p:spPr>
            <a:xfrm>
              <a:off x="1912620" y="4556960"/>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Visualisation</a:t>
              </a:r>
            </a:p>
            <a:p>
              <a:pPr algn="r"/>
              <a:r>
                <a:rPr sz="2000" b="0" i="0" lang="en-GB">
                  <a:solidFill>
                    <a:srgbClr val="263238"/>
                  </a:solidFill>
                  <a:latin typeface="Fira Sans"/>
                </a:rPr>
                <a:t>See it, trust it</a:t>
              </a:r>
            </a:p>
            <a:p>
              <a:pPr algn="r"/>
              <a:r>
                <a:rPr sz="2000" b="0" i="0" lang="en-GB">
                  <a:solidFill>
                    <a:srgbClr val="2B6797"/>
                  </a:solidFill>
                  <a:latin typeface="Fira Sans SemiBold"/>
                </a:rPr>
                <a:t>PyVista</a:t>
              </a:r>
            </a:p>
          </p:txBody>
        </p:sp>
        <p:sp>
          <p:nvSpPr>
            <p:cNvPr id="24" name="stage disc 6"/>
            <p:cNvSpPr/>
            <p:nvPr/>
          </p:nvSpPr>
          <p:spPr>
            <a:xfrm>
              <a:off x="3192780" y="3291696"/>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6</a:t>
              </a:r>
            </a:p>
          </p:txBody>
        </p:sp>
        <p:sp>
          <p:nvSpPr>
            <p:cNvPr id="25" name="stage label 6"/>
            <p:cNvSpPr txBox="1"/>
            <p:nvPr/>
          </p:nvSpPr>
          <p:spPr>
            <a:xfrm>
              <a:off x="906780" y="3131676"/>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Application</a:t>
              </a:r>
            </a:p>
            <a:p>
              <a:pPr algn="r"/>
              <a:r>
                <a:rPr sz="2000" b="0" i="0" lang="en-GB">
                  <a:solidFill>
                    <a:srgbClr val="263238"/>
                  </a:solidFill>
                  <a:latin typeface="Fira Sans"/>
                </a:rPr>
                <a:t>Ship it</a:t>
              </a:r>
            </a:p>
          </p:txBody>
        </p:sp>
        <p:sp>
          <p:nvSpPr>
            <p:cNvPr id="26" name="loop note"/>
            <p:cNvSpPr txBox="1"/>
            <p:nvPr/>
          </p:nvSpPr>
          <p:spPr>
            <a:xfrm>
              <a:off x="4861560" y="3177396"/>
              <a:ext cx="1554480" cy="1097280"/>
            </a:xfrm>
            <a:prstGeom prst="rect">
              <a:avLst/>
            </a:prstGeom>
            <a:noFill/>
          </p:spPr>
          <p:txBody>
            <a:bodyPr wrap="square" anchor="ctr" lIns="0" tIns="0" rIns="0" bIns="0">
              <a:noAutofit/>
            </a:bodyPr>
            <a:lstStyle/>
            <a:p>
              <a:pPr algn="ctr"/>
              <a:r>
                <a:rPr sz="2000" b="0" i="0" lang="en-GB">
                  <a:solidFill>
                    <a:srgbClr val="2B6797"/>
                  </a:solidFill>
                  <a:latin typeface="Fira Sans"/>
                </a:rPr>
                <a:t>Loop back when the data surprises</a:t>
              </a:r>
            </a:p>
          </p:txBody>
        </p:sp>
      </p:grpSp>
      <p:pic>
        <p:nvPicPr>
          <p:cNvPr id="27" name="Workflow image 1" descr="Close-up render of the crop: single points as laspy reads them."/>
          <p:cNvPicPr>
            <a:picLocks noChangeAspect="1"/>
          </p:cNvPicPr>
          <p:nvPr/>
        </p:nvPicPr>
        <p:blipFill>
          <a:blip r:embed="rId2"/>
          <a:stretch>
            <a:fillRect/>
          </a:stretch>
        </p:blipFill>
        <p:spPr>
          <a:xfrm>
            <a:off x="751332" y="1707429"/>
            <a:ext cx="1051560" cy="1186647"/>
          </a:xfrm>
          <a:prstGeom prst="rect">
            <a:avLst/>
          </a:prstGeom>
        </p:spPr>
      </p:pic>
      <p:pic>
        <p:nvPicPr>
          <p:cNvPr id="28" name="Workflow image 3" descr="The clusters render: ground grey, each cluster in one of four colours."/>
          <p:cNvPicPr>
            <a:picLocks noChangeAspect="1"/>
          </p:cNvPicPr>
          <p:nvPr/>
        </p:nvPicPr>
        <p:blipFill>
          <a:blip r:embed="rId3"/>
          <a:stretch>
            <a:fillRect/>
          </a:stretch>
        </p:blipFill>
        <p:spPr>
          <a:xfrm>
            <a:off x="10480548" y="3132712"/>
            <a:ext cx="1051560" cy="1186647"/>
          </a:xfrm>
          <a:prstGeom prst="rect">
            <a:avLst/>
          </a:prstGeom>
        </p:spPr>
      </p:pic>
      <p:pic>
        <p:nvPicPr>
          <p:cNvPr id="29" name="Workflow image 5" descr="The final render: ground, buildings, vegetation and street furniture."/>
          <p:cNvPicPr>
            <a:picLocks noChangeAspect="1"/>
          </p:cNvPicPr>
          <p:nvPr/>
        </p:nvPicPr>
        <p:blipFill>
          <a:blip r:embed="rId4"/>
          <a:stretch>
            <a:fillRect/>
          </a:stretch>
        </p:blipFill>
        <p:spPr>
          <a:xfrm>
            <a:off x="751332" y="4557996"/>
            <a:ext cx="1051560" cy="1186647"/>
          </a:xfrm>
          <a:prstGeom prst="rect">
            <a:avLst/>
          </a:prstGeom>
        </p:spPr>
      </p:pic>
      <p:sp>
        <p:nvSpPr>
          <p:cNvPr id="30"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cNvGrpSpPr/>
          <p:nvPr/>
        </p:nvGrpSpPr>
        <p:grpSpPr>
          <a:xfrm>
            <a:off x="548640" y="1600200"/>
            <a:ext cx="11094720" cy="3947160"/>
            <a:chOff x="548640" y="1600200"/>
            <a:chExt cx="11094720" cy="3947160"/>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587752"/>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587752"/>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838448"/>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587752"/>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784344"/>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Use views, not copies</a:t>
            </a:r>
          </a:p>
        </p:txBody>
      </p:sp>
      <p:sp>
        <p:nvSpPr>
          <p:cNvPr id="7" name="Takeaway" descr="An extra xyz copy costs 24 B per point → 0.5 GiB per 1 km file."/>
          <p:cNvSpPr/>
          <p:nvPr/>
        </p:nvSpPr>
        <p:spPr>
          <a:xfrm>
            <a:off x="548640" y="1554480"/>
            <a:ext cx="11094720" cy="548640"/>
          </a:xfrm>
          <a:prstGeom prst="roundRect">
            <a:avLst>
              <a:gd name="adj" fmla="val 13333"/>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marL="0" indent="0">
              <a:spcBef>
                <a:spcPts val="0"/>
              </a:spcBef>
              <a:spcAft>
                <a:spcPts val="0"/>
              </a:spcAft>
              <a:buNone/>
            </a:pPr>
            <a:r>
              <a:rPr sz="2400" lang="en-GB">
                <a:solidFill>
                  <a:srgbClr val="FFFFFF"/>
                </a:solidFill>
                <a:latin typeface="Fira Sans SemiBold"/>
              </a:rPr>
              <a:t>An extra xyz copy costs 24 B per point → 0.5 GiB per 1 km file.</a:t>
            </a:r>
            <a:endParaRPr lang="en-GB" sz="2400"/>
          </a:p>
        </p:txBody>
      </p:sp>
      <p:grpSp>
        <p:nvGrpSpPr>
          <p:cNvPr id="3" name="Copy or view" descr="Legend. Copy: two names, each on its own block of memory; new memory → costs time &amp; RAM. View: two names on one block of memory; same memory → free, writes show through."/>
          <p:cNvGrpSpPr/>
          <p:nvPr/>
        </p:nvGrpSpPr>
        <p:grpSpPr>
          <a:xfrm>
            <a:off x="548640" y="2331720"/>
            <a:ext cx="11094720" cy="1444752"/>
            <a:chOff x="548640" y="2331720"/>
            <a:chExt cx="11094720" cy="1444752"/>
          </a:xfrm>
        </p:grpSpPr>
        <p:cxnSp>
          <p:nvCxnSpPr>
            <p:cNvPr id="8" name="panel rule"/>
            <p:cNvCxnSpPr/>
            <p:nvPr/>
          </p:nvCxnSpPr>
          <p:spPr>
            <a:xfrm>
              <a:off x="6096000" y="2331720"/>
              <a:ext cx="0" cy="1444752"/>
            </a:xfrm>
            <a:prstGeom prst="line">
              <a:avLst/>
            </a:prstGeom>
            <a:ln w="12700">
              <a:solidFill>
                <a:srgbClr val="9CA3AF"/>
              </a:solidFill>
            </a:ln>
          </p:spPr>
          <p:style>
            <a:lnRef idx="2">
              <a:schemeClr val="accent1"/>
            </a:lnRef>
            <a:fillRef idx="0">
              <a:schemeClr val="accent1"/>
            </a:fillRef>
            <a:effectRef idx="1">
              <a:schemeClr val="accent1"/>
            </a:effectRef>
            <a:fontRef idx="minor">
              <a:schemeClr val="tx1"/>
            </a:fontRef>
          </p:style>
        </p:cxnSp>
        <p:sp>
          <p:nvSpPr>
            <p:cNvPr id="9" name="copy title"/>
            <p:cNvSpPr txBox="1"/>
            <p:nvPr/>
          </p:nvSpPr>
          <p:spPr>
            <a:xfrm>
              <a:off x="548640" y="2331720"/>
              <a:ext cx="2619502"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problem: copies</a:t>
              </a:r>
            </a:p>
          </p:txBody>
        </p:sp>
        <p:sp>
          <p:nvSpPr>
            <p:cNvPr id="10" name="copy pill"/>
            <p:cNvSpPr/>
            <p:nvPr/>
          </p:nvSpPr>
          <p:spPr>
            <a:xfrm>
              <a:off x="3168142" y="2331720"/>
              <a:ext cx="1212494" cy="438912"/>
            </a:xfrm>
            <a:prstGeom prst="roundRect">
              <a:avLst>
                <a:gd name="adj" fmla="val 50000"/>
              </a:avLst>
            </a:prstGeom>
            <a:solidFill>
              <a:srgbClr val="FFFFFF"/>
            </a:solidFill>
            <a:ln w="254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1C325B"/>
                  </a:solidFill>
                  <a:latin typeface="Fira Sans SemiBold"/>
                </a:rPr>
                <a:t>copy</a:t>
              </a:r>
            </a:p>
          </p:txBody>
        </p:sp>
        <p:sp>
          <p:nvSpPr>
            <p:cNvPr id="11" name="copy name 1"/>
            <p:cNvSpPr txBox="1"/>
            <p:nvPr/>
          </p:nvSpPr>
          <p:spPr>
            <a:xfrm>
              <a:off x="54864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12" name="copy name 2"/>
            <p:cNvSpPr txBox="1"/>
            <p:nvPr/>
          </p:nvSpPr>
          <p:spPr>
            <a:xfrm>
              <a:off x="54864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13" name="copy cell"/>
            <p:cNvSpPr/>
            <p:nvPr/>
          </p:nvSpPr>
          <p:spPr>
            <a:xfrm>
              <a:off x="118872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46304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73736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201168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228600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118872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opy cell"/>
            <p:cNvSpPr/>
            <p:nvPr/>
          </p:nvSpPr>
          <p:spPr>
            <a:xfrm>
              <a:off x="146304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py cell"/>
            <p:cNvSpPr/>
            <p:nvPr/>
          </p:nvSpPr>
          <p:spPr>
            <a:xfrm>
              <a:off x="173736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opy cell"/>
            <p:cNvSpPr/>
            <p:nvPr/>
          </p:nvSpPr>
          <p:spPr>
            <a:xfrm>
              <a:off x="201168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opy cell"/>
            <p:cNvSpPr/>
            <p:nvPr/>
          </p:nvSpPr>
          <p:spPr>
            <a:xfrm>
              <a:off x="228600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py ref"/>
            <p:cNvCxnSpPr/>
            <p:nvPr/>
          </p:nvCxnSpPr>
          <p:spPr>
            <a:xfrm>
              <a:off x="841248" y="3072384"/>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py ref"/>
            <p:cNvCxnSpPr/>
            <p:nvPr/>
          </p:nvCxnSpPr>
          <p:spPr>
            <a:xfrm>
              <a:off x="841248" y="3602736"/>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opy meaning"/>
            <p:cNvSpPr txBox="1"/>
            <p:nvPr/>
          </p:nvSpPr>
          <p:spPr>
            <a:xfrm>
              <a:off x="292608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new memory → costs time &amp; RAM</a:t>
              </a:r>
            </a:p>
          </p:txBody>
        </p:sp>
        <p:sp>
          <p:nvSpPr>
            <p:cNvPr id="26" name="view title"/>
            <p:cNvSpPr txBox="1"/>
            <p:nvPr/>
          </p:nvSpPr>
          <p:spPr>
            <a:xfrm>
              <a:off x="6370320" y="2331720"/>
              <a:ext cx="2490978"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solution: views</a:t>
              </a:r>
            </a:p>
          </p:txBody>
        </p:sp>
        <p:sp>
          <p:nvSpPr>
            <p:cNvPr id="27" name="view pill"/>
            <p:cNvSpPr/>
            <p:nvPr/>
          </p:nvSpPr>
          <p:spPr>
            <a:xfrm>
              <a:off x="8861298" y="2331720"/>
              <a:ext cx="1187501" cy="43891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FFFFFF"/>
                  </a:solidFill>
                  <a:latin typeface="Fira Sans SemiBold"/>
                </a:rPr>
                <a:t>view</a:t>
              </a:r>
            </a:p>
          </p:txBody>
        </p:sp>
        <p:sp>
          <p:nvSpPr>
            <p:cNvPr id="28" name="view name 1"/>
            <p:cNvSpPr txBox="1"/>
            <p:nvPr/>
          </p:nvSpPr>
          <p:spPr>
            <a:xfrm>
              <a:off x="637032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9" name="view name 2"/>
            <p:cNvSpPr txBox="1"/>
            <p:nvPr/>
          </p:nvSpPr>
          <p:spPr>
            <a:xfrm>
              <a:off x="637032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30" name="view cell"/>
            <p:cNvSpPr/>
            <p:nvPr/>
          </p:nvSpPr>
          <p:spPr>
            <a:xfrm>
              <a:off x="701040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ew cell"/>
            <p:cNvSpPr/>
            <p:nvPr/>
          </p:nvSpPr>
          <p:spPr>
            <a:xfrm>
              <a:off x="728472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ew cell"/>
            <p:cNvSpPr/>
            <p:nvPr/>
          </p:nvSpPr>
          <p:spPr>
            <a:xfrm>
              <a:off x="755904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view cell"/>
            <p:cNvSpPr/>
            <p:nvPr/>
          </p:nvSpPr>
          <p:spPr>
            <a:xfrm>
              <a:off x="783336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ew cell"/>
            <p:cNvSpPr/>
            <p:nvPr/>
          </p:nvSpPr>
          <p:spPr>
            <a:xfrm>
              <a:off x="810768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view ref"/>
            <p:cNvCxnSpPr/>
            <p:nvPr/>
          </p:nvCxnSpPr>
          <p:spPr>
            <a:xfrm>
              <a:off x="6662928" y="3072384"/>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view ref"/>
            <p:cNvCxnSpPr/>
            <p:nvPr/>
          </p:nvCxnSpPr>
          <p:spPr>
            <a:xfrm flipV="1">
              <a:off x="6662928" y="3337560"/>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view meaning"/>
            <p:cNvSpPr txBox="1"/>
            <p:nvPr/>
          </p:nvSpPr>
          <p:spPr>
            <a:xfrm>
              <a:off x="874776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same memory → free, writes show through</a:t>
              </a:r>
            </a:p>
          </p:txBody>
        </p:sp>
      </p:grpSp>
      <p:cxnSp>
        <p:nvCxnSpPr>
          <p:cNvPr id="38" name="Legend rule">
            <a:extLst>
              <a:ext uri="{C183D7F6-B498-43B3-948B-1728B52AA6E4}">
                <adec:decorative xmlns:adec="http://schemas.microsoft.com/office/drawing/2017/decorative" val="1"/>
              </a:ext>
            </a:extLst>
          </p:cNvPr>
          <p:cNvCxnSpPr/>
          <p:nvPr/>
        </p:nvCxnSpPr>
        <p:spPr>
          <a:xfrm>
            <a:off x="548640" y="3886200"/>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9" name="Handoffs" descr="Takeaway: every unnecessary xyz copy costs 24 B per point, 0.5 GiB per 1 km AHN file. The problem, copies: two names, each on its own block of memory; new memory costs time and RAM. The solution, views: two names on one block; same memory, free,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3968352"/>
            <a:ext cx="11094720" cy="1828800"/>
            <a:chOff x="548640" y="3968352"/>
            <a:chExt cx="11094720" cy="1828800"/>
          </a:xfrm>
        </p:grpSpPr>
        <p:sp>
          <p:nvSpPr>
            <p:cNvPr id="40" name="Handoffs_code_1"/>
            <p:cNvSpPr/>
            <p:nvPr/>
          </p:nvSpPr>
          <p:spPr>
            <a:xfrm>
              <a:off x="548640" y="3968352"/>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las.xyz</a:t>
              </a:r>
            </a:p>
          </p:txBody>
        </p:sp>
        <p:sp>
          <p:nvSpPr>
            <p:cNvPr id="41" name="Handoffs_pill_1"/>
            <p:cNvSpPr/>
            <p:nvPr/>
          </p:nvSpPr>
          <p:spPr>
            <a:xfrm>
              <a:off x="4343400" y="3995784"/>
              <a:ext cx="1099820" cy="347472"/>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42" name="Handoffs_text_1"/>
            <p:cNvSpPr txBox="1"/>
            <p:nvPr/>
          </p:nvSpPr>
          <p:spPr>
            <a:xfrm>
              <a:off x="5854700" y="3968352"/>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new array, every access</a:t>
              </a:r>
            </a:p>
          </p:txBody>
        </p:sp>
        <p:sp>
          <p:nvSpPr>
            <p:cNvPr id="43" name="Handoffs_code_2"/>
            <p:cNvSpPr/>
            <p:nvPr/>
          </p:nvSpPr>
          <p:spPr>
            <a:xfrm>
              <a:off x="548640" y="4443840"/>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Vector3dVector(xyz)</a:t>
              </a:r>
            </a:p>
          </p:txBody>
        </p:sp>
        <p:sp>
          <p:nvSpPr>
            <p:cNvPr id="44" name="Handoffs_pill_2"/>
            <p:cNvSpPr/>
            <p:nvPr/>
          </p:nvSpPr>
          <p:spPr>
            <a:xfrm>
              <a:off x="4343400" y="4471272"/>
              <a:ext cx="1099820" cy="347472"/>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45" name="Handoffs_text_2"/>
            <p:cNvSpPr txBox="1"/>
            <p:nvPr/>
          </p:nvSpPr>
          <p:spPr>
            <a:xfrm>
              <a:off x="5854700" y="4443840"/>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float32: 39× slower</a:t>
              </a:r>
            </a:p>
          </p:txBody>
        </p:sp>
        <p:sp>
          <p:nvSpPr>
            <p:cNvPr id="46" name="Handoffs_code_3"/>
            <p:cNvSpPr/>
            <p:nvPr/>
          </p:nvSpPr>
          <p:spPr>
            <a:xfrm>
              <a:off x="548640" y="4919328"/>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np.asarray(pcd.points)</a:t>
              </a:r>
            </a:p>
          </p:txBody>
        </p:sp>
        <p:sp>
          <p:nvSpPr>
            <p:cNvPr id="47" name="Handoffs_pill_3"/>
            <p:cNvSpPr/>
            <p:nvPr/>
          </p:nvSpPr>
          <p:spPr>
            <a:xfrm>
              <a:off x="4343400" y="4946760"/>
              <a:ext cx="1099820" cy="34747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48" name="Handoffs_text_3"/>
            <p:cNvSpPr txBox="1"/>
            <p:nvPr/>
          </p:nvSpPr>
          <p:spPr>
            <a:xfrm>
              <a:off x="5854700" y="4919328"/>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writes reach the point cloud</a:t>
              </a:r>
            </a:p>
          </p:txBody>
        </p:sp>
        <p:sp>
          <p:nvSpPr>
            <p:cNvPr id="49" name="Handoffs_code_4"/>
            <p:cNvSpPr/>
            <p:nvPr/>
          </p:nvSpPr>
          <p:spPr>
            <a:xfrm>
              <a:off x="548640" y="5394816"/>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pv.PolyData(pts)</a:t>
              </a:r>
            </a:p>
          </p:txBody>
        </p:sp>
        <p:sp>
          <p:nvSpPr>
            <p:cNvPr id="50" name="Handoffs_pill_4"/>
            <p:cNvSpPr/>
            <p:nvPr/>
          </p:nvSpPr>
          <p:spPr>
            <a:xfrm>
              <a:off x="4343400" y="5422248"/>
              <a:ext cx="1099820" cy="34747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51" name="Handoffs_text_4"/>
            <p:cNvSpPr txBox="1"/>
            <p:nvPr/>
          </p:nvSpPr>
          <p:spPr>
            <a:xfrm>
              <a:off x="5854700" y="5394816"/>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same memory as pts</a:t>
              </a:r>
            </a:p>
          </p:txBody>
        </p:sp>
      </p:gr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 laspy hands you NumPy</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7461504" cy="266700"/>
            <a:chOff x="402336" y="2400300"/>
            <a:chExt cx="7461504" cy="266700"/>
          </a:xfrm>
        </p:grpSpPr>
        <p:sp>
          <p:nvSpPr>
            <p:cNvPr id="6" name="Key line bar"/>
            <p:cNvSpPr/>
            <p:nvPr/>
          </p:nvSpPr>
          <p:spPr>
            <a:xfrm>
              <a:off x="402336" y="2400300"/>
              <a:ext cx="746150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7461504" cy="201168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pic>
        <p:nvPicPr>
          <p:cNvPr id="9" name="Render" descr="The crop as a point cloud, coloured by height: the hall roof white, the ground blue."/>
          <p:cNvPicPr>
            <a:picLocks noChangeAspect="1"/>
          </p:cNvPicPr>
          <p:nvPr/>
        </p:nvPicPr>
        <p:blipFill>
          <a:blip r:embed="rId2"/>
          <a:stretch>
            <a:fillRect/>
          </a:stretch>
        </p:blipFill>
        <p:spPr>
          <a:xfrm>
            <a:off x="8264642" y="1554480"/>
            <a:ext cx="3378718" cy="3812760"/>
          </a:xfrm>
          <a:prstGeom prst="rect">
            <a:avLst/>
          </a:prstGeom>
        </p:spPr>
      </p:pic>
      <p:pic>
        <p:nvPicPr>
          <p:cNvPr id="10" name="Before and after" descr="The crop's points 135914.6 m from the origin, then after subtracting header.mins: near zero. float32 step 1.6 cm becomes 15 µm."/>
          <p:cNvPicPr>
            <a:picLocks noChangeAspect="1"/>
          </p:cNvPicPr>
          <p:nvPr/>
        </p:nvPicPr>
        <p:blipFill>
          <a:blip r:embed="rId3"/>
          <a:stretch>
            <a:fillRect/>
          </a:stretch>
        </p:blipFill>
        <p:spPr>
          <a:xfrm>
            <a:off x="548640" y="3675888"/>
            <a:ext cx="7487402" cy="1668879"/>
          </a:xfrm>
          <a:prstGeom prst="rect">
            <a:avLst/>
          </a:prstGeom>
        </p:spPr>
      </p:pic>
      <p:sp>
        <p:nvSpPr>
          <p:cNvPr id="11" name="Takeaway bar"/>
          <p:cNvSpPr/>
          <p:nvPr/>
        </p:nvSpPr>
        <p:spPr>
          <a:xfrm>
            <a:off x="548640" y="5458680"/>
            <a:ext cx="64008" cy="5029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731520" y="5458680"/>
            <a:ext cx="10911840" cy="502920"/>
          </a:xfrm>
          <a:prstGeom prst="rect">
            <a:avLst/>
          </a:prstGeom>
          <a:noFill/>
        </p:spPr>
        <p:txBody>
          <a:bodyPr wrap="square" anchor="b" lIns="0" tIns="0" rIns="0" bIns="0">
            <a:noAutofit/>
          </a:bodyPr>
          <a:lstStyle/>
          <a:p>
            <a:pPr marL="0" indent="0" algn="l">
              <a:spcBef>
                <a:spcPts val="0"/>
              </a:spcBef>
              <a:spcAft>
                <a:spcPts val="0"/>
              </a:spcAft>
              <a:buNone/>
            </a:pPr>
            <a:r>
              <a:rPr sz="3000" b="1" lang="en-GB">
                <a:solidFill>
                  <a:srgbClr val="1C325B"/>
                </a:solidFill>
                <a:latin typeface="+mn-lt"/>
              </a:rPr>
              <a:t>Subtract a local origin before anything else.</a:t>
            </a:r>
            <a:endParaRPr lang="en-GB" sz="3000"/>
          </a:p>
        </p:txBody>
      </p:sp>
      <p:sp>
        <p:nvSpPr>
          <p:cNvPr id="13"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 one average per voxel</a:t>
            </a:r>
          </a:p>
        </p:txBody>
      </p:sp>
      <p:pic>
        <p:nvPicPr>
          <p:cNvPr id="6" name="!!render" descr="Same view as slide 12 after voxel downsampling: fewer points, same size, same area."/>
          <p:cNvPicPr>
            <a:picLocks noChangeAspect="1"/>
          </p:cNvPicPr>
          <p:nvPr/>
        </p:nvPicPr>
        <p:blipFill>
          <a:blip r:embed="rId2"/>
          <a:stretch>
            <a:fillRect/>
          </a:stretch>
        </p:blipFill>
        <p:spPr>
          <a:xfrm>
            <a:off x="8405095" y="1554480"/>
            <a:ext cx="3238265" cy="3654264"/>
          </a:xfrm>
          <a:prstGeom prst="rect">
            <a:avLst/>
          </a:prstGeom>
        </p:spPr>
      </p:pic>
      <p:grpSp>
        <p:nvGrpSpPr>
          <p:cNvPr id="3" name="!!hl">
            <a:extLst>
              <a:ext uri="{C183D7F6-B498-43B3-948B-1728B52AA6E4}">
                <adec:decorative xmlns:adec="http://schemas.microsoft.com/office/drawing/2017/decorative" val="1"/>
              </a:ext>
            </a:extLst>
          </p:cNvPr>
          <p:cNvGrpSpPr/>
          <p:nvPr/>
        </p:nvGrpSpPr>
        <p:grpSpPr>
          <a:xfrm>
            <a:off x="402336" y="1600200"/>
            <a:ext cx="7728439" cy="266700"/>
            <a:chOff x="402336" y="1600200"/>
            <a:chExt cx="7728439" cy="266700"/>
          </a:xfrm>
        </p:grpSpPr>
        <p:sp>
          <p:nvSpPr>
            <p:cNvPr id="7" name="Key line bar"/>
            <p:cNvSpPr/>
            <p:nvPr/>
          </p:nvSpPr>
          <p:spPr>
            <a:xfrm>
              <a:off x="402336" y="1600200"/>
              <a:ext cx="7728439"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16002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554480"/>
            <a:ext cx="7728439" cy="10515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pic>
        <p:nvPicPr>
          <p:cNvPr id="10" name="Voxel before and after" descr="Left, a 3 by 1.5 metre patch of the crop from above, one layer of voxels, with the 0.5 metre cells drawn: 95 points. Right of it, the same patch: the 95 points faded, and one larger average point in each of the 18 cells."/>
          <p:cNvPicPr>
            <a:picLocks noChangeAspect="1"/>
          </p:cNvPicPr>
          <p:nvPr/>
        </p:nvPicPr>
        <p:blipFill>
          <a:blip r:embed="rId3"/>
          <a:stretch>
            <a:fillRect/>
          </a:stretch>
        </p:blipFill>
        <p:spPr>
          <a:xfrm>
            <a:off x="548640" y="2743200"/>
            <a:ext cx="6716482" cy="2465544"/>
          </a:xfrm>
          <a:prstGeom prst="rect">
            <a:avLst/>
          </a:prstGeom>
        </p:spPr>
      </p:pic>
      <p:sp>
        <p:nvSpPr>
          <p:cNvPr id="11" name="Takeaway bar"/>
          <p:cNvSpPr/>
          <p:nvPr/>
        </p:nvSpPr>
        <p:spPr>
          <a:xfrm>
            <a:off x="548640" y="5345904"/>
            <a:ext cx="64008" cy="5791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upport"/>
          <p:cNvSpPr txBox="1"/>
          <p:nvPr/>
        </p:nvSpPr>
        <p:spPr>
          <a:xfrm>
            <a:off x="731520" y="5345904"/>
            <a:ext cx="10911840" cy="579120"/>
          </a:xfrm>
          <a:prstGeom prst="rect">
            <a:avLst/>
          </a:prstGeom>
          <a:noFill/>
        </p:spPr>
        <p:txBody>
          <a:bodyPr wrap="square" anchor="ctr" lIns="0" tIns="0" rIns="0" bIns="0">
            <a:noAutofit/>
          </a:bodyPr>
          <a:lstStyle/>
          <a:p>
            <a:pPr marL="0" indent="0" algn="l">
              <a:spcBef>
                <a:spcPts val="0"/>
              </a:spcBef>
              <a:spcAft>
                <a:spcPts val="0"/>
              </a:spcAft>
              <a:buNone/>
            </a:pPr>
            <a:r>
              <a:rPr sz="3200" b="1" lang="en-GB">
                <a:solidFill>
                  <a:srgbClr val="1C325B"/>
                </a:solidFill>
                <a:latin typeface="+mn-lt"/>
              </a:rPr>
              <a:t>722 961 points in → 232 180 out at 0.5 m voxels.</a:t>
            </a:r>
            <a:endParaRPr lang="en-GB" sz="3200"/>
          </a:p>
        </p:txBody>
      </p:sp>
      <p:sp>
        <p:nvSpPr>
          <p:cNvPr id="13" name="!!src"/>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 one plane per tile</a:t>
            </a:r>
          </a:p>
        </p:txBody>
      </p:sp>
      <p:grpSp>
        <p:nvGrpSpPr>
          <p:cNvPr id="3" name="Code key line">
            <a:extLst>
              <a:ext uri="{C183D7F6-B498-43B3-948B-1728B52AA6E4}">
                <adec:decorative xmlns:adec="http://schemas.microsoft.com/office/drawing/2017/decorative" val="1"/>
              </a:ext>
            </a:extLst>
          </p:cNvPr>
          <p:cNvGrpSpPr/>
          <p:nvPr/>
        </p:nvGrpSpPr>
        <p:grpSpPr>
          <a:xfrm>
            <a:off x="402336" y="1866900"/>
            <a:ext cx="6181344" cy="266700"/>
            <a:chOff x="402336" y="1866900"/>
            <a:chExt cx="6181344" cy="266700"/>
          </a:xfrm>
        </p:grpSpPr>
        <p:sp>
          <p:nvSpPr>
            <p:cNvPr id="6" name="Key line bar"/>
            <p:cNvSpPr/>
            <p:nvPr/>
          </p:nvSpPr>
          <p:spPr>
            <a:xfrm>
              <a:off x="402336" y="18669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18669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93192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fits = []</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plane,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fits += [(i, low, inl, plane)]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Plane too steep or &gt; 2.5 m above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the median? Use nearest good one.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_ = check_planes(P, fits)</a:t>
            </a:r>
            <a:endParaRPr lang="en-GB" sz="1800"/>
          </a:p>
        </p:txBody>
      </p:sp>
      <p:pic>
        <p:nvPicPr>
          <p:cNvPr id="9" name="Render" descr="Same view: ground points in slate grey, labelled Ground, everything else still coloured by height."/>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Side view: ground points along a gently sloping street, a building and a tree above them; a dashed line splits two tiles and each tile has its own straight plane through its ground points."/>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One plane per tile,</a:t>
            </a:r>
            <a:endParaRPr lang="en-GB" sz="2800"/>
          </a:p>
          <a:p>
            <a:pPr marL="0" indent="0" algn="l">
              <a:spcBef>
                <a:spcPts val="0"/>
              </a:spcBef>
              <a:spcAft>
                <a:spcPts val="0"/>
              </a:spcAft>
              <a:buNone/>
            </a:pPr>
            <a:r>
              <a:rPr sz="2800" b="1" lang="en-GB">
                <a:solidFill>
                  <a:srgbClr val="1C325B"/>
                </a:solidFill>
                <a:latin typeface="+mn-lt"/>
              </a:rPr>
              <a:t>checked against its neighbours.</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Vs AHN's ground class:</a:t>
            </a:r>
            <a:endParaRPr lang="en-GB" sz="2000"/>
          </a:p>
          <a:p>
            <a:pPr marL="0" indent="0" algn="l">
              <a:spcBef>
                <a:spcPts val="0"/>
              </a:spcBef>
              <a:spcAft>
                <a:spcPts val="0"/>
              </a:spcAft>
              <a:buNone/>
            </a:pPr>
            <a:r>
              <a:rPr sz="2000" b="0" lang="en-GB">
                <a:solidFill>
                  <a:srgbClr val="263238"/>
                </a:solidFill>
                <a:latin typeface="+mn-lt"/>
              </a:rPr>
              <a:t>98.4 % precision, 94.4 % recall.</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 DBSCAN groups what touches</a:t>
            </a:r>
          </a:p>
        </p:txBody>
      </p:sp>
      <p:grpSp>
        <p:nvGrpSpPr>
          <p:cNvPr id="3" name="Code key line">
            <a:extLst>
              <a:ext uri="{C183D7F6-B498-43B3-948B-1728B52AA6E4}">
                <adec:decorative xmlns:adec="http://schemas.microsoft.com/office/drawing/2017/decorative" val="1"/>
              </a:ext>
            </a:extLst>
          </p:cNvPr>
          <p:cNvGrpSpPr/>
          <p:nvPr/>
        </p:nvGrpSpPr>
        <p:grpSpPr>
          <a:xfrm>
            <a:off x="402336" y="2933700"/>
            <a:ext cx="6181344" cy="266700"/>
            <a:chOff x="402336" y="2933700"/>
            <a:chExt cx="6181344" cy="266700"/>
          </a:xfrm>
        </p:grpSpPr>
        <p:sp>
          <p:nvSpPr>
            <p:cNvPr id="6" name="Key line bar"/>
            <p:cNvSpPr/>
            <p:nvPr/>
          </p:nvSpPr>
          <p:spPr>
            <a:xfrm>
              <a:off x="402336" y="29337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9337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pic>
        <p:nvPicPr>
          <p:cNvPr id="9" name="Render" descr="Same view: ground stays slate grey, labelled Ground; the other points are grouped into clusters, each drawn in one of four cycling colours (blue, sage, grey, light grey), with noise dimmed."/>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wo groups of points, each a cluster because every point has neighbours within eps, drawn as a dashed circle; one lone point far away is nois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Neighbours within eps</a:t>
            </a:r>
            <a:endParaRPr lang="en-GB" sz="2800"/>
          </a:p>
          <a:p>
            <a:pPr marL="0" indent="0" algn="l">
              <a:spcBef>
                <a:spcPts val="0"/>
              </a:spcBef>
              <a:spcAft>
                <a:spcPts val="0"/>
              </a:spcAft>
              <a:buNone/>
            </a:pPr>
            <a:r>
              <a:rPr sz="2800" b="1" lang="en-GB">
                <a:solidFill>
                  <a:srgbClr val="1C325B"/>
                </a:solidFill>
                <a:latin typeface="+mn-lt"/>
              </a:rPr>
              <a:t>make a cluster.</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1 026 clusters. Clusters are not labels yet.</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 rules name the clusters</a:t>
            </a:r>
          </a:p>
        </p:txBody>
      </p:sp>
      <p:grpSp>
        <p:nvGrpSpPr>
          <p:cNvPr id="3" name="Code key line">
            <a:extLst>
              <a:ext uri="{C183D7F6-B498-43B3-948B-1728B52AA6E4}">
                <adec:decorative xmlns:adec="http://schemas.microsoft.com/office/drawing/2017/decorative" val="1"/>
              </a:ext>
            </a:extLst>
          </p:cNvPr>
          <p:cNvGrpSpPr/>
          <p:nvPr/>
        </p:nvGrpSpPr>
        <p:grpSpPr>
          <a:xfrm>
            <a:off x="402336" y="1866900"/>
            <a:ext cx="6181344" cy="266700"/>
            <a:chOff x="402336" y="1866900"/>
            <a:chExt cx="6181344" cy="266700"/>
          </a:xfrm>
        </p:grpSpPr>
        <p:sp>
          <p:nvSpPr>
            <p:cNvPr id="6" name="Key line bar"/>
            <p:cNvSpPr/>
            <p:nvPr/>
          </p:nvSpPr>
          <p:spPr>
            <a:xfrm>
              <a:off x="402336" y="18669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18669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pic>
        <p:nvPicPr>
          <p:cNvPr id="9" name="Render" descr="Same view with four classes, each labelled directly: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cluster shapes, a tree crown with many echoes, a wide flat building and a thin pole, each with an arrow to its class colour: vegetation, buildings, street furnitur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The first rule that fires</a:t>
            </a:r>
            <a:endParaRPr lang="en-GB" sz="2800"/>
          </a:p>
          <a:p>
            <a:pPr marL="0" indent="0" algn="l">
              <a:spcBef>
                <a:spcPts val="0"/>
              </a:spcBef>
              <a:spcAft>
                <a:spcPts val="0"/>
              </a:spcAft>
              <a:buNone/>
            </a:pPr>
            <a:r>
              <a:rPr sz="2800" b="1" lang="en-GB">
                <a:solidFill>
                  <a:srgbClr val="1C325B"/>
                </a:solidFill>
                <a:latin typeface="+mn-lt"/>
              </a:rPr>
              <a:t>names the cluster.</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 PyVista paints every point</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6181344" cy="266700"/>
            <a:chOff x="402336" y="2400300"/>
            <a:chExt cx="6181344" cy="266700"/>
          </a:xfrm>
        </p:grpSpPr>
        <p:sp>
          <p:nvSpPr>
            <p:cNvPr id="6" name="Key line bar"/>
            <p:cNvSpPr/>
            <p:nvPr/>
          </p:nvSpPr>
          <p:spPr>
            <a:xfrm>
              <a:off x="402336" y="24003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pic>
        <p:nvPicPr>
          <p:cNvPr id="9" name="Render" descr="Same view: the four class labels painted back from the 232 180 voxel points onto all 722 961 original points;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large voxel points in their class colours with many small original points around them; each small point takes the colour of its nearest voxel point."/>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Paint the labels back</a:t>
            </a:r>
            <a:endParaRPr lang="en-GB" sz="2800"/>
          </a:p>
          <a:p>
            <a:pPr marL="0" indent="0" algn="l">
              <a:spcBef>
                <a:spcPts val="0"/>
              </a:spcBef>
              <a:spcAft>
                <a:spcPts val="0"/>
              </a:spcAft>
              <a:buNone/>
            </a:pPr>
            <a:r>
              <a:rPr sz="2800" b="1" lang="en-GB">
                <a:solidFill>
                  <a:srgbClr val="1C325B"/>
                </a:solidFill>
                <a:latin typeface="+mn-lt"/>
              </a:rPr>
              <a:t>onto every point.</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sp>
        <p:nvSpPr>
          <p:cNvPr id="6" name="Caption 1"/>
          <p:cNvSpPr txBox="1"/>
          <p:nvPr/>
        </p:nvSpPr>
        <p:spPr>
          <a:xfrm>
            <a:off x="548640" y="1554480"/>
            <a:ext cx="3897450" cy="359664"/>
          </a:xfrm>
          <a:prstGeom prst="rect">
            <a:avLst/>
          </a:prstGeom>
          <a:noFill/>
        </p:spPr>
        <p:txBody>
          <a:bodyPr wrap="none" anchor="b" lIns="0" tIns="0" rIns="0" bIns="0">
            <a:noAutofit/>
          </a:bodyPr>
          <a:lstStyle/>
          <a:p>
            <a:pPr marL="0" indent="0" algn="l">
              <a:spcBef>
                <a:spcPts val="0"/>
              </a:spcBef>
              <a:spcAft>
                <a:spcPts val="0"/>
              </a:spcAft>
              <a:buNone/>
            </a:pPr>
            <a:r>
              <a:rPr sz="2000" b="1" lang="en-GB">
                <a:solidFill>
                  <a:srgbClr val="1C325B"/>
                </a:solidFill>
                <a:latin typeface="+mn-lt"/>
              </a:rPr>
              <a:t>Original scan</a:t>
            </a:r>
            <a:endParaRPr lang="en-GB" sz="2000"/>
          </a:p>
        </p:txBody>
      </p:sp>
      <p:pic>
        <p:nvPicPr>
          <p:cNvPr id="7" name="Render raw" descr="Same camera and scale: original scan on the left, measured pipeline labels on the right, including unlabelled points. Runtime is indicative; ground agreement is scored after paint-back."/>
          <p:cNvPicPr>
            <a:picLocks noChangeAspect="1"/>
          </p:cNvPicPr>
          <p:nvPr/>
        </p:nvPicPr>
        <p:blipFill>
          <a:blip r:embed="rId2"/>
          <a:stretch>
            <a:fillRect/>
          </a:stretch>
        </p:blipFill>
        <p:spPr>
          <a:xfrm>
            <a:off x="548640" y="1969008"/>
            <a:ext cx="3303090" cy="3727416"/>
          </a:xfrm>
          <a:prstGeom prst="rect">
            <a:avLst/>
          </a:prstGeom>
        </p:spPr>
      </p:pic>
      <p:sp>
        <p:nvSpPr>
          <p:cNvPr id="8" name="Caption 2"/>
          <p:cNvSpPr txBox="1"/>
          <p:nvPr/>
        </p:nvSpPr>
        <p:spPr>
          <a:xfrm>
            <a:off x="4537530" y="1554480"/>
            <a:ext cx="3303090" cy="359664"/>
          </a:xfrm>
          <a:prstGeom prst="rect">
            <a:avLst/>
          </a:prstGeom>
          <a:noFill/>
        </p:spPr>
        <p:txBody>
          <a:bodyPr wrap="none" anchor="b" lIns="0" tIns="0" rIns="0" bIns="0">
            <a:noAutofit/>
          </a:bodyPr>
          <a:lstStyle/>
          <a:p>
            <a:pPr marL="0" indent="0" algn="l">
              <a:spcBef>
                <a:spcPts val="0"/>
              </a:spcBef>
              <a:spcAft>
                <a:spcPts val="0"/>
              </a:spcAft>
              <a:buNone/>
            </a:pPr>
            <a:r>
              <a:rPr sz="2000" b="1" lang="en-GB">
                <a:solidFill>
                  <a:srgbClr val="1C325B"/>
                </a:solidFill>
                <a:latin typeface="+mn-lt"/>
              </a:rPr>
              <a:t>Pipeline labels</a:t>
            </a:r>
            <a:endParaRPr lang="en-GB" sz="2000"/>
          </a:p>
        </p:txBody>
      </p:sp>
      <p:pic>
        <p:nvPicPr>
          <p:cNvPr id="9" name="Render labels" descr="Same camera and scale: original scan on the left, measured pipeline labels on the right, including unlabelled points. Runtime is indicative; ground agreement is scored after paint-back."/>
          <p:cNvPicPr>
            <a:picLocks noChangeAspect="1"/>
          </p:cNvPicPr>
          <p:nvPr/>
        </p:nvPicPr>
        <p:blipFill>
          <a:blip r:embed="rId3"/>
          <a:stretch>
            <a:fillRect/>
          </a:stretch>
        </p:blipFill>
        <p:spPr>
          <a:xfrm>
            <a:off x="4537530" y="1969008"/>
            <a:ext cx="3303090" cy="3727416"/>
          </a:xfrm>
          <a:prstGeom prst="rect">
            <a:avLst/>
          </a:prstGeom>
        </p:spPr>
      </p:pic>
      <p:sp>
        <p:nvSpPr>
          <p:cNvPr id="10" name="Arrow raw to labels">
            <a:extLst>
              <a:ext uri="{C183D7F6-B498-43B3-948B-1728B52AA6E4}">
                <adec:decorative xmlns:adec="http://schemas.microsoft.com/office/drawing/2017/decorative" val="1"/>
              </a:ext>
            </a:extLst>
          </p:cNvPr>
          <p:cNvSpPr/>
          <p:nvPr/>
        </p:nvSpPr>
        <p:spPr>
          <a:xfrm>
            <a:off x="3938598" y="3631548"/>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watch"/>
          <p:cNvSpPr/>
          <p:nvPr/>
        </p:nvSpPr>
        <p:spPr>
          <a:xfrm>
            <a:off x="8260080" y="2033016"/>
            <a:ext cx="274320" cy="274320"/>
          </a:xfrm>
          <a:prstGeom prst="rect">
            <a:avLst/>
          </a:prstGeom>
          <a:solidFill>
            <a:srgbClr val="4A5F69"/>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Ground"/>
          <p:cNvSpPr txBox="1"/>
          <p:nvPr/>
        </p:nvSpPr>
        <p:spPr>
          <a:xfrm>
            <a:off x="8671560" y="1969008"/>
            <a:ext cx="2971800" cy="40233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Ground</a:t>
            </a:r>
            <a:endParaRPr lang="en-GB" sz="2000"/>
          </a:p>
        </p:txBody>
      </p:sp>
      <p:sp>
        <p:nvSpPr>
          <p:cNvPr id="13" name="Swatch"/>
          <p:cNvSpPr/>
          <p:nvPr/>
        </p:nvSpPr>
        <p:spPr>
          <a:xfrm>
            <a:off x="8260080" y="2471928"/>
            <a:ext cx="274320" cy="274320"/>
          </a:xfrm>
          <a:prstGeom prst="rect">
            <a:avLst/>
          </a:prstGeom>
          <a:solidFill>
            <a:srgbClr val="6FA0CC"/>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Buildings"/>
          <p:cNvSpPr txBox="1"/>
          <p:nvPr/>
        </p:nvSpPr>
        <p:spPr>
          <a:xfrm>
            <a:off x="8671560" y="2407920"/>
            <a:ext cx="2971800" cy="40233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Buildings</a:t>
            </a:r>
            <a:endParaRPr lang="en-GB" sz="2000"/>
          </a:p>
        </p:txBody>
      </p:sp>
      <p:sp>
        <p:nvSpPr>
          <p:cNvPr id="15" name="Swatch"/>
          <p:cNvSpPr/>
          <p:nvPr/>
        </p:nvSpPr>
        <p:spPr>
          <a:xfrm>
            <a:off x="8260080" y="2910840"/>
            <a:ext cx="274320" cy="274320"/>
          </a:xfrm>
          <a:prstGeom prst="rect">
            <a:avLst/>
          </a:prstGeom>
          <a:solidFill>
            <a:srgbClr val="B1CAC5"/>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Vegetation"/>
          <p:cNvSpPr txBox="1"/>
          <p:nvPr/>
        </p:nvSpPr>
        <p:spPr>
          <a:xfrm>
            <a:off x="8671560" y="2846832"/>
            <a:ext cx="2971800" cy="40233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Vegetation</a:t>
            </a:r>
            <a:endParaRPr lang="en-GB" sz="2000"/>
          </a:p>
        </p:txBody>
      </p:sp>
      <p:sp>
        <p:nvSpPr>
          <p:cNvPr id="17" name="Swatch"/>
          <p:cNvSpPr/>
          <p:nvPr/>
        </p:nvSpPr>
        <p:spPr>
          <a:xfrm>
            <a:off x="8260080" y="3349752"/>
            <a:ext cx="274320" cy="274320"/>
          </a:xfrm>
          <a:prstGeom prst="rect">
            <a:avLst/>
          </a:prstGeom>
          <a:solidFill>
            <a:srgbClr val="FFFFFF"/>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egend Street furniture"/>
          <p:cNvSpPr txBox="1"/>
          <p:nvPr/>
        </p:nvSpPr>
        <p:spPr>
          <a:xfrm>
            <a:off x="8671560" y="3285744"/>
            <a:ext cx="2971800" cy="40233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Street furniture</a:t>
            </a:r>
            <a:endParaRPr lang="en-GB" sz="2000"/>
          </a:p>
        </p:txBody>
      </p:sp>
      <p:sp>
        <p:nvSpPr>
          <p:cNvPr id="19" name="Swatch"/>
          <p:cNvSpPr/>
          <p:nvPr/>
        </p:nvSpPr>
        <p:spPr>
          <a:xfrm>
            <a:off x="8260080" y="3788664"/>
            <a:ext cx="274320" cy="274320"/>
          </a:xfrm>
          <a:prstGeom prst="rect">
            <a:avLst/>
          </a:prstGeom>
          <a:solidFill>
            <a:srgbClr val="34486B"/>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egend Unlabelled"/>
          <p:cNvSpPr txBox="1"/>
          <p:nvPr/>
        </p:nvSpPr>
        <p:spPr>
          <a:xfrm>
            <a:off x="8671560" y="3724656"/>
            <a:ext cx="2971800" cy="40233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Unlabelled</a:t>
            </a:r>
            <a:endParaRPr lang="en-GB" sz="2000"/>
          </a:p>
        </p:txBody>
      </p:sp>
      <p:sp>
        <p:nvSpPr>
          <p:cNvPr id="21" name="Support"/>
          <p:cNvSpPr txBox="1"/>
          <p:nvPr/>
        </p:nvSpPr>
        <p:spPr>
          <a:xfrm>
            <a:off x="8260080" y="4346448"/>
            <a:ext cx="3383280" cy="12192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 1.0 s, one run.</a:t>
            </a:r>
            <a:endParaRPr lang="en-GB" sz="2000"/>
          </a:p>
          <a:p>
            <a:pPr marL="0" indent="0" algn="l">
              <a:spcBef>
                <a:spcPts val="0"/>
              </a:spcBef>
              <a:spcAft>
                <a:spcPts val="0"/>
              </a:spcAft>
              <a:buNone/>
            </a:pPr>
            <a:r>
              <a:rPr sz="2000" b="0" lang="en-GB">
                <a:solidFill>
                  <a:srgbClr val="263238"/>
                </a:solidFill>
                <a:latin typeface="+mn-lt"/>
              </a:rPr>
              <a:t>Ground vs AHN: 98.4 % precision, 94.4 % recall.</a:t>
            </a:r>
            <a:endParaRPr lang="en-GB" sz="2000"/>
          </a:p>
        </p:txBody>
      </p:sp>
      <p:sp>
        <p:nvSpPr>
          <p:cNvPr id="22"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48321" b="16321"/>
          <a:stretch>
            <a:fillRect/>
          </a:stretch>
        </p:blipFill>
        <p:spPr>
          <a:xfrm>
            <a:off x="6029478" y="3770376"/>
            <a:ext cx="2742933" cy="1173192"/>
          </a:xfrm>
          <a:prstGeom prst="rect">
            <a:avLst/>
          </a:prstGeom>
        </p:spPr>
      </p:pic>
      <p:pic>
        <p:nvPicPr>
          <p:cNvPr id="146" name="Photo 2" descr="Photo of Jaarbeursplein at night: tall leaning lamp posts on both sides of the red paved square, lit street lamps behind."/>
          <p:cNvPicPr>
            <a:picLocks noChangeAspect="1"/>
          </p:cNvPicPr>
          <p:nvPr/>
        </p:nvPicPr>
        <p:blipFill>
          <a:blip r:embed="rId4"/>
          <a:srcRect l="38000" t="30080" b="30080"/>
          <a:stretch>
            <a:fillRect/>
          </a:stretch>
        </p:blipFill>
        <p:spPr>
          <a:xfrm>
            <a:off x="8900427" y="3770376"/>
            <a:ext cx="2742933" cy="117319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508987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57755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Photos: Wikimedia Commons, CC BY-SA 4.0 and CC BY 3.0.</a:t>
            </a:r>
            <a:endParaRPr lang="en-GB" sz="1200"/>
          </a:p>
        </p:txBody>
      </p:sp>
      <p:sp>
        <p:nvSpPr>
          <p:cNvPr id="147" name="Source"/>
          <p:cNvSpPr txBox="1"/>
          <p:nvPr/>
        </p:nvSpPr>
        <p:spPr>
          <a:xfrm>
            <a:off x="6029478" y="6034752"/>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samples the surface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Here the middle 80 % of cells hold 9 to 22 points per m²; median 18.</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Occlusion, flight-strip overlap, angle and material decide where points land.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Every point carries error: AHN4 specifies at most 5 cm in height; AHN5 publishes no figure yet.</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Density, noise and gaps vary within one file. Measure them before tuning anything.</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9976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484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60288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573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7118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12,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130×</a:t>
            </a:r>
            <a:r>
              <a:rPr sz="2000" lang="en-GB">
                <a:solidFill>
                  <a:srgbClr val="263238"/>
                </a:solidFill>
                <a:latin typeface="+mn-lt"/>
              </a:rPr>
              <a:t> slower</a:t>
            </a:r>
            <a:endParaRPr lang="en-GB" sz="80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Batch calls into compiled code</a:t>
            </a:r>
          </a:p>
        </p:txBody>
      </p:sp>
      <p:sp>
        <p:nvSpPr>
          <p:cNvPr id="6" name="Takeaway"/>
          <p:cNvSpPr txBox="1"/>
          <p:nvPr/>
        </p:nvSpPr>
        <p:spPr>
          <a:xfrm>
            <a:off x="548640" y="5379432"/>
            <a:ext cx="11094720" cy="426720"/>
          </a:xfrm>
          <a:prstGeom prst="rect">
            <a:avLst/>
          </a:prstGeom>
          <a:noFill/>
        </p:spPr>
        <p:txBody>
          <a:bodyPr wrap="square" anchor="t" lIns="0" tIns="0" rIns="0" bIns="0">
            <a:noAutofit/>
          </a:bodyPr>
          <a:lstStyle/>
          <a:p>
            <a:pPr marL="0" indent="0" algn="l">
              <a:spcBef>
                <a:spcPts val="0"/>
              </a:spcBef>
              <a:spcAft>
                <a:spcPts val="0"/>
              </a:spcAft>
              <a:buNone/>
            </a:pPr>
            <a:r>
              <a:rPr sz="2800" b="1" lang="en-GB">
                <a:solidFill>
                  <a:srgbClr val="263238"/>
                </a:solidFill>
                <a:latin typeface="+mn-lt"/>
              </a:rPr>
              <a:t>Prefer one call on the whole array over N calls on single points.</a:t>
            </a:r>
            <a:endParaRPr lang="en-GB" sz="2800"/>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158728" cy="2599656"/>
            <a:chOff x="548640" y="1600200"/>
            <a:chExt cx="11158728" cy="2599656"/>
          </a:xfrm>
        </p:grpSpPr>
        <p:sp>
          <p:nvSpPr>
            <p:cNvPr id="7" name="toll_lane_top"/>
            <p:cNvSpPr txBox="1"/>
            <p:nvPr/>
          </p:nvSpPr>
          <p:spPr>
            <a:xfrm>
              <a:off x="548640" y="2368900"/>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8" name="toll_lane_bottom"/>
            <p:cNvSpPr txBox="1"/>
            <p:nvPr/>
          </p:nvSpPr>
          <p:spPr>
            <a:xfrm>
              <a:off x="548640" y="2963260"/>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9" name="toll_boundary"/>
            <p:cNvCxnSpPr/>
            <p:nvPr/>
          </p:nvCxnSpPr>
          <p:spPr>
            <a:xfrm>
              <a:off x="548640" y="2871820"/>
              <a:ext cx="11094720" cy="0"/>
            </a:xfrm>
            <a:prstGeom prst="line">
              <a:avLst/>
            </a:prstGeom>
            <a:ln w="28575">
              <a:solidFill>
                <a:srgbClr val="2B6797"/>
              </a:solidFill>
              <a:prstDash val="dash"/>
            </a:ln>
          </p:spPr>
          <p:style>
            <a:lnRef idx="2">
              <a:schemeClr val="accent1"/>
            </a:lnRef>
            <a:fillRef idx="0">
              <a:schemeClr val="accent1"/>
            </a:fillRef>
            <a:effectRef idx="1">
              <a:schemeClr val="accent1"/>
            </a:effectRef>
            <a:fontRef idx="minor">
              <a:schemeClr val="tx1"/>
            </a:fontRef>
          </p:style>
        </p:cxnSp>
        <p:sp>
          <p:nvSpPr>
            <p:cNvPr id="10" name="toll_loop_code"/>
            <p:cNvSpPr/>
            <p:nvPr/>
          </p:nvSpPr>
          <p:spPr>
            <a:xfrm>
              <a:off x="2468880" y="1600200"/>
              <a:ext cx="3291840"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1" name="loop_down_1"/>
            <p:cNvCxnSpPr/>
            <p:nvPr/>
          </p:nvCxnSpPr>
          <p:spPr>
            <a:xfrm>
              <a:off x="265176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loop_work_1"/>
            <p:cNvSpPr/>
            <p:nvPr/>
          </p:nvSpPr>
          <p:spPr>
            <a:xfrm>
              <a:off x="261518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loop_up_1"/>
            <p:cNvCxnSpPr/>
            <p:nvPr/>
          </p:nvCxnSpPr>
          <p:spPr>
            <a:xfrm flipV="1">
              <a:off x="2798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loop_toll_1"/>
            <p:cNvSpPr/>
            <p:nvPr/>
          </p:nvSpPr>
          <p:spPr>
            <a:xfrm>
              <a:off x="250545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loop_down_2"/>
            <p:cNvCxnSpPr/>
            <p:nvPr/>
          </p:nvCxnSpPr>
          <p:spPr>
            <a:xfrm>
              <a:off x="299923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loop_work_2"/>
            <p:cNvSpPr/>
            <p:nvPr/>
          </p:nvSpPr>
          <p:spPr>
            <a:xfrm>
              <a:off x="296265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loop_up_2"/>
            <p:cNvCxnSpPr/>
            <p:nvPr/>
          </p:nvCxnSpPr>
          <p:spPr>
            <a:xfrm flipV="1">
              <a:off x="3145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loop_toll_2"/>
            <p:cNvSpPr/>
            <p:nvPr/>
          </p:nvSpPr>
          <p:spPr>
            <a:xfrm>
              <a:off x="285292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loop_down_3"/>
            <p:cNvCxnSpPr/>
            <p:nvPr/>
          </p:nvCxnSpPr>
          <p:spPr>
            <a:xfrm>
              <a:off x="334670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loop_work_3"/>
            <p:cNvSpPr/>
            <p:nvPr/>
          </p:nvSpPr>
          <p:spPr>
            <a:xfrm>
              <a:off x="331012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loop_up_3"/>
            <p:cNvCxnSpPr/>
            <p:nvPr/>
          </p:nvCxnSpPr>
          <p:spPr>
            <a:xfrm flipV="1">
              <a:off x="349300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loop_toll_3"/>
            <p:cNvSpPr/>
            <p:nvPr/>
          </p:nvSpPr>
          <p:spPr>
            <a:xfrm>
              <a:off x="320040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loop_down_4"/>
            <p:cNvCxnSpPr/>
            <p:nvPr/>
          </p:nvCxnSpPr>
          <p:spPr>
            <a:xfrm>
              <a:off x="369417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loop_work_4"/>
            <p:cNvSpPr/>
            <p:nvPr/>
          </p:nvSpPr>
          <p:spPr>
            <a:xfrm>
              <a:off x="365760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loop_up_4"/>
            <p:cNvCxnSpPr/>
            <p:nvPr/>
          </p:nvCxnSpPr>
          <p:spPr>
            <a:xfrm flipV="1">
              <a:off x="384048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loop_toll_4"/>
            <p:cNvSpPr/>
            <p:nvPr/>
          </p:nvSpPr>
          <p:spPr>
            <a:xfrm>
              <a:off x="354787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loop_down_5"/>
            <p:cNvCxnSpPr/>
            <p:nvPr/>
          </p:nvCxnSpPr>
          <p:spPr>
            <a:xfrm>
              <a:off x="404164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loop_work_5"/>
            <p:cNvSpPr/>
            <p:nvPr/>
          </p:nvSpPr>
          <p:spPr>
            <a:xfrm>
              <a:off x="4005072"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loop_up_5"/>
            <p:cNvCxnSpPr/>
            <p:nvPr/>
          </p:nvCxnSpPr>
          <p:spPr>
            <a:xfrm flipV="1">
              <a:off x="418795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loop_toll_5"/>
            <p:cNvSpPr/>
            <p:nvPr/>
          </p:nvSpPr>
          <p:spPr>
            <a:xfrm>
              <a:off x="3895344"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loop_down_6"/>
            <p:cNvCxnSpPr/>
            <p:nvPr/>
          </p:nvCxnSpPr>
          <p:spPr>
            <a:xfrm>
              <a:off x="438912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loop_work_6"/>
            <p:cNvSpPr/>
            <p:nvPr/>
          </p:nvSpPr>
          <p:spPr>
            <a:xfrm>
              <a:off x="435254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loop_up_6"/>
            <p:cNvCxnSpPr/>
            <p:nvPr/>
          </p:nvCxnSpPr>
          <p:spPr>
            <a:xfrm flipV="1">
              <a:off x="453542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loop_toll_6"/>
            <p:cNvSpPr/>
            <p:nvPr/>
          </p:nvSpPr>
          <p:spPr>
            <a:xfrm>
              <a:off x="424281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loop_down_7"/>
            <p:cNvCxnSpPr/>
            <p:nvPr/>
          </p:nvCxnSpPr>
          <p:spPr>
            <a:xfrm>
              <a:off x="473659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loop_work_7"/>
            <p:cNvSpPr/>
            <p:nvPr/>
          </p:nvSpPr>
          <p:spPr>
            <a:xfrm>
              <a:off x="470001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loop_up_7"/>
            <p:cNvCxnSpPr/>
            <p:nvPr/>
          </p:nvCxnSpPr>
          <p:spPr>
            <a:xfrm flipV="1">
              <a:off x="488289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loop_toll_7"/>
            <p:cNvSpPr/>
            <p:nvPr/>
          </p:nvSpPr>
          <p:spPr>
            <a:xfrm>
              <a:off x="459028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loop_down_8"/>
            <p:cNvCxnSpPr/>
            <p:nvPr/>
          </p:nvCxnSpPr>
          <p:spPr>
            <a:xfrm>
              <a:off x="5084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loop_work_8"/>
            <p:cNvSpPr/>
            <p:nvPr/>
          </p:nvSpPr>
          <p:spPr>
            <a:xfrm>
              <a:off x="504748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loop_up_8"/>
            <p:cNvCxnSpPr/>
            <p:nvPr/>
          </p:nvCxnSpPr>
          <p:spPr>
            <a:xfrm flipV="1">
              <a:off x="523036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loop_toll_8"/>
            <p:cNvSpPr/>
            <p:nvPr/>
          </p:nvSpPr>
          <p:spPr>
            <a:xfrm>
              <a:off x="493776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loop_down_9"/>
            <p:cNvCxnSpPr/>
            <p:nvPr/>
          </p:nvCxnSpPr>
          <p:spPr>
            <a:xfrm>
              <a:off x="5431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loop_work_9"/>
            <p:cNvSpPr/>
            <p:nvPr/>
          </p:nvSpPr>
          <p:spPr>
            <a:xfrm>
              <a:off x="539496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loop_up_9"/>
            <p:cNvCxnSpPr/>
            <p:nvPr/>
          </p:nvCxnSpPr>
          <p:spPr>
            <a:xfrm flipV="1">
              <a:off x="557784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loop_toll_9"/>
            <p:cNvSpPr/>
            <p:nvPr/>
          </p:nvSpPr>
          <p:spPr>
            <a:xfrm>
              <a:off x="528523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oll_times"/>
            <p:cNvSpPr txBox="1"/>
            <p:nvPr/>
          </p:nvSpPr>
          <p:spPr>
            <a:xfrm>
              <a:off x="5742432" y="3477480"/>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48"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49" name="call_down_1"/>
            <p:cNvCxnSpPr/>
            <p:nvPr/>
          </p:nvCxnSpPr>
          <p:spPr>
            <a:xfrm>
              <a:off x="73883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call_work_1"/>
            <p:cNvSpPr/>
            <p:nvPr/>
          </p:nvSpPr>
          <p:spPr>
            <a:xfrm>
              <a:off x="7333488" y="3523200"/>
              <a:ext cx="4264152" cy="292608"/>
            </a:xfrm>
            <a:prstGeom prst="roundRect">
              <a:avLst>
                <a:gd name="adj" fmla="val 25000"/>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all_up_1"/>
            <p:cNvCxnSpPr/>
            <p:nvPr/>
          </p:nvCxnSpPr>
          <p:spPr>
            <a:xfrm flipV="1">
              <a:off x="78455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call_toll_1"/>
            <p:cNvSpPr/>
            <p:nvPr/>
          </p:nvSpPr>
          <p:spPr>
            <a:xfrm>
              <a:off x="724204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oll_caption_loop"/>
            <p:cNvSpPr txBox="1"/>
            <p:nvPr/>
          </p:nvSpPr>
          <p:spPr>
            <a:xfrm>
              <a:off x="2468880" y="3870672"/>
              <a:ext cx="4462272" cy="329184"/>
            </a:xfrm>
            <a:prstGeom prst="rect">
              <a:avLst/>
            </a:prstGeom>
            <a:noFill/>
          </p:spPr>
          <p:txBody>
            <a:bodyPr wrap="square" anchor="t" lIns="0" tIns="0" rIns="0" bIns="0">
              <a:noAutofit/>
            </a:bodyPr>
            <a:lstStyle/>
            <a:p>
              <a:pPr algn="l"/>
              <a:r>
                <a:rPr sz="1800" b="0" i="0" lang="en-GB">
                  <a:solidFill>
                    <a:srgbClr val="263238"/>
                  </a:solidFill>
                  <a:latin typeface="Fira Sans"/>
                </a:rPr>
                <a:t>N trips: 317 ms</a:t>
              </a:r>
            </a:p>
          </p:txBody>
        </p:sp>
        <p:sp>
          <p:nvSpPr>
            <p:cNvPr id="54" name="toll_caption_call"/>
            <p:cNvSpPr txBox="1"/>
            <p:nvPr/>
          </p:nvSpPr>
          <p:spPr>
            <a:xfrm>
              <a:off x="7205472" y="3870672"/>
              <a:ext cx="4437888" cy="329184"/>
            </a:xfrm>
            <a:prstGeom prst="rect">
              <a:avLst/>
            </a:prstGeom>
            <a:noFill/>
          </p:spPr>
          <p:txBody>
            <a:bodyPr wrap="square" anchor="t" lIns="0" tIns="0" rIns="0" bIns="0">
              <a:noAutofit/>
            </a:bodyPr>
            <a:lstStyle/>
            <a:p>
              <a:pPr algn="l"/>
              <a:r>
                <a:rPr sz="1800" b="0" i="0" lang="en-GB">
                  <a:solidFill>
                    <a:srgbClr val="263238"/>
                  </a:solidFill>
                  <a:latin typeface="Fira Sans"/>
                </a:rPr>
                <a:t>Array operations: 2.4 ms</a:t>
              </a:r>
            </a:p>
          </p:txBody>
        </p:sp>
        <p:sp>
          <p:nvSpPr>
            <p:cNvPr id="55" name="legend_toll_swatch"/>
            <p:cNvSpPr/>
            <p:nvPr/>
          </p:nvSpPr>
          <p:spPr>
            <a:xfrm>
              <a:off x="8877757" y="167335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legend_toll"/>
            <p:cNvSpPr txBox="1"/>
            <p:nvPr/>
          </p:nvSpPr>
          <p:spPr>
            <a:xfrm>
              <a:off x="9261805" y="1600200"/>
              <a:ext cx="1773022" cy="274320"/>
            </a:xfrm>
            <a:prstGeom prst="rect">
              <a:avLst/>
            </a:prstGeom>
            <a:noFill/>
          </p:spPr>
          <p:txBody>
            <a:bodyPr wrap="none" anchor="ctr" lIns="0" tIns="0" rIns="0" bIns="0">
              <a:noAutofit/>
            </a:bodyPr>
            <a:lstStyle/>
            <a:p>
              <a:pPr algn="l"/>
              <a:r>
                <a:rPr sz="1800" b="0" i="0" lang="en-GB">
                  <a:solidFill>
                    <a:srgbClr val="263238"/>
                  </a:solidFill>
                  <a:latin typeface="Fira Sans"/>
                </a:rPr>
                <a:t>toll per crossing</a:t>
              </a:r>
            </a:p>
          </p:txBody>
        </p:sp>
        <p:sp>
          <p:nvSpPr>
            <p:cNvPr id="57" name="legend_work_swatch"/>
            <p:cNvSpPr/>
            <p:nvPr/>
          </p:nvSpPr>
          <p:spPr>
            <a:xfrm>
              <a:off x="8877757" y="1929384"/>
              <a:ext cx="292608" cy="164592"/>
            </a:xfrm>
            <a:prstGeom prst="roundRect">
              <a:avLst>
                <a:gd name="adj" fmla="val 44444"/>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legend_work"/>
            <p:cNvSpPr txBox="1"/>
            <p:nvPr/>
          </p:nvSpPr>
          <p:spPr>
            <a:xfrm>
              <a:off x="9261805" y="1874520"/>
              <a:ext cx="2445563" cy="274320"/>
            </a:xfrm>
            <a:prstGeom prst="rect">
              <a:avLst/>
            </a:prstGeom>
            <a:noFill/>
          </p:spPr>
          <p:txBody>
            <a:bodyPr wrap="none" anchor="ctr" lIns="0" tIns="0" rIns="0" bIns="0">
              <a:noAutofit/>
            </a:bodyPr>
            <a:lstStyle/>
            <a:p>
              <a:pPr algn="l"/>
              <a:r>
                <a:rPr sz="1800" b="0" i="0" lang="en-GB">
                  <a:solidFill>
                    <a:srgbClr val="263238"/>
                  </a:solidFill>
                  <a:latin typeface="Fira Sans"/>
                </a:rPr>
                <a:t>work in compiled code</a:t>
              </a:r>
            </a:p>
          </p:txBody>
        </p:sp>
        <p:cxnSp>
          <p:nvCxnSpPr>
            <p:cNvPr id="59" name="legend_arrow_swatch"/>
            <p:cNvCxnSpPr/>
            <p:nvPr/>
          </p:nvCxnSpPr>
          <p:spPr>
            <a:xfrm>
              <a:off x="8877757" y="2286000"/>
              <a:ext cx="292608" cy="0"/>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legend_arrow"/>
            <p:cNvSpPr txBox="1"/>
            <p:nvPr/>
          </p:nvSpPr>
          <p:spPr>
            <a:xfrm>
              <a:off x="9261805" y="2148840"/>
              <a:ext cx="1625803" cy="274320"/>
            </a:xfrm>
            <a:prstGeom prst="rect">
              <a:avLst/>
            </a:prstGeom>
            <a:noFill/>
          </p:spPr>
          <p:txBody>
            <a:bodyPr wrap="none" anchor="ctr" lIns="0" tIns="0" rIns="0" bIns="0">
              <a:noAutofit/>
            </a:bodyPr>
            <a:lstStyle/>
            <a:p>
              <a:pPr algn="l"/>
              <a:r>
                <a:rPr sz="1800" b="0" i="0" lang="en-GB">
                  <a:solidFill>
                    <a:srgbClr val="263238"/>
                  </a:solidFill>
                  <a:latin typeface="Fira Sans"/>
                </a:rPr>
                <a:t>call and return</a:t>
              </a:r>
            </a:p>
          </p:txBody>
        </p:sp>
      </p:grpSp>
      <p:sp>
        <p:nvSpPr>
          <p:cNvPr id="61" name="Hero"/>
          <p:cNvSpPr txBox="1"/>
          <p:nvPr/>
        </p:nvSpPr>
        <p:spPr>
          <a:xfrm>
            <a:off x="548640" y="4419312"/>
            <a:ext cx="2366772"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62" name="Hero label"/>
          <p:cNvSpPr txBox="1"/>
          <p:nvPr/>
        </p:nvSpPr>
        <p:spPr>
          <a:xfrm>
            <a:off x="3098292" y="4894292"/>
            <a:ext cx="8545068"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full loop step</a:t>
            </a:r>
            <a:endParaRPr lang="en-GB" sz="2000"/>
          </a:p>
        </p:txBody>
      </p:sp>
      <p:sp>
        <p:nvSpPr>
          <p:cNvPr id="6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Terminal background">
            <a:extLst>
              <a:ext uri="{C183D7F6-B498-43B3-948B-1728B52AA6E4}">
                <adec:decorative xmlns:adec="http://schemas.microsoft.com/office/drawing/2017/decorative" val="1"/>
              </a:ext>
            </a:extLst>
          </p:cNvPr>
          <p:cNvSpPr/>
          <p:nvPr/>
        </p:nvSpPr>
        <p:spPr>
          <a:xfrm>
            <a:off x="402336" y="1554480"/>
            <a:ext cx="11241024" cy="35814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 profile command"/>
          <p:cNvSpPr txBox="1"/>
          <p:nvPr/>
        </p:nvSpPr>
        <p:spPr>
          <a:xfrm>
            <a:off x="539496" y="1554480"/>
            <a:ext cx="1110386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sp>
        <p:nvSpPr>
          <p:cNvPr id="9" name="Profile measurement scope"/>
          <p:cNvSpPr txBox="1"/>
          <p:nvPr/>
        </p:nvSpPr>
        <p:spPr>
          <a:xfrm>
            <a:off x="548640" y="5028912"/>
            <a:ext cx="11094720"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Times are totals over 30 calls of each version: about 349 ms and 2.6 ms per call under the profiler, against 317 ms and 2.4 ms timed alone (slide 22). Profile to find the line; benchmark to measure the gain.</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613372"/>
            <a:chOff x="548640" y="2186940"/>
            <a:chExt cx="11094720" cy="2613372"/>
          </a:xfrm>
        </p:grpSpPr>
        <p:sp>
          <p:nvSpPr>
            <p:cNvPr id="10" name="legend python swatch"/>
            <p:cNvSpPr/>
            <p:nvPr/>
          </p:nvSpPr>
          <p:spPr>
            <a:xfrm>
              <a:off x="5664429" y="2250948"/>
              <a:ext cx="237744" cy="237744"/>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python"/>
            <p:cNvSpPr txBox="1"/>
            <p:nvPr/>
          </p:nvSpPr>
          <p:spPr>
            <a:xfrm>
              <a:off x="5975325" y="2186940"/>
              <a:ext cx="982726" cy="365760"/>
            </a:xfrm>
            <a:prstGeom prst="rect">
              <a:avLst/>
            </a:prstGeom>
            <a:noFill/>
          </p:spPr>
          <p:txBody>
            <a:bodyPr wrap="none" anchor="ctr" lIns="0" tIns="0" rIns="0" bIns="0">
              <a:noAutofit/>
            </a:bodyPr>
            <a:lstStyle/>
            <a:p>
              <a:pPr algn="l"/>
              <a:r>
                <a:rPr sz="2200" b="0" i="0" lang="en-GB">
                  <a:solidFill>
                    <a:srgbClr val="263238"/>
                  </a:solidFill>
                  <a:latin typeface="Fira Sans"/>
                </a:rPr>
                <a:t>Python</a:t>
              </a:r>
            </a:p>
          </p:txBody>
        </p:sp>
        <p:sp>
          <p:nvSpPr>
            <p:cNvPr id="12" name="legend native swatch"/>
            <p:cNvSpPr/>
            <p:nvPr/>
          </p:nvSpPr>
          <p:spPr>
            <a:xfrm>
              <a:off x="7323811" y="2250948"/>
              <a:ext cx="237744" cy="237744"/>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native"/>
            <p:cNvSpPr txBox="1"/>
            <p:nvPr/>
          </p:nvSpPr>
          <p:spPr>
            <a:xfrm>
              <a:off x="7634707" y="2186940"/>
              <a:ext cx="2349551" cy="365760"/>
            </a:xfrm>
            <a:prstGeom prst="rect">
              <a:avLst/>
            </a:prstGeom>
            <a:noFill/>
          </p:spPr>
          <p:txBody>
            <a:bodyPr wrap="none" anchor="ctr" lIns="0" tIns="0" rIns="0" bIns="0">
              <a:noAutofit/>
            </a:bodyPr>
            <a:lstStyle/>
            <a:p>
              <a:pPr algn="l"/>
              <a:r>
                <a:rPr sz="2200" b="0" i="0" lang="en-GB">
                  <a:solidFill>
                    <a:srgbClr val="263238"/>
                  </a:solidFill>
                  <a:latin typeface="Fira Sans"/>
                </a:rPr>
                <a:t>native, i.e. NumPy</a:t>
              </a:r>
            </a:p>
          </p:txBody>
        </p:sp>
        <p:sp>
          <p:nvSpPr>
            <p:cNvPr id="14" name="legend system swatch"/>
            <p:cNvSpPr/>
            <p:nvPr/>
          </p:nvSpPr>
          <p:spPr>
            <a:xfrm>
              <a:off x="10350017" y="2250948"/>
              <a:ext cx="237744" cy="237744"/>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egend system"/>
            <p:cNvSpPr txBox="1"/>
            <p:nvPr/>
          </p:nvSpPr>
          <p:spPr>
            <a:xfrm>
              <a:off x="10660913" y="2186940"/>
              <a:ext cx="982447" cy="365760"/>
            </a:xfrm>
            <a:prstGeom prst="rect">
              <a:avLst/>
            </a:prstGeom>
            <a:noFill/>
          </p:spPr>
          <p:txBody>
            <a:bodyPr wrap="none" anchor="ctr" lIns="0" tIns="0" rIns="0" bIns="0">
              <a:noAutofit/>
            </a:bodyPr>
            <a:lstStyle/>
            <a:p>
              <a:pPr algn="l"/>
              <a:r>
                <a:rPr sz="2200" b="0" i="0" lang="en-GB">
                  <a:solidFill>
                    <a:srgbClr val="263238"/>
                  </a:solidFill>
                  <a:latin typeface="Fira Sans"/>
                </a:rPr>
                <a:t>system</a:t>
              </a:r>
            </a:p>
          </p:txBody>
        </p:sp>
        <p:sp>
          <p:nvSpPr>
            <p:cNvPr id="16" name="tag"/>
            <p:cNvSpPr txBox="1"/>
            <p:nvPr/>
          </p:nvSpPr>
          <p:spPr>
            <a:xfrm>
              <a:off x="548640" y="2662428"/>
              <a:ext cx="1040130" cy="502467"/>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7" name="code"/>
            <p:cNvSpPr txBox="1"/>
            <p:nvPr/>
          </p:nvSpPr>
          <p:spPr>
            <a:xfrm>
              <a:off x="1588770" y="2662428"/>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8" name="share"/>
            <p:cNvSpPr txBox="1"/>
            <p:nvPr/>
          </p:nvSpPr>
          <p:spPr>
            <a:xfrm>
              <a:off x="7261098" y="2662428"/>
              <a:ext cx="986688" cy="50246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8770" y="3164895"/>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20" name="share"/>
            <p:cNvSpPr txBox="1"/>
            <p:nvPr/>
          </p:nvSpPr>
          <p:spPr>
            <a:xfrm>
              <a:off x="7261098" y="3164895"/>
              <a:ext cx="986688" cy="50246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21" name="code"/>
            <p:cNvSpPr txBox="1"/>
            <p:nvPr/>
          </p:nvSpPr>
          <p:spPr>
            <a:xfrm>
              <a:off x="1588770" y="3667362"/>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2" name="bar python"/>
            <p:cNvSpPr/>
            <p:nvPr/>
          </p:nvSpPr>
          <p:spPr>
            <a:xfrm>
              <a:off x="7151370" y="3749658"/>
              <a:ext cx="97667" cy="337875"/>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 native"/>
            <p:cNvSpPr/>
            <p:nvPr/>
          </p:nvSpPr>
          <p:spPr>
            <a:xfrm>
              <a:off x="7249037" y="3749658"/>
              <a:ext cx="1978833" cy="33787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 system"/>
            <p:cNvSpPr/>
            <p:nvPr/>
          </p:nvSpPr>
          <p:spPr>
            <a:xfrm>
              <a:off x="9227869" y="3749658"/>
              <a:ext cx="41135" cy="337875"/>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hare"/>
            <p:cNvSpPr txBox="1"/>
            <p:nvPr/>
          </p:nvSpPr>
          <p:spPr>
            <a:xfrm>
              <a:off x="9378733" y="3667362"/>
              <a:ext cx="986688" cy="502467"/>
            </a:xfrm>
            <a:prstGeom prst="rect">
              <a:avLst/>
            </a:prstGeom>
            <a:noFill/>
          </p:spPr>
          <p:txBody>
            <a:bodyPr wrap="none" anchor="ctr" lIns="0" tIns="0" rIns="0" bIns="0">
              <a:noAutofit/>
            </a:bodyPr>
            <a:lstStyle/>
            <a:p>
              <a:pPr algn="l"/>
              <a:r>
                <a:rPr sz="2800" b="1" i="0" lang="en-GB">
                  <a:solidFill>
                    <a:srgbClr val="2B6797"/>
                  </a:solidFill>
                  <a:latin typeface="Fira Sans"/>
                </a:rPr>
                <a:t>88 %</a:t>
              </a:r>
            </a:p>
          </p:txBody>
        </p:sp>
        <p:sp>
          <p:nvSpPr>
            <p:cNvPr id="26" name="time"/>
            <p:cNvSpPr txBox="1"/>
            <p:nvPr/>
          </p:nvSpPr>
          <p:spPr>
            <a:xfrm>
              <a:off x="10364558" y="3667362"/>
              <a:ext cx="962558" cy="502467"/>
            </a:xfrm>
            <a:prstGeom prst="rect">
              <a:avLst/>
            </a:prstGeom>
            <a:noFill/>
          </p:spPr>
          <p:txBody>
            <a:bodyPr wrap="none" anchor="ctr" lIns="0" tIns="0" rIns="0" bIns="0">
              <a:noAutofit/>
            </a:bodyPr>
            <a:lstStyle/>
            <a:p>
              <a:pPr algn="l"/>
              <a:r>
                <a:rPr sz="2400" b="0" i="0" lang="en-GB">
                  <a:solidFill>
                    <a:srgbClr val="455A64"/>
                  </a:solidFill>
                  <a:latin typeface="Fira Sans"/>
                </a:rPr>
                <a:t>10.5 s</a:t>
              </a:r>
            </a:p>
          </p:txBody>
        </p:sp>
        <p:cxnSp>
          <p:nvCxnSpPr>
            <p:cNvPr id="27" name="rule"/>
            <p:cNvCxnSpPr/>
            <p:nvPr/>
          </p:nvCxnSpPr>
          <p:spPr>
            <a:xfrm>
              <a:off x="548640" y="4233837"/>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8" name="tag"/>
            <p:cNvSpPr txBox="1"/>
            <p:nvPr/>
          </p:nvSpPr>
          <p:spPr>
            <a:xfrm>
              <a:off x="548640" y="4297845"/>
              <a:ext cx="1040130" cy="502467"/>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9" name="code"/>
            <p:cNvSpPr txBox="1"/>
            <p:nvPr/>
          </p:nvSpPr>
          <p:spPr>
            <a:xfrm>
              <a:off x="1588770" y="4297845"/>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30" name="bar native"/>
            <p:cNvSpPr/>
            <p:nvPr/>
          </p:nvSpPr>
          <p:spPr>
            <a:xfrm>
              <a:off x="7151370" y="4380141"/>
              <a:ext cx="14674" cy="33787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hare"/>
            <p:cNvSpPr txBox="1"/>
            <p:nvPr/>
          </p:nvSpPr>
          <p:spPr>
            <a:xfrm>
              <a:off x="7276975" y="4297845"/>
              <a:ext cx="986688" cy="502467"/>
            </a:xfrm>
            <a:prstGeom prst="rect">
              <a:avLst/>
            </a:prstGeom>
            <a:noFill/>
          </p:spPr>
          <p:txBody>
            <a:bodyPr wrap="none" anchor="ctr" lIns="0" tIns="0" rIns="0" bIns="0">
              <a:noAutofit/>
            </a:bodyPr>
            <a:lstStyle/>
            <a:p>
              <a:pPr algn="l"/>
              <a:r>
                <a:rPr sz="2800" b="1" i="0" lang="en-GB">
                  <a:solidFill>
                    <a:srgbClr val="2B6797"/>
                  </a:solidFill>
                  <a:latin typeface="Fira Sans"/>
                </a:rPr>
                <a:t>0.7 %</a:t>
              </a:r>
            </a:p>
          </p:txBody>
        </p:sp>
        <p:sp>
          <p:nvSpPr>
            <p:cNvPr id="32" name="time"/>
            <p:cNvSpPr txBox="1"/>
            <p:nvPr/>
          </p:nvSpPr>
          <p:spPr>
            <a:xfrm>
              <a:off x="8309383" y="4297845"/>
              <a:ext cx="962558" cy="502467"/>
            </a:xfrm>
            <a:prstGeom prst="rect">
              <a:avLst/>
            </a:prstGeom>
            <a:noFill/>
          </p:spPr>
          <p:txBody>
            <a:bodyPr wrap="none" anchor="ctr" lIns="0" tIns="0" rIns="0" bIns="0">
              <a:noAutofit/>
            </a:bodyPr>
            <a:lstStyle/>
            <a:p>
              <a:pPr algn="l"/>
              <a:r>
                <a:rPr sz="2400" b="0" i="0" lang="en-GB">
                  <a:solidFill>
                    <a:srgbClr val="455A64"/>
                  </a:solidFill>
                  <a:latin typeface="Fira Sans"/>
                </a:rPr>
                <a:t>79 ms</a:t>
              </a:r>
            </a:p>
          </p:txBody>
        </p:sp>
      </p:grpSp>
      <p:sp>
        <p:nvSpPr>
          <p:cNvPr id="8"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times are share × the 11.9 s run.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5.5×</a:t>
            </a:r>
            <a:r>
              <a:rPr sz="2000" lang="en-GB">
                <a:solidFill>
                  <a:srgbClr val="263238"/>
                </a:solidFill>
                <a:latin typeface="+mn-lt"/>
              </a:rPr>
              <a:t> faster on 8 free threads</a:t>
            </a:r>
            <a:endParaRPr lang="en-GB" sz="80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×8: 8 threads. With the GIL, no gain. One NumPy call is 27× faster still.</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GiB</a:t>
            </a:r>
          </a:p>
        </p:txBody>
      </p:sp>
      <p:graphicFrame>
        <p:nvGraphicFramePr>
          <p:cNvPr id="8" name="chart_memory" descr="Horizontal bar chart in gibibytes for one 5 by 6.25 km AHN5 file with 926 203 338 points: a reference bar for 32 GiB of RAM, then LAS records at 25.9 GiB, plus a float64 copy of the coordinates at 46.6 GiB, and our load and voxel downsampling steps (slides 12 and 13), all arrays kept, at 74.2 GiB; a dashed line continues the end of the 32 GiB bar down across the data bars; the three data bars are computed, not run; then two measured peaks on the smaller 1 km file: loading everything and downsampling, 3.0 GiB, and the chunked approach, 0.8 GiB."/>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sp>
        <p:nvSpPr>
          <p:cNvPr id="9" name="Over the limit 2">
            <a:extLst>
              <a:ext uri="{C183D7F6-B498-43B3-948B-1728B52AA6E4}">
                <adec:decorative xmlns:adec="http://schemas.microsoft.com/office/drawing/2017/decorative" val="1"/>
              </a:ext>
            </a:extLst>
          </p:cNvPr>
          <p:cNvSpPr/>
          <p:nvPr/>
        </p:nvSpPr>
        <p:spPr>
          <a:xfrm>
            <a:off x="3448785" y="2433366"/>
            <a:ext cx="348796" cy="570049"/>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er the limit 3">
            <a:extLst>
              <a:ext uri="{C183D7F6-B498-43B3-948B-1728B52AA6E4}">
                <adec:decorative xmlns:adec="http://schemas.microsoft.com/office/drawing/2017/decorative" val="1"/>
              </a:ext>
            </a:extLst>
          </p:cNvPr>
          <p:cNvSpPr/>
          <p:nvPr/>
        </p:nvSpPr>
        <p:spPr>
          <a:xfrm>
            <a:off x="3448785" y="3259937"/>
            <a:ext cx="1010616" cy="570049"/>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Threshold line 1">
            <a:extLst>
              <a:ext uri="{C183D7F6-B498-43B3-948B-1728B52AA6E4}">
                <adec:decorative xmlns:adec="http://schemas.microsoft.com/office/drawing/2017/decorative" val="1"/>
              </a:ext>
            </a:extLst>
          </p:cNvPr>
          <p:cNvCxnSpPr/>
          <p:nvPr/>
        </p:nvCxnSpPr>
        <p:spPr>
          <a:xfrm>
            <a:off x="3448785" y="651961"/>
            <a:ext cx="0" cy="7339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2" name="Threshold line 2">
            <a:extLst>
              <a:ext uri="{C183D7F6-B498-43B3-948B-1728B52AA6E4}">
                <adec:decorative xmlns:adec="http://schemas.microsoft.com/office/drawing/2017/decorative" val="1"/>
              </a:ext>
            </a:extLst>
          </p:cNvPr>
          <p:cNvCxnSpPr/>
          <p:nvPr/>
        </p:nvCxnSpPr>
        <p:spPr>
          <a:xfrm>
            <a:off x="3448785" y="1350272"/>
            <a:ext cx="0" cy="20165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3" name="Threshold line 3">
            <a:extLst>
              <a:ext uri="{C183D7F6-B498-43B3-948B-1728B52AA6E4}">
                <adec:decorative xmlns:adec="http://schemas.microsoft.com/office/drawing/2017/decorative" val="1"/>
              </a:ext>
            </a:extLst>
          </p:cNvPr>
          <p:cNvCxnSpPr/>
          <p:nvPr/>
        </p:nvCxnSpPr>
        <p:spPr>
          <a:xfrm>
            <a:off x="3448785" y="2231707"/>
            <a:ext cx="0" cy="179993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4" name="Threshold line 4">
            <a:extLst>
              <a:ext uri="{C183D7F6-B498-43B3-948B-1728B52AA6E4}">
                <adec:decorative xmlns:adec="http://schemas.microsoft.com/office/drawing/2017/decorative" val="1"/>
              </a:ext>
            </a:extLst>
          </p:cNvPr>
          <p:cNvCxnSpPr/>
          <p:nvPr/>
        </p:nvCxnSpPr>
        <p:spPr>
          <a:xfrm>
            <a:off x="3448785" y="4711422"/>
            <a:ext cx="0" cy="146794"/>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5" name="Threshold line 5">
            <a:extLst>
              <a:ext uri="{C183D7F6-B498-43B3-948B-1728B52AA6E4}">
                <adec:decorative xmlns:adec="http://schemas.microsoft.com/office/drawing/2017/decorative" val="1"/>
              </a:ext>
            </a:extLst>
          </p:cNvPr>
          <p:cNvCxnSpPr/>
          <p:nvPr/>
        </p:nvCxnSpPr>
        <p:spPr>
          <a:xfrm>
            <a:off x="3448785" y="5537993"/>
            <a:ext cx="0" cy="7339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8" name="Note box">
            <a:extLst>
              <a:ext uri="{C183D7F6-B498-43B3-948B-1728B52AA6E4}">
                <adec:decorative xmlns:adec="http://schemas.microsoft.com/office/drawing/2017/decorative" val="1"/>
              </a:ext>
            </a:extLst>
          </p:cNvPr>
          <p:cNvSpPr/>
          <p:nvPr/>
        </p:nvSpPr>
        <p:spPr>
          <a:xfrm>
            <a:off x="6029478" y="3855720"/>
            <a:ext cx="5613882" cy="1243584"/>
          </a:xfrm>
          <a:prstGeom prst="rect">
            <a:avLst/>
          </a:prstGeom>
          <a:solidFill>
            <a:srgbClr val="DF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ote"/>
          <p:cNvSpPr txBox="1"/>
          <p:nvPr/>
        </p:nvSpPr>
        <p:spPr>
          <a:xfrm>
            <a:off x="6166638" y="3928872"/>
            <a:ext cx="5339562" cy="109728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Big-file bars are computed, never run: load + voxels, arrays kept, temporaries excluded (with them: 133.1 GiB). The 1 km bars are measured peaks on one smaller file.</a:t>
            </a:r>
            <a:endParaRPr lang="en-GB" sz="1800"/>
          </a:p>
        </p:txBody>
      </p:sp>
      <p:sp>
        <p:nvSpPr>
          <p:cNvPr id="20" name="Machine line"/>
          <p:cNvSpPr txBox="1"/>
          <p:nvPr/>
        </p:nvSpPr>
        <p:spPr>
          <a:xfrm>
            <a:off x="6029478" y="5373624"/>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Stream chunks to fit within RAM.</a:t>
            </a:r>
            <a:endParaRPr lang="en-GB" sz="2000"/>
          </a:p>
        </p:txBody>
      </p:sp>
      <p:sp>
        <p:nvSpPr>
          <p:cNvPr id="16" name="Hero"/>
          <p:cNvSpPr txBox="1"/>
          <p:nvPr/>
        </p:nvSpPr>
        <p:spPr>
          <a:xfrm>
            <a:off x="6029478"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86 B</a:t>
            </a:r>
            <a:r>
              <a:rPr sz="2000" lang="en-GB">
                <a:solidFill>
                  <a:srgbClr val="263238"/>
                </a:solidFill>
                <a:latin typeface="+mn-lt"/>
              </a:rPr>
              <a:t> retained per input point</a:t>
            </a:r>
            <a:endParaRPr lang="en-GB" sz="8000"/>
          </a:p>
        </p:txBody>
      </p:sp>
      <p:sp>
        <p:nvSpPr>
          <p:cNvPr id="17" name="Support"/>
          <p:cNvSpPr txBox="1"/>
          <p:nvPr/>
        </p:nvSpPr>
        <p:spPr>
          <a:xfrm>
            <a:off x="6029478" y="341376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GiB = 2³⁰ B. Full: results/memory.json.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iB to 0.8 Gi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10, 12</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19, 20</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GiB → 0.8 GiB peak</a:t>
              </a:r>
            </a:p>
            <a:p>
              <a:pPr algn="l">
                <a:spcBef>
                  <a:spcPts val="600"/>
                </a:spcBef>
              </a:pPr>
              <a:r>
                <a:rPr sz="2000" b="0" i="0" lang="en-GB">
                  <a:solidFill>
                    <a:srgbClr val="455A64"/>
                  </a:solidFill>
                  <a:latin typeface="Fira Sans"/>
                </a:rPr>
                <a:t>slides 13,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21 to 25</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Thank you</a:t>
            </a:r>
          </a:p>
        </p:txBody>
      </p:sp>
      <p:sp>
        <p:nvSpPr>
          <p:cNvPr id="3" name="Contact"/>
          <p:cNvSpPr>
            <a:spLocks noGrp="1"/>
          </p:cNvSpPr>
          <p:nvPr>
            <p:ph type="body" idx="15"/>
          </p:nvPr>
        </p:nvSpPr>
        <p:spPr/>
        <p:txBody>
          <a:bodyPr/>
          <a:lstStyle/>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To the Python community and to everyone here today.</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Data: AHN5,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1.0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21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MiB LAZ); 5 × 6.25 km file 2023_C_31HZ2, 926 203 338 points (5.1 GiB);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GiB at 30 B per point (format 6); our pipeline (slides 12 and 13): 74.2 GiB.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MiB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16</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16's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15 and the voxel on slide 13 are the same choice.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(B2).</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1895094"/>
          <a:ext cx="11094719" cy="1883664"/>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3888486"/>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10).</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9).</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11094720" cy="324739"/>
          </a:xfrm>
          <a:prstGeom prst="rect">
            <a:avLst/>
          </a:prstGeom>
          <a:noFill/>
        </p:spPr>
        <p:txBody>
          <a:bodyPr wrap="square" anchor="t" lIns="0" tIns="0" rIns="0" bIns="0">
            <a:noAutofit/>
          </a:bodyPr>
          <a:lstStyle/>
          <a:p>
            <a:pPr marL="0" indent="0" algn="l">
              <a:spcBef>
                <a:spcPts val="0"/>
              </a:spcBef>
              <a:spcAft>
                <a:spcPts val="0"/>
              </a:spcAft>
              <a:buNone/>
            </a:pPr>
            <a:r>
              <a:rPr sz="1700" b="0" lang="en-GB">
                <a:solidFill>
                  <a:srgbClr val="1C325B"/>
                </a:solidFill>
                <a:latin typeface="Fira Sans SemiBold"/>
              </a:rPr>
              <a:t>Priority for a beginner audience, and where each idea joins the main deck</a:t>
            </a:r>
            <a:endParaRPr lang="en-GB" sz="17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1879219"/>
          <a:ext cx="11094721" cy="2830068"/>
        </p:xfrm>
        <a:graphic>
          <a:graphicData uri="http://schemas.openxmlformats.org/drawingml/2006/table">
            <a:tbl>
              <a:tblPr firstRow="0" bandRow="0">
                <a:tableStyleId>{2D5ABB26-0587-4C30-8999-92F81FD0307C}</a:tableStyleId>
              </a:tblPr>
              <a:tblGrid>
                <a:gridCol w="583933"/>
                <a:gridCol w="3737169"/>
                <a:gridCol w="4204315"/>
                <a:gridCol w="2569304"/>
              </a:tblGrid>
              <a:tr h="299466">
                <a:tc>
                  <a:txBody>
                    <a:bodyPr/>
                    <a:lstStyle/>
                    <a:p>
                      <a:pPr marL="0" indent="0" algn="l">
                        <a:lnSpc>
                          <a:spcPct val="95000"/>
                        </a:lnSpc>
                        <a:spcBef>
                          <a:spcPts val="0"/>
                        </a:spcBef>
                        <a:spcAft>
                          <a:spcPts val="0"/>
                        </a:spcAft>
                        <a:buNone/>
                      </a:pPr>
                      <a:r>
                        <a:rPr sz="1500" lang="en-GB">
                          <a:solidFill>
                            <a:srgbClr val="FFFFFF"/>
                          </a:solidFill>
                          <a:latin typeface="Fira Sans SemiBold"/>
                        </a:rPr>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Idea</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One line for the audience</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Joins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 point cloud is an array (slide 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 rows, x y z plus attributes, no order, no links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6, rule 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Every array needs a frame (C2)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Reference system, units, origin, up axis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Neighbourhood size changes the answer (C4)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Radius, eps and voxel size are model choices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13 to 15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Samples, not the surface (C5)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Density and error vary; measure first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20,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Memory follows N and the algorithm (C6)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Linear fits, quadratic never does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26, rule 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Three representations (C1)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Points measure, meshes connect, voxels index</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6 and 7,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Transforms as matrices (C3)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One matrix per frame change, order matters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819015"/>
            <a:ext cx="11094720" cy="10251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Narrative: what the data is (1, 6), where it is (2, 7), what is near what (3), how far to trust it (4), how big it gets (5). Close with C7: ideas outlive tools.</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In the 30 minute slot the main deck carries 1, 4 and 6 in full (slides 6, 21 and 7) and 2, 3 and 5 in short form; add C2 and C4 first if time allows.</a:t>
            </a:r>
            <a:endParaRPr lang="en-GB" sz="15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3453384"/>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42</Slides>
  <Notes>42</Notes>
  <HiddenSlides>14</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2026-10-14T06:30:33Z</dcterms:created>
  <dcterms:modified xsi:type="dcterms:W3CDTF">2026-10-14T06:30:33Z</dcterms:modified>
</cp:coreProperties>
</file>