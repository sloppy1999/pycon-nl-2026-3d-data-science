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32"/>
    <p:sldId id="268" r:id="rId33"/>
    <p:sldId id="269" r:id="rId34"/>
    <p:sldId id="270" r:id="rId35"/>
    <p:sldId id="271" r:id="rId36"/>
    <p:sldId id="272" r:id="rId37"/>
    <p:sldId id="273" r:id="rId38"/>
    <p:sldId id="274" r:id="rId39"/>
    <p:sldId id="275" r:id="rId40"/>
    <p:sldId id="276" r:id="rId41"/>
    <p:sldId id="277" r:id="rId42"/>
    <p:sldId id="278" r:id="rId43"/>
    <p:sldId id="279" r:id="rId44"/>
    <p:sldId id="280" r:id="rId45"/>
    <p:sldId id="281" r:id="rId46"/>
    <p:sldId id="282" r:id="rId47"/>
    <p:sldId id="283" r:id="rId48"/>
    <p:sldId id="284" r:id="rId49"/>
    <p:sldId id="285" r:id="rId50"/>
    <p:sldId id="286" r:id="rId51"/>
    <p:sldId id="287" r:id="rId52"/>
    <p:sldId id="288" r:id="rId53"/>
    <p:sldId id="289" r:id="rId54"/>
    <p:sldId id="290" r:id="rId55"/>
    <p:sldId id="291" r:id="rId56"/>
    <p:sldId id="292" r:id="rId57"/>
    <p:sldId id="293" r:id="rId58"/>
    <p:sldId id="294" r:id="rId59"/>
    <p:sldId id="295" r:id="rId60"/>
    <p:sldId id="296" r:id="rId61"/>
    <p:sldId id="297" r:id="rId62"/>
    <p:sldId id="298" r:id="rId63"/>
    <p:sldId id="299" r:id="rId64"/>
    <p:sldId id="300" r:id="rId65"/>
    <p:sldId id="301" r:id="rId66"/>
    <p:sldId id="302" r:id="rId67"/>
    <p:sldId id="303" r:id="rId68"/>
    <p:sldId id="304" r:id="rId69"/>
    <p:sldId id="305" r:id="rId70"/>
    <p:sldId id="306" r:id="rId71"/>
    <p:sldId id="307" r:id="rId72"/>
    <p:sldId id="308" r:id="rId73"/>
    <p:sldId id="309" r:id="rId74"/>
    <p:sldId id="310" r:id="rId75"/>
    <p:sldId id="311" r:id="rId76"/>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 id="273"/>
            <p14:sldId id="274"/>
          </p14:sldIdLst>
        </p14:section>
        <p14:section name="Landscape" id="{8732EF79-AE0B-58DF-972A-54AD5E8564E7}">
          <p14:sldIdLst>
            <p14:sldId id="275"/>
            <p14:sldId id="276"/>
          </p14:sldIdLst>
        </p14:section>
        <p14:section name="Pipeline" id="{EC630927-BFAE-5D8A-B61A-65E18449044C}">
          <p14:sldIdLst>
            <p14:sldId id="277"/>
            <p14:sldId id="278"/>
            <p14:sldId id="279"/>
            <p14:sldId id="280"/>
            <p14:sldId id="281"/>
            <p14:sldId id="282"/>
            <p14:sldId id="283"/>
            <p14:sldId id="284"/>
            <p14:sldId id="285"/>
            <p14:sldId id="286"/>
          </p14:sldIdLst>
        </p14:section>
        <p14:section name="Performance" id="{F91C7034-C18A-5F43-AD8B-059D4F0584F7}">
          <p14:sldIdLst>
            <p14:sldId id="287"/>
            <p14:sldId id="288"/>
            <p14:sldId id="289"/>
            <p14:sldId id="290"/>
            <p14:sldId id="291"/>
          </p14:sldIdLst>
        </p14:section>
        <p14:section name="RAM" id="{FC093E39-7134-57DE-B3D4-50466B1AA227}">
          <p14:sldIdLst>
            <p14:sldId id="292"/>
            <p14:sldId id="293"/>
            <p14:sldId id="294"/>
          </p14:sldIdLst>
        </p14:section>
        <p14:section name="Close" id="{135F424C-7FE6-5892-BFB5-AB3C758E24F6}">
          <p14:sldIdLst>
            <p14:sldId id="295"/>
            <p14:sldId id="296"/>
            <p14:sldId id="297"/>
          </p14:sldIdLst>
        </p14:section>
        <p14:section name="Appendix" id="{2B4E84C8-F2D2-5B60-9919-95FFB9414073}">
          <p14:sldIdLst>
            <p14:sldId id="298"/>
            <p14:sldId id="299"/>
            <p14:sldId id="300"/>
            <p14:sldId id="301"/>
            <p14:sldId id="302"/>
            <p14:sldId id="303"/>
            <p14:sldId id="304"/>
          </p14:sldIdLst>
        </p14:section>
        <p14:section name="Mental models" id="{E4DD9C9C-5990-5F85-8856-F43FD0FCEB52}">
          <p14:sldIdLst>
            <p14:sldId id="305"/>
            <p14:sldId id="306"/>
            <p14:sldId id="307"/>
            <p14:sldId id="308"/>
            <p14:sldId id="309"/>
            <p14:sldId id="310"/>
            <p14:sldId id="31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32" Type="http://schemas.openxmlformats.org/officeDocument/2006/relationships/slide" Target="slides/slide1.xml"/><Relationship Id="rId33" Type="http://schemas.openxmlformats.org/officeDocument/2006/relationships/slide" Target="slides/slide2.xml"/><Relationship Id="rId34" Type="http://schemas.openxmlformats.org/officeDocument/2006/relationships/slide" Target="slides/slide3.xml"/><Relationship Id="rId35" Type="http://schemas.openxmlformats.org/officeDocument/2006/relationships/slide" Target="slides/slide4.xml"/><Relationship Id="rId36" Type="http://schemas.openxmlformats.org/officeDocument/2006/relationships/slide" Target="slides/slide5.xml"/><Relationship Id="rId37" Type="http://schemas.openxmlformats.org/officeDocument/2006/relationships/slide" Target="slides/slide6.xml"/><Relationship Id="rId38" Type="http://schemas.openxmlformats.org/officeDocument/2006/relationships/slide" Target="slides/slide7.xml"/><Relationship Id="rId39" Type="http://schemas.openxmlformats.org/officeDocument/2006/relationships/slide" Target="slides/slide8.xml"/><Relationship Id="rId40" Type="http://schemas.openxmlformats.org/officeDocument/2006/relationships/slide" Target="slides/slide9.xml"/><Relationship Id="rId41" Type="http://schemas.openxmlformats.org/officeDocument/2006/relationships/slide" Target="slides/slide10.xml"/><Relationship Id="rId42" Type="http://schemas.openxmlformats.org/officeDocument/2006/relationships/slide" Target="slides/slide11.xml"/><Relationship Id="rId43" Type="http://schemas.openxmlformats.org/officeDocument/2006/relationships/slide" Target="slides/slide12.xml"/><Relationship Id="rId44" Type="http://schemas.openxmlformats.org/officeDocument/2006/relationships/slide" Target="slides/slide13.xml"/><Relationship Id="rId45" Type="http://schemas.openxmlformats.org/officeDocument/2006/relationships/slide" Target="slides/slide14.xml"/><Relationship Id="rId46" Type="http://schemas.openxmlformats.org/officeDocument/2006/relationships/slide" Target="slides/slide15.xml"/><Relationship Id="rId47" Type="http://schemas.openxmlformats.org/officeDocument/2006/relationships/slide" Target="slides/slide16.xml"/><Relationship Id="rId48" Type="http://schemas.openxmlformats.org/officeDocument/2006/relationships/slide" Target="slides/slide17.xml"/><Relationship Id="rId49" Type="http://schemas.openxmlformats.org/officeDocument/2006/relationships/slide" Target="slides/slide18.xml"/><Relationship Id="rId50" Type="http://schemas.openxmlformats.org/officeDocument/2006/relationships/slide" Target="slides/slide19.xml"/><Relationship Id="rId51" Type="http://schemas.openxmlformats.org/officeDocument/2006/relationships/slide" Target="slides/slide20.xml"/><Relationship Id="rId52" Type="http://schemas.openxmlformats.org/officeDocument/2006/relationships/slide" Target="slides/slide21.xml"/><Relationship Id="rId53" Type="http://schemas.openxmlformats.org/officeDocument/2006/relationships/slide" Target="slides/slide22.xml"/><Relationship Id="rId54" Type="http://schemas.openxmlformats.org/officeDocument/2006/relationships/slide" Target="slides/slide23.xml"/><Relationship Id="rId55" Type="http://schemas.openxmlformats.org/officeDocument/2006/relationships/slide" Target="slides/slide24.xml"/><Relationship Id="rId56" Type="http://schemas.openxmlformats.org/officeDocument/2006/relationships/slide" Target="slides/slide25.xml"/><Relationship Id="rId57" Type="http://schemas.openxmlformats.org/officeDocument/2006/relationships/slide" Target="slides/slide26.xml"/><Relationship Id="rId58" Type="http://schemas.openxmlformats.org/officeDocument/2006/relationships/slide" Target="slides/slide27.xml"/><Relationship Id="rId59" Type="http://schemas.openxmlformats.org/officeDocument/2006/relationships/slide" Target="slides/slide28.xml"/><Relationship Id="rId60" Type="http://schemas.openxmlformats.org/officeDocument/2006/relationships/slide" Target="slides/slide29.xml"/><Relationship Id="rId61" Type="http://schemas.openxmlformats.org/officeDocument/2006/relationships/slide" Target="slides/slide30.xml"/><Relationship Id="rId62" Type="http://schemas.openxmlformats.org/officeDocument/2006/relationships/slide" Target="slides/slide31.xml"/><Relationship Id="rId63" Type="http://schemas.openxmlformats.org/officeDocument/2006/relationships/slide" Target="slides/slide32.xml"/><Relationship Id="rId64" Type="http://schemas.openxmlformats.org/officeDocument/2006/relationships/slide" Target="slides/slide33.xml"/><Relationship Id="rId65" Type="http://schemas.openxmlformats.org/officeDocument/2006/relationships/slide" Target="slides/slide34.xml"/><Relationship Id="rId66" Type="http://schemas.openxmlformats.org/officeDocument/2006/relationships/slide" Target="slides/slide35.xml"/><Relationship Id="rId67" Type="http://schemas.openxmlformats.org/officeDocument/2006/relationships/slide" Target="slides/slide36.xml"/><Relationship Id="rId68" Type="http://schemas.openxmlformats.org/officeDocument/2006/relationships/slide" Target="slides/slide37.xml"/><Relationship Id="rId69" Type="http://schemas.openxmlformats.org/officeDocument/2006/relationships/slide" Target="slides/slide38.xml"/><Relationship Id="rId70" Type="http://schemas.openxmlformats.org/officeDocument/2006/relationships/slide" Target="slides/slide39.xml"/><Relationship Id="rId71" Type="http://schemas.openxmlformats.org/officeDocument/2006/relationships/slide" Target="slides/slide40.xml"/><Relationship Id="rId72" Type="http://schemas.openxmlformats.org/officeDocument/2006/relationships/slide" Target="slides/slide41.xml"/><Relationship Id="rId73" Type="http://schemas.openxmlformats.org/officeDocument/2006/relationships/slide" Target="slides/slide42.xml"/><Relationship Id="rId74" Type="http://schemas.openxmlformats.org/officeDocument/2006/relationships/slide" Target="slides/slide43.xml"/><Relationship Id="rId75" Type="http://schemas.openxmlformats.org/officeDocument/2006/relationships/slide" Target="slides/slide44.xml"/><Relationship Id="rId76" Type="http://schemas.openxmlformats.org/officeDocument/2006/relationships/slide" Target="slides/slide4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2B6797"/>
              </a:solidFill>
              <a:ln>
                <a:noFill/>
              </a:ln>
            </c:spPr>
          </c:dPt>
          <c:dPt>
            <c:idx val="2"/>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Sheet1!$A$2:$A$4</c:f>
              <c:strCache>
                <c:ptCount val="3"/>
                <c:pt idx="0">
                  <c:v>Loop,
1 thread</c:v>
                </c:pt>
                <c:pt idx="1">
                  <c:v>Loop,
threads</c:v>
                </c:pt>
                <c:pt idx="2">
                  <c:v>NumPy,
1 call</c:v>
                </c:pt>
              </c:strCache>
            </c:strRef>
          </c:cat>
          <c:val>
            <c:numRef>
              <c:f>Sheet1!$B$2:$B$4</c:f>
              <c:numCache>
                <c:formatCode>0.000</c:formatCode>
                <c:ptCount val="3"/>
                <c:pt idx="0">
                  <c:v>335.80125799926464</c:v>
                </c:pt>
                <c:pt idx="1">
                  <c:v>61.14176099799806</c:v>
                </c:pt>
                <c:pt idx="2">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3310"/>
          <c:y val="0.0200"/>
          <c:w val="0.665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1C325B"/>
              </a:solidFill>
              <a:ln>
                <a:noFill/>
              </a:ln>
            </c:spPr>
          </c:dPt>
          <c:dPt>
            <c:idx val="2"/>
            <c:spPr>
              <a:solidFill>
                <a:srgbClr val="9CA3AF"/>
              </a:solidFill>
              <a:ln>
                <a:noFill/>
              </a:ln>
            </c:spPr>
          </c:dPt>
          <c:dPt>
            <c:idx val="3"/>
            <c:spPr>
              <a:solidFill>
                <a:srgbClr val="9CA3AF"/>
              </a:solidFill>
              <a:ln>
                <a:noFill/>
              </a:ln>
            </c:spPr>
          </c:dPt>
          <c:dPt>
            <c:idx val="4"/>
            <c:spPr>
              <a:solidFill>
                <a:srgbClr val="2B6797"/>
              </a:solidFill>
              <a:ln>
                <a:noFill/>
              </a:ln>
            </c:spPr>
          </c:dPt>
          <c:dLbls>
            <c:dLbl>
              <c:idx val="0"/>
              <c:delete val="1"/>
            </c:dLbl>
            <c:dLbl>
              <c:idx val="1"/>
              <c:delete val="1"/>
            </c:dLbl>
            <c:numFmt formatCode="0.0&quot; G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Sheet1!$A$2:$A$6</c:f>
              <c:strCache>
                <c:ptCount val="5"/>
                <c:pt idx="0">
                  <c:v>16 GB RAM</c:v>
                </c:pt>
                <c:pt idx="1">
                  <c:v>32 GB RAM</c:v>
                </c:pt>
                <c:pt idx="2">
                  <c:v>LAS records
(computed)</c:v>
                </c:pt>
                <c:pt idx="3">
                  <c:v>+ float64 xyz
(computed)</c:v>
                </c:pt>
                <c:pt idx="4">
                  <c:v>Our pipeline
(computed)</c:v>
                </c:pt>
              </c:strCache>
            </c:strRef>
          </c:cat>
          <c:val>
            <c:numRef>
              <c:f>Sheet1!$B$2:$B$6</c:f>
              <c:numCache>
                <c:formatCode>0.0</c:formatCode>
                <c:ptCount val="5"/>
                <c:pt idx="0">
                  <c:v>16.0</c:v>
                </c:pt>
                <c:pt idx="1">
                  <c:v>32.0</c:v>
                </c:pt>
                <c:pt idx="2">
                  <c:v>25.877822320908308</c:v>
                </c:pt>
                <c:pt idx="3">
                  <c:v>46.580080177634954</c:v>
                </c:pt>
                <c:pt idx="4">
                  <c:v>74.24490390114173</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lang val="en-GB"/>
  <c:roundedCorners val="0"/>
  <c:chart>
    <c:autoTitleDeleted val="1"/>
    <c:plotArea>
      <c:layout>
        <c:manualLayout>
          <c:layoutTarget val="inner"/>
          <c:xMode val="edge"/>
          <c:yMode val="edge"/>
          <c:x val="0.0657"/>
          <c:y val="0.0138"/>
          <c:w val="0.9220"/>
          <c:h val="0.8486"/>
        </c:manualLayout>
      </c:layout>
      <c:scatterChart>
        <c:scatterStyle val="lineMarker"/>
        <c:varyColors val="0"/>
        <c:ser>
          <c:idx val="0"/>
          <c:order val="0"/>
          <c:tx>
            <c:strRef>
              <c:f>Sheet1!$B$1</c:f>
              <c:strCache>
                <c:ptCount val="1"/>
                <c:pt idx="0">
                  <c:v>load everything</c:v>
                </c:pt>
              </c:strCache>
            </c:strRef>
          </c:tx>
          <c:spPr>
            <a:ln w="28575">
              <a:solidFill>
                <a:srgbClr val="9CA3AF"/>
              </a:solidFill>
            </a:ln>
          </c:spPr>
          <c:marker>
            <c:symbol val="none"/>
          </c:marker>
          <c:xVal>
            <c:numRef>
              <c:f>Sheet1!$A$2:$A$101</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Sheet1!$B$2:$B$101</c:f>
              <c:numCache>
                <c:formatCode>0.0</c:formatCode>
                <c:ptCount val="100"/>
                <c:pt idx="0">
                  <c:v>0.01044921875</c:v>
                </c:pt>
                <c:pt idx="1">
                  <c:v>0.611328125</c:v>
                </c:pt>
                <c:pt idx="2">
                  <c:v>0.611328125</c:v>
                </c:pt>
                <c:pt idx="3">
                  <c:v>0.609375</c:v>
                </c:pt>
                <c:pt idx="4">
                  <c:v>0.60751953125</c:v>
                </c:pt>
                <c:pt idx="5">
                  <c:v>0.60654296875</c:v>
                </c:pt>
                <c:pt idx="6">
                  <c:v>0.6046875</c:v>
                </c:pt>
                <c:pt idx="7">
                  <c:v>0.6037109375</c:v>
                </c:pt>
                <c:pt idx="8">
                  <c:v>0.59921875</c:v>
                </c:pt>
                <c:pt idx="9">
                  <c:v>0.5984375</c:v>
                </c:pt>
                <c:pt idx="10">
                  <c:v>0.596484375</c:v>
                </c:pt>
                <c:pt idx="11">
                  <c:v>0.590625</c:v>
                </c:pt>
                <c:pt idx="12">
                  <c:v>0.58876953125</c:v>
                </c:pt>
                <c:pt idx="13">
                  <c:v>0.5859375</c:v>
                </c:pt>
                <c:pt idx="14">
                  <c:v>0.5849609375</c:v>
                </c:pt>
                <c:pt idx="15">
                  <c:v>0.583984375</c:v>
                </c:pt>
                <c:pt idx="16">
                  <c:v>0.583984375</c:v>
                </c:pt>
                <c:pt idx="17">
                  <c:v>0.58212890625</c:v>
                </c:pt>
                <c:pt idx="18">
                  <c:v>0.58115234375</c:v>
                </c:pt>
                <c:pt idx="19">
                  <c:v>0.57939453125</c:v>
                </c:pt>
                <c:pt idx="20">
                  <c:v>0.57939453125</c:v>
                </c:pt>
                <c:pt idx="21">
                  <c:v>0.57841796875</c:v>
                </c:pt>
                <c:pt idx="22">
                  <c:v>0.578515625</c:v>
                </c:pt>
                <c:pt idx="23">
                  <c:v>0.578515625</c:v>
                </c:pt>
                <c:pt idx="24">
                  <c:v>0.5765625</c:v>
                </c:pt>
                <c:pt idx="25">
                  <c:v>2.00107421875</c:v>
                </c:pt>
                <c:pt idx="26">
                  <c:v>2.02265625</c:v>
                </c:pt>
                <c:pt idx="27">
                  <c:v>2.051953125</c:v>
                </c:pt>
                <c:pt idx="28">
                  <c:v>2.0578125</c:v>
                </c:pt>
                <c:pt idx="29">
                  <c:v>2.07734375</c:v>
                </c:pt>
                <c:pt idx="30">
                  <c:v>2.13310546875</c:v>
                </c:pt>
                <c:pt idx="31">
                  <c:v>2.13798828125</c:v>
                </c:pt>
                <c:pt idx="32">
                  <c:v>2.15068359375</c:v>
                </c:pt>
                <c:pt idx="33">
                  <c:v>2.19462890625</c:v>
                </c:pt>
                <c:pt idx="34">
                  <c:v>2.20927734375</c:v>
                </c:pt>
                <c:pt idx="35">
                  <c:v>2.276953125</c:v>
                </c:pt>
                <c:pt idx="36">
                  <c:v>2.39609375</c:v>
                </c:pt>
                <c:pt idx="37">
                  <c:v>2.4400390625</c:v>
                </c:pt>
                <c:pt idx="38">
                  <c:v>2.4478515625</c:v>
                </c:pt>
                <c:pt idx="39">
                  <c:v>2.472265625</c:v>
                </c:pt>
                <c:pt idx="40">
                  <c:v>2.5015625</c:v>
                </c:pt>
                <c:pt idx="41">
                  <c:v>2.531640625</c:v>
                </c:pt>
                <c:pt idx="42">
                  <c:v>2.5541015625</c:v>
                </c:pt>
                <c:pt idx="43">
                  <c:v>2.558984375</c:v>
                </c:pt>
                <c:pt idx="44">
                  <c:v>2.609765625</c:v>
                </c:pt>
                <c:pt idx="45">
                  <c:v>2.625390625</c:v>
                </c:pt>
                <c:pt idx="46">
                  <c:v>2.6625</c:v>
                </c:pt>
                <c:pt idx="47">
                  <c:v>2.7318359375</c:v>
                </c:pt>
                <c:pt idx="48">
                  <c:v>2.7728515625</c:v>
                </c:pt>
                <c:pt idx="49">
                  <c:v>2.85390625</c:v>
                </c:pt>
                <c:pt idx="50">
                  <c:v>2.9056640625</c:v>
                </c:pt>
                <c:pt idx="51">
                  <c:v>2.9232421875</c:v>
                </c:pt>
                <c:pt idx="52">
                  <c:v>2.9271484375</c:v>
                </c:pt>
                <c:pt idx="53">
                  <c:v>2.975</c:v>
                </c:pt>
                <c:pt idx="54">
                  <c:v>3.0033203125</c:v>
                </c:pt>
                <c:pt idx="55">
                  <c:v>3.023828125</c:v>
                </c:pt>
                <c:pt idx="56">
                  <c:v>3.04140625</c:v>
                </c:pt>
                <c:pt idx="57">
                  <c:v>3.1169921875</c:v>
                </c:pt>
                <c:pt idx="58">
                  <c:v>3.153125</c:v>
                </c:pt>
                <c:pt idx="59">
                  <c:v>3.186328125</c:v>
                </c:pt>
                <c:pt idx="60">
                  <c:v>3.1921875</c:v>
                </c:pt>
                <c:pt idx="61">
                  <c:v>3.389453125</c:v>
                </c:pt>
                <c:pt idx="62">
                  <c:v>3.35625</c:v>
                </c:pt>
                <c:pt idx="63">
                  <c:v>3.350390625</c:v>
                </c:pt>
                <c:pt idx="64">
                  <c:v>3.3142578125</c:v>
                </c:pt>
                <c:pt idx="65">
                  <c:v>3.299609375</c:v>
                </c:pt>
                <c:pt idx="66">
                  <c:v>3.252734375</c:v>
                </c:pt>
                <c:pt idx="67">
                  <c:v>3.21171875</c:v>
                </c:pt>
                <c:pt idx="68">
                  <c:v>3.1501953125</c:v>
                </c:pt>
                <c:pt idx="69">
                  <c:v>3.1150390625</c:v>
                </c:pt>
                <c:pt idx="70">
                  <c:v>3.11015625</c:v>
                </c:pt>
                <c:pt idx="71">
                  <c:v>3.1072265625</c:v>
                </c:pt>
                <c:pt idx="72">
                  <c:v>3.075</c:v>
                </c:pt>
                <c:pt idx="73">
                  <c:v>2.979296875</c:v>
                </c:pt>
                <c:pt idx="74">
                  <c:v>2.9626953125</c:v>
                </c:pt>
                <c:pt idx="75">
                  <c:v>2.91875</c:v>
                </c:pt>
                <c:pt idx="76">
                  <c:v>2.916796875</c:v>
                </c:pt>
                <c:pt idx="77">
                  <c:v>2.8787109375</c:v>
                </c:pt>
                <c:pt idx="78">
                  <c:v>2.8748046875</c:v>
                </c:pt>
                <c:pt idx="79">
                  <c:v>2.8416015625</c:v>
                </c:pt>
                <c:pt idx="80">
                  <c:v>2.82109375</c:v>
                </c:pt>
                <c:pt idx="81">
                  <c:v>2.7576171875</c:v>
                </c:pt>
                <c:pt idx="82">
                  <c:v>2.7107421875</c:v>
                </c:pt>
                <c:pt idx="83">
                  <c:v>2.6990234375</c:v>
                </c:pt>
                <c:pt idx="84">
                  <c:v>2.684375</c:v>
                </c:pt>
                <c:pt idx="85">
                  <c:v>2.635546875</c:v>
                </c:pt>
                <c:pt idx="86">
                  <c:v>2.6033203125</c:v>
                </c:pt>
                <c:pt idx="87">
                  <c:v>2.4958984375</c:v>
                </c:pt>
                <c:pt idx="88">
                  <c:v>2.4890625</c:v>
                </c:pt>
                <c:pt idx="89">
                  <c:v>2.483203125</c:v>
                </c:pt>
                <c:pt idx="90">
                  <c:v>2.4666015625</c:v>
                </c:pt>
                <c:pt idx="91">
                  <c:v>2.4373046875</c:v>
                </c:pt>
                <c:pt idx="92">
                  <c:v>2.4236328125</c:v>
                </c:pt>
                <c:pt idx="93">
                  <c:v>2.4177734375</c:v>
                </c:pt>
                <c:pt idx="94">
                  <c:v>2.393359375</c:v>
                </c:pt>
                <c:pt idx="95">
                  <c:v>2.381640625</c:v>
                </c:pt>
                <c:pt idx="96">
                  <c:v>2.369921875</c:v>
                </c:pt>
                <c:pt idx="97">
                  <c:v>2.35234375</c:v>
                </c:pt>
                <c:pt idx="98">
                  <c:v>2.326953125</c:v>
                </c:pt>
                <c:pt idx="99">
                  <c:v>2.3123046875</c:v>
                </c:pt>
              </c:numCache>
            </c:numRef>
          </c:yVal>
          <c:smooth val="0"/>
        </c:ser>
        <c:ser>
          <c:idx val="1"/>
          <c:order val="1"/>
          <c:tx>
            <c:strRef>
              <c:f>Sheet1!$B$103</c:f>
              <c:strCache>
                <c:ptCount val="1"/>
                <c:pt idx="0">
                  <c:v>chunked</c:v>
                </c:pt>
              </c:strCache>
            </c:strRef>
          </c:tx>
          <c:spPr>
            <a:ln w="38100">
              <a:solidFill>
                <a:srgbClr val="2B6797"/>
              </a:solidFill>
            </a:ln>
          </c:spPr>
          <c:marker>
            <c:symbol val="none"/>
          </c:marker>
          <c:xVal>
            <c:numRef>
              <c:f>Sheet1!$A$104:$A$203</c:f>
              <c:numCache>
                <c:formatCode>0.0</c:formatCode>
                <c:ptCount val="100"/>
                <c:pt idx="0">
                  <c:v>0.0</c:v>
                </c:pt>
                <c:pt idx="1">
                  <c:v>1.01</c:v>
                </c:pt>
                <c:pt idx="2">
                  <c:v>2.02</c:v>
                </c:pt>
                <c:pt idx="3">
                  <c:v>3.03</c:v>
                </c:pt>
                <c:pt idx="4">
                  <c:v>4.04</c:v>
                </c:pt>
                <c:pt idx="5">
                  <c:v>5.05</c:v>
                </c:pt>
                <c:pt idx="6">
                  <c:v>6.06</c:v>
                </c:pt>
                <c:pt idx="7">
                  <c:v>7.07</c:v>
                </c:pt>
                <c:pt idx="8">
                  <c:v>8.08</c:v>
                </c:pt>
                <c:pt idx="9">
                  <c:v>9.09</c:v>
                </c:pt>
                <c:pt idx="10">
                  <c:v>10.1</c:v>
                </c:pt>
                <c:pt idx="11">
                  <c:v>11.11</c:v>
                </c:pt>
                <c:pt idx="12">
                  <c:v>12.12</c:v>
                </c:pt>
                <c:pt idx="13">
                  <c:v>13.13</c:v>
                </c:pt>
                <c:pt idx="14">
                  <c:v>14.14</c:v>
                </c:pt>
                <c:pt idx="15">
                  <c:v>15.15</c:v>
                </c:pt>
                <c:pt idx="16">
                  <c:v>16.16</c:v>
                </c:pt>
                <c:pt idx="17">
                  <c:v>17.17</c:v>
                </c:pt>
                <c:pt idx="18">
                  <c:v>18.18</c:v>
                </c:pt>
                <c:pt idx="19">
                  <c:v>19.19</c:v>
                </c:pt>
                <c:pt idx="20">
                  <c:v>20.2</c:v>
                </c:pt>
                <c:pt idx="21">
                  <c:v>21.21</c:v>
                </c:pt>
                <c:pt idx="22">
                  <c:v>22.22</c:v>
                </c:pt>
                <c:pt idx="23">
                  <c:v>23.23</c:v>
                </c:pt>
                <c:pt idx="24">
                  <c:v>24.24</c:v>
                </c:pt>
                <c:pt idx="25">
                  <c:v>25.25</c:v>
                </c:pt>
                <c:pt idx="26">
                  <c:v>26.26</c:v>
                </c:pt>
                <c:pt idx="27">
                  <c:v>27.27</c:v>
                </c:pt>
                <c:pt idx="28">
                  <c:v>28.28</c:v>
                </c:pt>
                <c:pt idx="29">
                  <c:v>29.29</c:v>
                </c:pt>
                <c:pt idx="30">
                  <c:v>30.3</c:v>
                </c:pt>
                <c:pt idx="31">
                  <c:v>31.31</c:v>
                </c:pt>
                <c:pt idx="32">
                  <c:v>32.32</c:v>
                </c:pt>
                <c:pt idx="33">
                  <c:v>33.33</c:v>
                </c:pt>
                <c:pt idx="34">
                  <c:v>34.34</c:v>
                </c:pt>
                <c:pt idx="35">
                  <c:v>35.35</c:v>
                </c:pt>
                <c:pt idx="36">
                  <c:v>36.36</c:v>
                </c:pt>
                <c:pt idx="37">
                  <c:v>37.37</c:v>
                </c:pt>
                <c:pt idx="38">
                  <c:v>38.38</c:v>
                </c:pt>
                <c:pt idx="39">
                  <c:v>39.39</c:v>
                </c:pt>
                <c:pt idx="40">
                  <c:v>40.4</c:v>
                </c:pt>
                <c:pt idx="41">
                  <c:v>41.41</c:v>
                </c:pt>
                <c:pt idx="42">
                  <c:v>42.42</c:v>
                </c:pt>
                <c:pt idx="43">
                  <c:v>43.43</c:v>
                </c:pt>
                <c:pt idx="44">
                  <c:v>44.44</c:v>
                </c:pt>
                <c:pt idx="45">
                  <c:v>45.45</c:v>
                </c:pt>
                <c:pt idx="46">
                  <c:v>46.46</c:v>
                </c:pt>
                <c:pt idx="47">
                  <c:v>47.47</c:v>
                </c:pt>
                <c:pt idx="48">
                  <c:v>48.48</c:v>
                </c:pt>
                <c:pt idx="49">
                  <c:v>49.49</c:v>
                </c:pt>
                <c:pt idx="50">
                  <c:v>50.51</c:v>
                </c:pt>
                <c:pt idx="51">
                  <c:v>51.52</c:v>
                </c:pt>
                <c:pt idx="52">
                  <c:v>52.53</c:v>
                </c:pt>
                <c:pt idx="53">
                  <c:v>53.54</c:v>
                </c:pt>
                <c:pt idx="54">
                  <c:v>54.55</c:v>
                </c:pt>
                <c:pt idx="55">
                  <c:v>55.56</c:v>
                </c:pt>
                <c:pt idx="56">
                  <c:v>56.57</c:v>
                </c:pt>
                <c:pt idx="57">
                  <c:v>57.58</c:v>
                </c:pt>
                <c:pt idx="58">
                  <c:v>58.59</c:v>
                </c:pt>
                <c:pt idx="59">
                  <c:v>59.6</c:v>
                </c:pt>
                <c:pt idx="60">
                  <c:v>60.61</c:v>
                </c:pt>
                <c:pt idx="61">
                  <c:v>61.62</c:v>
                </c:pt>
                <c:pt idx="62">
                  <c:v>62.63</c:v>
                </c:pt>
                <c:pt idx="63">
                  <c:v>63.64</c:v>
                </c:pt>
                <c:pt idx="64">
                  <c:v>64.65</c:v>
                </c:pt>
                <c:pt idx="65">
                  <c:v>65.66</c:v>
                </c:pt>
                <c:pt idx="66">
                  <c:v>66.67</c:v>
                </c:pt>
                <c:pt idx="67">
                  <c:v>67.68</c:v>
                </c:pt>
                <c:pt idx="68">
                  <c:v>68.69</c:v>
                </c:pt>
                <c:pt idx="69">
                  <c:v>69.7</c:v>
                </c:pt>
                <c:pt idx="70">
                  <c:v>70.71</c:v>
                </c:pt>
                <c:pt idx="71">
                  <c:v>71.72</c:v>
                </c:pt>
                <c:pt idx="72">
                  <c:v>72.73</c:v>
                </c:pt>
                <c:pt idx="73">
                  <c:v>73.74</c:v>
                </c:pt>
                <c:pt idx="74">
                  <c:v>74.75</c:v>
                </c:pt>
                <c:pt idx="75">
                  <c:v>75.76</c:v>
                </c:pt>
                <c:pt idx="76">
                  <c:v>76.77</c:v>
                </c:pt>
                <c:pt idx="77">
                  <c:v>77.78</c:v>
                </c:pt>
                <c:pt idx="78">
                  <c:v>78.79</c:v>
                </c:pt>
                <c:pt idx="79">
                  <c:v>79.8</c:v>
                </c:pt>
                <c:pt idx="80">
                  <c:v>80.81</c:v>
                </c:pt>
                <c:pt idx="81">
                  <c:v>81.82</c:v>
                </c:pt>
                <c:pt idx="82">
                  <c:v>82.83</c:v>
                </c:pt>
                <c:pt idx="83">
                  <c:v>83.84</c:v>
                </c:pt>
                <c:pt idx="84">
                  <c:v>84.85</c:v>
                </c:pt>
                <c:pt idx="85">
                  <c:v>85.86</c:v>
                </c:pt>
                <c:pt idx="86">
                  <c:v>86.87</c:v>
                </c:pt>
                <c:pt idx="87">
                  <c:v>87.88</c:v>
                </c:pt>
                <c:pt idx="88">
                  <c:v>88.89</c:v>
                </c:pt>
                <c:pt idx="89">
                  <c:v>89.9</c:v>
                </c:pt>
                <c:pt idx="90">
                  <c:v>90.91</c:v>
                </c:pt>
                <c:pt idx="91">
                  <c:v>91.92</c:v>
                </c:pt>
                <c:pt idx="92">
                  <c:v>92.93</c:v>
                </c:pt>
                <c:pt idx="93">
                  <c:v>93.94</c:v>
                </c:pt>
                <c:pt idx="94">
                  <c:v>94.95</c:v>
                </c:pt>
                <c:pt idx="95">
                  <c:v>95.96</c:v>
                </c:pt>
                <c:pt idx="96">
                  <c:v>96.97</c:v>
                </c:pt>
                <c:pt idx="97">
                  <c:v>97.98</c:v>
                </c:pt>
                <c:pt idx="98">
                  <c:v>98.99</c:v>
                </c:pt>
                <c:pt idx="99">
                  <c:v>100.0</c:v>
                </c:pt>
              </c:numCache>
            </c:numRef>
          </c:xVal>
          <c:yVal>
            <c:numRef>
              <c:f>Sheet1!$B$104:$B$203</c:f>
              <c:numCache>
                <c:formatCode>0.0</c:formatCode>
                <c:ptCount val="100"/>
                <c:pt idx="0">
                  <c:v>0.0009765625</c:v>
                </c:pt>
                <c:pt idx="1">
                  <c:v>0.0048828125</c:v>
                </c:pt>
                <c:pt idx="2">
                  <c:v>0.0126953125</c:v>
                </c:pt>
                <c:pt idx="3">
                  <c:v>0.0396484375</c:v>
                </c:pt>
                <c:pt idx="4">
                  <c:v>0.0396484375</c:v>
                </c:pt>
                <c:pt idx="5">
                  <c:v>0.038671875</c:v>
                </c:pt>
                <c:pt idx="6">
                  <c:v>0.038671875</c:v>
                </c:pt>
                <c:pt idx="7">
                  <c:v>0.038671875</c:v>
                </c:pt>
                <c:pt idx="8">
                  <c:v>0.038671875</c:v>
                </c:pt>
                <c:pt idx="9">
                  <c:v>0.038671875</c:v>
                </c:pt>
                <c:pt idx="10">
                  <c:v>0.06806640625</c:v>
                </c:pt>
                <c:pt idx="11">
                  <c:v>0.0904296875</c:v>
                </c:pt>
                <c:pt idx="12">
                  <c:v>0.11279296875</c:v>
                </c:pt>
                <c:pt idx="13">
                  <c:v>0.1798828125</c:v>
                </c:pt>
                <c:pt idx="14">
                  <c:v>0.21943359375</c:v>
                </c:pt>
                <c:pt idx="15">
                  <c:v>0.28984375</c:v>
                </c:pt>
                <c:pt idx="16">
                  <c:v>0.287890625</c:v>
                </c:pt>
                <c:pt idx="17">
                  <c:v>0.28798828125</c:v>
                </c:pt>
                <c:pt idx="18">
                  <c:v>0.2876953125</c:v>
                </c:pt>
                <c:pt idx="19">
                  <c:v>0.33232421875</c:v>
                </c:pt>
                <c:pt idx="20">
                  <c:v>0.3099609375</c:v>
                </c:pt>
                <c:pt idx="21">
                  <c:v>0.2951171875</c:v>
                </c:pt>
                <c:pt idx="22">
                  <c:v>0.35693359375</c:v>
                </c:pt>
                <c:pt idx="23">
                  <c:v>0.35615234375</c:v>
                </c:pt>
                <c:pt idx="24">
                  <c:v>0.4888671875</c:v>
                </c:pt>
                <c:pt idx="25">
                  <c:v>0.48583984375</c:v>
                </c:pt>
                <c:pt idx="26">
                  <c:v>0.4859375</c:v>
                </c:pt>
                <c:pt idx="27">
                  <c:v>0.603515625</c:v>
                </c:pt>
                <c:pt idx="28">
                  <c:v>0.6103515625</c:v>
                </c:pt>
                <c:pt idx="29">
                  <c:v>0.67197265625</c:v>
                </c:pt>
                <c:pt idx="30">
                  <c:v>0.67099609375</c:v>
                </c:pt>
                <c:pt idx="31">
                  <c:v>0.67099609375</c:v>
                </c:pt>
                <c:pt idx="32">
                  <c:v>0.71025390625</c:v>
                </c:pt>
                <c:pt idx="33">
                  <c:v>0.69912109375</c:v>
                </c:pt>
                <c:pt idx="34">
                  <c:v>0.7435546875</c:v>
                </c:pt>
                <c:pt idx="35">
                  <c:v>0.7447265625</c:v>
                </c:pt>
                <c:pt idx="36">
                  <c:v>0.8119140625</c:v>
                </c:pt>
                <c:pt idx="37">
                  <c:v>0.8693359375</c:v>
                </c:pt>
                <c:pt idx="38">
                  <c:v>0.86640625</c:v>
                </c:pt>
                <c:pt idx="39">
                  <c:v>0.88974609375</c:v>
                </c:pt>
                <c:pt idx="40">
                  <c:v>0.989453125</c:v>
                </c:pt>
                <c:pt idx="41">
                  <c:v>0.9884765625</c:v>
                </c:pt>
                <c:pt idx="42">
                  <c:v>1.011328125</c:v>
                </c:pt>
                <c:pt idx="43">
                  <c:v>1.10283203125</c:v>
                </c:pt>
                <c:pt idx="44">
                  <c:v>1.10283203125</c:v>
                </c:pt>
                <c:pt idx="45">
                  <c:v>1.10185546875</c:v>
                </c:pt>
                <c:pt idx="46">
                  <c:v>1.1828125</c:v>
                </c:pt>
                <c:pt idx="47">
                  <c:v>1.1916015625</c:v>
                </c:pt>
                <c:pt idx="48">
                  <c:v>1.2328125</c:v>
                </c:pt>
                <c:pt idx="49">
                  <c:v>1.2318359375</c:v>
                </c:pt>
                <c:pt idx="50">
                  <c:v>1.2318359375</c:v>
                </c:pt>
                <c:pt idx="51">
                  <c:v>1.23095703125</c:v>
                </c:pt>
                <c:pt idx="52">
                  <c:v>1.23193359375</c:v>
                </c:pt>
                <c:pt idx="53">
                  <c:v>1.21171875</c:v>
                </c:pt>
                <c:pt idx="54">
                  <c:v>1.08896484375</c:v>
                </c:pt>
                <c:pt idx="55">
                  <c:v>0.957421875</c:v>
                </c:pt>
                <c:pt idx="56">
                  <c:v>0.4458984375</c:v>
                </c:pt>
                <c:pt idx="57">
                  <c:v>0.31298828125</c:v>
                </c:pt>
                <c:pt idx="58">
                  <c:v>0.210546875</c:v>
                </c:pt>
                <c:pt idx="59">
                  <c:v>0.29248046875</c:v>
                </c:pt>
                <c:pt idx="60">
                  <c:v>0.302734375</c:v>
                </c:pt>
                <c:pt idx="61">
                  <c:v>0.32568359375</c:v>
                </c:pt>
                <c:pt idx="62">
                  <c:v>0.35546875</c:v>
                </c:pt>
                <c:pt idx="63">
                  <c:v>0.42939453125</c:v>
                </c:pt>
                <c:pt idx="64">
                  <c:v>0.42939453125</c:v>
                </c:pt>
                <c:pt idx="65">
                  <c:v>0.43037109375</c:v>
                </c:pt>
                <c:pt idx="66">
                  <c:v>0.43037109375</c:v>
                </c:pt>
                <c:pt idx="67">
                  <c:v>0.44326171875</c:v>
                </c:pt>
                <c:pt idx="68">
                  <c:v>0.54130859375</c:v>
                </c:pt>
                <c:pt idx="69">
                  <c:v>0.54130859375</c:v>
                </c:pt>
                <c:pt idx="70">
                  <c:v>0.56416015625</c:v>
                </c:pt>
                <c:pt idx="71">
                  <c:v>0.5939453125</c:v>
                </c:pt>
                <c:pt idx="72">
                  <c:v>0.61630859375</c:v>
                </c:pt>
                <c:pt idx="73">
                  <c:v>0.6087890625</c:v>
                </c:pt>
                <c:pt idx="74">
                  <c:v>0.661328125</c:v>
                </c:pt>
                <c:pt idx="75">
                  <c:v>0.669140625</c:v>
                </c:pt>
                <c:pt idx="76">
                  <c:v>0.69150390625</c:v>
                </c:pt>
                <c:pt idx="77">
                  <c:v>0.71376953125</c:v>
                </c:pt>
                <c:pt idx="78">
                  <c:v>0.75</c:v>
                </c:pt>
                <c:pt idx="79">
                  <c:v>0.78857421875</c:v>
                </c:pt>
                <c:pt idx="80">
                  <c:v>0.78955078125</c:v>
                </c:pt>
                <c:pt idx="81">
                  <c:v>0.78857421875</c:v>
                </c:pt>
                <c:pt idx="82">
                  <c:v>0.78857421875</c:v>
                </c:pt>
                <c:pt idx="83">
                  <c:v>0.81142578125</c:v>
                </c:pt>
                <c:pt idx="84">
                  <c:v>0.86728515625</c:v>
                </c:pt>
                <c:pt idx="85">
                  <c:v>0.915234375</c:v>
                </c:pt>
                <c:pt idx="86">
                  <c:v>0.91240234375</c:v>
                </c:pt>
                <c:pt idx="87">
                  <c:v>0.98818359375</c:v>
                </c:pt>
                <c:pt idx="88">
                  <c:v>1.03505859375</c:v>
                </c:pt>
                <c:pt idx="89">
                  <c:v>1.0736328125</c:v>
                </c:pt>
                <c:pt idx="90">
                  <c:v>1.03642578125</c:v>
                </c:pt>
                <c:pt idx="91">
                  <c:v>1.06767578125</c:v>
                </c:pt>
                <c:pt idx="92">
                  <c:v>1.088671875</c:v>
                </c:pt>
                <c:pt idx="93">
                  <c:v>1.55</c:v>
                </c:pt>
                <c:pt idx="94">
                  <c:v>1.5341796875</c:v>
                </c:pt>
                <c:pt idx="95">
                  <c:v>1.50361328125</c:v>
                </c:pt>
                <c:pt idx="96">
                  <c:v>1.30986328125</c:v>
                </c:pt>
                <c:pt idx="97">
                  <c:v>1.26708984375</c:v>
                </c:pt>
                <c:pt idx="98">
                  <c:v>1.16796875</c:v>
                </c:pt>
                <c:pt idx="99">
                  <c:v>1.02314453125</c:v>
                </c:pt>
              </c:numCache>
            </c:numRef>
          </c:yVal>
          <c:smooth val="0"/>
        </c:ser>
        <c:axId val="-2128940872"/>
        <c:axId val="-2129643912"/>
      </c:scatterChart>
      <c:valAx>
        <c:axId val="-2128940872"/>
        <c:scaling>
          <c:orientation val="minMax"/>
          <c:max val="100.0"/>
          <c:min val="0.0"/>
        </c:scaling>
        <c:delete val="0"/>
        <c:axPos val="b"/>
        <c:numFmt formatCode="0&quot;%&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9643912"/>
        <c:crosses val="autoZero"/>
        <c:crossBetween val="midCat"/>
        <c:majorUnit val="25.0"/>
      </c:valAx>
      <c:valAx>
        <c:axId val="-2129643912"/>
        <c:scaling>
          <c:orientation val="minMax"/>
          <c:max val="4.0"/>
          <c:min val="0.0"/>
        </c:scaling>
        <c:delete val="0"/>
        <c:axPos val="l"/>
        <c:numFmt formatCode="0&quot; GB&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128940872"/>
        <c:crosses val="autoZero"/>
        <c:crossBetween val="midCat"/>
        <c:majorUnit val="1.0"/>
      </c:valAx>
      <c:spPr>
        <a:noFill/>
        <a:ln>
          <a:noFill/>
        </a:ln>
      </c:spPr>
    </c:plotArea>
    <c:plotVisOnly val="1"/>
    <c:dispBlanksAs val="gap"/>
    <c:showDLblsOverMax val="0"/>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23.</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0:55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a:p>
            <a:r>
              <a:t>• Install line: uv add open3d "laspy[lazrs]" pyvista resolved in a fresh uv project with uv 0.12.6 on 2026-10-04 (docs/QA_NOTES.md)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Let's see who's really behind the mask. Python is the interface. Take NumPy: when you add two arrays, a compiled C core does the loop, with some C++ in parts. Open3D is C++, PyVista draws with VTK, also C++, and laspy decodes with Rust. So the C++ never went away; you just call it from Python, and the next slides use exactly that.</a:t>
            </a:r>
          </a:p>
          <a:p/>
          <a:p>
            <a:r>
              <a:t>TIME: 30 s, ends at 1:25</a:t>
            </a:r>
          </a:p>
          <a:p/>
          <a:p>
            <a:r>
              <a:t>LIKELY QUESTION: Is Python really just a wrapper?</a:t>
            </a:r>
          </a:p>
          <a:p/>
          <a:p>
            <a:r>
              <a:t>ANSWER: For the heavy 3D libraries, yes: Open3D and VTK (under PyVista) are C++, NumPy's core is C with some C++, and the lazrs decoder behind laspy is Rust; Python calls compiled code. That is also why the hand-off between libraries on slide 10 costs something.</a:t>
            </a:r>
          </a:p>
          <a:p/>
          <a:p>
            <a:r>
              <a:t>CHECK BEFORE THE TALK:</a:t>
            </a:r>
          </a:p>
          <a:p>
            <a:r>
              <a:t>• NumPy is mostly C (its core), with C++ in parts and BLAS/LAPACK underneath; the slide says "a compiled C core, with some C++" on purpose. Say "C++" for Open3D and VTK, which are C++ throughout</a:t>
            </a:r>
          </a:p>
          <a:p>
            <a:r>
              <a:t>• Legibility: the caption and both logos should read from the back of the room (check on the presenting projector). The template and the logos belong to their owners; no endorsement is implied (small print on the slide)</a:t>
            </a:r>
          </a:p>
          <a:p/>
          <a:p>
            <a:r>
              <a:t>TRACE:</a:t>
            </a:r>
          </a:p>
          <a:p>
            <a:r>
              <a:t>• deck/assets/meme/python_cpp_unmasking.png: the Scooby-Doo unmasking template with the Python and C++ logos added</a:t>
            </a:r>
          </a:p>
          <a:p>
            <a:r>
              <a:t>• Logos: Wikimedia Commons, Python-logo-notext.svg and ISO_C++_Logo.svg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1:55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5.</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5; laspy's header.parse_crs() needs it</a:t>
            </a:r>
          </a:p>
          <a:p>
            <a:r>
              <a:t>• Numba (B1, the escape hatch for a kernel that has no batched call) and Dask (arrays bigger than RAM, slides 26 to 28)</a:t>
            </a:r>
          </a:p>
          <a:p>
            <a:r>
              <a:t>• trimesh and PyTorch3D: named on slide 9 as not in this pipeline; scikit-learn: the Random Forest of backup B5; PyTorch: backup B3</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65 s, ends at 3:00</a:t>
            </a:r>
          </a:p>
          <a:p/>
          <a:p>
            <a:r>
              <a:t>LIKELY QUESTION: Why this square and not a whole AHN file?</a:t>
            </a:r>
          </a:p>
          <a:p/>
          <a:p>
            <a:r>
              <a:t>ANSWER: It's the venue, and it's small enough to run every step live in under a second, which is rule three, make it small first. The whole 1 km file has 21 million points; slides 26 to 28 show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renders/f1_load.png (left frame), renders/f6_final.png (right frame)</a:t>
            </a:r>
          </a:p>
          <a:p>
            <a:r>
              <a:t>• renders/render_spec.json</a:t>
            </a:r>
          </a:p>
          <a:p>
            <a:r>
              <a:t>• renders/labels.json: f6_final (label chips), f1_load.jaarbeurs_edge (edge arrow position)</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renders/labels.json f1_load.jaarbeurs_hall; evidence in renders/render_spec.json labels.detail.f1_load.jaarbeurs_hall_note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 is this thing, as data? One house, drawn three ways. A scanner gives you the left one, a point cloud: an N by 3 array of x, y and z plus a column per attribute, samples of the surface with nothing joining them. A mesh adds the connections, so area and volume exist. A voxel grid trades exact positions for a regular index of space. Today's pipeline stays with points and uses voxels only to downsample. Each of the three trades something.</a:t>
            </a:r>
          </a:p>
          <a:p/>
          <a:p>
            <a:r>
              <a:t>TIME: 40 s, ends at 3:40</a:t>
            </a:r>
          </a:p>
          <a:p/>
          <a:p>
            <a:r>
              <a:t>LIKELY QUESTION: Should I turn my point cloud into a mesh or voxels first?</a:t>
            </a:r>
          </a:p>
          <a:p/>
          <a:p>
            <a:r>
              <a:t>ANSWER: Only when the question needs it: area, volume or a solid render want a mesh; occupancy and neighbour lookups like voxels. Every conversion loses detail and adds a parameter you then have to defend, such as the voxel size or the meshing depth. This pipeline stays with points.</a:t>
            </a:r>
          </a:p>
          <a:p/>
          <a:p>
            <a:r>
              <a:t>TRACE:</a:t>
            </a:r>
          </a:p>
          <a:p>
            <a:r>
              <a:t>• deck/appendix.yaml C1 (bullets, figure, citations; shown here as a main slide)</a:t>
            </a:r>
          </a:p>
          <a:p>
            <a:r>
              <a:t>• deck/concepts/make_figures.py: deck/assets/concepts/c1_representations.png, results/concepts.json c1</a:t>
            </a:r>
          </a:p>
          <a:p>
            <a:r>
              <a:t>• research: reports/mental_models.md section 1</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Whatever the data, a 3D project goes round the same ring, and each stage has its Python tool. The two dark blue stages get the data. One, acquisition: a scanner, a camera or a depth sensor gives you raw points, and laspy reads them from the LAZ file; this is what single points look like. Two, preparation: you clean the data and register scans into one coordinate system, with NumPy and Open3D. NumPy is the glue throughout: every library hands the next one an N by 3 array. The two lighter blue stages understand it. Three, exploration: Open3D and SciPy give you voxels, planes and clusters, here each cluster in its own colour. Four, analysis: you measure and monitor, again in NumPy and SciPy. The two green stages deliver it. Five, visualisation: PyVista draws the result, because you need to see it to trust it. Six, application: it ends up in a product. And the dashed arrows are the real story: you loop back, from analysis to preparation, from a render to a re-scan, whenever the data surprises you. Today's example is a small version of stages one to five. First, four rules of thumb I wish I'd had on day one.</a:t>
            </a:r>
          </a:p>
          <a:p/>
          <a:p>
            <a:r>
              <a:t>TIME: 145 s, ends at 6:05</a:t>
            </a:r>
          </a:p>
          <a:p/>
          <a:p>
            <a:r>
              <a:t>LIKELY QUESTION: Where does most of the time go?</a:t>
            </a:r>
          </a:p>
          <a:p/>
          <a:p>
            <a:r>
              <a:t>ANSWER: Preparation, nearly always. Registration, cleaning and checking coordinates take far longer than any model, which is why the rules of thumb on the next slide are about getting the data small and trustworthy first.</a:t>
            </a:r>
          </a:p>
          <a:p/>
          <a:p>
            <a:r>
              <a:t>TRACE:</a:t>
            </a:r>
          </a:p>
          <a:p>
            <a:r>
              <a:t>• content.yaml slide 7 stages (the former chain slide merged in: laspy, NumPy, Open3D, PyVista with an image each); simplified from Figure 1-12, "A high-level view of the 3D data science workflow", in the book 3D Data Science with Python (O'Reilly)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6:50</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8 rules; the same four rules close the talk on slide 30 with their evidence</a:t>
            </a:r>
          </a:p>
          <a:p/>
          <a:p>
            <a:r>
              <a:t>WHERE IN THE TALK:</a:t>
            </a:r>
          </a:p>
          <a:p>
            <a:r>
              <a:t>• 1 Think in arrays: slides 6, 10 and 11 (N by 3 arrays, copy or view at every hand-off)</a:t>
            </a:r>
          </a:p>
          <a:p>
            <a:r>
              <a:t>• 2 Look before you compute: slides 5, 20 and 30 (AHN classes, street furniture against the BGT register, the gotchas)</a:t>
            </a:r>
          </a:p>
          <a:p>
            <a:r>
              <a:t>• 3 Make it small first: slides 13, 15 and 27 to 29 (voxels, tiles, streaming chunks)</a:t>
            </a:r>
          </a:p>
          <a:p>
            <a:r>
              <a:t>• 4 Let compiled code loop: slides 21 to 25 (the quiz, the toll, the profiler, free threads)</a:t>
            </a:r>
          </a:p>
          <a:p/>
          <a:p>
            <a:r>
              <a:t>MENTAL MODEL: The rules rest on the hidden mental-models section (C2 to C9, with citations; C1 and C5 are slides 6 and 20; slide 7 is the workflow);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trimesh and PyTorch3D sit apart: useful, just not in this pipeline. So how do these libraries hand data to each other?</a:t>
            </a:r>
          </a:p>
          <a:p/>
          <a:p>
            <a:r>
              <a:t>TIME: 55 s, ends at 7:45</a:t>
            </a:r>
          </a:p>
          <a:p/>
          <a:p>
            <a:r>
              <a:t>LIKELY QUESTION: Why is PyTorch3D on the map if you don't use it?</a:t>
            </a:r>
          </a:p>
          <a:p/>
          <a:p>
            <a:r>
              <a:t>ANSWER: Because people ask about it, and it does have a job: differentiable 3D operations on GPU tensors for training. It just isn't a fit for a CPU pipeline on Python 3.13; the install status is on backup slide B3.</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a:p/>
          <a:p>
            <a:r>
              <a:t>MENTAL MODEL: Hidden C7 (ideas outlive the library you use): the same idea spelled in Open3D, PyVista and trimesh.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8:55</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9). If skipped, say on slide 11: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on slide 29 are measured here</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5 (ahn.nl, Het Waterschapshuis, CC BY 4.0). Copy or view: checked by writing to one side and reading the other, and with np.shares_memory. float32: Vector3dVector of a float32 copy, 317 ms, against the float64 xyz of slide 12, 8.2 ms.</a:t>
            </a:r>
          </a:p>
          <a:p/>
          <a:p>
            <a:r>
              <a:t>WHY IT MATTERS:</a:t>
            </a:r>
          </a:p>
          <a:p>
            <a:r>
              <a:t>• Memory: one float64 xyz copy is 24 B per point (results/memory.json); 21 013 926 points × 24 B = 0.47 GB per copy of a 1 km AHN file, and the load-everything pipeline holds several (slide 25)</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9:20</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10),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10:25</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10),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11:20</a:t>
            </a:r>
          </a:p>
          <a:p/>
          <a:p>
            <a:r>
              <a:t>LIKELY QUESTION: Why average? Why not keep one real point per voxel?</a:t>
            </a:r>
          </a:p>
          <a:p/>
          <a:p>
            <a:r>
              <a:t>ANSWER: You can, and on slide 27 I do exactly that, because it streams. Open3D's voxel_down_sample returns the centroid: I checked that it equals the per-voxel mean, on a grid anchored half a voxel below the minimum corner.</a:t>
            </a:r>
          </a:p>
          <a:p/>
          <a:p>
            <a:r>
              <a:t>TRACE:</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Every Dutch person in this room will tell you Utrecht is flat, and around the Jaarbeurs they are right: one plane for this whole crop scores 94.6 % recall against AHN's ground, the tiles 94.3 %, a tie. On the street where I built this, one plane scored 82.7 % and the tiles 94.5 %, so the code fits one RANSAC plane per 25 m tile, and the last line gives no ground to the 20 tiles under a roof, where RANSAC fits the roof. Note `probability=1.0`: without it, two seeded runs differ. Or, as import this puts it: flat is better than nested. With the ground gone, let's group what's left.</a:t>
            </a:r>
          </a:p>
          <a:p/>
          <a:p>
            <a:r>
              <a:t>TIME: 75 s, ends at 12:35</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and its inner test, distance to a plane, is exactly the benchmark in the next section.</a:t>
            </a:r>
          </a:p>
          <a:p/>
          <a:p>
            <a:r>
              <a:t>CHECK BEFORE THE TALK:</a:t>
            </a:r>
          </a:p>
          <a:p>
            <a:r>
              <a:t>• The slide 14 title no longer says 'Utrecht isn't flat': on the Jaarbeurs crop one plane ties with the tiles (results/pipeline.json single_plane); the joke now runs the other way</a:t>
            </a:r>
          </a:p>
          <a:p/>
          <a:p>
            <a:r>
              <a:t>TRACE:</a:t>
            </a:r>
          </a:p>
          <a:p>
            <a:r>
              <a:t>• snippets/s10_ground.py</a:t>
            </a:r>
          </a:p>
          <a:p>
            <a:r>
              <a:t>• results/snippets.json: s10_ground.py.ok</a:t>
            </a:r>
          </a:p>
          <a:p>
            <a:r>
              <a:t>• results/pipeline.json: ground.precision, ground.recall, n_tiles, params.tile, params.ransac_threshold, params.ransac_n, params.ransac_iterations, params.ransac_probability, params.seed</a:t>
            </a:r>
          </a:p>
          <a:p>
            <a:r>
              <a:t>• renders/f3_ground.png</a:t>
            </a:r>
          </a:p>
          <a:p>
            <a:r>
              <a:t>• results/pipeline.json: checks.ransac_default_probability (seeded runs identical at 1.0, different at the default)</a:t>
            </a:r>
          </a:p>
          <a:p>
            <a:r>
              <a:t>• results/pipeline.json: params_why.tile</a:t>
            </a:r>
          </a:p>
          <a:p>
            <a:r>
              <a:t>• results/bench_cliff.json: plane.plane_fit (one plane on the whole crop)</a:t>
            </a:r>
          </a:p>
          <a:p>
            <a:r>
              <a:t>• One plane against 25 m tiles, on this crop and on the first example street (data/previous/, Graadt van Roggenweg): results/pipeline.json single_plane, previous_street, params_why.tile; the roof tiles: tiles_flagged, snippets/s10_ground.py (z0 &lt; 5 rule = the plausibility check on every accepted tile)</a:t>
            </a:r>
          </a:p>
          <a:p>
            <a:r>
              <a:t>• Seeded runs differ without probability=1.0: research: review/honesty/snippets/s10_default_probability.py, reports/libraries.md FLAG 1</a:t>
            </a:r>
          </a:p>
          <a:p>
            <a:r>
              <a:t>• Callout: 'Flat is better than nested.' is line 7 of `python -c "import this"` (checked by snippets/s10b_zen.py; results/snippets.json: s10b_zen.py.ok)</a:t>
            </a:r>
          </a:p>
          <a:p/>
          <a:p>
            <a:r>
              <a:t>LINE BY LINE:</a:t>
            </a:r>
          </a:p>
          <a:p>
            <a:r>
              <a:t>• o3d.utility.random.seed(0): RANSAC draws random points; a fixed seed makes the planes reproducible (together with probability=1.0, see below)</a:t>
            </a:r>
          </a:p>
          <a:p>
            <a:r>
              <a:t>• ground = np.zeros(len(P), bool): one flag per voxel, nothing is ground yet</a:t>
            </a:r>
          </a:p>
          <a:p>
            <a:r>
              <a:t>• for i in tiles(P, 25) (key line): splits the voxels into 25 m squares in plan view and loops over the 64 tiles, never over points; i holds the indices of one tile</a:t>
            </a:r>
          </a:p>
          <a:p>
            <a:r>
              <a:t>• z0 = np.percentile(P[i, 2], 2): the tile's low height, the 2nd percentile, robust to a few points below the ground</a:t>
            </a:r>
          </a:p>
          <a:p>
            <a:r>
              <a:t>• low = i[P[i, 2] &lt; z0 + 1.5]: candidate ground, the voxels within 1.5 m of that low height (roofs and treetops are out before RANSAC starts)</a:t>
            </a:r>
          </a:p>
          <a:p>
            <a:r>
              <a:t>• t = down.select_by_index(low): the candidates as their own Open3D point cloud</a:t>
            </a:r>
          </a:p>
          <a:p>
            <a:r>
              <a:t>• _, inl = t.segment_plane(0.4, 3, 300, probability=1.0): RANSAC fits one plane: a voxel within 0.4 m of the plane is an inlier, each try uses 3 points, at most 300 tries; probability=1.0 turns off the early stop, without it two seeded runs differ</a:t>
            </a:r>
          </a:p>
          <a:p>
            <a:r>
              <a:t>• ground[low[inl]] = z0 &lt; 5: the inliers become ground, unless the tile's low point is more than 5 m up: then the tile is all roof and gets no ground (20 tiles)</a:t>
            </a:r>
          </a:p>
          <a:p/>
          <a:p>
            <a:r>
              <a:t>SKETCH: A side view of two tiles: sage ground points along a gentle slope, a building and a tree above them in white. Each tile fits its own straight plane through its ground points, so the line can bend at the tile edge where the street does.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1 024 clusters, and 10 % of those voxels are noise that belong to no cluster. A cluster is just a blob, not yet a building or a tree. Naming the blobs is the next step.</a:t>
            </a:r>
          </a:p>
          <a:p/>
          <a:p>
            <a:r>
              <a:t>TIME: 55 s, ends at 13:30</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1 024</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14:40</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83 %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17 and 18;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research: reports/build/pipeline.md;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15:20</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18: "every render here is PyVista, off-screen, one fixed camera".</a:t>
            </a:r>
          </a:p>
          <a:p/>
          <a:p>
            <a:r>
              <a:t>TRACE:</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1 024 clusters, NumPy's rules turned the clusters into four classes, and SciPy painted those back onto every point. From file to labels that's 0.6 seconds on this crop, one run, so take it as indicative, and not a single Python loop over points. First, a confession about street furniture.</a:t>
            </a:r>
          </a:p>
          <a:p/>
          <a:p>
            <a:r>
              <a:t>TIME: 65 s, ends at 16:25</a:t>
            </a:r>
          </a:p>
          <a:p/>
          <a:p>
            <a:r>
              <a:t>LIKELY QUESTION: Can I run this on my own AHN file?</a:t>
            </a:r>
          </a:p>
          <a:p/>
          <a:p>
            <a:r>
              <a:t>ANSWER: Yes, that's what the repo is for. For a whole 1 km AHN file or larger, start with the chunked read from slide 26, and expect to retune voxel size, tile size and eps for a different point density. Not in the Netherlands? Backup B6 lists other open sources.</a:t>
            </a:r>
          </a:p>
          <a:p/>
          <a:p>
            <a:r>
              <a:t>CHECKPOINT: Skip-first order: 26, 25, 27, 18, 11. Target: leave this slide by 16:25. Leaving after 17:25: skip 26 and 25. Leaving after 18:55: also skip 27, and tell only one story on 30. Further on: reach slide 26 by 23:45, otherwise skip it. To skip: one sentence, then click.</a:t>
            </a:r>
          </a:p>
          <a:p/>
          <a:p>
            <a:r>
              <a:t>CHECK BEFORE THE TALK:</a:t>
            </a:r>
          </a:p>
          <a:p>
            <a:r>
              <a:t>• Repo URL is still a placeholder (content.yaml)</a:t>
            </a:r>
          </a:p>
          <a:p>
            <a:r>
              <a:t>• Other open sources (B6): research: reports/videos.md V1</a:t>
            </a:r>
          </a:p>
          <a:p/>
          <a:p>
            <a:r>
              <a:t>TRACE:</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renders/f6_final.png</a:t>
            </a:r>
          </a:p>
          <a:p>
            <a:r>
              <a:t>• renders/labels.json: f6_final</a:t>
            </a:r>
          </a:p>
          <a:p>
            <a:r>
              <a:t>• Table: results/pipeline.json points_in, points_after_voxel, ground.precision, n_clusters, timings_s; '4 classes' = ground, buildings, vegetation, street furniture</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57 ms, copy into Open3D 16 ms, voxels 84 ms, ground 81 ms, clusters 137 ms, labels 151 ms, paint-back 99 ms; total 624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So why do poles get so few points?</a:t>
            </a:r>
          </a:p>
          <a:p/>
          <a:p>
            <a:r>
              <a:t>TIME: 40 s, ends at 17:05</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clusters 435 and 710 within 0.51 m and 0.49 m of a lamp post; cluster 719 is 4.97 m from the nearest one</a:t>
            </a:r>
          </a:p>
          <a:p>
            <a:r>
              <a:t>• Map: 60 of the 61 poles project inside the render (one falls just outside the frame)</a:t>
            </a:r>
          </a:p>
          <a:p/>
          <a:p>
            <a:r>
              <a:t>MENTAL MODEL: Slide 20 (a point cloud samples the surface unevenly) follows: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Why so few points on a pole? Because a scanner doesn't see the city, it samples it. This map counts points per square metre in our crop, median 18. Walls and tree crowns stack points into bright lines and spots, and some bands are thin, so a thin pole can fall between the samples. A radius tuned in one corner can fail in the next: measure density and error before you tune anything. Now, one simple question about every point.</a:t>
            </a:r>
          </a:p>
          <a:p/>
          <a:p>
            <a:r>
              <a:t>TIME: 40 s, ends at 17:45</a:t>
            </a:r>
          </a:p>
          <a:p/>
          <a:p>
            <a:r>
              <a:t>LIKELY QUESTION: Is the density on the map the density of the surface?</a:t>
            </a:r>
          </a:p>
          <a:p/>
          <a:p>
            <a:r>
              <a:t>ANSWER: Not quite: a map cell counts every point above it, so walls and tree crowns look denser than they are as surfaces; a per-surface density needs normals. And the published accuracy is a specification for the whole data set, not a guarantee for each point.</a:t>
            </a:r>
          </a:p>
          <a:p/>
          <a:p>
            <a:r>
              <a:t>TRACE:</a:t>
            </a:r>
          </a:p>
          <a:p>
            <a:r>
              <a:t>• deck/appendix.yaml C5 (bullets, figure, citations; shown here as a main slide)</a:t>
            </a:r>
          </a:p>
          <a:p>
            <a:r>
              <a:t>• deck/concepts/make_figures.py: deck/assets/concepts/c5_density.png, results/concepts.json c5</a:t>
            </a:r>
          </a:p>
          <a:p>
            <a:r>
              <a:t>• data/utrecht_jaarbeurs_200m.laz</a:t>
            </a:r>
          </a:p>
          <a:p>
            <a:r>
              <a:t>• research: reports/mental_models.md section 6</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16).</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19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75 s, ends at 19:00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what changed most is how many times we call into compiled code, and memory layout does the rest. Even a loop over plain Python floats, which avoids NumPy scalars, takes 78 ms, plus 107 ms to build those lists with P.tolist(). So where does the time go?</a:t>
            </a:r>
          </a:p>
          <a:p/>
          <a:p>
            <a:r>
              <a:t>TIME: 80 s, ends at 20:20</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23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12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5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C++ libraries are no exception: the KDTree query the loop uses costs 9.8 µs even when it finds nothing, against 2.1 µs per point inside one call, so the kNN loop is 6.2× slower than one call. So how do you find such a loop in your own code?</a:t>
            </a:r>
          </a:p>
          <a:p/>
          <a:p>
            <a:r>
              <a:t>TIME: 95 s, ends at 21:55</a:t>
            </a:r>
          </a:p>
          <a:p/>
          <a:p>
            <a:r>
              <a:t>LIKELY QUESTION: Why is the KDTree cliff so much smaller than the plane cliff?</a:t>
            </a:r>
          </a:p>
          <a:p/>
          <a:p>
            <a:r>
              <a:t>ANSWER: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CC BY 4.0). KDTree query: SciPy KDTree.query with k = 16 and distance_upper_bound, one query point far outside the cloud (no neighbour found), median of 7 timeit repeats of 20 000 calls.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So, could threads rescue the loop?</a:t>
            </a:r>
          </a:p>
          <a:p/>
          <a:p>
            <a:r>
              <a:t>TIME: 55 s, ends at 22:50</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22 gives the loop against the expression</a:t>
            </a:r>
          </a:p>
          <a:p/>
          <a:p>
            <a:r>
              <a:t>HOW TO READ IT:</a:t>
            </a:r>
          </a:p>
          <a:p>
            <a:r>
              <a:t>• Rows: the lines of the slide-18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22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Free threading spreads the toll over your cores; it doesn't remove it. Now the other way 3D data hurts: memory.</a:t>
            </a:r>
          </a:p>
          <a:p/>
          <a:p>
            <a:r>
              <a:t>TIME: 50 s, ends at 23:40</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26: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5 (ahn.nl, Het Waterschapshuis, CC BY 4.0). Loop: the slide 21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1 km AHN file has 21 013 926 points, but the full-size files are 5 by 6.25 km, and the one with this area, 2023_C_31HZ2, has 926 203 338. At the 86 bytes per point I measured for our pipeline, that's about 74.2 GB, against 25.9 GB for the LAS records alone; both computed, not run. It works on my machine, just not for this file. So how do we get through it anyway?</a:t>
            </a:r>
          </a:p>
          <a:p/>
          <a:p>
            <a:r>
              <a:t>TIME: 55 s, ends at 24:35</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23:45. Later than that: skip this slide.</a:t>
            </a:r>
          </a:p>
          <a:p/>
          <a:p>
            <a:r>
              <a:t>IF SKIPPED: Skip-first number 3. If skipped, say the one fact on slide 27: "a full-size AHN file has 926 203 338 points".</a:t>
            </a:r>
          </a:p>
          <a:p/>
          <a:p>
            <a:r>
              <a:t>TRACE:</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12 and 13);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WHAT IS ON THE SLIDE:</a:t>
            </a:r>
          </a:p>
          <a:p>
            <a:r>
              <a:t>• Title: the AHN5 file that holds this area, 2023_C_31HZ2, is 5 by 6.25 km with 926 203 338 points; loading it whole needs more than the 32 GB of a big laptop</a:t>
            </a:r>
          </a:p>
          <a:p>
            <a:r>
              <a:t>• Bars: two reference bars, 16 and 32 GB of RAM (navy), then three computed bars for that file: the LAS records alone (30 B per point for point format 6), plus a float64 xyz copy (24 B per point more), and our load and voxel steps with every array kept (86 B per point); the dashed line is 32 GB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fix is to never hold the whole file: laspy reads it in chunks of 1 000 000 points, each chunk keeps one point per 0.5 m voxel, and one np.unique at the end merges the chunks. On the 1 km file the load-everything pipeline from slides 12 and 13 peaks at 3.0 GB on top of what the imports already use; this loop peaks at 0.8 GB, and its points are exactly those of a load-everything first-point-per-voxel reference. It keeps the first point per voxel, not the average from slide 13, because a first point is a real point and it streams. So why does it work?</a:t>
            </a:r>
          </a:p>
          <a:p/>
          <a:p>
            <a:r>
              <a:t>TIME: 75 s, ends at 25:50</a:t>
            </a:r>
          </a:p>
          <a:p/>
          <a:p>
            <a:r>
              <a:t>LIKELY QUESTION: Does that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CHECK BEFORE THE TALK:</a:t>
            </a:r>
          </a:p>
          <a:p>
            <a:r>
              <a:t>• Checked: memory.tile_1km.chunked_equals_reference = true (results/memory.json), so 'exactly those of' may be said</a:t>
            </a:r>
          </a:p>
          <a:p/>
          <a:p>
            <a:r>
              <a:t>TRACE:</a:t>
            </a:r>
          </a:p>
          <a:p>
            <a:r>
              <a:t>• snippets/s21_chunked.py</a:t>
            </a:r>
          </a:p>
          <a:p>
            <a:r>
              <a:t>• results/snippets.json: s21_chunked.py.ok</a:t>
            </a:r>
          </a:p>
          <a:p>
            <a:r>
              <a:t>• bench/bench_memory.py</a:t>
            </a:r>
          </a:p>
          <a:p>
            <a:r>
              <a:t>• results/memory.json: tile_1km.chunk_size, tile_1km.voxel, tile_1km.naive_peak_mb, tile_1km.chunked_peak_mb, tile_1km.chunked_equals_reference</a:t>
            </a:r>
          </a:p>
          <a:p>
            <a:r>
              <a:t>• Fine voxels keep almost everything on AHN: research: reports/critic.md C3 and C4 (pilot)</a:t>
            </a:r>
          </a:p>
          <a:p>
            <a:r>
              <a:t>• results/memory.json: tile_1km.cases.pipeline (the naive peak), tile_1km.naive_kept_open3d_centroids, tile_1km.chunked_kept_first_points</a:t>
            </a:r>
          </a:p>
          <a:p>
            <a:r>
              <a:t>• Peaks are increases over the process after imports (results/memory.json tile_1km.units, conditions.extra.rss_method; tile_1km.baseline_mb_after_imports)</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GB = 2³⁰ bytes.</a:t>
            </a:r>
          </a:p>
          <a:p/>
          <a:p>
            <a:r>
              <a:t>LINE BY LINE:</a:t>
            </a:r>
          </a:p>
          <a:p>
            <a:r>
              <a:t>• v, keys, pts = 0.5, [], []: the voxel size, and two lists that collect each chunk's voxel keys and points</a:t>
            </a:r>
          </a:p>
          <a:p>
            <a:r>
              <a:t>• with laspy.open(path) as f: opens the file without reading the points</a:t>
            </a:r>
          </a:p>
          <a:p>
            <a:r>
              <a:t>• lo, hi = f.header.mins, f.header.maxs: the local origin and the extent, from the header alone</a:t>
            </a:r>
          </a:p>
          <a:p>
            <a:r>
              <a:t>• dims = ((hi - lo) // v).astype(np.int64) + 1: the number of voxels along x, y and z</a:t>
            </a:r>
          </a:p>
          <a:p>
            <a:r>
              <a:t>• for c in f.chunk_iterator(1_000_000) (key line): decompresses one million points at a time; only one chunk is in memory</a:t>
            </a:r>
          </a:p>
          <a:p>
            <a:r>
              <a:t>• xyz = np.c_[c.x, c.y, c.z] - lo: the chunk's coordinates, local (a chunk has no .xyz, gotcha)</a:t>
            </a:r>
          </a:p>
          <a:p>
            <a:r>
              <a:t>• ijk = (xyz // v).astype(np.int64).T: each point's voxel index per axis</a:t>
            </a:r>
          </a:p>
          <a:p>
            <a:r>
              <a:t>• key = np.ravel_multi_index(ijk, dims): one int64 per voxel, so voxels compare as single numbers (faster than np.unique on rows)</a:t>
            </a:r>
          </a:p>
          <a:p>
            <a:r>
              <a:t>• k, first = np.unique(key, return_index=True): the chunk's voxels and the first point in each</a:t>
            </a:r>
          </a:p>
          <a:p>
            <a:r>
              <a:t>• keys.append(k); pts.append(xyz[first]): keep only those, the rest of the chunk is freed</a:t>
            </a:r>
          </a:p>
          <a:p>
            <a:r>
              <a:t>• k, first = np.unique(np.concatenate(keys), return_index=True): merge the chunks; a voxel split over two chunks keeps its first occurrence</a:t>
            </a:r>
          </a:p>
          <a:p>
            <a:r>
              <a:t>• points = np.concatenate(pts)[first]: the result, one real point per voxel; the earliest chunk wins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why, and this time I let a profiler show it: Scalene, a memory profiler for Python, on the same 1 km file. Grey, load everything: the file, the float64 xyz and Open3D's copy already take about 2 gigabytes, and voxel_down_sample on all 21 million points pushes it to 3.4 GB. Blue, chunked: one million points at a time, so it stays lower, 1.6 GB at its peak. Scalene counts allocations, so its numbers run a bit higher than the peaks on the last two slides, and the shape is the point: load everything and memory follows the file; stream it and memory follows what you keep. That brings me to the gotchas that cost me weeks.</a:t>
            </a:r>
          </a:p>
          <a:p/>
          <a:p>
            <a:r>
              <a:t>TIME: 55 s, ends at 26:45</a:t>
            </a:r>
          </a:p>
          <a:p/>
          <a:p>
            <a:r>
              <a:t>LIKELY QUESTION: Does streaming always keep memory small?</a:t>
            </a:r>
          </a:p>
          <a:p/>
          <a:p>
            <a:r>
              <a:t>ANSWER: No, there are two limits. It only helps if the voxel removes most points: on aerial data like AHN, very fine voxels keep almost everything, so output and memory stay large. And it only works for per-point steps; ground removal or clustering need neighbours, so those run on tiles with an overlap. More on B2.</a:t>
            </a:r>
          </a:p>
          <a:p/>
          <a:p>
            <a:r>
              <a:t>TRACE:</a:t>
            </a:r>
          </a:p>
          <a:p>
            <a:r>
              <a:t>• bench/bench_memory_scalene.py runs `scalene run -o OUT.json 16:25 --- tile` three times per case (alternating) on bench/memprof/load_everything.py and bench/memprof/chunked.py (the slide lines of snippets/s21_chunked.py, verbatim, checked by the script itself); the run with the median peak is stored</a:t>
            </a:r>
          </a:p>
          <a:p>
            <a:r>
              <a:t>• results/memory_scalene.json (label FINAL): cases.load_everything, cases.chunked (t_s, mem_mib, markers, peak_mib, lines: per source line peak, MB allocated, CPU share)</a:t>
            </a:r>
          </a:p>
          <a:p>
            <a:r>
              <a:t>• Cross-check, not on a slide: results/memory_trace.json (RSS sampled every 5 ms from the parent, bench/bench_memory_trace.py): peaks 3.0 GB and 0.8 GB</a:t>
            </a:r>
          </a:p>
          <a:p/>
          <a:p>
            <a:r>
              <a:t>HOW TO READ IT:</a:t>
            </a:r>
          </a:p>
          <a:p>
            <a:r>
              <a:t>• x: progress through Scalene's memory samples, in percent. Scalene's timeline is the order of its samples, not wall time (the runs took 14.6 s and 9.8 s under Scalene); y: Scalene's footprint in GB (2^30 bytes); one line per version, the run with the median peak of three</a:t>
            </a:r>
          </a:p>
          <a:p>
            <a:r>
              <a:t>• Grey: the climb to about 2 GB is laspy.read, the float64 xyz and the Open3D copy; the peak, 3.4 GB, is on the line `down = pcd.voxel_down_sample(0.5)`, which is also the line that takes most CPU time</a:t>
            </a:r>
          </a:p>
          <a:p>
            <a:r>
              <a:t>• Blue: 22 chunks of one million points; it saws up and down as chunks come and go and as keys and pts collect every chunk's voxels, peaks late in the loop (1.6 GB) and falls at the final merge</a:t>
            </a:r>
          </a:p>
          <a:p>
            <a:r>
              <a:t>• Why the numbers differ from slides 26 and 27: those are the process's peak resident memory (VmHWM) over the process after imports: 3.0 GB and 0.8 GB. Scalene counts allocations (mallocs minus frees it sees), so memory freed by code it cannot see, most likely the Rust LAZ decoder, stays in its footprint: the chunked curve sits above the RSS peak, the load-everything curve close to it. Scalene says 2.2 times less for chunked, RSS says 3 093 against 839 MB</a:t>
            </a:r>
          </a:p>
          <a:p>
            <a:r>
              <a:t>• Run it yourself: uv run --group profile scalene run -o out.json bench/memprof/chunked.py --- tile, then scalene view out.json (browser) or scalene view --cli out.json. Two gotchas: Scalene skips any path containing "scalene" (records no memory), and its memory mode hangs in laspy's parallel LAZ decoder, so the targets use the single-threaded Lazrs backend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gotchas I hit while building this, and this is the slide to photograph. The one that cost me most: Open3D reads a .laz file without complaining and hands you an empty point cloud, and I spent an evening debugging the steps after it. Install laspy without lazrs and LAZ files won't open at all. Cast RD coordinates to float32 and your points snap to 1.6 cm steps, silently. Hand Open3D float32 and the copy is 39× slower. A seeded segment_plane still differs between runs unless you pass probability=1.0. And AHN's class 1 isn't trees: it's everything nobody classified. Four rules sum it all up.</a:t>
            </a:r>
          </a:p>
          <a:p/>
          <a:p>
            <a:r>
              <a:t>TIME: 85 s, ends at 28:10</a:t>
            </a:r>
          </a:p>
          <a:p/>
          <a:p>
            <a:r>
              <a:t>LIKELY QUESTION: Is there a written list I can take home?</a:t>
            </a:r>
          </a:p>
          <a:p/>
          <a:p>
            <a:r>
              <a:t>ANSWER: This slide, with the evidence for each in the speaker notes, and the repo on the last slide. [SPEAKER: add a GOTCHAS.md to the repo before saying it is there.]</a:t>
            </a:r>
          </a:p>
          <a:p/>
          <a:p>
            <a:r>
              <a:t>TRACE:</a:t>
            </a:r>
          </a:p>
          <a:p>
            <a:r>
              <a:t>• Six of the candidates below, chosen on 2026-10-12 because each was reproduced in this project; content.yaml slide 29 table</a:t>
            </a:r>
          </a:p>
          <a:p>
            <a:r>
              <a:t>• candidate_gotchas: the full list observed in testing, with evidence</a:t>
            </a:r>
          </a:p>
          <a:p/>
          <a:p>
            <a:r>
              <a:t>CANDIDATE GOTCHAS (not on the slide, speaker to confirm):</a:t>
            </a:r>
          </a:p>
          <a:p>
            <a:r>
              <a:t>1) probability=1.0: A seeded segment_plane is reproducible only with probability=1.0; with the default, seeded runs differ. [CANDIDATE, speaker to confirm; evidence: research: reports/libraries.md FLAG 1 (11_ransac_probability.py), review/honesty/snippets/s10_default_probability.py]</a:t>
            </a:r>
          </a:p>
          <a:p>
            <a:r>
              <a:t>2) o3d.io.read_point_cloud("x.laz"): Open3D 0.20.0 returns an empty point cloud for .las/.laz with only a warning, no exception (already the slide 9 joke). [CANDIDATE, speaker to confirm; evidence: research: reports/libraries.md (08_extra_checks.py), review/honesty/run_s02.out, notes/verify_facts.json]</a:t>
            </a:r>
          </a:p>
          <a:p>
            <a:r>
              <a:t>3) xyz - header.mins: float32 at RD coordinates steps 1.6 cm in x and 3.1 cm in y; subtract a local origin first. [CANDIDATE, speaker to confirm; evidence: results/research_facts.json float32_step_m; research: reports/dataset.md, reports/libraries.md (04_pyvista_render.py striping), notes/verify_facts.json]</a:t>
            </a:r>
          </a:p>
          <a:p>
            <a:r>
              <a:t>4) Vector3dVector(float32): float32 input is accepted but takes a slow path: 39× slower than laspy's float64 array and 192× slower than a C-ordered float64 copy on the crop; cast with astype(np.float64) first (now on slide 10). [CANDIDATE, speaker to confirm (measured; already shown on slide 10); evidence: results/python_facts.json (bench/python_facts.py: 1 warm-up and 7 runs, median); research: reports/libraries.md (08_extra_checks.py), reports/critic.md section 2]</a:t>
            </a:r>
          </a:p>
          <a:p>
            <a:r>
              <a:t>5) classification == 1: AHN class 1 is not vegetation: it also holds facades, cars, poles and street furniture. [CANDIDATE, speaker to confirm; evidence: research: reports/dataset.md (AHN4 spec 'overig', crop analysis)]</a:t>
            </a:r>
          </a:p>
          <a:p>
            <a:r>
              <a:t>6) cluster_dbscan(eps=...): eps must be clearly larger than the voxel size, or most points become noise; too large and buildings fuse with trees. [CANDIDATE, speaker to confirm; evidence: research: reports/review/honesty.md row 11, reports/review/feasibility.md section 2 (prototype runs)]</a:t>
            </a:r>
          </a:p>
          <a:p>
            <a:r>
              <a:t>7) voxel_down_sample: Returns averaged new points and drops every LAS attribute (returns, class). [CANDIDATE, speaker to confirm; evidence: research: reports/review/honesty.md rows 9 and 12, reports/critic.md section 2]</a:t>
            </a:r>
          </a:p>
          <a:p>
            <a:r>
              <a:t>8) np.unique(axis=0): On voxel rows it is no faster than a Python dict loop; pack the voxel coordinates into one int64 key. [CANDIDATE, speaker to confirm; evidence: research: reports/critic.md section 2 (1 M points), reports/perf.md voxel table (synthetic)]</a:t>
            </a:r>
          </a:p>
          <a:p>
            <a:r>
              <a:t>9) np.isin + np.union1d: Merging chunk keys this way was several times slower than one np.unique at the end (synthetic, 30 M points). [CANDIDATE, speaker to confirm; evidence: research: reports/memory.md gotcha 6 (synthetic)]</a:t>
            </a:r>
          </a:p>
          <a:p>
            <a:r>
              <a:t>10) segment_plane per tile: Without a low-height pre-filter, some tiles fit a roof instead of the ground. [CANDIDATE, speaker to confirm; evidence: research: reports/review/feasibility.md section 2 (metrics_noprefilter.json, prototype)]</a:t>
            </a:r>
          </a:p>
          <a:p>
            <a:r>
              <a:t>11) pts @ n + d: Whether it matches the loop bit for bit depends on memory layout: identical on laspy's column-ordered array (results/bench_cliff.json plane.matmul_reference), tiny rounding differences on a row-ordered copy (research pilot). [CANDIDATE, speaker to confirm; evidence: results/bench_cliff.json plane.matmul_reference; research: review/honesty/run_s16.out (np.ascontiguousarray copy), reports/review/rules.md]</a:t>
            </a:r>
          </a:p>
          <a:p>
            <a:r>
              <a:t>12) LasData(copc_header): Writing a crop with the COPC file's header raises NotImplementedError: Writing COPC is not supported; build a fresh header. [CANDIDATE, speaker to confirm; evidence: research: reports/dataset.md section 3]</a:t>
            </a:r>
          </a:p>
          <a:p>
            <a:r>
              <a:t>13) las.xyz: A fresh F-ordered float64 copy on every access (10 ms each on the crop); chunks from chunk_iterator have no .xyz at all (now on slide 10). [CANDIDATE, speaker to confirm; evidence: results/python_facts.json las_xyz, timings.las_xyz_access; research: reports/libraries.md (01_laspy_io.py)]</a:t>
            </a:r>
          </a:p>
          <a:p>
            <a:r>
              <a:t>14) PointCloud.from_legacy: Open3D's tensor point cloud converts to float32 by default. [CANDIDATE, speaker to confirm; evidence: research: reports/libraries.md (03_open3d_tensor.py)]</a:t>
            </a:r>
          </a:p>
          <a:p>
            <a:r>
              <a:t>15) pip install laspy: Without lazrs or laszip, laspy cannot read LAZ (LaspyException: No LazBackend selected). [CANDIDATE, speaker to confirm; evidence: research: reports/libraries.md (out_09_laspy_no_backend.txt)]</a:t>
            </a:r>
          </a:p>
          <a:p>
            <a:r>
              <a:t>16) fixed_radius_search: Returns (indices, distances, splits); its docstring lists a different order. [CANDIDATE, speaker to confirm; evidence: research: reports/perf.md (verified gotchas)]</a:t>
            </a:r>
          </a:p>
          <a:p>
            <a:r>
              <a:t>17) clf.predict(box): A classifier only knows the classes it was trained on: in Poux's demo a box, never seen in training, comes back as 'sphere' with full confidence. Our rules have an honest 'unlabelled'. [CANDIDATE from research, speaker to confirm; evidence: research: reports/videos.md V3 (31:00 to 31:50); NOT observed in this project, from the video]</a:t>
            </a:r>
          </a:p>
          <a:p/>
          <a:p>
            <a:r>
              <a:t>GOTCHAS:</a:t>
            </a:r>
          </a:p>
          <a:p>
            <a:r>
              <a:t>• read_point_cloud("x.laz"): Open3D 0.20.0 returns 0 points for .las and .laz with only a warning, no exception; load with laspy and hand over the array (slide 10). Evidence: snippets/s02_python.py check; research: reports/libraries.md (08_extra_checks.py), notes/verify_facts.json</a:t>
            </a:r>
          </a:p>
          <a:p>
            <a:r>
              <a:t>• pip install laspy: without the lazrs or laszip extra laspy raises LaspyException: No LazBackend selected on a LAZ file; install laspy[lazrs] (the uv add line on slide 2). Evidence: research: reports/libraries.md (out_09_laspy_no_backend.txt)</a:t>
            </a:r>
          </a:p>
          <a:p>
            <a:r>
              <a:t>• xyz.astype(np.float32): at RD coordinates float32 steps 1.6 cm in x and 3.1 cm in y; subtract header.mins first (slide 12). Evidence: results/research_facts.json float32_step_m (np.spacing)</a:t>
            </a:r>
          </a:p>
          <a:p>
            <a:r>
              <a:t>• Vector3dVector(float32): accepted, but 39× slower than laspy's float64 array (317 ms against 8.2 ms); cast with astype(np.float64). Evidence: results/python_facts.json</a:t>
            </a:r>
          </a:p>
          <a:p>
            <a:r>
              <a:t>• segment_plane(seed): o3d.utility.random.seed(0) alone does not make RANSAC reproducible; with the default probability two seeded runs differ, with probability=1.0 they match (slide 14). Evidence: results/pipeline.json checks.ransac_default_probability</a:t>
            </a:r>
          </a:p>
          <a:p>
            <a:r>
              <a:t>• classification == 1: AHN's class 1 is 'overig', other: vegetation, but also facades, cars, poles and street furniture; there is no vegetation class to score against (slides 5 and 19). Evidence: research: reports/dataset.md, results/pipeline.json label_vs_ahn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GB to 0.8 GB. And let compiled code loop: the loop over rows was 130× slower. And you can copy every line of it.</a:t>
            </a:r>
          </a:p>
          <a:p/>
          <a:p>
            <a:r>
              <a:t>TIME: 60 s, ends at 29:10</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30 rules (the rules of slide 8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And if you still write that loop: it's still running, and your coffee is cold. Thank you; I'm happy to take questions.</a:t>
            </a:r>
          </a:p>
          <a:p/>
          <a:p>
            <a:r>
              <a:t>TIME: 50 s, ends at 30:00</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If the optional book-credit small print is dropped from the slide, say the credit aloud</a:t>
            </a:r>
          </a:p>
          <a:p/>
          <a:p>
            <a:r>
              <a:t>TRACE:</a:t>
            </a:r>
          </a:p>
          <a:p>
            <a:r>
              <a:t>• content.yaml slide 31: qr.url is null, contact and repo URL are placeholders</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2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16":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16's...":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12).</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12</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(slide 20).</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15 and the...": status judgement; source: judgement; slides 13 and 15</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(slide 27).</a:t>
            </a:r>
          </a:p>
          <a:p/>
          <a:p>
            <a:r>
              <a:t>LIMITS AND DISAGREEMENTS:</a:t>
            </a:r>
          </a:p>
          <a:p>
            <a:r>
              <a:t>• Complexity classes hide constants: an N log N method with a Python loop per point can still lose (slides 21 to 23).</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(slides 27...": status verified; source: slides 27 and 28;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10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10; results/python_facts.json; research: reports/mental_models.md section 8</a:t>
            </a:r>
          </a:p>
          <a:p>
            <a:r>
              <a:t>• Bullet 2 "Learn the idea once; map it to whichever library the job...": status judgement; source: judgement; slide 9</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12 and C4 after slide 15;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6 and 8</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carries 1, 4 and 6 in...":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13</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16;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 Id="rId11" Type="http://schemas.openxmlformats.org/officeDocument/2006/relationships/image" Target="../media/image12.png"/><Relationship Id="rId12" Type="http://schemas.openxmlformats.org/officeDocument/2006/relationships/image" Target="../media/image13.png"/><Relationship Id="rId13" Type="http://schemas.openxmlformats.org/officeDocument/2006/relationships/image" Target="../media/image14.png"/><Relationship Id="rId14" Type="http://schemas.openxmlformats.org/officeDocument/2006/relationships/image" Target="../media/image15.png"/><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hyperlink" Target="https://creativecommons.org/licenses/by/4.0/"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hyperlink" Target="https://creativecommons.org/licenses/by/4.0/" TargetMode="Externa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0.png"/><Relationship Id="rId6" Type="http://schemas.openxmlformats.org/officeDocument/2006/relationships/image" Target="../media/image23.png"/><Relationship Id="rId7" Type="http://schemas.openxmlformats.org/officeDocument/2006/relationships/image" Target="../media/image17.png"/><Relationship Id="rId8" Type="http://schemas.openxmlformats.org/officeDocument/2006/relationships/hyperlink" Target="https://creativecommons.org/licenses/by/4.0/" TargetMode="Externa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creativecommons.org/licenses/by/4.0/" TargetMode="Externa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hyperlink" Target="https://creativecommons.org/licenses/by/4.0/"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creativecommons.org/licenses/by/4.0/"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hyperlink" Target="https://creativecommons.org/licenses/by/4.0/"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hyperlink" Target="https://creativecommons.org/licenses/by/4.0/" TargetMode="Externa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creativecommons.org/licenses/by/4.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7.png"/><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hyperlink" Target="https://creativecommons.org/licenses/by/4.0/"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4.xml"/><Relationship Id="rId3" Type="http://schemas.openxmlformats.org/officeDocument/2006/relationships/hyperlink" Target="https://creativecommons.org/licenses/by/4.0/" TargetMode="Externa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7.png"/><Relationship Id="rId3" Type="http://schemas.openxmlformats.org/officeDocument/2006/relationships/image" Target="../media/image1.png"/><Relationship Id="rId4" Type="http://schemas.openxmlformats.org/officeDocument/2006/relationships/hyperlink" Target="https://creativecommons.org/licenses/by/4.0/" TargetMode="Externa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sp>
        <p:nvSpPr>
          <p:cNvPr id="3" name="Code joke"/>
          <p:cNvSpPr>
            <a:spLocks noGrp="1"/>
          </p:cNvSpPr>
          <p:nvPr>
            <p:ph type="subTitle" idx="1"/>
          </p:nvPr>
        </p:nvSpPr>
        <p:spPr/>
        <p:txBody>
          <a:bodyPr wrap="none">
            <a:noAutofit/>
          </a:bodyPr>
          <a:lstStyle/>
          <a:p>
            <a:pPr marL="0" indent="0" algn="l">
              <a:lnSpc>
                <a:spcPts val="2800"/>
              </a:lnSpc>
              <a:spcBef>
                <a:spcPts val="0"/>
              </a:spcBef>
              <a:spcAft>
                <a:spcPts val="0"/>
              </a:spcAft>
              <a:buNone/>
            </a:pPr>
            <a:r>
              <a:rPr sz="2400" b="1" lang="en-GB" noProof="1">
                <a:solidFill>
                  <a:srgbClr val="FFFFFF"/>
                </a:solidFill>
                <a:latin typeface="Fira Mono" pitchFamily="49"/>
              </a:rPr>
              <a:t>for</a:t>
            </a:r>
            <a:r>
              <a:rPr sz="2400" b="0" lang="en-GB" noProof="1">
                <a:solidFill>
                  <a:srgbClr val="FFFFFF"/>
                </a:solidFill>
                <a:latin typeface="Fira Mono" pitchFamily="49"/>
              </a:rPr>
              <a:t> point </a:t>
            </a:r>
            <a:r>
              <a:rPr sz="2400" b="1" lang="en-GB" noProof="1">
                <a:solidFill>
                  <a:srgbClr val="FFFFFF"/>
                </a:solidFill>
                <a:latin typeface="Fira Mono" pitchFamily="49"/>
              </a:rPr>
              <a:t>in</a:t>
            </a:r>
            <a:r>
              <a:rPr sz="2400" b="0" lang="en-GB" noProof="1">
                <a:solidFill>
                  <a:srgbClr val="FFFFFF"/>
                </a:solidFill>
                <a:latin typeface="Fira Mono" pitchFamily="49"/>
              </a:rPr>
              <a:t> point_cloud:</a:t>
            </a:r>
            <a:endParaRPr lang="en-GB" sz="2400"/>
          </a:p>
          <a:p>
            <a:pPr marL="0" indent="0" algn="l">
              <a:lnSpc>
                <a:spcPts val="2800"/>
              </a:lnSpc>
              <a:spcBef>
                <a:spcPts val="0"/>
              </a:spcBef>
              <a:spcAft>
                <a:spcPts val="0"/>
              </a:spcAft>
              <a:buNone/>
            </a:pPr>
            <a:r>
              <a:rPr sz="2400" b="0" lang="en-GB" noProof="1">
                <a:solidFill>
                  <a:srgbClr val="FFFFFF"/>
                </a:solidFill>
                <a:latin typeface="Fira Mono" pitchFamily="49"/>
              </a:rPr>
              <a:t>    </a:t>
            </a:r>
            <a:r>
              <a:rPr sz="2400" b="0" lang="en-GB" noProof="1">
                <a:solidFill>
                  <a:srgbClr val="B1CAC5"/>
                </a:solidFill>
                <a:latin typeface="Fira Mono" pitchFamily="49"/>
              </a:rPr>
              <a:t># 12 million times. see you tomorrow ☕</a:t>
            </a:r>
            <a:endParaRPr lang="en-GB" sz="2400"/>
          </a:p>
        </p:txBody>
      </p:sp>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a:p>
            <a:pPr marL="0" indent="0" algn="l">
              <a:spcBef>
                <a:spcPts val="0"/>
              </a:spcBef>
              <a:spcAft>
                <a:spcPts val="0"/>
              </a:spcAft>
              <a:buNone/>
            </a:pPr>
            <a:r>
              <a:rPr sz="2400" lang="en-GB">
                <a:solidFill>
                  <a:srgbClr val="FFFFFF"/>
                </a:solidFill>
                <a:latin typeface="+mn-lt"/>
              </a:rPr>
              <a:t>github.com/Sloppy1999/pycon-nl-2026-3d-data-science</a:t>
            </a:r>
            <a:endParaRPr lang="en-GB" sz="2400"/>
          </a:p>
        </p:txBody>
      </p:sp>
      <p:sp>
        <p:nvSpPr>
          <p:cNvPr id="5"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Logo" descr="PyCon NL 2026 logo: the Python snakes filled with a Dutch canal house, tulips and a windmill"/>
          <p:cNvPicPr>
            <a:picLocks noChangeAspect="1"/>
          </p:cNvPicPr>
          <p:nvPr/>
        </p:nvPicPr>
        <p:blipFill>
          <a:blip r:embed="rId2"/>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Code install" descr="Install line: uv add open3d, laspy with the lazrs extra, and pyvista."/>
          <p:cNvSpPr txBox="1"/>
          <p:nvPr/>
        </p:nvSpPr>
        <p:spPr>
          <a:xfrm>
            <a:off x="6178296" y="440131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install</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uv add open3d </a:t>
            </a:r>
            <a:r>
              <a:rPr sz="1800" b="0" lang="en-GB" noProof="1">
                <a:solidFill>
                  <a:srgbClr val="2B6797"/>
                </a:solidFill>
                <a:latin typeface="Fira Mono" pitchFamily="49"/>
              </a:rPr>
              <a:t>"laspy[lazrs]"</a:t>
            </a:r>
            <a:r>
              <a:rPr sz="1800" b="0" lang="en-GB" noProof="1">
                <a:solidFill>
                  <a:srgbClr val="263238"/>
                </a:solidFill>
                <a:latin typeface="Fira Mono" pitchFamily="49"/>
              </a:rPr>
              <a:t> pyvista</a:t>
            </a:r>
            <a:endParaRPr lang="en-GB" sz="18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is the interface. C++ does the work</a:t>
            </a:r>
          </a:p>
        </p:txBody>
      </p:sp>
      <p:pic>
        <p:nvPicPr>
          <p:cNvPr id="6" name="Meme" descr="Scooby-Doo unmasking meme. Top: Fred touches the hood of a tied-up ghost whose head is the Python logo. Bottom: the unmasked figure's head is the C++ logo. Caption: Let's see who's really behind the mask."/>
          <p:cNvPicPr>
            <a:picLocks noChangeAspect="1"/>
          </p:cNvPicPr>
          <p:nvPr/>
        </p:nvPicPr>
        <p:blipFill>
          <a:blip r:embed="rId2"/>
          <a:stretch>
            <a:fillRect/>
          </a:stretch>
        </p:blipFill>
        <p:spPr>
          <a:xfrm>
            <a:off x="548640" y="1554480"/>
            <a:ext cx="3253142" cy="4343112"/>
          </a:xfrm>
          <a:prstGeom prst="rect">
            <a:avLst/>
          </a:prstGeom>
        </p:spPr>
      </p:pic>
      <p:sp>
        <p:nvSpPr>
          <p:cNvPr id="8" name="Meme bullets"/>
          <p:cNvSpPr txBox="1"/>
          <p:nvPr/>
        </p:nvSpPr>
        <p:spPr>
          <a:xfrm>
            <a:off x="4258982" y="2133600"/>
            <a:ext cx="7384378" cy="376399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NumPy: a compiled C core, with some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Open3D: C++, wrapped for Python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PyVista: VTK, which is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laspy: the lazrs decoder is Rust</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Python gives you the interface; the heavy loops run below it</a:t>
            </a:r>
            <a:endParaRPr lang="en-GB" sz="2000"/>
          </a:p>
        </p:txBody>
      </p:sp>
      <p:sp>
        <p:nvSpPr>
          <p:cNvPr id="7" name="Support"/>
          <p:cNvSpPr txBox="1"/>
          <p:nvPr/>
        </p:nvSpPr>
        <p:spPr>
          <a:xfrm>
            <a:off x="4258982" y="1554480"/>
            <a:ext cx="7384378"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call you make here runs compiled code</a:t>
            </a:r>
            <a:endParaRPr lang="en-GB" sz="20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Meme template: the Scooby-Doo unmasking scene (Hanna-Barbera). Python and C++ logos belong to their owners; no endorsement implied.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 at a glance</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 PyTorch3D."/>
          <p:cNvGrpSpPr/>
          <p:nvPr/>
        </p:nvGrpSpPr>
        <p:grpSpPr>
          <a:xfrm>
            <a:off x="548640" y="1600200"/>
            <a:ext cx="11094720" cy="4114512"/>
            <a:chOff x="548640" y="1600200"/>
            <a:chExt cx="11094720" cy="4114512"/>
          </a:xfrm>
        </p:grpSpPr>
        <p:sp>
          <p:nvSpPr>
            <p:cNvPr id="6" name="wall_label_1"/>
            <p:cNvSpPr txBox="1"/>
            <p:nvPr/>
          </p:nvSpPr>
          <p:spPr>
            <a:xfrm>
              <a:off x="548640" y="1600200"/>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720490"/>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91053" y="1691640"/>
              <a:ext cx="323431" cy="328822"/>
            </a:xfrm>
            <a:prstGeom prst="rect">
              <a:avLst/>
            </a:prstGeom>
          </p:spPr>
        </p:pic>
        <p:sp>
          <p:nvSpPr>
            <p:cNvPr id="11" name="tile_ref_1_2"/>
            <p:cNvSpPr txBox="1"/>
            <p:nvPr/>
          </p:nvSpPr>
          <p:spPr>
            <a:xfrm>
              <a:off x="5098542"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735547" y="1691640"/>
              <a:ext cx="1270808" cy="328822"/>
            </a:xfrm>
            <a:prstGeom prst="rect">
              <a:avLst/>
            </a:prstGeom>
          </p:spPr>
        </p:pic>
        <p:sp>
          <p:nvSpPr>
            <p:cNvPr id="14" name="tile_ref_1_3"/>
            <p:cNvSpPr txBox="1"/>
            <p:nvPr/>
          </p:nvSpPr>
          <p:spPr>
            <a:xfrm>
              <a:off x="7316724" y="2038750"/>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448706"/>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337243" y="2540146"/>
              <a:ext cx="1194688" cy="537610"/>
            </a:xfrm>
            <a:prstGeom prst="rect">
              <a:avLst/>
            </a:prstGeom>
          </p:spPr>
        </p:pic>
        <p:sp>
          <p:nvSpPr>
            <p:cNvPr id="18" name="wall_tile_2_2"/>
            <p:cNvSpPr/>
            <p:nvPr/>
          </p:nvSpPr>
          <p:spPr>
            <a:xfrm>
              <a:off x="5098542" y="2448706"/>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88358" y="2540146"/>
              <a:ext cx="328822" cy="328822"/>
            </a:xfrm>
            <a:prstGeom prst="rect">
              <a:avLst/>
            </a:prstGeom>
          </p:spPr>
        </p:pic>
        <p:sp>
          <p:nvSpPr>
            <p:cNvPr id="20" name="tile_ref_2_2"/>
            <p:cNvSpPr txBox="1"/>
            <p:nvPr/>
          </p:nvSpPr>
          <p:spPr>
            <a:xfrm>
              <a:off x="5098542"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206540" y="2540146"/>
              <a:ext cx="328822" cy="328822"/>
            </a:xfrm>
            <a:prstGeom prst="rect">
              <a:avLst/>
            </a:prstGeom>
          </p:spPr>
        </p:pic>
        <p:sp>
          <p:nvSpPr>
            <p:cNvPr id="23" name="tile_ref_2_3"/>
            <p:cNvSpPr txBox="1"/>
            <p:nvPr/>
          </p:nvSpPr>
          <p:spPr>
            <a:xfrm>
              <a:off x="7316724" y="2887255"/>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448706"/>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855195" y="2540146"/>
              <a:ext cx="1467876" cy="537610"/>
            </a:xfrm>
            <a:prstGeom prst="rect">
              <a:avLst/>
            </a:prstGeom>
          </p:spPr>
        </p:pic>
        <p:sp>
          <p:nvSpPr>
            <p:cNvPr id="26" name="wall_label_3"/>
            <p:cNvSpPr txBox="1"/>
            <p:nvPr/>
          </p:nvSpPr>
          <p:spPr>
            <a:xfrm>
              <a:off x="548640" y="3297211"/>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297211"/>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414352"/>
              <a:ext cx="1925574" cy="486207"/>
            </a:xfrm>
            <a:prstGeom prst="rect">
              <a:avLst/>
            </a:prstGeom>
          </p:spPr>
        </p:pic>
        <p:sp>
          <p:nvSpPr>
            <p:cNvPr id="29" name="wall_tile_3_2"/>
            <p:cNvSpPr/>
            <p:nvPr/>
          </p:nvSpPr>
          <p:spPr>
            <a:xfrm>
              <a:off x="5098542" y="3297211"/>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514241"/>
              <a:ext cx="1925574" cy="286429"/>
            </a:xfrm>
            <a:prstGeom prst="rect">
              <a:avLst/>
            </a:prstGeom>
          </p:spPr>
        </p:pic>
        <p:sp>
          <p:nvSpPr>
            <p:cNvPr id="31" name="wall_label_4"/>
            <p:cNvSpPr txBox="1"/>
            <p:nvPr/>
          </p:nvSpPr>
          <p:spPr>
            <a:xfrm>
              <a:off x="548640" y="4145717"/>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145717"/>
              <a:ext cx="2108454" cy="720490"/>
            </a:xfrm>
            <a:prstGeom prst="roundRect">
              <a:avLst>
                <a:gd name="adj" fmla="val 10153"/>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303960" y="4237157"/>
              <a:ext cx="1261254" cy="537610"/>
            </a:xfrm>
            <a:prstGeom prst="rect">
              <a:avLst/>
            </a:prstGeom>
          </p:spPr>
        </p:pic>
        <p:sp>
          <p:nvSpPr>
            <p:cNvPr id="34" name="wall_tile_4_2"/>
            <p:cNvSpPr/>
            <p:nvPr/>
          </p:nvSpPr>
          <p:spPr>
            <a:xfrm>
              <a:off x="5098542" y="4145717"/>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651501" y="4237157"/>
              <a:ext cx="1002535" cy="537610"/>
            </a:xfrm>
            <a:prstGeom prst="rect">
              <a:avLst/>
            </a:prstGeom>
          </p:spPr>
        </p:pic>
        <p:sp>
          <p:nvSpPr>
            <p:cNvPr id="36" name="wall_label_5"/>
            <p:cNvSpPr txBox="1"/>
            <p:nvPr/>
          </p:nvSpPr>
          <p:spPr>
            <a:xfrm>
              <a:off x="548640" y="4994222"/>
              <a:ext cx="2240280" cy="720490"/>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722101" y="5085662"/>
              <a:ext cx="424971" cy="328822"/>
            </a:xfrm>
            <a:prstGeom prst="rect">
              <a:avLst/>
            </a:prstGeom>
          </p:spPr>
        </p:pic>
        <p:sp>
          <p:nvSpPr>
            <p:cNvPr id="39" name="tile_ref_5_1"/>
            <p:cNvSpPr txBox="1"/>
            <p:nvPr/>
          </p:nvSpPr>
          <p:spPr>
            <a:xfrm>
              <a:off x="2880360" y="543277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 logo"/>
            <p:cNvPicPr>
              <a:picLocks noChangeAspect="1"/>
            </p:cNvPicPr>
            <p:nvPr/>
          </p:nvPicPr>
          <p:blipFill>
            <a:blip r:embed="rId13"/>
            <a:stretch>
              <a:fillRect/>
            </a:stretch>
          </p:blipFill>
          <p:spPr>
            <a:xfrm>
              <a:off x="5189982" y="5159503"/>
              <a:ext cx="1925574" cy="389929"/>
            </a:xfrm>
            <a:prstGeom prst="rect">
              <a:avLst/>
            </a:prstGeom>
          </p:spPr>
        </p:pic>
        <p:sp>
          <p:nvSpPr>
            <p:cNvPr id="42" name="wall_tile_5_3"/>
            <p:cNvSpPr/>
            <p:nvPr/>
          </p:nvSpPr>
          <p:spPr>
            <a:xfrm>
              <a:off x="7316724" y="4994222"/>
              <a:ext cx="2108454" cy="720490"/>
            </a:xfrm>
            <a:prstGeom prst="roundRect">
              <a:avLst>
                <a:gd name="adj" fmla="val 10153"/>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3" name="wall_logo_5_3" descr="PyTorch3D logo"/>
            <p:cNvPicPr>
              <a:picLocks noChangeAspect="1"/>
            </p:cNvPicPr>
            <p:nvPr/>
          </p:nvPicPr>
          <p:blipFill>
            <a:blip r:embed="rId14"/>
            <a:stretch>
              <a:fillRect/>
            </a:stretch>
          </p:blipFill>
          <p:spPr>
            <a:xfrm>
              <a:off x="7408164" y="5108957"/>
              <a:ext cx="1925574" cy="491021"/>
            </a:xfrm>
            <a:prstGeom prst="rect">
              <a:avLst/>
            </a:prstGeom>
          </p:spPr>
        </p:pic>
      </p:grpSp>
      <p:sp>
        <p:nvSpPr>
          <p:cNvPr id="44" name="Small print"/>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Blue outline: used in today's pipeline. Logos belong to their owners; no endorsement implied. 119 libraries checked on PyPI and GitHub: docs/ECOSYSTEM.md in the repo.</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Bird's-eye render of the Jaarbeurs hall in Utrecht and the streets, trees and buildings around it, coloured by height from blue near the ground through sage to white on the roofs."/>
          <p:cNvPicPr>
            <a:picLocks noChangeAspect="1"/>
          </p:cNvPicPr>
          <p:nvPr/>
        </p:nvPicPr>
        <p:blipFill>
          <a:blip r:embed="rId2"/>
          <a:stretch>
            <a:fillRect/>
          </a:stretch>
        </p:blipFill>
        <p:spPr>
          <a:xfrm>
            <a:off x="548640" y="1554480"/>
            <a:ext cx="3055620" cy="3448156"/>
          </a:xfrm>
          <a:prstGeom prst="rect">
            <a:avLst/>
          </a:prstGeom>
        </p:spPr>
      </p:pic>
      <p:pic>
        <p:nvPicPr>
          <p:cNvPr id="7" name="Render labels" descr="The same view with our labels: ground slate grey, buildings light blue, vegetation sage green, street furniture white."/>
          <p:cNvPicPr>
            <a:picLocks noChangeAspect="1"/>
          </p:cNvPicPr>
          <p:nvPr/>
        </p:nvPicPr>
        <p:blipFill>
          <a:blip r:embed="rId3"/>
          <a:stretch>
            <a:fillRect/>
          </a:stretch>
        </p:blipFill>
        <p:spPr>
          <a:xfrm>
            <a:off x="4472940" y="1554480"/>
            <a:ext cx="3055620" cy="3448156"/>
          </a:xfrm>
          <a:prstGeom prst="rect">
            <a:avLst/>
          </a:prstGeom>
        </p:spPr>
      </p:pic>
      <p:sp>
        <p:nvSpPr>
          <p:cNvPr id="8" name="Arrow raw to labels">
            <a:extLst>
              <a:ext uri="{C183D7F6-B498-43B3-948B-1728B52AA6E4}">
                <adec:decorative xmlns:adec="http://schemas.microsoft.com/office/drawing/2017/decorative" val="1"/>
              </a:ext>
            </a:extLst>
          </p:cNvPr>
          <p:cNvSpPr/>
          <p:nvPr/>
        </p:nvSpPr>
        <p:spPr>
          <a:xfrm>
            <a:off x="3782568" y="3077390"/>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3" name="Edge arrow Jaarbeurs" descr="Arrow pointing down at the roof of the Jaarbeurs hall"/>
          <p:cNvGrpSpPr/>
          <p:nvPr/>
        </p:nvGrpSpPr>
        <p:grpSpPr>
          <a:xfrm>
            <a:off x="1194668" y="1814678"/>
            <a:ext cx="1886712" cy="1188720"/>
            <a:chOff x="1194668" y="1814678"/>
            <a:chExt cx="1886712" cy="1188720"/>
          </a:xfrm>
        </p:grpSpPr>
        <p:sp>
          <p:nvSpPr>
            <p:cNvPr id="9" name="Edge arrow"/>
            <p:cNvSpPr/>
            <p:nvPr/>
          </p:nvSpPr>
          <p:spPr>
            <a:xfrm>
              <a:off x="2000864" y="2290166"/>
              <a:ext cx="274320" cy="713232"/>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Edge label"/>
            <p:cNvSpPr/>
            <p:nvPr/>
          </p:nvSpPr>
          <p:spPr>
            <a:xfrm>
              <a:off x="1194668" y="1814678"/>
              <a:ext cx="1886712"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11"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837144"/>
            <a:chOff x="8031480" y="1554480"/>
            <a:chExt cx="3611880" cy="3837144"/>
          </a:xfrm>
        </p:grpSpPr>
        <p:sp>
          <p:nvSpPr>
            <p:cNvPr id="12"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3"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spec label 1"/>
            <p:cNvSpPr txBox="1"/>
            <p:nvPr/>
          </p:nvSpPr>
          <p:spPr>
            <a:xfrm>
              <a:off x="8031480" y="206654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5" name="spec value 1"/>
            <p:cNvSpPr txBox="1"/>
            <p:nvPr/>
          </p:nvSpPr>
          <p:spPr>
            <a:xfrm>
              <a:off x="9703816" y="206654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6" name="spec rule"/>
            <p:cNvCxnSpPr/>
            <p:nvPr/>
          </p:nvCxnSpPr>
          <p:spPr>
            <a:xfrm>
              <a:off x="8031480" y="248217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7" name="spec label 2"/>
            <p:cNvSpPr txBox="1"/>
            <p:nvPr/>
          </p:nvSpPr>
          <p:spPr>
            <a:xfrm>
              <a:off x="8031480" y="248217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8" name="spec value 2"/>
            <p:cNvSpPr txBox="1"/>
            <p:nvPr/>
          </p:nvSpPr>
          <p:spPr>
            <a:xfrm>
              <a:off x="9703816" y="248217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9" name="spec rule"/>
            <p:cNvCxnSpPr/>
            <p:nvPr/>
          </p:nvCxnSpPr>
          <p:spPr>
            <a:xfrm>
              <a:off x="8031480" y="289781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0" name="spec label 3"/>
            <p:cNvSpPr txBox="1"/>
            <p:nvPr/>
          </p:nvSpPr>
          <p:spPr>
            <a:xfrm>
              <a:off x="8031480" y="289781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21" name="spec value 3"/>
            <p:cNvSpPr txBox="1"/>
            <p:nvPr/>
          </p:nvSpPr>
          <p:spPr>
            <a:xfrm>
              <a:off x="9703816" y="289781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2" name="spec rule"/>
            <p:cNvCxnSpPr/>
            <p:nvPr/>
          </p:nvCxnSpPr>
          <p:spPr>
            <a:xfrm>
              <a:off x="8031480" y="331344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3" name="spec label 4"/>
            <p:cNvSpPr txBox="1"/>
            <p:nvPr/>
          </p:nvSpPr>
          <p:spPr>
            <a:xfrm>
              <a:off x="8031480" y="331344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4" name="spec value 4"/>
            <p:cNvSpPr txBox="1"/>
            <p:nvPr/>
          </p:nvSpPr>
          <p:spPr>
            <a:xfrm>
              <a:off x="9703816" y="331344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5" name="spec rule"/>
            <p:cNvCxnSpPr/>
            <p:nvPr/>
          </p:nvCxnSpPr>
          <p:spPr>
            <a:xfrm>
              <a:off x="8031480" y="372908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spec label 5"/>
            <p:cNvSpPr txBox="1"/>
            <p:nvPr/>
          </p:nvSpPr>
          <p:spPr>
            <a:xfrm>
              <a:off x="8031480" y="372908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7" name="spec value 5"/>
            <p:cNvSpPr txBox="1"/>
            <p:nvPr/>
          </p:nvSpPr>
          <p:spPr>
            <a:xfrm>
              <a:off x="9703816" y="372908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8" name="spec rule"/>
            <p:cNvCxnSpPr/>
            <p:nvPr/>
          </p:nvCxnSpPr>
          <p:spPr>
            <a:xfrm>
              <a:off x="8031480" y="414471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9" name="spec label 6"/>
            <p:cNvSpPr txBox="1"/>
            <p:nvPr/>
          </p:nvSpPr>
          <p:spPr>
            <a:xfrm>
              <a:off x="8031480" y="414471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30" name="spec value 6"/>
            <p:cNvSpPr txBox="1"/>
            <p:nvPr/>
          </p:nvSpPr>
          <p:spPr>
            <a:xfrm>
              <a:off x="9703816" y="414471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31" name="spec rule"/>
            <p:cNvCxnSpPr/>
            <p:nvPr/>
          </p:nvCxnSpPr>
          <p:spPr>
            <a:xfrm>
              <a:off x="8031480" y="456035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2" name="spec label 7"/>
            <p:cNvSpPr txBox="1"/>
            <p:nvPr/>
          </p:nvSpPr>
          <p:spPr>
            <a:xfrm>
              <a:off x="8031480" y="4560354"/>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3" name="spec value 7"/>
            <p:cNvSpPr txBox="1"/>
            <p:nvPr/>
          </p:nvSpPr>
          <p:spPr>
            <a:xfrm>
              <a:off x="9703816" y="4560354"/>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4" name="spec rule"/>
            <p:cNvCxnSpPr/>
            <p:nvPr/>
          </p:nvCxnSpPr>
          <p:spPr>
            <a:xfrm>
              <a:off x="8031480" y="497598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5" name="spec label 8"/>
            <p:cNvSpPr txBox="1"/>
            <p:nvPr/>
          </p:nvSpPr>
          <p:spPr>
            <a:xfrm>
              <a:off x="8031480" y="4975989"/>
              <a:ext cx="1672336" cy="41563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6" name="spec value 8"/>
            <p:cNvSpPr txBox="1"/>
            <p:nvPr/>
          </p:nvSpPr>
          <p:spPr>
            <a:xfrm>
              <a:off x="9703816" y="4975989"/>
              <a:ext cx="1939544" cy="415635"/>
            </a:xfrm>
            <a:prstGeom prst="rect">
              <a:avLst/>
            </a:prstGeom>
            <a:noFill/>
          </p:spPr>
          <p:txBody>
            <a:bodyPr wrap="none" anchor="ctr" lIns="0" tIns="0" rIns="0" bIns="0">
              <a:noAutofit/>
            </a:bodyPr>
            <a:lstStyle/>
            <a:p>
              <a:pPr algn="l"/>
              <a:r>
                <a:rPr sz="2000" b="0" i="0" lang="en-GB">
                  <a:solidFill>
                    <a:srgbClr val="263238"/>
                  </a:solidFill>
                  <a:latin typeface="Fira Sans"/>
                  <a:hlinkClick r:id="rId4">
                    <a:extLst>
                      <a:ext uri="{A12FA001-AC4F-418D-AE19-62706E023703}">
                        <ahyp:hlinkClr xmlns:ahyp="http://schemas.microsoft.com/office/drawing/2018/hyperlinkcolor" val="tx"/>
                      </a:ext>
                    </a:extLst>
                  </a:hlinkClick>
                </a:rPr>
                <a:t>CC BY 4.0</a:t>
              </a:r>
            </a:p>
          </p:txBody>
        </p:sp>
      </p:grpSp>
      <p:sp>
        <p:nvSpPr>
          <p:cNvPr id="37" name="Support"/>
          <p:cNvSpPr txBox="1"/>
          <p:nvPr/>
        </p:nvSpPr>
        <p:spPr>
          <a:xfrm>
            <a:off x="548640" y="5574504"/>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Goal: ground, buildings, vegetation, street furniture; scored against AHN.</a:t>
            </a:r>
            <a:endParaRPr lang="en-GB" sz="2000"/>
          </a:p>
        </p:txBody>
      </p:sp>
      <p:sp>
        <p:nvSpPr>
          <p:cNvPr id="38"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no gaps."/>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Point cloud: an unordered N×3 array plus attributes; no neighbours stored.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Mesh: vertices plus faces, so surfaces, normals and areas are defined.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Voxel grid: occupied cells at one resolution; detail below a cell is gone.</a:t>
            </a:r>
            <a:endParaRPr lang="en-GB" sz="20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house, drawn three ways: 1 500 sampled points, 10 vertices and 16 triangles, 182 voxels of 0.5 m.</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3D project moves through six stages</a:t>
            </a:r>
          </a:p>
        </p:txBody>
      </p:sp>
      <p:grpSp>
        <p:nvGrpSpPr>
          <p:cNvPr id="3" name="Workflow" descr="A ring of six numbered stages, clockwise, with the Python libraries under each. 1 Acquisition, scan the scene, laspy, with a close-up of single points as laspy reads them; 2 Preparation, clean and register, NumPy and Open3D; 3 Exploration, model and label, Open3D and SciPy, with the clustered point cloud; 4 Analysis, measure, monitor, NumPy and SciPy; 5 Visualisation, see it, trust it, PyVista, with the final labelled render; 6 Application, ship it. Stages 1 and 2 are coloured as data, 3 and 4 as understanding, 5 and 6 as delivery. Dashed arrows through the middle lead from analysis back to preparation and from visualisation back to acquisition: loop back when the data surprises you."/>
          <p:cNvGrpSpPr/>
          <p:nvPr/>
        </p:nvGrpSpPr>
        <p:grpSpPr>
          <a:xfrm>
            <a:off x="906780" y="1706392"/>
            <a:ext cx="9464040" cy="4039288"/>
            <a:chOff x="906780" y="1706392"/>
            <a:chExt cx="9464040" cy="4039288"/>
          </a:xfrm>
        </p:grpSpPr>
        <p:cxnSp>
          <p:nvCxnSpPr>
            <p:cNvPr id="6" name="arrow 1"/>
            <p:cNvCxnSpPr/>
            <p:nvPr/>
          </p:nvCxnSpPr>
          <p:spPr>
            <a:xfrm>
              <a:off x="5158740" y="2300752"/>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arrow 2"/>
            <p:cNvCxnSpPr/>
            <p:nvPr/>
          </p:nvCxnSpPr>
          <p:spPr>
            <a:xfrm>
              <a:off x="694780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arrow 3"/>
            <p:cNvCxnSpPr/>
            <p:nvPr/>
          </p:nvCxnSpPr>
          <p:spPr>
            <a:xfrm flipH="1">
              <a:off x="694780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arrow 4"/>
            <p:cNvCxnSpPr/>
            <p:nvPr/>
          </p:nvCxnSpPr>
          <p:spPr>
            <a:xfrm flipH="1">
              <a:off x="5158740" y="5151320"/>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arrow 5"/>
            <p:cNvCxnSpPr/>
            <p:nvPr/>
          </p:nvCxnSpPr>
          <p:spPr>
            <a:xfrm flipH="1" flipV="1">
              <a:off x="393028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arrow 6"/>
            <p:cNvCxnSpPr/>
            <p:nvPr/>
          </p:nvCxnSpPr>
          <p:spPr>
            <a:xfrm flipV="1">
              <a:off x="393028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loop 7"/>
            <p:cNvCxnSpPr/>
            <p:nvPr/>
          </p:nvCxnSpPr>
          <p:spPr>
            <a:xfrm flipV="1">
              <a:off x="664464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loop 8"/>
            <p:cNvCxnSpPr/>
            <p:nvPr/>
          </p:nvCxnSpPr>
          <p:spPr>
            <a:xfrm flipV="1">
              <a:off x="463296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stage disc 1"/>
            <p:cNvSpPr/>
            <p:nvPr/>
          </p:nvSpPr>
          <p:spPr>
            <a:xfrm>
              <a:off x="419862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1</a:t>
              </a:r>
            </a:p>
          </p:txBody>
        </p:sp>
        <p:sp>
          <p:nvSpPr>
            <p:cNvPr id="15" name="stage label 1"/>
            <p:cNvSpPr txBox="1"/>
            <p:nvPr/>
          </p:nvSpPr>
          <p:spPr>
            <a:xfrm>
              <a:off x="1912620" y="1706392"/>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Acquisition</a:t>
              </a:r>
            </a:p>
            <a:p>
              <a:pPr algn="r"/>
              <a:r>
                <a:rPr sz="2000" b="0" i="0" lang="en-GB">
                  <a:solidFill>
                    <a:srgbClr val="263238"/>
                  </a:solidFill>
                  <a:latin typeface="Fira Sans"/>
                </a:rPr>
                <a:t>Scan the scene</a:t>
              </a:r>
            </a:p>
            <a:p>
              <a:pPr algn="r"/>
              <a:r>
                <a:rPr sz="2000" b="0" i="0" lang="en-GB">
                  <a:solidFill>
                    <a:srgbClr val="2B6797"/>
                  </a:solidFill>
                  <a:latin typeface="Fira Sans SemiBold"/>
                </a:rPr>
                <a:t>laspy</a:t>
              </a:r>
            </a:p>
          </p:txBody>
        </p:sp>
        <p:sp>
          <p:nvSpPr>
            <p:cNvPr id="16" name="stage disc 2"/>
            <p:cNvSpPr/>
            <p:nvPr/>
          </p:nvSpPr>
          <p:spPr>
            <a:xfrm>
              <a:off x="621030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2</a:t>
              </a:r>
            </a:p>
          </p:txBody>
        </p:sp>
        <p:sp>
          <p:nvSpPr>
            <p:cNvPr id="17" name="stage label 2"/>
            <p:cNvSpPr txBox="1"/>
            <p:nvPr/>
          </p:nvSpPr>
          <p:spPr>
            <a:xfrm>
              <a:off x="7261860" y="1706392"/>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Preparation</a:t>
              </a:r>
            </a:p>
            <a:p>
              <a:pPr algn="l"/>
              <a:r>
                <a:rPr sz="2000" b="0" i="0" lang="en-GB">
                  <a:solidFill>
                    <a:srgbClr val="263238"/>
                  </a:solidFill>
                  <a:latin typeface="Fira Sans"/>
                </a:rPr>
                <a:t>Clean and register</a:t>
              </a:r>
            </a:p>
            <a:p>
              <a:pPr algn="l"/>
              <a:r>
                <a:rPr sz="2000" b="0" i="0" lang="en-GB">
                  <a:solidFill>
                    <a:srgbClr val="2B6797"/>
                  </a:solidFill>
                  <a:latin typeface="Fira Sans SemiBold"/>
                </a:rPr>
                <a:t>NumPy, Open3D</a:t>
              </a:r>
            </a:p>
          </p:txBody>
        </p:sp>
        <p:sp>
          <p:nvSpPr>
            <p:cNvPr id="18" name="stage disc 3"/>
            <p:cNvSpPr/>
            <p:nvPr/>
          </p:nvSpPr>
          <p:spPr>
            <a:xfrm>
              <a:off x="7216140" y="3291696"/>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3</a:t>
              </a:r>
            </a:p>
          </p:txBody>
        </p:sp>
        <p:sp>
          <p:nvSpPr>
            <p:cNvPr id="19" name="stage label 3"/>
            <p:cNvSpPr txBox="1"/>
            <p:nvPr/>
          </p:nvSpPr>
          <p:spPr>
            <a:xfrm>
              <a:off x="8267700" y="3131676"/>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Exploration</a:t>
              </a:r>
            </a:p>
            <a:p>
              <a:pPr algn="l"/>
              <a:r>
                <a:rPr sz="2000" b="0" i="0" lang="en-GB">
                  <a:solidFill>
                    <a:srgbClr val="263238"/>
                  </a:solidFill>
                  <a:latin typeface="Fira Sans"/>
                </a:rPr>
                <a:t>Model and label</a:t>
              </a:r>
            </a:p>
            <a:p>
              <a:pPr algn="l"/>
              <a:r>
                <a:rPr sz="2000" b="0" i="0" lang="en-GB">
                  <a:solidFill>
                    <a:srgbClr val="2B6797"/>
                  </a:solidFill>
                  <a:latin typeface="Fira Sans SemiBold"/>
                </a:rPr>
                <a:t>Open3D, SciPy</a:t>
              </a:r>
            </a:p>
          </p:txBody>
        </p:sp>
        <p:sp>
          <p:nvSpPr>
            <p:cNvPr id="20" name="stage disc 4"/>
            <p:cNvSpPr/>
            <p:nvPr/>
          </p:nvSpPr>
          <p:spPr>
            <a:xfrm>
              <a:off x="6210300" y="4716980"/>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4</a:t>
              </a:r>
            </a:p>
          </p:txBody>
        </p:sp>
        <p:sp>
          <p:nvSpPr>
            <p:cNvPr id="21" name="stage label 4"/>
            <p:cNvSpPr txBox="1"/>
            <p:nvPr/>
          </p:nvSpPr>
          <p:spPr>
            <a:xfrm>
              <a:off x="7261860" y="4556960"/>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Analysis</a:t>
              </a:r>
            </a:p>
            <a:p>
              <a:pPr algn="l"/>
              <a:r>
                <a:rPr sz="2000" b="0" i="0" lang="en-GB">
                  <a:solidFill>
                    <a:srgbClr val="263238"/>
                  </a:solidFill>
                  <a:latin typeface="Fira Sans"/>
                </a:rPr>
                <a:t>Measure, monitor</a:t>
              </a:r>
            </a:p>
            <a:p>
              <a:pPr algn="l"/>
              <a:r>
                <a:rPr sz="2000" b="0" i="0" lang="en-GB">
                  <a:solidFill>
                    <a:srgbClr val="2B6797"/>
                  </a:solidFill>
                  <a:latin typeface="Fira Sans SemiBold"/>
                </a:rPr>
                <a:t>NumPy, SciPy</a:t>
              </a:r>
            </a:p>
          </p:txBody>
        </p:sp>
        <p:sp>
          <p:nvSpPr>
            <p:cNvPr id="22" name="stage disc 5"/>
            <p:cNvSpPr/>
            <p:nvPr/>
          </p:nvSpPr>
          <p:spPr>
            <a:xfrm>
              <a:off x="4198620" y="4716980"/>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5</a:t>
              </a:r>
            </a:p>
          </p:txBody>
        </p:sp>
        <p:sp>
          <p:nvSpPr>
            <p:cNvPr id="23" name="stage label 5"/>
            <p:cNvSpPr txBox="1"/>
            <p:nvPr/>
          </p:nvSpPr>
          <p:spPr>
            <a:xfrm>
              <a:off x="1912620" y="4556960"/>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Visualisation</a:t>
              </a:r>
            </a:p>
            <a:p>
              <a:pPr algn="r"/>
              <a:r>
                <a:rPr sz="2000" b="0" i="0" lang="en-GB">
                  <a:solidFill>
                    <a:srgbClr val="263238"/>
                  </a:solidFill>
                  <a:latin typeface="Fira Sans"/>
                </a:rPr>
                <a:t>See it, trust it</a:t>
              </a:r>
            </a:p>
            <a:p>
              <a:pPr algn="r"/>
              <a:r>
                <a:rPr sz="2000" b="0" i="0" lang="en-GB">
                  <a:solidFill>
                    <a:srgbClr val="2B6797"/>
                  </a:solidFill>
                  <a:latin typeface="Fira Sans SemiBold"/>
                </a:rPr>
                <a:t>PyVista</a:t>
              </a:r>
            </a:p>
          </p:txBody>
        </p:sp>
        <p:sp>
          <p:nvSpPr>
            <p:cNvPr id="24" name="stage disc 6"/>
            <p:cNvSpPr/>
            <p:nvPr/>
          </p:nvSpPr>
          <p:spPr>
            <a:xfrm>
              <a:off x="3192780" y="3291696"/>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6</a:t>
              </a:r>
            </a:p>
          </p:txBody>
        </p:sp>
        <p:sp>
          <p:nvSpPr>
            <p:cNvPr id="25" name="stage label 6"/>
            <p:cNvSpPr txBox="1"/>
            <p:nvPr/>
          </p:nvSpPr>
          <p:spPr>
            <a:xfrm>
              <a:off x="906780" y="3131676"/>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Application</a:t>
              </a:r>
            </a:p>
            <a:p>
              <a:pPr algn="r"/>
              <a:r>
                <a:rPr sz="2000" b="0" i="0" lang="en-GB">
                  <a:solidFill>
                    <a:srgbClr val="263238"/>
                  </a:solidFill>
                  <a:latin typeface="Fira Sans"/>
                </a:rPr>
                <a:t>Ship it</a:t>
              </a:r>
            </a:p>
          </p:txBody>
        </p:sp>
        <p:sp>
          <p:nvSpPr>
            <p:cNvPr id="26" name="loop note"/>
            <p:cNvSpPr txBox="1"/>
            <p:nvPr/>
          </p:nvSpPr>
          <p:spPr>
            <a:xfrm>
              <a:off x="4861560" y="3177396"/>
              <a:ext cx="1554480" cy="1097280"/>
            </a:xfrm>
            <a:prstGeom prst="rect">
              <a:avLst/>
            </a:prstGeom>
            <a:noFill/>
          </p:spPr>
          <p:txBody>
            <a:bodyPr wrap="square" anchor="ctr" lIns="0" tIns="0" rIns="0" bIns="0">
              <a:noAutofit/>
            </a:bodyPr>
            <a:lstStyle/>
            <a:p>
              <a:pPr algn="ctr"/>
              <a:r>
                <a:rPr sz="2000" b="0" i="0" lang="en-GB">
                  <a:solidFill>
                    <a:srgbClr val="2B6797"/>
                  </a:solidFill>
                  <a:latin typeface="Fira Sans"/>
                </a:rPr>
                <a:t>Loop back when the data surprises</a:t>
              </a:r>
            </a:p>
          </p:txBody>
        </p:sp>
      </p:grpSp>
      <p:pic>
        <p:nvPicPr>
          <p:cNvPr id="27" name="Workflow image 1" descr="Close-up render of the crop: single points as laspy reads them."/>
          <p:cNvPicPr>
            <a:picLocks noChangeAspect="1"/>
          </p:cNvPicPr>
          <p:nvPr/>
        </p:nvPicPr>
        <p:blipFill>
          <a:blip r:embed="rId2"/>
          <a:stretch>
            <a:fillRect/>
          </a:stretch>
        </p:blipFill>
        <p:spPr>
          <a:xfrm>
            <a:off x="751332" y="1707429"/>
            <a:ext cx="1051560" cy="1186647"/>
          </a:xfrm>
          <a:prstGeom prst="rect">
            <a:avLst/>
          </a:prstGeom>
        </p:spPr>
      </p:pic>
      <p:pic>
        <p:nvPicPr>
          <p:cNvPr id="28" name="Workflow image 3" descr="The clusters render: ground grey, each cluster in one of four colours."/>
          <p:cNvPicPr>
            <a:picLocks noChangeAspect="1"/>
          </p:cNvPicPr>
          <p:nvPr/>
        </p:nvPicPr>
        <p:blipFill>
          <a:blip r:embed="rId3"/>
          <a:stretch>
            <a:fillRect/>
          </a:stretch>
        </p:blipFill>
        <p:spPr>
          <a:xfrm>
            <a:off x="10480548" y="3132712"/>
            <a:ext cx="1051560" cy="1186647"/>
          </a:xfrm>
          <a:prstGeom prst="rect">
            <a:avLst/>
          </a:prstGeom>
        </p:spPr>
      </p:pic>
      <p:pic>
        <p:nvPicPr>
          <p:cNvPr id="29" name="Workflow image 5" descr="The final render: ground, buildings, vegetation and street furniture."/>
          <p:cNvPicPr>
            <a:picLocks noChangeAspect="1"/>
          </p:cNvPicPr>
          <p:nvPr/>
        </p:nvPicPr>
        <p:blipFill>
          <a:blip r:embed="rId4"/>
          <a:stretch>
            <a:fillRect/>
          </a:stretch>
        </p:blipFill>
        <p:spPr>
          <a:xfrm>
            <a:off x="751332" y="4557996"/>
            <a:ext cx="1051560" cy="1186647"/>
          </a:xfrm>
          <a:prstGeom prst="rect">
            <a:avLst/>
          </a:prstGeom>
        </p:spPr>
      </p:pic>
      <p:sp>
        <p:nvSpPr>
          <p:cNvPr id="30"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yTorch3D and trimesh sit apart, dashed, marked not in this pipeline."/>
          <p:cNvGrpSpPr/>
          <p:nvPr/>
        </p:nvGrpSpPr>
        <p:grpSpPr>
          <a:xfrm>
            <a:off x="548640" y="1600200"/>
            <a:ext cx="11094720" cy="4617432"/>
            <a:chOff x="548640" y="1600200"/>
            <a:chExt cx="11094720" cy="4617432"/>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472595"/>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651317"/>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472595"/>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525240"/>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sp>
          <p:nvSpPr>
            <p:cNvPr id="23" name="eco_note_1"/>
            <p:cNvSpPr txBox="1"/>
            <p:nvPr/>
          </p:nvSpPr>
          <p:spPr>
            <a:xfrm>
              <a:off x="548640" y="5454616"/>
              <a:ext cx="2440432" cy="763016"/>
            </a:xfrm>
            <a:prstGeom prst="rect">
              <a:avLst/>
            </a:prstGeom>
            <a:noFill/>
          </p:spPr>
          <p:txBody>
            <a:bodyPr wrap="square" anchor="ctr" lIns="0" tIns="0" rIns="0" bIns="0">
              <a:noAutofit/>
            </a:bodyPr>
            <a:lstStyle/>
            <a:p>
              <a:pPr algn="l"/>
              <a:r>
                <a:rPr sz="2000" b="0" i="0" lang="en-GB">
                  <a:solidFill>
                    <a:srgbClr val="455A64"/>
                  </a:solidFill>
                  <a:latin typeface="Fira Sans"/>
                </a:rPr>
                <a:t>Not in this pipeline</a:t>
              </a:r>
            </a:p>
          </p:txBody>
        </p:sp>
        <p:sp>
          <p:nvSpPr>
            <p:cNvPr id="24" name="eco_apart_trimesh"/>
            <p:cNvSpPr/>
            <p:nvPr/>
          </p:nvSpPr>
          <p:spPr>
            <a:xfrm>
              <a:off x="298907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trimesh</a:t>
              </a:r>
            </a:p>
            <a:p>
              <a:pPr algn="l">
                <a:spcBef>
                  <a:spcPts val="200"/>
                </a:spcBef>
              </a:pPr>
              <a:r>
                <a:rPr sz="2000" b="0" i="0" lang="en-GB">
                  <a:solidFill>
                    <a:srgbClr val="455A64"/>
                  </a:solidFill>
                  <a:latin typeface="Fira Sans"/>
                </a:rPr>
                <a:t>meshes, hulls, oriented boxes</a:t>
              </a:r>
            </a:p>
          </p:txBody>
        </p:sp>
        <p:sp>
          <p:nvSpPr>
            <p:cNvPr id="25" name="eco_apart_PyTorch3D"/>
            <p:cNvSpPr/>
            <p:nvPr/>
          </p:nvSpPr>
          <p:spPr>
            <a:xfrm>
              <a:off x="7352792" y="5454616"/>
              <a:ext cx="4290568" cy="763016"/>
            </a:xfrm>
            <a:prstGeom prst="roundRect">
              <a:avLst>
                <a:gd name="adj" fmla="val 9587"/>
              </a:avLst>
            </a:prstGeom>
            <a:noFill/>
            <a:ln w="15875">
              <a:solidFill>
                <a:srgbClr val="9CA3A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tIns="64008" rIns="109728" bIns="64008">
              <a:noAutofit/>
            </a:bodyPr>
            <a:lstStyle/>
            <a:p>
              <a:pPr algn="l"/>
              <a:r>
                <a:rPr sz="2000" b="1" i="0" lang="en-GB">
                  <a:solidFill>
                    <a:srgbClr val="455A64"/>
                  </a:solidFill>
                  <a:latin typeface="Fira Sans"/>
                </a:rPr>
                <a:t>PyTorch3D</a:t>
              </a:r>
            </a:p>
            <a:p>
              <a:pPr algn="l">
                <a:spcBef>
                  <a:spcPts val="200"/>
                </a:spcBef>
              </a:pPr>
              <a:r>
                <a:rPr sz="2000" b="0" i="0" lang="en-GB">
                  <a:solidFill>
                    <a:srgbClr val="455A64"/>
                  </a:solidFill>
                  <a:latin typeface="Fira Sans"/>
                </a:rPr>
                <a:t>differentiable 3D for training</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passes the array, not the points</a:t>
            </a:r>
          </a:p>
        </p:txBody>
      </p:sp>
      <p:grpSp>
        <p:nvGrpSpPr>
          <p:cNvPr id="3" name="Copy or view" descr="Legend. Copy: two names, each on its own block of memory; new memory: costs time and RAM. View: two names on one block of memory; same memory: free, writes show through."/>
          <p:cNvGrpSpPr/>
          <p:nvPr/>
        </p:nvGrpSpPr>
        <p:grpSpPr>
          <a:xfrm>
            <a:off x="548640" y="1600200"/>
            <a:ext cx="11094720" cy="914400"/>
            <a:chOff x="548640" y="1600200"/>
            <a:chExt cx="11094720" cy="914400"/>
          </a:xfrm>
        </p:grpSpPr>
        <p:sp>
          <p:nvSpPr>
            <p:cNvPr id="7" name="copy name 1"/>
            <p:cNvSpPr txBox="1"/>
            <p:nvPr/>
          </p:nvSpPr>
          <p:spPr>
            <a:xfrm>
              <a:off x="54864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8" name="copy name 2"/>
            <p:cNvSpPr txBox="1"/>
            <p:nvPr/>
          </p:nvSpPr>
          <p:spPr>
            <a:xfrm>
              <a:off x="54864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9" name="copy cell"/>
            <p:cNvSpPr/>
            <p:nvPr/>
          </p:nvSpPr>
          <p:spPr>
            <a:xfrm>
              <a:off x="1188720"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py cell"/>
            <p:cNvSpPr/>
            <p:nvPr/>
          </p:nvSpPr>
          <p:spPr>
            <a:xfrm>
              <a:off x="1426464"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opy cell"/>
            <p:cNvSpPr/>
            <p:nvPr/>
          </p:nvSpPr>
          <p:spPr>
            <a:xfrm>
              <a:off x="1664208"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opy cell"/>
            <p:cNvSpPr/>
            <p:nvPr/>
          </p:nvSpPr>
          <p:spPr>
            <a:xfrm>
              <a:off x="1901952"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opy cell"/>
            <p:cNvSpPr/>
            <p:nvPr/>
          </p:nvSpPr>
          <p:spPr>
            <a:xfrm>
              <a:off x="2139696" y="1645920"/>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188720"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426464"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1664208"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1901952"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2139696" y="2139696"/>
              <a:ext cx="237744" cy="237744"/>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py ref"/>
            <p:cNvCxnSpPr/>
            <p:nvPr/>
          </p:nvCxnSpPr>
          <p:spPr>
            <a:xfrm>
              <a:off x="841248" y="1764792"/>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py ref"/>
            <p:cNvCxnSpPr/>
            <p:nvPr/>
          </p:nvCxnSpPr>
          <p:spPr>
            <a:xfrm>
              <a:off x="841248" y="2258568"/>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copy pill"/>
            <p:cNvSpPr/>
            <p:nvPr/>
          </p:nvSpPr>
          <p:spPr>
            <a:xfrm>
              <a:off x="2697480" y="1609344"/>
              <a:ext cx="1003300" cy="38404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22" name="copy meaning"/>
            <p:cNvSpPr txBox="1"/>
            <p:nvPr/>
          </p:nvSpPr>
          <p:spPr>
            <a:xfrm>
              <a:off x="269748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new memory: costs time and RAM</a:t>
              </a:r>
            </a:p>
          </p:txBody>
        </p:sp>
        <p:sp>
          <p:nvSpPr>
            <p:cNvPr id="23" name="view name 1"/>
            <p:cNvSpPr txBox="1"/>
            <p:nvPr/>
          </p:nvSpPr>
          <p:spPr>
            <a:xfrm>
              <a:off x="6324600" y="1600200"/>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4" name="view name 2"/>
            <p:cNvSpPr txBox="1"/>
            <p:nvPr/>
          </p:nvSpPr>
          <p:spPr>
            <a:xfrm>
              <a:off x="6324600" y="2093976"/>
              <a:ext cx="411480" cy="329184"/>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25" name="view cell"/>
            <p:cNvSpPr/>
            <p:nvPr/>
          </p:nvSpPr>
          <p:spPr>
            <a:xfrm>
              <a:off x="6964680"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view cell"/>
            <p:cNvSpPr/>
            <p:nvPr/>
          </p:nvSpPr>
          <p:spPr>
            <a:xfrm>
              <a:off x="7202424"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view cell"/>
            <p:cNvSpPr/>
            <p:nvPr/>
          </p:nvSpPr>
          <p:spPr>
            <a:xfrm>
              <a:off x="7440168"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ew cell"/>
            <p:cNvSpPr/>
            <p:nvPr/>
          </p:nvSpPr>
          <p:spPr>
            <a:xfrm>
              <a:off x="7677912"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view cell"/>
            <p:cNvSpPr/>
            <p:nvPr/>
          </p:nvSpPr>
          <p:spPr>
            <a:xfrm>
              <a:off x="7915656" y="1892808"/>
              <a:ext cx="237744" cy="237744"/>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view ref"/>
            <p:cNvCxnSpPr/>
            <p:nvPr/>
          </p:nvCxnSpPr>
          <p:spPr>
            <a:xfrm>
              <a:off x="6617208" y="1764792"/>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view ref"/>
            <p:cNvCxnSpPr/>
            <p:nvPr/>
          </p:nvCxnSpPr>
          <p:spPr>
            <a:xfrm flipV="1">
              <a:off x="6617208" y="2011680"/>
              <a:ext cx="301752" cy="246888"/>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view pill"/>
            <p:cNvSpPr/>
            <p:nvPr/>
          </p:nvSpPr>
          <p:spPr>
            <a:xfrm>
              <a:off x="8473440" y="1609344"/>
              <a:ext cx="989584" cy="384048"/>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33" name="view meaning"/>
            <p:cNvSpPr txBox="1"/>
            <p:nvPr/>
          </p:nvSpPr>
          <p:spPr>
            <a:xfrm>
              <a:off x="8473440" y="2011680"/>
              <a:ext cx="3169920" cy="502920"/>
            </a:xfrm>
            <a:prstGeom prst="rect">
              <a:avLst/>
            </a:prstGeom>
            <a:noFill/>
          </p:spPr>
          <p:txBody>
            <a:bodyPr wrap="square" anchor="t" lIns="0" tIns="0" rIns="0" bIns="0">
              <a:noAutofit/>
            </a:bodyPr>
            <a:lstStyle/>
            <a:p>
              <a:pPr algn="l"/>
              <a:r>
                <a:rPr sz="2000" b="0" i="0" lang="en-GB">
                  <a:solidFill>
                    <a:srgbClr val="263238"/>
                  </a:solidFill>
                  <a:latin typeface="Fira Sans"/>
                </a:rPr>
                <a:t>same memory: free, writes show through</a:t>
              </a:r>
            </a:p>
          </p:txBody>
        </p:sp>
      </p:grpSp>
      <p:cxnSp>
        <p:nvCxnSpPr>
          <p:cNvPr id="34" name="Legend rule">
            <a:extLst>
              <a:ext uri="{C183D7F6-B498-43B3-948B-1728B52AA6E4}">
                <adec:decorative xmlns:adec="http://schemas.microsoft.com/office/drawing/2017/decorative" val="1"/>
              </a:ext>
            </a:extLst>
          </p:cNvPr>
          <p:cNvCxnSpPr/>
          <p:nvPr/>
        </p:nvCxnSpPr>
        <p:spPr>
          <a:xfrm>
            <a:off x="548640" y="2587752"/>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6" name="Handoffs" descr="Above, a legend: a copy is new memory and costs time and RAM; a view is the same memory, free, and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2695812"/>
            <a:ext cx="11094720" cy="2542032"/>
            <a:chOff x="548640" y="2695812"/>
            <a:chExt cx="11094720" cy="2542032"/>
          </a:xfrm>
        </p:grpSpPr>
        <p:sp>
          <p:nvSpPr>
            <p:cNvPr id="37" name="Handoffs_code_1"/>
            <p:cNvSpPr/>
            <p:nvPr/>
          </p:nvSpPr>
          <p:spPr>
            <a:xfrm>
              <a:off x="548640" y="2695812"/>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las.xyz</a:t>
              </a:r>
            </a:p>
          </p:txBody>
        </p:sp>
        <p:sp>
          <p:nvSpPr>
            <p:cNvPr id="38" name="Handoffs_pill_1"/>
            <p:cNvSpPr/>
            <p:nvPr/>
          </p:nvSpPr>
          <p:spPr>
            <a:xfrm>
              <a:off x="5013960" y="2750676"/>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39" name="Handoffs_text_1"/>
            <p:cNvSpPr txBox="1"/>
            <p:nvPr/>
          </p:nvSpPr>
          <p:spPr>
            <a:xfrm>
              <a:off x="6572834" y="2695812"/>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new array, every access</a:t>
              </a:r>
            </a:p>
          </p:txBody>
        </p:sp>
        <p:sp>
          <p:nvSpPr>
            <p:cNvPr id="40" name="Handoffs_code_2"/>
            <p:cNvSpPr/>
            <p:nvPr/>
          </p:nvSpPr>
          <p:spPr>
            <a:xfrm>
              <a:off x="548640" y="3354180"/>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Vector3dVector(xyz)</a:t>
              </a:r>
            </a:p>
          </p:txBody>
        </p:sp>
        <p:sp>
          <p:nvSpPr>
            <p:cNvPr id="41" name="Handoffs_pill_2"/>
            <p:cNvSpPr/>
            <p:nvPr/>
          </p:nvSpPr>
          <p:spPr>
            <a:xfrm>
              <a:off x="5013960" y="3409044"/>
              <a:ext cx="1147394" cy="457200"/>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1C325B"/>
                  </a:solidFill>
                  <a:latin typeface="Fira Sans SemiBold"/>
                </a:rPr>
                <a:t>copy</a:t>
              </a:r>
            </a:p>
          </p:txBody>
        </p:sp>
        <p:sp>
          <p:nvSpPr>
            <p:cNvPr id="42" name="Handoffs_text_2"/>
            <p:cNvSpPr txBox="1"/>
            <p:nvPr/>
          </p:nvSpPr>
          <p:spPr>
            <a:xfrm>
              <a:off x="6572834" y="3354180"/>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float32: 39× slower</a:t>
              </a:r>
            </a:p>
          </p:txBody>
        </p:sp>
        <p:sp>
          <p:nvSpPr>
            <p:cNvPr id="43" name="Handoffs_code_3"/>
            <p:cNvSpPr/>
            <p:nvPr/>
          </p:nvSpPr>
          <p:spPr>
            <a:xfrm>
              <a:off x="548640" y="4012548"/>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np.asarray(pcd.points)</a:t>
              </a:r>
            </a:p>
          </p:txBody>
        </p:sp>
        <p:sp>
          <p:nvSpPr>
            <p:cNvPr id="44" name="Handoffs_pill_3"/>
            <p:cNvSpPr/>
            <p:nvPr/>
          </p:nvSpPr>
          <p:spPr>
            <a:xfrm>
              <a:off x="5013960" y="4067412"/>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5" name="Handoffs_text_3"/>
            <p:cNvSpPr txBox="1"/>
            <p:nvPr/>
          </p:nvSpPr>
          <p:spPr>
            <a:xfrm>
              <a:off x="6572834" y="4012548"/>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writes reach the point cloud</a:t>
              </a:r>
            </a:p>
          </p:txBody>
        </p:sp>
        <p:sp>
          <p:nvSpPr>
            <p:cNvPr id="46" name="Handoffs_code_4"/>
            <p:cNvSpPr/>
            <p:nvPr/>
          </p:nvSpPr>
          <p:spPr>
            <a:xfrm>
              <a:off x="548640" y="4670916"/>
              <a:ext cx="4053840" cy="566928"/>
            </a:xfrm>
            <a:prstGeom prst="roundRect">
              <a:avLst>
                <a:gd name="adj" fmla="val 12903"/>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2200" b="0" i="0" lang="en-GB">
                  <a:solidFill>
                    <a:srgbClr val="263238"/>
                  </a:solidFill>
                  <a:latin typeface="Fira Mono" pitchFamily="49" charset="0"/>
                </a:rPr>
                <a:t>pv.PolyData(pts)</a:t>
              </a:r>
            </a:p>
          </p:txBody>
        </p:sp>
        <p:sp>
          <p:nvSpPr>
            <p:cNvPr id="47" name="Handoffs_pill_4"/>
            <p:cNvSpPr/>
            <p:nvPr/>
          </p:nvSpPr>
          <p:spPr>
            <a:xfrm>
              <a:off x="5013960" y="4725780"/>
              <a:ext cx="1147394" cy="457200"/>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200" b="0" i="0" lang="en-GB">
                  <a:solidFill>
                    <a:srgbClr val="FFFFFF"/>
                  </a:solidFill>
                  <a:latin typeface="Fira Sans SemiBold"/>
                </a:rPr>
                <a:t>view</a:t>
              </a:r>
            </a:p>
          </p:txBody>
        </p:sp>
        <p:sp>
          <p:nvSpPr>
            <p:cNvPr id="48" name="Handoffs_text_4"/>
            <p:cNvSpPr txBox="1"/>
            <p:nvPr/>
          </p:nvSpPr>
          <p:spPr>
            <a:xfrm>
              <a:off x="6572834" y="4670916"/>
              <a:ext cx="5070526" cy="566928"/>
            </a:xfrm>
            <a:prstGeom prst="rect">
              <a:avLst/>
            </a:prstGeom>
            <a:noFill/>
          </p:spPr>
          <p:txBody>
            <a:bodyPr wrap="none" anchor="ctr" lIns="0" tIns="0" rIns="0" bIns="0">
              <a:noAutofit/>
            </a:bodyPr>
            <a:lstStyle/>
            <a:p>
              <a:pPr algn="l"/>
              <a:r>
                <a:rPr sz="2200" b="0" i="0" lang="en-GB">
                  <a:solidFill>
                    <a:srgbClr val="263238"/>
                  </a:solidFill>
                  <a:latin typeface="Fira Sans"/>
                </a:rPr>
                <a:t>same memory as pts</a:t>
              </a:r>
            </a:p>
          </p:txBody>
        </p:sp>
      </p:grpSp>
      <p:sp>
        <p:nvSpPr>
          <p:cNvPr id="35" name="Support"/>
          <p:cNvSpPr txBox="1"/>
          <p:nvPr/>
        </p:nvSpPr>
        <p:spPr>
          <a:xfrm>
            <a:off x="548640" y="554707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Each xyz copy costs 24 B per point: 0.5 GB per 1 km AHN file.</a:t>
            </a:r>
            <a:endParaRPr lang="en-GB" sz="2000"/>
          </a:p>
        </p:txBody>
      </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a:t>
            </a:r>
            <a:br/>
            <a:r>
              <a:rPr lang="en-GB"/>
              <a:t>laspy hands you NumPy</a:t>
            </a:r>
          </a:p>
        </p:txBody>
      </p:sp>
      <p:pic>
        <p:nvPicPr>
          <p:cNvPr id="4" name="!!render" descr="The crop as a point cloud, coloured by height: the hall roof white, the ground blu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grpSp>
        <p:nvGrpSpPr>
          <p:cNvPr id="12" name="Sketch origin" descr="Sketch: the first point's x, 135914.6 m in RD, becomes 199.6 m after subtracting header.mins; float32 then steps 15 micrometres instead of 1.6 cm."/>
          <p:cNvGrpSpPr/>
          <p:nvPr/>
        </p:nvGrpSpPr>
        <p:grpSpPr>
          <a:xfrm>
            <a:off x="9201912" y="658368"/>
            <a:ext cx="2331720" cy="1554480"/>
            <a:chOff x="9201912" y="658368"/>
            <a:chExt cx="2331720" cy="1554480"/>
          </a:xfrm>
        </p:grpSpPr>
        <p:sp>
          <p:nvSpPr>
            <p:cNvPr id="13" name="Sketch origi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rigin head"/>
            <p:cNvSpPr txBox="1"/>
            <p:nvPr/>
          </p:nvSpPr>
          <p:spPr>
            <a:xfrm>
              <a:off x="9329928" y="786384"/>
              <a:ext cx="2075688" cy="292608"/>
            </a:xfrm>
            <a:prstGeom prst="rect">
              <a:avLst/>
            </a:prstGeom>
            <a:noFill/>
          </p:spPr>
          <p:txBody>
            <a:bodyPr wrap="none" anchor="t" lIns="0" tIns="0" rIns="0" bIns="0">
              <a:noAutofit/>
            </a:bodyPr>
            <a:lstStyle/>
            <a:p>
              <a:pPr algn="r"/>
              <a:r>
                <a:rPr sz="1800" b="0" i="0" lang="en-GB">
                  <a:solidFill>
                    <a:srgbClr val="B1CAC5"/>
                  </a:solidFill>
                  <a:latin typeface="Fira Sans"/>
                </a:rPr>
                <a:t>float32 step</a:t>
              </a:r>
            </a:p>
          </p:txBody>
        </p:sp>
        <p:sp>
          <p:nvSpPr>
            <p:cNvPr id="15" name="origin value 1"/>
            <p:cNvSpPr txBox="1"/>
            <p:nvPr/>
          </p:nvSpPr>
          <p:spPr>
            <a:xfrm>
              <a:off x="9329928" y="1170432"/>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135914.6 m</a:t>
              </a:r>
            </a:p>
          </p:txBody>
        </p:sp>
        <p:sp>
          <p:nvSpPr>
            <p:cNvPr id="16" name="origin step 1"/>
            <p:cNvSpPr txBox="1"/>
            <p:nvPr/>
          </p:nvSpPr>
          <p:spPr>
            <a:xfrm>
              <a:off x="10782910" y="1170432"/>
              <a:ext cx="622706" cy="274320"/>
            </a:xfrm>
            <a:prstGeom prst="rect">
              <a:avLst/>
            </a:prstGeom>
            <a:noFill/>
          </p:spPr>
          <p:txBody>
            <a:bodyPr wrap="none" anchor="t" lIns="0" tIns="0" rIns="0" bIns="0">
              <a:noAutofit/>
            </a:bodyPr>
            <a:lstStyle/>
            <a:p>
              <a:pPr algn="r"/>
              <a:r>
                <a:rPr sz="1800" b="0" i="0" lang="en-GB">
                  <a:solidFill>
                    <a:srgbClr val="B1CAC5"/>
                  </a:solidFill>
                  <a:latin typeface="Fira Sans"/>
                </a:rPr>
                <a:t>1.6 cm</a:t>
              </a:r>
            </a:p>
          </p:txBody>
        </p:sp>
        <p:sp>
          <p:nvSpPr>
            <p:cNvPr id="17" name="origin value 2"/>
            <p:cNvSpPr txBox="1"/>
            <p:nvPr/>
          </p:nvSpPr>
          <p:spPr>
            <a:xfrm>
              <a:off x="9329928" y="1773936"/>
              <a:ext cx="1369954" cy="274320"/>
            </a:xfrm>
            <a:prstGeom prst="rect">
              <a:avLst/>
            </a:prstGeom>
            <a:noFill/>
          </p:spPr>
          <p:txBody>
            <a:bodyPr wrap="none" anchor="t" lIns="0" tIns="0" rIns="0" bIns="0">
              <a:noAutofit/>
            </a:bodyPr>
            <a:lstStyle/>
            <a:p>
              <a:pPr algn="r"/>
              <a:r>
                <a:rPr sz="1800" b="0" i="0" lang="en-GB">
                  <a:solidFill>
                    <a:srgbClr val="FFFFFF"/>
                  </a:solidFill>
                  <a:latin typeface="Fira Mono" pitchFamily="49" charset="0"/>
                </a:rPr>
                <a:t>199.6 m</a:t>
              </a:r>
            </a:p>
          </p:txBody>
        </p:sp>
        <p:sp>
          <p:nvSpPr>
            <p:cNvPr id="18" name="origin step 2"/>
            <p:cNvSpPr txBox="1"/>
            <p:nvPr/>
          </p:nvSpPr>
          <p:spPr>
            <a:xfrm>
              <a:off x="10782910" y="1773936"/>
              <a:ext cx="622706" cy="274320"/>
            </a:xfrm>
            <a:prstGeom prst="rect">
              <a:avLst/>
            </a:prstGeom>
            <a:noFill/>
          </p:spPr>
          <p:txBody>
            <a:bodyPr wrap="none" anchor="t" lIns="0" tIns="0" rIns="0" bIns="0">
              <a:noAutofit/>
            </a:bodyPr>
            <a:lstStyle/>
            <a:p>
              <a:pPr algn="r"/>
              <a:r>
                <a:rPr sz="1800" b="1" i="0" lang="en-GB">
                  <a:solidFill>
                    <a:srgbClr val="B1CAC5"/>
                  </a:solidFill>
                  <a:latin typeface="Fira Sans"/>
                </a:rPr>
                <a:t>15 µm</a:t>
              </a:r>
            </a:p>
          </p:txBody>
        </p:sp>
        <p:sp>
          <p:nvSpPr>
            <p:cNvPr id="19" name="origin arrow"/>
            <p:cNvSpPr/>
            <p:nvPr/>
          </p:nvSpPr>
          <p:spPr>
            <a:xfrm>
              <a:off x="9375648" y="1490472"/>
              <a:ext cx="164592" cy="237744"/>
            </a:xfrm>
            <a:prstGeom prst="downArrow">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rigin op"/>
            <p:cNvSpPr txBox="1"/>
            <p:nvPr/>
          </p:nvSpPr>
          <p:spPr>
            <a:xfrm>
              <a:off x="9604248" y="1472184"/>
              <a:ext cx="1095634" cy="274320"/>
            </a:xfrm>
            <a:prstGeom prst="rect">
              <a:avLst/>
            </a:prstGeom>
            <a:noFill/>
          </p:spPr>
          <p:txBody>
            <a:bodyPr wrap="none" anchor="t" lIns="0" tIns="0" rIns="0" bIns="0">
              <a:noAutofit/>
            </a:bodyPr>
            <a:lstStyle/>
            <a:p>
              <a:pPr algn="l"/>
              <a:r>
                <a:rPr sz="1800" b="0" i="0" lang="en-GB">
                  <a:solidFill>
                    <a:srgbClr val="B1CAC5"/>
                  </a:solidFill>
                  <a:latin typeface="Fira Mono" pitchFamily="49" charset="0"/>
                </a:rPr>
                <a:t>− header.mins</a:t>
              </a: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Subtract a local origin before anything else.</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a:t>
            </a:r>
            <a:br/>
            <a:r>
              <a:rPr lang="en-GB"/>
              <a:t>one average per voxel</a:t>
            </a:r>
          </a:p>
        </p:txBody>
      </p:sp>
      <p:pic>
        <p:nvPicPr>
          <p:cNvPr id="4" name="!!render" descr="Same view after voxel downsampling: fewer points, same size, same area."/>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011680"/>
            <a:ext cx="5760186" cy="266700"/>
            <a:chOff x="402336" y="2011680"/>
            <a:chExt cx="5760186" cy="266700"/>
          </a:xfrm>
        </p:grpSpPr>
        <p:sp>
          <p:nvSpPr>
            <p:cNvPr id="7" name="Key line bar"/>
            <p:cNvSpPr/>
            <p:nvPr/>
          </p:nvSpPr>
          <p:spPr>
            <a:xfrm>
              <a:off x="402336" y="20116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0116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grpSp>
        <p:nvGrpSpPr>
          <p:cNvPr id="12" name="Sketch voxel" descr="Sketch: a grid of cells with several small points in each; every occupied cell keeps one larger point at the average of its points."/>
          <p:cNvGrpSpPr/>
          <p:nvPr/>
        </p:nvGrpSpPr>
        <p:grpSpPr>
          <a:xfrm>
            <a:off x="9201912" y="658368"/>
            <a:ext cx="2331720" cy="1554480"/>
            <a:chOff x="9201912" y="658368"/>
            <a:chExt cx="2331720" cy="1554480"/>
          </a:xfrm>
        </p:grpSpPr>
        <p:sp>
          <p:nvSpPr>
            <p:cNvPr id="13" name="Sketch voxel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voxel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0.5 m voxels</a:t>
              </a:r>
            </a:p>
          </p:txBody>
        </p:sp>
        <p:cxnSp>
          <p:nvCxnSpPr>
            <p:cNvPr id="15" name="grid v"/>
            <p:cNvCxnSpPr/>
            <p:nvPr/>
          </p:nvCxnSpPr>
          <p:spPr>
            <a:xfrm>
              <a:off x="936193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6" name="grid v"/>
            <p:cNvCxnSpPr/>
            <p:nvPr/>
          </p:nvCxnSpPr>
          <p:spPr>
            <a:xfrm>
              <a:off x="986485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7" name="grid v"/>
            <p:cNvCxnSpPr/>
            <p:nvPr/>
          </p:nvCxnSpPr>
          <p:spPr>
            <a:xfrm>
              <a:off x="1036777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8" name="grid v"/>
            <p:cNvCxnSpPr/>
            <p:nvPr/>
          </p:nvCxnSpPr>
          <p:spPr>
            <a:xfrm>
              <a:off x="1087069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19" name="grid v"/>
            <p:cNvCxnSpPr/>
            <p:nvPr/>
          </p:nvCxnSpPr>
          <p:spPr>
            <a:xfrm>
              <a:off x="11373612" y="786384"/>
              <a:ext cx="0" cy="100584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0" name="grid h"/>
            <p:cNvCxnSpPr/>
            <p:nvPr/>
          </p:nvCxnSpPr>
          <p:spPr>
            <a:xfrm>
              <a:off x="9361932" y="78638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1" name="grid h"/>
            <p:cNvCxnSpPr/>
            <p:nvPr/>
          </p:nvCxnSpPr>
          <p:spPr>
            <a:xfrm>
              <a:off x="9361932" y="128930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cxnSp>
          <p:nvCxnSpPr>
            <p:cNvPr id="22" name="grid h"/>
            <p:cNvCxnSpPr/>
            <p:nvPr/>
          </p:nvCxnSpPr>
          <p:spPr>
            <a:xfrm>
              <a:off x="9361932" y="1792224"/>
              <a:ext cx="201168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point"/>
            <p:cNvSpPr/>
            <p:nvPr/>
          </p:nvSpPr>
          <p:spPr>
            <a:xfrm>
              <a:off x="9500006" y="984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oint"/>
            <p:cNvSpPr/>
            <p:nvPr/>
          </p:nvSpPr>
          <p:spPr>
            <a:xfrm>
              <a:off x="9640824" y="88422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oint"/>
            <p:cNvSpPr/>
            <p:nvPr/>
          </p:nvSpPr>
          <p:spPr>
            <a:xfrm>
              <a:off x="972129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oint"/>
            <p:cNvSpPr/>
            <p:nvPr/>
          </p:nvSpPr>
          <p:spPr>
            <a:xfrm>
              <a:off x="10063277" y="8641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oint"/>
            <p:cNvSpPr/>
            <p:nvPr/>
          </p:nvSpPr>
          <p:spPr>
            <a:xfrm>
              <a:off x="10183978"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oint"/>
            <p:cNvSpPr/>
            <p:nvPr/>
          </p:nvSpPr>
          <p:spPr>
            <a:xfrm>
              <a:off x="9942576" y="10451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int"/>
            <p:cNvSpPr/>
            <p:nvPr/>
          </p:nvSpPr>
          <p:spPr>
            <a:xfrm>
              <a:off x="10586314" y="94457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oint"/>
            <p:cNvSpPr/>
            <p:nvPr/>
          </p:nvSpPr>
          <p:spPr>
            <a:xfrm>
              <a:off x="10747248" y="84399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oint"/>
            <p:cNvSpPr/>
            <p:nvPr/>
          </p:nvSpPr>
          <p:spPr>
            <a:xfrm>
              <a:off x="9560357"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oint"/>
            <p:cNvSpPr/>
            <p:nvPr/>
          </p:nvSpPr>
          <p:spPr>
            <a:xfrm>
              <a:off x="9761525"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oint"/>
            <p:cNvSpPr/>
            <p:nvPr/>
          </p:nvSpPr>
          <p:spPr>
            <a:xfrm>
              <a:off x="9701174"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oint"/>
            <p:cNvSpPr/>
            <p:nvPr/>
          </p:nvSpPr>
          <p:spPr>
            <a:xfrm>
              <a:off x="10143744"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oint"/>
            <p:cNvSpPr/>
            <p:nvPr/>
          </p:nvSpPr>
          <p:spPr>
            <a:xfrm>
              <a:off x="10284562" y="146761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oint"/>
            <p:cNvSpPr/>
            <p:nvPr/>
          </p:nvSpPr>
          <p:spPr>
            <a:xfrm>
              <a:off x="10002926" y="161848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oint"/>
            <p:cNvSpPr/>
            <p:nvPr/>
          </p:nvSpPr>
          <p:spPr>
            <a:xfrm>
              <a:off x="10505846"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oint"/>
            <p:cNvSpPr/>
            <p:nvPr/>
          </p:nvSpPr>
          <p:spPr>
            <a:xfrm>
              <a:off x="10686898" y="152796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oint"/>
            <p:cNvSpPr/>
            <p:nvPr/>
          </p:nvSpPr>
          <p:spPr>
            <a:xfrm>
              <a:off x="10807598" y="131673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oint"/>
            <p:cNvSpPr/>
            <p:nvPr/>
          </p:nvSpPr>
          <p:spPr>
            <a:xfrm>
              <a:off x="11109350" y="138714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oint"/>
            <p:cNvSpPr/>
            <p:nvPr/>
          </p:nvSpPr>
          <p:spPr>
            <a:xfrm>
              <a:off x="11189818" y="15681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oint"/>
            <p:cNvSpPr/>
            <p:nvPr/>
          </p:nvSpPr>
          <p:spPr>
            <a:xfrm>
              <a:off x="11008766" y="164866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oint"/>
            <p:cNvSpPr/>
            <p:nvPr/>
          </p:nvSpPr>
          <p:spPr>
            <a:xfrm>
              <a:off x="10445496" y="12161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oint"/>
            <p:cNvSpPr/>
            <p:nvPr/>
          </p:nvSpPr>
          <p:spPr>
            <a:xfrm>
              <a:off x="11069117" y="9646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oint"/>
            <p:cNvSpPr/>
            <p:nvPr/>
          </p:nvSpPr>
          <p:spPr>
            <a:xfrm>
              <a:off x="11230051" y="106527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voxel mean"/>
            <p:cNvSpPr/>
            <p:nvPr/>
          </p:nvSpPr>
          <p:spPr>
            <a:xfrm>
              <a:off x="9574987" y="93238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voxel mean"/>
            <p:cNvSpPr/>
            <p:nvPr/>
          </p:nvSpPr>
          <p:spPr>
            <a:xfrm>
              <a:off x="10017557" y="92567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voxel mean"/>
            <p:cNvSpPr/>
            <p:nvPr/>
          </p:nvSpPr>
          <p:spPr>
            <a:xfrm>
              <a:off x="10547299" y="955853"/>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voxel mean"/>
            <p:cNvSpPr/>
            <p:nvPr/>
          </p:nvSpPr>
          <p:spPr>
            <a:xfrm>
              <a:off x="9628632" y="1378306"/>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voxel mean"/>
            <p:cNvSpPr/>
            <p:nvPr/>
          </p:nvSpPr>
          <p:spPr>
            <a:xfrm>
              <a:off x="10098024" y="1431950"/>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voxel mean"/>
            <p:cNvSpPr/>
            <p:nvPr/>
          </p:nvSpPr>
          <p:spPr>
            <a:xfrm>
              <a:off x="10621061" y="136489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voxel mean"/>
            <p:cNvSpPr/>
            <p:nvPr/>
          </p:nvSpPr>
          <p:spPr>
            <a:xfrm>
              <a:off x="11056925" y="1488948"/>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voxel mean"/>
            <p:cNvSpPr/>
            <p:nvPr/>
          </p:nvSpPr>
          <p:spPr>
            <a:xfrm>
              <a:off x="11103864" y="969264"/>
              <a:ext cx="137160" cy="137160"/>
            </a:xfrm>
            <a:prstGeom prst="ellipse">
              <a:avLst/>
            </a:prstGeom>
            <a:solidFill>
              <a:srgbClr val="B1CAC5"/>
            </a:solidFill>
            <a:ln w="95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a:t>
            </a:r>
            <a:endParaRPr lang="en-GB" sz="2000"/>
          </a:p>
          <a:p>
            <a:pPr marL="0" indent="0" algn="l">
              <a:spcBef>
                <a:spcPts val="0"/>
              </a:spcBef>
              <a:spcAft>
                <a:spcPts val="0"/>
              </a:spcAft>
              <a:buNone/>
            </a:pPr>
            <a:r>
              <a:rPr sz="2000" b="0" lang="en-GB">
                <a:solidFill>
                  <a:srgbClr val="263238"/>
                </a:solidFill>
                <a:latin typeface="+mn-lt"/>
              </a:rPr>
              <a:t>232 180 out at 0.5 m voxels.</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a:t>
            </a:r>
            <a:br/>
            <a:r>
              <a:rPr lang="en-GB"/>
              <a:t>one plane per tile</a:t>
            </a:r>
          </a:p>
        </p:txBody>
      </p:sp>
      <p:pic>
        <p:nvPicPr>
          <p:cNvPr id="4" name="!!render" descr="Same view: ground points in slate grey, labelled Ground, everything else still coloured by height."/>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545080"/>
            <a:ext cx="5760186" cy="266700"/>
            <a:chOff x="402336" y="2545080"/>
            <a:chExt cx="5760186" cy="266700"/>
          </a:xfrm>
        </p:grpSpPr>
        <p:sp>
          <p:nvSpPr>
            <p:cNvPr id="7" name="Key line bar"/>
            <p:cNvSpPr/>
            <p:nvPr/>
          </p:nvSpPr>
          <p:spPr>
            <a:xfrm>
              <a:off x="402336" y="25450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5450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o3d.utility.random.seed(0)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 np.zeros(len(P), bool)</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_,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ground[low[inl]] = z0 &lt; 5</a:t>
            </a:r>
            <a:endParaRPr lang="en-GB" sz="1800"/>
          </a:p>
        </p:txBody>
      </p:sp>
      <p:grpSp>
        <p:nvGrpSpPr>
          <p:cNvPr id="12" name="Sketch ground" descr="Sketch, side view: ground points along a gently sloping street, a building and a tree above them; each of two tiles fits its own straight plane through its ground points."/>
          <p:cNvGrpSpPr/>
          <p:nvPr/>
        </p:nvGrpSpPr>
        <p:grpSpPr>
          <a:xfrm>
            <a:off x="9201912" y="658368"/>
            <a:ext cx="2331720" cy="1554480"/>
            <a:chOff x="9201912" y="658368"/>
            <a:chExt cx="2331720" cy="1554480"/>
          </a:xfrm>
        </p:grpSpPr>
        <p:sp>
          <p:nvSpPr>
            <p:cNvPr id="13" name="Sketch ground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ground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one plane per tile</a:t>
              </a:r>
            </a:p>
          </p:txBody>
        </p:sp>
        <p:cxnSp>
          <p:nvCxnSpPr>
            <p:cNvPr id="15" name="tile edge"/>
            <p:cNvCxnSpPr/>
            <p:nvPr/>
          </p:nvCxnSpPr>
          <p:spPr>
            <a:xfrm>
              <a:off x="10367772" y="786384"/>
              <a:ext cx="0" cy="1005840"/>
            </a:xfrm>
            <a:prstGeom prst="line">
              <a:avLst/>
            </a:prstGeom>
            <a:ln w="9525">
              <a:solidFill>
                <a:srgbClr val="9CA3AF"/>
              </a:solidFill>
              <a:prstDash val="dash"/>
            </a:ln>
          </p:spPr>
          <p:style>
            <a:lnRef idx="2">
              <a:schemeClr val="accent1"/>
            </a:lnRef>
            <a:fillRef idx="0">
              <a:schemeClr val="accent1"/>
            </a:fillRef>
            <a:effectRef idx="1">
              <a:schemeClr val="accent1"/>
            </a:effectRef>
            <a:fontRef idx="minor">
              <a:schemeClr val="tx1"/>
            </a:fontRef>
          </p:style>
        </p:cxnSp>
        <p:sp>
          <p:nvSpPr>
            <p:cNvPr id="16" name="ground pt"/>
            <p:cNvSpPr/>
            <p:nvPr/>
          </p:nvSpPr>
          <p:spPr>
            <a:xfrm>
              <a:off x="9349671" y="1593525"/>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round pt"/>
            <p:cNvSpPr/>
            <p:nvPr/>
          </p:nvSpPr>
          <p:spPr>
            <a:xfrm>
              <a:off x="9444020" y="156682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ground pt"/>
            <p:cNvSpPr/>
            <p:nvPr/>
          </p:nvSpPr>
          <p:spPr>
            <a:xfrm>
              <a:off x="9538370" y="156225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round pt"/>
            <p:cNvSpPr/>
            <p:nvPr/>
          </p:nvSpPr>
          <p:spPr>
            <a:xfrm>
              <a:off x="9632719" y="1579809"/>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round pt"/>
            <p:cNvSpPr/>
            <p:nvPr/>
          </p:nvSpPr>
          <p:spPr>
            <a:xfrm>
              <a:off x="9727069" y="155310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round pt"/>
            <p:cNvSpPr/>
            <p:nvPr/>
          </p:nvSpPr>
          <p:spPr>
            <a:xfrm>
              <a:off x="9821418" y="154853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ground pt"/>
            <p:cNvSpPr/>
            <p:nvPr/>
          </p:nvSpPr>
          <p:spPr>
            <a:xfrm>
              <a:off x="9915767" y="156609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round pt"/>
            <p:cNvSpPr/>
            <p:nvPr/>
          </p:nvSpPr>
          <p:spPr>
            <a:xfrm>
              <a:off x="10010117" y="1539392"/>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round pt"/>
            <p:cNvSpPr/>
            <p:nvPr/>
          </p:nvSpPr>
          <p:spPr>
            <a:xfrm>
              <a:off x="10104466" y="153482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ground pt"/>
            <p:cNvSpPr/>
            <p:nvPr/>
          </p:nvSpPr>
          <p:spPr>
            <a:xfrm>
              <a:off x="10198816" y="155237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ground pt"/>
            <p:cNvSpPr/>
            <p:nvPr/>
          </p:nvSpPr>
          <p:spPr>
            <a:xfrm>
              <a:off x="10293165" y="1525676"/>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round pt"/>
            <p:cNvSpPr/>
            <p:nvPr/>
          </p:nvSpPr>
          <p:spPr>
            <a:xfrm>
              <a:off x="10387515" y="1522933"/>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round pt"/>
            <p:cNvSpPr/>
            <p:nvPr/>
          </p:nvSpPr>
          <p:spPr>
            <a:xfrm>
              <a:off x="10481864" y="15441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ground pt"/>
            <p:cNvSpPr/>
            <p:nvPr/>
          </p:nvSpPr>
          <p:spPr>
            <a:xfrm>
              <a:off x="10576214" y="15211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ground pt"/>
            <p:cNvSpPr/>
            <p:nvPr/>
          </p:nvSpPr>
          <p:spPr>
            <a:xfrm>
              <a:off x="10670563" y="1520190"/>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round pt"/>
            <p:cNvSpPr/>
            <p:nvPr/>
          </p:nvSpPr>
          <p:spPr>
            <a:xfrm>
              <a:off x="10764913" y="15414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ground pt"/>
            <p:cNvSpPr/>
            <p:nvPr/>
          </p:nvSpPr>
          <p:spPr>
            <a:xfrm>
              <a:off x="10859262" y="15183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ground pt"/>
            <p:cNvSpPr/>
            <p:nvPr/>
          </p:nvSpPr>
          <p:spPr>
            <a:xfrm>
              <a:off x="10953611" y="1517447"/>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ground pt"/>
            <p:cNvSpPr/>
            <p:nvPr/>
          </p:nvSpPr>
          <p:spPr>
            <a:xfrm>
              <a:off x="11047961" y="1538661"/>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ground pt"/>
            <p:cNvSpPr/>
            <p:nvPr/>
          </p:nvSpPr>
          <p:spPr>
            <a:xfrm>
              <a:off x="11142310" y="15156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ground pt"/>
            <p:cNvSpPr/>
            <p:nvPr/>
          </p:nvSpPr>
          <p:spPr>
            <a:xfrm>
              <a:off x="11236660" y="1514704"/>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ground pt"/>
            <p:cNvSpPr/>
            <p:nvPr/>
          </p:nvSpPr>
          <p:spPr>
            <a:xfrm>
              <a:off x="11331009" y="1535918"/>
              <a:ext cx="54864" cy="54864"/>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uilding pt"/>
            <p:cNvSpPr/>
            <p:nvPr/>
          </p:nvSpPr>
          <p:spPr>
            <a:xfrm>
              <a:off x="9576907"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uilding pt"/>
            <p:cNvSpPr/>
            <p:nvPr/>
          </p:nvSpPr>
          <p:spPr>
            <a:xfrm>
              <a:off x="9576907"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uilding pt"/>
            <p:cNvSpPr/>
            <p:nvPr/>
          </p:nvSpPr>
          <p:spPr>
            <a:xfrm>
              <a:off x="9576907"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uilding pt"/>
            <p:cNvSpPr/>
            <p:nvPr/>
          </p:nvSpPr>
          <p:spPr>
            <a:xfrm>
              <a:off x="9670313"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uilding pt"/>
            <p:cNvSpPr/>
            <p:nvPr/>
          </p:nvSpPr>
          <p:spPr>
            <a:xfrm>
              <a:off x="9670313"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uilding pt"/>
            <p:cNvSpPr/>
            <p:nvPr/>
          </p:nvSpPr>
          <p:spPr>
            <a:xfrm>
              <a:off x="9670313"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uilding pt"/>
            <p:cNvSpPr/>
            <p:nvPr/>
          </p:nvSpPr>
          <p:spPr>
            <a:xfrm>
              <a:off x="9763719"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uilding pt"/>
            <p:cNvSpPr/>
            <p:nvPr/>
          </p:nvSpPr>
          <p:spPr>
            <a:xfrm>
              <a:off x="9763719"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uilding pt"/>
            <p:cNvSpPr/>
            <p:nvPr/>
          </p:nvSpPr>
          <p:spPr>
            <a:xfrm>
              <a:off x="9763719"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uilding pt"/>
            <p:cNvSpPr/>
            <p:nvPr/>
          </p:nvSpPr>
          <p:spPr>
            <a:xfrm>
              <a:off x="9857125"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uilding pt"/>
            <p:cNvSpPr/>
            <p:nvPr/>
          </p:nvSpPr>
          <p:spPr>
            <a:xfrm>
              <a:off x="9857125"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uilding pt"/>
            <p:cNvSpPr/>
            <p:nvPr/>
          </p:nvSpPr>
          <p:spPr>
            <a:xfrm>
              <a:off x="9857125"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uilding pt"/>
            <p:cNvSpPr/>
            <p:nvPr/>
          </p:nvSpPr>
          <p:spPr>
            <a:xfrm>
              <a:off x="9950531" y="13469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uilding pt"/>
            <p:cNvSpPr/>
            <p:nvPr/>
          </p:nvSpPr>
          <p:spPr>
            <a:xfrm>
              <a:off x="9950531" y="11759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uilding pt"/>
            <p:cNvSpPr/>
            <p:nvPr/>
          </p:nvSpPr>
          <p:spPr>
            <a:xfrm>
              <a:off x="9950531" y="100492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ree pt"/>
            <p:cNvSpPr/>
            <p:nvPr/>
          </p:nvSpPr>
          <p:spPr>
            <a:xfrm>
              <a:off x="11029889" y="11457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ree pt"/>
            <p:cNvSpPr/>
            <p:nvPr/>
          </p:nvSpPr>
          <p:spPr>
            <a:xfrm>
              <a:off x="10995896" y="10552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ree pt"/>
            <p:cNvSpPr/>
            <p:nvPr/>
          </p:nvSpPr>
          <p:spPr>
            <a:xfrm>
              <a:off x="10909822" y="10070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ree pt"/>
            <p:cNvSpPr/>
            <p:nvPr/>
          </p:nvSpPr>
          <p:spPr>
            <a:xfrm>
              <a:off x="10811942" y="102379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ree pt"/>
            <p:cNvSpPr/>
            <p:nvPr/>
          </p:nvSpPr>
          <p:spPr>
            <a:xfrm>
              <a:off x="10748055" y="109758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ree pt"/>
            <p:cNvSpPr/>
            <p:nvPr/>
          </p:nvSpPr>
          <p:spPr>
            <a:xfrm>
              <a:off x="10748055" y="119390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ree pt"/>
            <p:cNvSpPr/>
            <p:nvPr/>
          </p:nvSpPr>
          <p:spPr>
            <a:xfrm>
              <a:off x="10811942" y="126769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ree pt"/>
            <p:cNvSpPr/>
            <p:nvPr/>
          </p:nvSpPr>
          <p:spPr>
            <a:xfrm>
              <a:off x="10909822" y="12844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ree pt"/>
            <p:cNvSpPr/>
            <p:nvPr/>
          </p:nvSpPr>
          <p:spPr>
            <a:xfrm>
              <a:off x="10995896" y="123625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trunk"/>
            <p:cNvCxnSpPr/>
            <p:nvPr/>
          </p:nvCxnSpPr>
          <p:spPr>
            <a:xfrm flipV="1">
              <a:off x="10907451" y="1309421"/>
              <a:ext cx="0" cy="246229"/>
            </a:xfrm>
            <a:prstGeom prst="line">
              <a:avLst/>
            </a:prstGeom>
            <a:ln w="127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3" name="tile plane"/>
            <p:cNvCxnSpPr/>
            <p:nvPr/>
          </p:nvCxnSpPr>
          <p:spPr>
            <a:xfrm flipV="1">
              <a:off x="9329928" y="1560881"/>
              <a:ext cx="1037844" cy="50292"/>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64" name="tile plane"/>
            <p:cNvCxnSpPr/>
            <p:nvPr/>
          </p:nvCxnSpPr>
          <p:spPr>
            <a:xfrm flipV="1">
              <a:off x="10367772" y="1550822"/>
              <a:ext cx="1037844" cy="10059"/>
            </a:xfrm>
            <a:prstGeom prst="line">
              <a:avLst/>
            </a:prstGeom>
            <a:ln w="25400">
              <a:solidFill>
                <a:srgbClr val="FFFFFF"/>
              </a:solidFill>
            </a:ln>
          </p:spPr>
          <p:style>
            <a:lnRef idx="2">
              <a:schemeClr val="accent1"/>
            </a:lnRef>
            <a:fillRef idx="0">
              <a:schemeClr val="accent1"/>
            </a:fillRef>
            <a:effectRef idx="1">
              <a:schemeClr val="accent1"/>
            </a:effectRef>
            <a:fontRef idx="minor">
              <a:schemeClr val="tx1"/>
            </a:fontRef>
          </p:style>
        </p:cxnSp>
      </p:grpSp>
      <p:grpSp>
        <p:nvGrpSpPr>
          <p:cNvPr id="65" name="!!lab_ground" descr="Label: Ground, pointing at the ground in the render"/>
          <p:cNvGrpSpPr/>
          <p:nvPr/>
        </p:nvGrpSpPr>
        <p:grpSpPr>
          <a:xfrm>
            <a:off x="9074206" y="4799992"/>
            <a:ext cx="1472438" cy="1252728"/>
            <a:chOff x="9074206" y="4799992"/>
            <a:chExt cx="1472438" cy="1252728"/>
          </a:xfrm>
        </p:grpSpPr>
        <p:cxnSp>
          <p:nvCxnSpPr>
            <p:cNvPr id="66"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71"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Scored against AHN's ground:</a:t>
            </a:r>
            <a:endParaRPr lang="en-GB" sz="2000"/>
          </a:p>
          <a:p>
            <a:pPr marL="0" indent="0" algn="l">
              <a:spcBef>
                <a:spcPts val="0"/>
              </a:spcBef>
              <a:spcAft>
                <a:spcPts val="0"/>
              </a:spcAft>
              <a:buNone/>
            </a:pPr>
            <a:r>
              <a:rPr sz="2000" b="0" lang="en-GB">
                <a:solidFill>
                  <a:srgbClr val="263238"/>
                </a:solidFill>
                <a:latin typeface="+mn-lt"/>
              </a:rPr>
              <a:t>98 % precision, 94 % recall.</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a:t>
            </a:r>
            <a:br/>
            <a:r>
              <a:rPr lang="en-GB"/>
              <a:t>DBSCAN groups what touches</a:t>
            </a:r>
          </a:p>
        </p:txBody>
      </p:sp>
      <p:pic>
        <p:nvPicPr>
          <p:cNvPr id="4" name="!!render" descr="Same view: ground stays slate grey, labelled Ground; the other points are grouped into clusters, each drawn in one of four cycling colours (blue, sage, grey, light grey), with noise dimmed."/>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3345180"/>
            <a:ext cx="5760186" cy="266700"/>
            <a:chOff x="402336" y="3345180"/>
            <a:chExt cx="5760186" cy="266700"/>
          </a:xfrm>
        </p:grpSpPr>
        <p:sp>
          <p:nvSpPr>
            <p:cNvPr id="7" name="Key line bar"/>
            <p:cNvSpPr/>
            <p:nvPr/>
          </p:nvSpPr>
          <p:spPr>
            <a:xfrm>
              <a:off x="402336" y="33451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33451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grpSp>
        <p:nvGrpSpPr>
          <p:cNvPr id="12" name="Sketch dbscan" descr="Sketch: two groups of points, each a cluster because every point has neighbours within eps, shown as a dashed circle; a lone point far away is noise."/>
          <p:cNvGrpSpPr/>
          <p:nvPr/>
        </p:nvGrpSpPr>
        <p:grpSpPr>
          <a:xfrm>
            <a:off x="9201912" y="658368"/>
            <a:ext cx="2331720" cy="1554480"/>
            <a:chOff x="9201912" y="658368"/>
            <a:chExt cx="2331720" cy="1554480"/>
          </a:xfrm>
        </p:grpSpPr>
        <p:sp>
          <p:nvSpPr>
            <p:cNvPr id="13" name="Sketch dbscan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ketch dbscan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eps = 0.75 m</a:t>
              </a:r>
            </a:p>
          </p:txBody>
        </p:sp>
        <p:sp>
          <p:nvSpPr>
            <p:cNvPr id="15" name="eps ring"/>
            <p:cNvSpPr/>
            <p:nvPr/>
          </p:nvSpPr>
          <p:spPr>
            <a:xfrm>
              <a:off x="9662038" y="960394"/>
              <a:ext cx="456651" cy="456651"/>
            </a:xfrm>
            <a:prstGeom prst="ellipse">
              <a:avLst/>
            </a:prstGeom>
            <a:noFill/>
            <a:ln w="12700">
              <a:solidFill>
                <a:srgbClr val="FFFF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luster A"/>
            <p:cNvSpPr/>
            <p:nvPr/>
          </p:nvSpPr>
          <p:spPr>
            <a:xfrm>
              <a:off x="9491777" y="1193292"/>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luster A"/>
            <p:cNvSpPr/>
            <p:nvPr/>
          </p:nvSpPr>
          <p:spPr>
            <a:xfrm>
              <a:off x="9637075" y="104241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luster A"/>
            <p:cNvSpPr/>
            <p:nvPr/>
          </p:nvSpPr>
          <p:spPr>
            <a:xfrm>
              <a:off x="9699346" y="1293876"/>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luster A"/>
            <p:cNvSpPr/>
            <p:nvPr/>
          </p:nvSpPr>
          <p:spPr>
            <a:xfrm>
              <a:off x="9844644" y="1143000"/>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luster A"/>
            <p:cNvSpPr/>
            <p:nvPr/>
          </p:nvSpPr>
          <p:spPr>
            <a:xfrm>
              <a:off x="9906914" y="1364285"/>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luster A"/>
            <p:cNvSpPr/>
            <p:nvPr/>
          </p:nvSpPr>
          <p:spPr>
            <a:xfrm>
              <a:off x="10010699" y="1022299"/>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luster A"/>
            <p:cNvSpPr/>
            <p:nvPr/>
          </p:nvSpPr>
          <p:spPr>
            <a:xfrm>
              <a:off x="10114483" y="1223467"/>
              <a:ext cx="91440" cy="9144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luster B"/>
            <p:cNvSpPr/>
            <p:nvPr/>
          </p:nvSpPr>
          <p:spPr>
            <a:xfrm>
              <a:off x="10529621" y="1042416"/>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luster B"/>
            <p:cNvSpPr/>
            <p:nvPr/>
          </p:nvSpPr>
          <p:spPr>
            <a:xfrm>
              <a:off x="10654162" y="1193292"/>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luster B"/>
            <p:cNvSpPr/>
            <p:nvPr/>
          </p:nvSpPr>
          <p:spPr>
            <a:xfrm>
              <a:off x="10778703" y="992124"/>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luster B"/>
            <p:cNvSpPr/>
            <p:nvPr/>
          </p:nvSpPr>
          <p:spPr>
            <a:xfrm>
              <a:off x="10861731" y="1263701"/>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luster B"/>
            <p:cNvSpPr/>
            <p:nvPr/>
          </p:nvSpPr>
          <p:spPr>
            <a:xfrm>
              <a:off x="10986272" y="1122883"/>
              <a:ext cx="91440" cy="914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noise"/>
            <p:cNvSpPr/>
            <p:nvPr/>
          </p:nvSpPr>
          <p:spPr>
            <a:xfrm>
              <a:off x="11214598" y="1545336"/>
              <a:ext cx="91440" cy="91440"/>
            </a:xfrm>
            <a:prstGeom prst="ellipse">
              <a:avLst/>
            </a:prstGeom>
            <a:solidFill>
              <a:srgbClr val="455A64"/>
            </a:solidFill>
            <a:ln w="9525">
              <a:solidFill>
                <a:srgbClr val="9CA3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29" name="!!lab_ground" descr="Label: Ground, pointing at the ground in the render"/>
          <p:cNvGrpSpPr/>
          <p:nvPr/>
        </p:nvGrpSpPr>
        <p:grpSpPr>
          <a:xfrm>
            <a:off x="9074206" y="4799992"/>
            <a:ext cx="1472438" cy="1252728"/>
            <a:chOff x="9074206" y="4799992"/>
            <a:chExt cx="1472438" cy="1252728"/>
          </a:xfrm>
        </p:grpSpPr>
        <p:cxnSp>
          <p:nvCxnSpPr>
            <p:cNvPr id="30"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1"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2"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35"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1 024 clusters. Clusters are not labels yet.</a:t>
            </a:r>
            <a:endParaRPr lang="en-GB" sz="2000"/>
          </a:p>
        </p:txBody>
      </p:sp>
      <p:sp>
        <p:nvSpPr>
          <p:cNvPr id="11"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a:t>
            </a:r>
            <a:br/>
            <a:r>
              <a:rPr lang="en-GB"/>
              <a:t>rules name the clusters</a:t>
            </a:r>
          </a:p>
        </p:txBody>
      </p:sp>
      <p:pic>
        <p:nvPicPr>
          <p:cNvPr id="4" name="!!render" descr="Same view with four classes, each labelled directly: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278380"/>
            <a:ext cx="5760186" cy="266700"/>
            <a:chOff x="402336" y="2278380"/>
            <a:chExt cx="5760186" cy="266700"/>
          </a:xfrm>
        </p:grpSpPr>
        <p:sp>
          <p:nvSpPr>
            <p:cNvPr id="7" name="Key line bar"/>
            <p:cNvSpPr/>
            <p:nvPr/>
          </p:nvSpPr>
          <p:spPr>
            <a:xfrm>
              <a:off x="402336" y="22783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2783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grpSp>
        <p:nvGrpSpPr>
          <p:cNvPr id="13" name="Sketch rules" descr="Sketch: three cluster shapes, a tree crown with many echoes, a wide flat building and a thin pole, each with an arrow to its class colour: vegetation, buildings, street furniture."/>
          <p:cNvGrpSpPr/>
          <p:nvPr/>
        </p:nvGrpSpPr>
        <p:grpSpPr>
          <a:xfrm>
            <a:off x="9201912" y="658368"/>
            <a:ext cx="2331720" cy="1554480"/>
            <a:chOff x="9201912" y="658368"/>
            <a:chExt cx="2331720" cy="1554480"/>
          </a:xfrm>
        </p:grpSpPr>
        <p:sp>
          <p:nvSpPr>
            <p:cNvPr id="14" name="Sketch rules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rules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shape → class</a:t>
              </a:r>
            </a:p>
          </p:txBody>
        </p:sp>
        <p:sp>
          <p:nvSpPr>
            <p:cNvPr id="16" name="crown pt"/>
            <p:cNvSpPr/>
            <p:nvPr/>
          </p:nvSpPr>
          <p:spPr>
            <a:xfrm>
              <a:off x="9904476"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rown pt"/>
            <p:cNvSpPr/>
            <p:nvPr/>
          </p:nvSpPr>
          <p:spPr>
            <a:xfrm>
              <a:off x="9855578"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rown pt"/>
            <p:cNvSpPr/>
            <p:nvPr/>
          </p:nvSpPr>
          <p:spPr>
            <a:xfrm>
              <a:off x="9727562"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rown pt"/>
            <p:cNvSpPr/>
            <p:nvPr/>
          </p:nvSpPr>
          <p:spPr>
            <a:xfrm>
              <a:off x="9569326" y="120045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rown pt"/>
            <p:cNvSpPr/>
            <p:nvPr/>
          </p:nvSpPr>
          <p:spPr>
            <a:xfrm>
              <a:off x="9441310" y="112737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own pt"/>
            <p:cNvSpPr/>
            <p:nvPr/>
          </p:nvSpPr>
          <p:spPr>
            <a:xfrm>
              <a:off x="9392412"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rown pt"/>
            <p:cNvSpPr/>
            <p:nvPr/>
          </p:nvSpPr>
          <p:spPr>
            <a:xfrm>
              <a:off x="9441310"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rown pt"/>
            <p:cNvSpPr/>
            <p:nvPr/>
          </p:nvSpPr>
          <p:spPr>
            <a:xfrm>
              <a:off x="9569326"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rown pt"/>
            <p:cNvSpPr/>
            <p:nvPr/>
          </p:nvSpPr>
          <p:spPr>
            <a:xfrm>
              <a:off x="9727562" y="817810"/>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rown pt"/>
            <p:cNvSpPr/>
            <p:nvPr/>
          </p:nvSpPr>
          <p:spPr>
            <a:xfrm>
              <a:off x="9855578" y="890888"/>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rown pt"/>
            <p:cNvSpPr/>
            <p:nvPr/>
          </p:nvSpPr>
          <p:spPr>
            <a:xfrm>
              <a:off x="9648444" y="100913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trunk"/>
            <p:cNvCxnSpPr/>
            <p:nvPr/>
          </p:nvCxnSpPr>
          <p:spPr>
            <a:xfrm>
              <a:off x="9675876" y="1194572"/>
              <a:ext cx="0" cy="250180"/>
            </a:xfrm>
            <a:prstGeom prst="line">
              <a:avLst/>
            </a:prstGeom>
            <a:ln w="19050">
              <a:solidFill>
                <a:srgbClr val="FFFFFF"/>
              </a:solidFill>
            </a:ln>
          </p:spPr>
          <p:style>
            <a:lnRef idx="2">
              <a:schemeClr val="accent1"/>
            </a:lnRef>
            <a:fillRef idx="0">
              <a:schemeClr val="accent1"/>
            </a:fillRef>
            <a:effectRef idx="1">
              <a:schemeClr val="accent1"/>
            </a:effectRef>
            <a:fontRef idx="minor">
              <a:schemeClr val="tx1"/>
            </a:fontRef>
          </p:style>
        </p:cxnSp>
        <p:sp>
          <p:nvSpPr>
            <p:cNvPr id="28" name="building"/>
            <p:cNvSpPr/>
            <p:nvPr/>
          </p:nvSpPr>
          <p:spPr>
            <a:xfrm>
              <a:off x="10093452" y="1082650"/>
              <a:ext cx="548640" cy="362102"/>
            </a:xfrm>
            <a:prstGeom prst="rect">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ole"/>
            <p:cNvSpPr/>
            <p:nvPr/>
          </p:nvSpPr>
          <p:spPr>
            <a:xfrm>
              <a:off x="11032236" y="819302"/>
              <a:ext cx="54864" cy="6254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to class"/>
            <p:cNvCxnSpPr/>
            <p:nvPr/>
          </p:nvCxnSpPr>
          <p:spPr>
            <a:xfrm>
              <a:off x="9675876"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9575292" y="1591056"/>
              <a:ext cx="201168" cy="201168"/>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to class"/>
            <p:cNvCxnSpPr/>
            <p:nvPr/>
          </p:nvCxnSpPr>
          <p:spPr>
            <a:xfrm>
              <a:off x="10367772"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267188" y="1591056"/>
              <a:ext cx="201168" cy="201168"/>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to class"/>
            <p:cNvCxnSpPr/>
            <p:nvPr/>
          </p:nvCxnSpPr>
          <p:spPr>
            <a:xfrm>
              <a:off x="11059668" y="1463040"/>
              <a:ext cx="0" cy="100584"/>
            </a:xfrm>
            <a:prstGeom prst="line">
              <a:avLst/>
            </a:prstGeom>
            <a:ln w="15875">
              <a:solidFill>
                <a:srgbClr val="B1CAC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0959084" y="1591056"/>
              <a:ext cx="201168" cy="201168"/>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36" name="!!lab_ground" descr="Label: Ground, pointing at the ground in the render"/>
          <p:cNvGrpSpPr/>
          <p:nvPr/>
        </p:nvGrpSpPr>
        <p:grpSpPr>
          <a:xfrm>
            <a:off x="9074206" y="4799992"/>
            <a:ext cx="1472438" cy="1252728"/>
            <a:chOff x="9074206" y="4799992"/>
            <a:chExt cx="1472438" cy="1252728"/>
          </a:xfrm>
        </p:grpSpPr>
        <p:cxnSp>
          <p:nvCxnSpPr>
            <p:cNvPr id="37"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38"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39"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2"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buildings" descr="Label: Buildings, pointing at the buildings in the render"/>
          <p:cNvGrpSpPr/>
          <p:nvPr/>
        </p:nvGrpSpPr>
        <p:grpSpPr>
          <a:xfrm>
            <a:off x="9048898" y="3181968"/>
            <a:ext cx="2057146" cy="402336"/>
            <a:chOff x="9048898" y="3181968"/>
            <a:chExt cx="2057146" cy="402336"/>
          </a:xfrm>
        </p:grpSpPr>
        <p:cxnSp>
          <p:nvCxnSpPr>
            <p:cNvPr id="44"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49"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vegetation" descr="Label: Vegetation, pointing at the vegetation in the render"/>
          <p:cNvGrpSpPr/>
          <p:nvPr/>
        </p:nvGrpSpPr>
        <p:grpSpPr>
          <a:xfrm>
            <a:off x="6969125" y="3983810"/>
            <a:ext cx="1745742" cy="886968"/>
            <a:chOff x="6969125" y="3983810"/>
            <a:chExt cx="1745742" cy="886968"/>
          </a:xfrm>
        </p:grpSpPr>
        <p:cxnSp>
          <p:nvCxnSpPr>
            <p:cNvPr id="51"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56"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58"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1"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a:t>
            </a:r>
            <a:br/>
            <a:r>
              <a:rPr lang="en-GB"/>
              <a:t>PyVista paints every point</a:t>
            </a:r>
          </a:p>
        </p:txBody>
      </p:sp>
      <p:pic>
        <p:nvPicPr>
          <p:cNvPr id="4" name="!!render" descr="Same view: the four class labels painted back from the 232 180 voxel points onto all 722 961 original points; ground slate grey, buildings light blue, vegetation sage green, street furniture white."/>
          <p:cNvPicPr>
            <a:picLocks noGrp="1" noChangeAspect="1"/>
          </p:cNvPicPr>
          <p:nvPr>
            <p:ph type="pic" idx="18"/>
          </p:nvPr>
        </p:nvPicPr>
        <p:blipFill>
          <a:blip r:embed="rId2"/>
          <a:srcRect/>
          <a:stretch>
            <a:fillRect/>
          </a:stretch>
        </p:blipFill>
        <p:spPr>
          <a:xfrm>
            <a:off x="6619722" y="548640"/>
            <a:ext cx="5023638" cy="5668992"/>
          </a:xfrm>
        </p:spPr>
      </p:pic>
      <p:grpSp>
        <p:nvGrpSpPr>
          <p:cNvPr id="3" name="!!hl">
            <a:extLst>
              <a:ext uri="{C183D7F6-B498-43B3-948B-1728B52AA6E4}">
                <adec:decorative xmlns:adec="http://schemas.microsoft.com/office/drawing/2017/decorative" val="1"/>
              </a:ext>
            </a:extLst>
          </p:cNvPr>
          <p:cNvGrpSpPr/>
          <p:nvPr/>
        </p:nvGrpSpPr>
        <p:grpSpPr>
          <a:xfrm>
            <a:off x="402336" y="2811780"/>
            <a:ext cx="5760186" cy="266700"/>
            <a:chOff x="402336" y="2811780"/>
            <a:chExt cx="5760186" cy="266700"/>
          </a:xfrm>
        </p:grpSpPr>
        <p:sp>
          <p:nvSpPr>
            <p:cNvPr id="7" name="Key line bar"/>
            <p:cNvSpPr/>
            <p:nvPr/>
          </p:nvSpPr>
          <p:spPr>
            <a:xfrm>
              <a:off x="402336" y="2811780"/>
              <a:ext cx="5760186"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81178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965960"/>
            <a:ext cx="5760186" cy="2819112"/>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grpSp>
        <p:nvGrpSpPr>
          <p:cNvPr id="13" name="Sketch paint" descr="Sketch: three large voxel points with labels and many small original points around them; each small point takes the colour of its nearest voxel point."/>
          <p:cNvGrpSpPr/>
          <p:nvPr/>
        </p:nvGrpSpPr>
        <p:grpSpPr>
          <a:xfrm>
            <a:off x="9201912" y="658368"/>
            <a:ext cx="2331720" cy="1554480"/>
            <a:chOff x="9201912" y="658368"/>
            <a:chExt cx="2331720" cy="1554480"/>
          </a:xfrm>
        </p:grpSpPr>
        <p:sp>
          <p:nvSpPr>
            <p:cNvPr id="14" name="Sketch paint panel"/>
            <p:cNvSpPr/>
            <p:nvPr/>
          </p:nvSpPr>
          <p:spPr>
            <a:xfrm>
              <a:off x="9201912" y="658368"/>
              <a:ext cx="2331720" cy="1554480"/>
            </a:xfrm>
            <a:prstGeom prst="roundRect">
              <a:avLst>
                <a:gd name="adj" fmla="val 4705"/>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ketch paint caption"/>
            <p:cNvSpPr txBox="1"/>
            <p:nvPr/>
          </p:nvSpPr>
          <p:spPr>
            <a:xfrm>
              <a:off x="9201912" y="1828800"/>
              <a:ext cx="2331720" cy="292608"/>
            </a:xfrm>
            <a:prstGeom prst="rect">
              <a:avLst/>
            </a:prstGeom>
            <a:noFill/>
          </p:spPr>
          <p:txBody>
            <a:bodyPr wrap="none" anchor="t" lIns="0" tIns="0" rIns="0" bIns="0">
              <a:noAutofit/>
            </a:bodyPr>
            <a:lstStyle/>
            <a:p>
              <a:pPr algn="ctr"/>
              <a:r>
                <a:rPr sz="1800" b="0" i="0" lang="en-GB">
                  <a:solidFill>
                    <a:srgbClr val="B1CAC5"/>
                  </a:solidFill>
                  <a:latin typeface="Fira Sans"/>
                </a:rPr>
                <a:t>nearest voxel's label</a:t>
              </a:r>
            </a:p>
          </p:txBody>
        </p:sp>
        <p:cxnSp>
          <p:nvCxnSpPr>
            <p:cNvPr id="16" name="nearest"/>
            <p:cNvCxnSpPr/>
            <p:nvPr/>
          </p:nvCxnSpPr>
          <p:spPr>
            <a:xfrm>
              <a:off x="9537497" y="1088136"/>
              <a:ext cx="249082"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7" name="Swatch"/>
            <p:cNvSpPr/>
            <p:nvPr/>
          </p:nvSpPr>
          <p:spPr>
            <a:xfrm>
              <a:off x="9500921" y="1051560"/>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nearest"/>
            <p:cNvCxnSpPr/>
            <p:nvPr/>
          </p:nvCxnSpPr>
          <p:spPr>
            <a:xfrm flipV="1">
              <a:off x="9620524" y="1239012"/>
              <a:ext cx="166055" cy="170993"/>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19" name="Swatch"/>
            <p:cNvSpPr/>
            <p:nvPr/>
          </p:nvSpPr>
          <p:spPr>
            <a:xfrm>
              <a:off x="9583948" y="1373429"/>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nearest"/>
            <p:cNvCxnSpPr/>
            <p:nvPr/>
          </p:nvCxnSpPr>
          <p:spPr>
            <a:xfrm flipH="1" flipV="1">
              <a:off x="9786579" y="1239012"/>
              <a:ext cx="166055"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1" name="Swatch"/>
            <p:cNvSpPr/>
            <p:nvPr/>
          </p:nvSpPr>
          <p:spPr>
            <a:xfrm>
              <a:off x="9916058" y="1403604"/>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nearest"/>
            <p:cNvCxnSpPr/>
            <p:nvPr/>
          </p:nvCxnSpPr>
          <p:spPr>
            <a:xfrm flipH="1">
              <a:off x="9786579" y="1037844"/>
              <a:ext cx="207569" cy="20116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3" name="Swatch"/>
            <p:cNvSpPr/>
            <p:nvPr/>
          </p:nvSpPr>
          <p:spPr>
            <a:xfrm>
              <a:off x="9957572" y="1001268"/>
              <a:ext cx="73152" cy="73152"/>
            </a:xfrm>
            <a:prstGeom prst="ellipse">
              <a:avLst/>
            </a:prstGeom>
            <a:solidFill>
              <a:srgbClr val="6FA0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nearest"/>
            <p:cNvCxnSpPr/>
            <p:nvPr/>
          </p:nvCxnSpPr>
          <p:spPr>
            <a:xfrm>
              <a:off x="10263988" y="987552"/>
              <a:ext cx="207568" cy="100584"/>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Swatch"/>
            <p:cNvSpPr/>
            <p:nvPr/>
          </p:nvSpPr>
          <p:spPr>
            <a:xfrm>
              <a:off x="10227412" y="950976"/>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nearest"/>
            <p:cNvCxnSpPr/>
            <p:nvPr/>
          </p:nvCxnSpPr>
          <p:spPr>
            <a:xfrm flipV="1">
              <a:off x="10326258" y="1088136"/>
              <a:ext cx="145298"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7" name="Swatch"/>
            <p:cNvSpPr/>
            <p:nvPr/>
          </p:nvSpPr>
          <p:spPr>
            <a:xfrm>
              <a:off x="10289682" y="123261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nearest"/>
            <p:cNvCxnSpPr/>
            <p:nvPr/>
          </p:nvCxnSpPr>
          <p:spPr>
            <a:xfrm flipH="1">
              <a:off x="10471556" y="937260"/>
              <a:ext cx="166055" cy="150876"/>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9" name="Swatch"/>
            <p:cNvSpPr/>
            <p:nvPr/>
          </p:nvSpPr>
          <p:spPr>
            <a:xfrm>
              <a:off x="10601035" y="900684"/>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nearest"/>
            <p:cNvCxnSpPr/>
            <p:nvPr/>
          </p:nvCxnSpPr>
          <p:spPr>
            <a:xfrm flipH="1" flipV="1">
              <a:off x="10471556" y="1088136"/>
              <a:ext cx="228326" cy="12070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1" name="Swatch"/>
            <p:cNvSpPr/>
            <p:nvPr/>
          </p:nvSpPr>
          <p:spPr>
            <a:xfrm>
              <a:off x="10663306" y="1172261"/>
              <a:ext cx="73152" cy="73152"/>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nearest"/>
            <p:cNvCxnSpPr/>
            <p:nvPr/>
          </p:nvCxnSpPr>
          <p:spPr>
            <a:xfrm flipV="1">
              <a:off x="10824423" y="1410005"/>
              <a:ext cx="207569" cy="13075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3" name="Swatch"/>
            <p:cNvSpPr/>
            <p:nvPr/>
          </p:nvSpPr>
          <p:spPr>
            <a:xfrm>
              <a:off x="10787847" y="1504188"/>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nearest"/>
            <p:cNvCxnSpPr/>
            <p:nvPr/>
          </p:nvCxnSpPr>
          <p:spPr>
            <a:xfrm flipH="1">
              <a:off x="11031992" y="1269187"/>
              <a:ext cx="166055" cy="140818"/>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5" name="Swatch"/>
            <p:cNvSpPr/>
            <p:nvPr/>
          </p:nvSpPr>
          <p:spPr>
            <a:xfrm>
              <a:off x="11161471" y="1232611"/>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nearest"/>
            <p:cNvCxnSpPr/>
            <p:nvPr/>
          </p:nvCxnSpPr>
          <p:spPr>
            <a:xfrm flipH="1" flipV="1">
              <a:off x="11031992" y="1410005"/>
              <a:ext cx="228326" cy="181051"/>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7" name="Swatch"/>
            <p:cNvSpPr/>
            <p:nvPr/>
          </p:nvSpPr>
          <p:spPr>
            <a:xfrm>
              <a:off x="11223742" y="155448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nearest"/>
            <p:cNvCxnSpPr/>
            <p:nvPr/>
          </p:nvCxnSpPr>
          <p:spPr>
            <a:xfrm>
              <a:off x="10886694" y="1339596"/>
              <a:ext cx="145298" cy="70409"/>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39" name="Swatch"/>
            <p:cNvSpPr/>
            <p:nvPr/>
          </p:nvSpPr>
          <p:spPr>
            <a:xfrm>
              <a:off x="10850118" y="1303020"/>
              <a:ext cx="73152" cy="73152"/>
            </a:xfrm>
            <a:prstGeom prst="ellipse">
              <a:avLst/>
            </a:prstGeom>
            <a:solidFill>
              <a:srgbClr val="4A5F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Swatch"/>
            <p:cNvSpPr/>
            <p:nvPr/>
          </p:nvSpPr>
          <p:spPr>
            <a:xfrm>
              <a:off x="9695139" y="1147572"/>
              <a:ext cx="182880" cy="182880"/>
            </a:xfrm>
            <a:prstGeom prst="ellipse">
              <a:avLst/>
            </a:prstGeom>
            <a:solidFill>
              <a:srgbClr val="6FA0CC"/>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Swatch"/>
            <p:cNvSpPr/>
            <p:nvPr/>
          </p:nvSpPr>
          <p:spPr>
            <a:xfrm>
              <a:off x="10380116" y="996696"/>
              <a:ext cx="182880" cy="182880"/>
            </a:xfrm>
            <a:prstGeom prst="ellipse">
              <a:avLst/>
            </a:prstGeom>
            <a:solidFill>
              <a:srgbClr val="B1CAC5"/>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Swatch"/>
            <p:cNvSpPr/>
            <p:nvPr/>
          </p:nvSpPr>
          <p:spPr>
            <a:xfrm>
              <a:off x="10940552" y="1318565"/>
              <a:ext cx="182880" cy="182880"/>
            </a:xfrm>
            <a:prstGeom prst="ellipse">
              <a:avLst/>
            </a:prstGeom>
            <a:solidFill>
              <a:srgbClr val="4A5F69"/>
            </a:solid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43" name="!!lab_ground" descr="Label: Ground, pointing at the ground in the render"/>
          <p:cNvGrpSpPr/>
          <p:nvPr/>
        </p:nvGrpSpPr>
        <p:grpSpPr>
          <a:xfrm>
            <a:off x="9074206" y="4799992"/>
            <a:ext cx="1472438" cy="1252728"/>
            <a:chOff x="9074206" y="4799992"/>
            <a:chExt cx="1472438" cy="1252728"/>
          </a:xfrm>
        </p:grpSpPr>
        <p:cxnSp>
          <p:nvCxnSpPr>
            <p:cNvPr id="44"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5"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6"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49"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0" name="!!lab_buildings" descr="Label: Buildings, pointing at the buildings in the render"/>
          <p:cNvGrpSpPr/>
          <p:nvPr/>
        </p:nvGrpSpPr>
        <p:grpSpPr>
          <a:xfrm>
            <a:off x="9048898" y="3181968"/>
            <a:ext cx="2057146" cy="402336"/>
            <a:chOff x="9048898" y="3181968"/>
            <a:chExt cx="2057146" cy="402336"/>
          </a:xfrm>
        </p:grpSpPr>
        <p:cxnSp>
          <p:nvCxnSpPr>
            <p:cNvPr id="51"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2"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3"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6"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7" name="!!lab_vegetation" descr="Label: Vegetation, pointing at the vegetation in the render"/>
          <p:cNvGrpSpPr/>
          <p:nvPr/>
        </p:nvGrpSpPr>
        <p:grpSpPr>
          <a:xfrm>
            <a:off x="6969125" y="3983810"/>
            <a:ext cx="1745742" cy="886968"/>
            <a:chOff x="6969125" y="3983810"/>
            <a:chExt cx="1745742" cy="886968"/>
          </a:xfrm>
        </p:grpSpPr>
        <p:cxnSp>
          <p:nvCxnSpPr>
            <p:cNvPr id="58"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9"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0"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3"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4" name="!!lab_street_furniture" descr="Label: Street furniture, pointing at the street furniture in the render"/>
          <p:cNvGrpSpPr/>
          <p:nvPr/>
        </p:nvGrpSpPr>
        <p:grpSpPr>
          <a:xfrm>
            <a:off x="6791468" y="898600"/>
            <a:ext cx="2303526" cy="813816"/>
            <a:chOff x="6791468" y="898600"/>
            <a:chExt cx="2303526" cy="813816"/>
          </a:xfrm>
        </p:grpSpPr>
        <p:cxnSp>
          <p:nvCxnSpPr>
            <p:cNvPr id="65"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6"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7"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8"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1" name="!!small"/>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Street furniture: 3 objects, 53 points, drawn enlarged. Poles nearly vanish.</a:t>
            </a:r>
            <a:endParaRPr lang="en-GB" sz="1200"/>
          </a:p>
        </p:txBody>
      </p:sp>
      <p:sp>
        <p:nvSpPr>
          <p:cNvPr id="12" name="!!src"/>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pic>
        <p:nvPicPr>
          <p:cNvPr id="4" name="Render final" descr="The final labelled area, same view as slides 12 to 17: ground, buildings, vegetation and street furniture painted back onto all 722 961 points, each class labelled directly."/>
          <p:cNvPicPr>
            <a:picLocks noGrp="1" noChangeAspect="1"/>
          </p:cNvPicPr>
          <p:nvPr>
            <p:ph type="pic" idx="18"/>
          </p:nvPr>
        </p:nvPicPr>
        <p:blipFill>
          <a:blip r:embed="rId2"/>
          <a:srcRect/>
          <a:stretch>
            <a:fillRect/>
          </a:stretch>
        </p:blipFill>
        <p:spPr>
          <a:xfrm>
            <a:off x="6619722" y="548640"/>
            <a:ext cx="5023638" cy="5668992"/>
          </a:xfrm>
        </p:spPr>
      </p:pic>
      <p:grpSp>
        <p:nvGrpSpPr>
          <p:cNvPr id="3" name="Pipeline summary" descr="Table, one row per step. Load, laspy: 722 961 points, 57 ms. Voxels, Open3D: 232 180 voxels, 84 ms. Ground, Open3D: 98 % precision, 81 ms. Clusters, Open3D: 1 024 clusters, 137 ms. Labels, NumPy: 4 classes, 151 ms. Paint-back, SciPy: all points labelled, 99 ms."/>
          <p:cNvGrpSpPr/>
          <p:nvPr/>
        </p:nvGrpSpPr>
        <p:grpSpPr>
          <a:xfrm>
            <a:off x="548640" y="2011680"/>
            <a:ext cx="5613882" cy="2773392"/>
            <a:chOff x="548640" y="2011680"/>
            <a:chExt cx="5613882" cy="2773392"/>
          </a:xfrm>
        </p:grpSpPr>
        <p:sp>
          <p:nvSpPr>
            <p:cNvPr id="7" name="table 0.1"/>
            <p:cNvSpPr txBox="1"/>
            <p:nvPr/>
          </p:nvSpPr>
          <p:spPr>
            <a:xfrm>
              <a:off x="548640" y="2011680"/>
              <a:ext cx="121412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Step</a:t>
              </a:r>
            </a:p>
          </p:txBody>
        </p:sp>
        <p:sp>
          <p:nvSpPr>
            <p:cNvPr id="8" name="table 0.2"/>
            <p:cNvSpPr txBox="1"/>
            <p:nvPr/>
          </p:nvSpPr>
          <p:spPr>
            <a:xfrm>
              <a:off x="1963928" y="2011680"/>
              <a:ext cx="90424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Library</a:t>
              </a:r>
            </a:p>
          </p:txBody>
        </p:sp>
        <p:sp>
          <p:nvSpPr>
            <p:cNvPr id="9" name="table 0.3"/>
            <p:cNvSpPr txBox="1"/>
            <p:nvPr/>
          </p:nvSpPr>
          <p:spPr>
            <a:xfrm>
              <a:off x="3069336" y="2011680"/>
              <a:ext cx="1939010" cy="396199"/>
            </a:xfrm>
            <a:prstGeom prst="rect">
              <a:avLst/>
            </a:prstGeom>
            <a:noFill/>
          </p:spPr>
          <p:txBody>
            <a:bodyPr wrap="none" anchor="ctr" lIns="0" tIns="0" rIns="0" bIns="0">
              <a:noAutofit/>
            </a:bodyPr>
            <a:lstStyle/>
            <a:p>
              <a:pPr algn="l"/>
              <a:r>
                <a:rPr sz="2000" b="0" i="0" lang="en-GB">
                  <a:solidFill>
                    <a:srgbClr val="1C325B"/>
                  </a:solidFill>
                  <a:latin typeface="Fira Sans SemiBold"/>
                </a:rPr>
                <a:t>Result</a:t>
              </a:r>
            </a:p>
          </p:txBody>
        </p:sp>
        <p:sp>
          <p:nvSpPr>
            <p:cNvPr id="10" name="table 0.4"/>
            <p:cNvSpPr txBox="1"/>
            <p:nvPr/>
          </p:nvSpPr>
          <p:spPr>
            <a:xfrm>
              <a:off x="5209514" y="2011680"/>
              <a:ext cx="953008" cy="396199"/>
            </a:xfrm>
            <a:prstGeom prst="rect">
              <a:avLst/>
            </a:prstGeom>
            <a:noFill/>
          </p:spPr>
          <p:txBody>
            <a:bodyPr wrap="none" anchor="ctr" lIns="0" tIns="0" rIns="0" bIns="0">
              <a:noAutofit/>
            </a:bodyPr>
            <a:lstStyle/>
            <a:p>
              <a:pPr algn="r"/>
              <a:r>
                <a:rPr sz="2000" b="0" i="0" lang="en-GB">
                  <a:solidFill>
                    <a:srgbClr val="1C325B"/>
                  </a:solidFill>
                  <a:latin typeface="Fira Sans SemiBold"/>
                </a:rPr>
                <a:t>Time</a:t>
              </a:r>
            </a:p>
          </p:txBody>
        </p:sp>
        <p:sp>
          <p:nvSpPr>
            <p:cNvPr id="11" name="table 1.1"/>
            <p:cNvSpPr txBox="1"/>
            <p:nvPr/>
          </p:nvSpPr>
          <p:spPr>
            <a:xfrm>
              <a:off x="548640" y="2407879"/>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Load</a:t>
              </a:r>
            </a:p>
          </p:txBody>
        </p:sp>
        <p:sp>
          <p:nvSpPr>
            <p:cNvPr id="12" name="table 1.2"/>
            <p:cNvSpPr txBox="1"/>
            <p:nvPr/>
          </p:nvSpPr>
          <p:spPr>
            <a:xfrm>
              <a:off x="1963928" y="2407879"/>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laspy</a:t>
              </a:r>
            </a:p>
          </p:txBody>
        </p:sp>
        <p:sp>
          <p:nvSpPr>
            <p:cNvPr id="13" name="table 1.3"/>
            <p:cNvSpPr txBox="1"/>
            <p:nvPr/>
          </p:nvSpPr>
          <p:spPr>
            <a:xfrm>
              <a:off x="3069336" y="2407879"/>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722 961 points</a:t>
              </a:r>
            </a:p>
          </p:txBody>
        </p:sp>
        <p:sp>
          <p:nvSpPr>
            <p:cNvPr id="14" name="table 1.4"/>
            <p:cNvSpPr txBox="1"/>
            <p:nvPr/>
          </p:nvSpPr>
          <p:spPr>
            <a:xfrm>
              <a:off x="5209514" y="2407879"/>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57 ms</a:t>
              </a:r>
            </a:p>
          </p:txBody>
        </p:sp>
        <p:cxnSp>
          <p:nvCxnSpPr>
            <p:cNvPr id="15" name="table rule"/>
            <p:cNvCxnSpPr/>
            <p:nvPr/>
          </p:nvCxnSpPr>
          <p:spPr>
            <a:xfrm>
              <a:off x="548640" y="2407879"/>
              <a:ext cx="5613882"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table 2.1"/>
            <p:cNvSpPr txBox="1"/>
            <p:nvPr/>
          </p:nvSpPr>
          <p:spPr>
            <a:xfrm>
              <a:off x="548640" y="2804078"/>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Voxels</a:t>
              </a:r>
            </a:p>
          </p:txBody>
        </p:sp>
        <p:sp>
          <p:nvSpPr>
            <p:cNvPr id="17" name="table 2.2"/>
            <p:cNvSpPr txBox="1"/>
            <p:nvPr/>
          </p:nvSpPr>
          <p:spPr>
            <a:xfrm>
              <a:off x="1963928" y="2804078"/>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18" name="table 2.3"/>
            <p:cNvSpPr txBox="1"/>
            <p:nvPr/>
          </p:nvSpPr>
          <p:spPr>
            <a:xfrm>
              <a:off x="3069336" y="2804078"/>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232 180 voxels</a:t>
              </a:r>
            </a:p>
          </p:txBody>
        </p:sp>
        <p:sp>
          <p:nvSpPr>
            <p:cNvPr id="19" name="table 2.4"/>
            <p:cNvSpPr txBox="1"/>
            <p:nvPr/>
          </p:nvSpPr>
          <p:spPr>
            <a:xfrm>
              <a:off x="5209514" y="2804078"/>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84 ms</a:t>
              </a:r>
            </a:p>
          </p:txBody>
        </p:sp>
        <p:cxnSp>
          <p:nvCxnSpPr>
            <p:cNvPr id="20" name="table rule"/>
            <p:cNvCxnSpPr/>
            <p:nvPr/>
          </p:nvCxnSpPr>
          <p:spPr>
            <a:xfrm>
              <a:off x="548640" y="2804078"/>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table 3.1"/>
            <p:cNvSpPr txBox="1"/>
            <p:nvPr/>
          </p:nvSpPr>
          <p:spPr>
            <a:xfrm>
              <a:off x="548640" y="3200277"/>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Ground</a:t>
              </a:r>
            </a:p>
          </p:txBody>
        </p:sp>
        <p:sp>
          <p:nvSpPr>
            <p:cNvPr id="22" name="table 3.2"/>
            <p:cNvSpPr txBox="1"/>
            <p:nvPr/>
          </p:nvSpPr>
          <p:spPr>
            <a:xfrm>
              <a:off x="1963928" y="3200277"/>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3" name="table 3.3"/>
            <p:cNvSpPr txBox="1"/>
            <p:nvPr/>
          </p:nvSpPr>
          <p:spPr>
            <a:xfrm>
              <a:off x="3069336" y="3200277"/>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98 % precision</a:t>
              </a:r>
            </a:p>
          </p:txBody>
        </p:sp>
        <p:sp>
          <p:nvSpPr>
            <p:cNvPr id="24" name="table 3.4"/>
            <p:cNvSpPr txBox="1"/>
            <p:nvPr/>
          </p:nvSpPr>
          <p:spPr>
            <a:xfrm>
              <a:off x="5209514" y="3200277"/>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81 ms</a:t>
              </a:r>
            </a:p>
          </p:txBody>
        </p:sp>
        <p:cxnSp>
          <p:nvCxnSpPr>
            <p:cNvPr id="25" name="table rule"/>
            <p:cNvCxnSpPr/>
            <p:nvPr/>
          </p:nvCxnSpPr>
          <p:spPr>
            <a:xfrm>
              <a:off x="548640" y="3200277"/>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6" name="table 4.1"/>
            <p:cNvSpPr txBox="1"/>
            <p:nvPr/>
          </p:nvSpPr>
          <p:spPr>
            <a:xfrm>
              <a:off x="548640" y="3596475"/>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Clusters</a:t>
              </a:r>
            </a:p>
          </p:txBody>
        </p:sp>
        <p:sp>
          <p:nvSpPr>
            <p:cNvPr id="27" name="table 4.2"/>
            <p:cNvSpPr txBox="1"/>
            <p:nvPr/>
          </p:nvSpPr>
          <p:spPr>
            <a:xfrm>
              <a:off x="1963928" y="3596475"/>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Open3D</a:t>
              </a:r>
            </a:p>
          </p:txBody>
        </p:sp>
        <p:sp>
          <p:nvSpPr>
            <p:cNvPr id="28" name="table 4.3"/>
            <p:cNvSpPr txBox="1"/>
            <p:nvPr/>
          </p:nvSpPr>
          <p:spPr>
            <a:xfrm>
              <a:off x="3069336" y="3596475"/>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1 024 clusters</a:t>
              </a:r>
            </a:p>
          </p:txBody>
        </p:sp>
        <p:sp>
          <p:nvSpPr>
            <p:cNvPr id="29" name="table 4.4"/>
            <p:cNvSpPr txBox="1"/>
            <p:nvPr/>
          </p:nvSpPr>
          <p:spPr>
            <a:xfrm>
              <a:off x="5209514" y="3596475"/>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137 ms</a:t>
              </a:r>
            </a:p>
          </p:txBody>
        </p:sp>
        <p:cxnSp>
          <p:nvCxnSpPr>
            <p:cNvPr id="30" name="table rule"/>
            <p:cNvCxnSpPr/>
            <p:nvPr/>
          </p:nvCxnSpPr>
          <p:spPr>
            <a:xfrm>
              <a:off x="548640" y="3596475"/>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1" name="table 5.1"/>
            <p:cNvSpPr txBox="1"/>
            <p:nvPr/>
          </p:nvSpPr>
          <p:spPr>
            <a:xfrm>
              <a:off x="548640" y="3992674"/>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Labels</a:t>
              </a:r>
            </a:p>
          </p:txBody>
        </p:sp>
        <p:sp>
          <p:nvSpPr>
            <p:cNvPr id="32" name="table 5.2"/>
            <p:cNvSpPr txBox="1"/>
            <p:nvPr/>
          </p:nvSpPr>
          <p:spPr>
            <a:xfrm>
              <a:off x="1963928" y="3992674"/>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NumPy</a:t>
              </a:r>
            </a:p>
          </p:txBody>
        </p:sp>
        <p:sp>
          <p:nvSpPr>
            <p:cNvPr id="33" name="table 5.3"/>
            <p:cNvSpPr txBox="1"/>
            <p:nvPr/>
          </p:nvSpPr>
          <p:spPr>
            <a:xfrm>
              <a:off x="3069336" y="3992674"/>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4 classes</a:t>
              </a:r>
            </a:p>
          </p:txBody>
        </p:sp>
        <p:sp>
          <p:nvSpPr>
            <p:cNvPr id="34" name="table 5.4"/>
            <p:cNvSpPr txBox="1"/>
            <p:nvPr/>
          </p:nvSpPr>
          <p:spPr>
            <a:xfrm>
              <a:off x="5209514" y="3992674"/>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151 ms</a:t>
              </a:r>
            </a:p>
          </p:txBody>
        </p:sp>
        <p:cxnSp>
          <p:nvCxnSpPr>
            <p:cNvPr id="35" name="table rule"/>
            <p:cNvCxnSpPr/>
            <p:nvPr/>
          </p:nvCxnSpPr>
          <p:spPr>
            <a:xfrm>
              <a:off x="548640" y="3992674"/>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6" name="table 6.1"/>
            <p:cNvSpPr txBox="1"/>
            <p:nvPr/>
          </p:nvSpPr>
          <p:spPr>
            <a:xfrm>
              <a:off x="548640" y="4388873"/>
              <a:ext cx="1214120" cy="396199"/>
            </a:xfrm>
            <a:prstGeom prst="rect">
              <a:avLst/>
            </a:prstGeom>
            <a:noFill/>
          </p:spPr>
          <p:txBody>
            <a:bodyPr wrap="none" anchor="ctr" lIns="0" tIns="0" rIns="0" bIns="0">
              <a:noAutofit/>
            </a:bodyPr>
            <a:lstStyle/>
            <a:p>
              <a:pPr algn="l"/>
              <a:r>
                <a:rPr sz="2000" b="0" i="0" lang="en-GB">
                  <a:solidFill>
                    <a:srgbClr val="263238"/>
                  </a:solidFill>
                  <a:latin typeface="Fira Sans"/>
                </a:rPr>
                <a:t>Paint-back</a:t>
              </a:r>
            </a:p>
          </p:txBody>
        </p:sp>
        <p:sp>
          <p:nvSpPr>
            <p:cNvPr id="37" name="table 6.2"/>
            <p:cNvSpPr txBox="1"/>
            <p:nvPr/>
          </p:nvSpPr>
          <p:spPr>
            <a:xfrm>
              <a:off x="1963928" y="4388873"/>
              <a:ext cx="904240" cy="396199"/>
            </a:xfrm>
            <a:prstGeom prst="rect">
              <a:avLst/>
            </a:prstGeom>
            <a:noFill/>
          </p:spPr>
          <p:txBody>
            <a:bodyPr wrap="none" anchor="ctr" lIns="0" tIns="0" rIns="0" bIns="0">
              <a:noAutofit/>
            </a:bodyPr>
            <a:lstStyle/>
            <a:p>
              <a:pPr algn="l"/>
              <a:r>
                <a:rPr sz="2000" b="0" i="0" lang="en-GB">
                  <a:solidFill>
                    <a:srgbClr val="263238"/>
                  </a:solidFill>
                  <a:latin typeface="Fira Sans"/>
                </a:rPr>
                <a:t>SciPy</a:t>
              </a:r>
            </a:p>
          </p:txBody>
        </p:sp>
        <p:sp>
          <p:nvSpPr>
            <p:cNvPr id="38" name="table 6.3"/>
            <p:cNvSpPr txBox="1"/>
            <p:nvPr/>
          </p:nvSpPr>
          <p:spPr>
            <a:xfrm>
              <a:off x="3069336" y="4388873"/>
              <a:ext cx="1939010" cy="396199"/>
            </a:xfrm>
            <a:prstGeom prst="rect">
              <a:avLst/>
            </a:prstGeom>
            <a:noFill/>
          </p:spPr>
          <p:txBody>
            <a:bodyPr wrap="none" anchor="ctr" lIns="0" tIns="0" rIns="0" bIns="0">
              <a:noAutofit/>
            </a:bodyPr>
            <a:lstStyle/>
            <a:p>
              <a:pPr algn="l"/>
              <a:r>
                <a:rPr sz="2000" b="0" i="0" lang="en-GB">
                  <a:solidFill>
                    <a:srgbClr val="263238"/>
                  </a:solidFill>
                  <a:latin typeface="Fira Sans"/>
                </a:rPr>
                <a:t>all points</a:t>
              </a:r>
            </a:p>
          </p:txBody>
        </p:sp>
        <p:sp>
          <p:nvSpPr>
            <p:cNvPr id="39" name="table 6.4"/>
            <p:cNvSpPr txBox="1"/>
            <p:nvPr/>
          </p:nvSpPr>
          <p:spPr>
            <a:xfrm>
              <a:off x="5209514" y="4388873"/>
              <a:ext cx="953008" cy="396199"/>
            </a:xfrm>
            <a:prstGeom prst="rect">
              <a:avLst/>
            </a:prstGeom>
            <a:noFill/>
          </p:spPr>
          <p:txBody>
            <a:bodyPr wrap="none" anchor="ctr" lIns="0" tIns="0" rIns="0" bIns="0">
              <a:noAutofit/>
            </a:bodyPr>
            <a:lstStyle/>
            <a:p>
              <a:pPr algn="r"/>
              <a:r>
                <a:rPr sz="2000" b="0" i="0" lang="en-GB">
                  <a:solidFill>
                    <a:srgbClr val="263238"/>
                  </a:solidFill>
                  <a:latin typeface="Fira Sans"/>
                </a:rPr>
                <a:t>99 ms</a:t>
              </a:r>
            </a:p>
          </p:txBody>
        </p:sp>
        <p:cxnSp>
          <p:nvCxnSpPr>
            <p:cNvPr id="40" name="table rule"/>
            <p:cNvCxnSpPr/>
            <p:nvPr/>
          </p:nvCxnSpPr>
          <p:spPr>
            <a:xfrm>
              <a:off x="548640" y="4388873"/>
              <a:ext cx="5613882"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grpSp>
        <p:nvGrpSpPr>
          <p:cNvPr id="44" name="Label ground" descr="Label: Ground, pointing at the ground in the render"/>
          <p:cNvGrpSpPr/>
          <p:nvPr/>
        </p:nvGrpSpPr>
        <p:grpSpPr>
          <a:xfrm>
            <a:off x="9074206" y="4799992"/>
            <a:ext cx="1472438" cy="1252728"/>
            <a:chOff x="9074206" y="4799992"/>
            <a:chExt cx="1472438" cy="1252728"/>
          </a:xfrm>
        </p:grpSpPr>
        <p:cxnSp>
          <p:nvCxnSpPr>
            <p:cNvPr id="45" name="Leader halo"/>
            <p:cNvCxnSpPr/>
            <p:nvPr/>
          </p:nvCxnSpPr>
          <p:spPr>
            <a:xfrm>
              <a:off x="9162513" y="4944709"/>
              <a:ext cx="149437" cy="705675"/>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46" name="Leader"/>
            <p:cNvCxnSpPr/>
            <p:nvPr/>
          </p:nvCxnSpPr>
          <p:spPr>
            <a:xfrm>
              <a:off x="9162513" y="4944709"/>
              <a:ext cx="149437" cy="705675"/>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47" name="Anchor halo"/>
            <p:cNvSpPr/>
            <p:nvPr/>
          </p:nvSpPr>
          <p:spPr>
            <a:xfrm>
              <a:off x="9074206" y="4799992"/>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Anchor"/>
            <p:cNvSpPr/>
            <p:nvPr/>
          </p:nvSpPr>
          <p:spPr>
            <a:xfrm>
              <a:off x="9074206" y="4799992"/>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ip"/>
            <p:cNvSpPr/>
            <p:nvPr/>
          </p:nvSpPr>
          <p:spPr>
            <a:xfrm>
              <a:off x="9202222" y="5650384"/>
              <a:ext cx="134442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Ground</a:t>
              </a:r>
              <a:endParaRPr lang="en-GB" sz="2000"/>
            </a:p>
          </p:txBody>
        </p:sp>
        <p:sp>
          <p:nvSpPr>
            <p:cNvPr id="50" name="Swatch"/>
            <p:cNvSpPr/>
            <p:nvPr/>
          </p:nvSpPr>
          <p:spPr>
            <a:xfrm>
              <a:off x="9293662" y="5769256"/>
              <a:ext cx="164592" cy="164592"/>
            </a:xfrm>
            <a:prstGeom prst="rect">
              <a:avLst/>
            </a:prstGeom>
            <a:solidFill>
              <a:srgbClr val="4A5F69"/>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1" name="Label buildings" descr="Label: Buildings, pointing at the buildings in the render"/>
          <p:cNvGrpSpPr/>
          <p:nvPr/>
        </p:nvGrpSpPr>
        <p:grpSpPr>
          <a:xfrm>
            <a:off x="9048898" y="3181968"/>
            <a:ext cx="2057146" cy="402336"/>
            <a:chOff x="9048898" y="3181968"/>
            <a:chExt cx="2057146" cy="402336"/>
          </a:xfrm>
        </p:grpSpPr>
        <p:cxnSp>
          <p:nvCxnSpPr>
            <p:cNvPr id="52" name="Leader halo"/>
            <p:cNvCxnSpPr/>
            <p:nvPr/>
          </p:nvCxnSpPr>
          <p:spPr>
            <a:xfrm>
              <a:off x="9195202" y="3383136"/>
              <a:ext cx="338328" cy="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53" name="Leader"/>
            <p:cNvCxnSpPr/>
            <p:nvPr/>
          </p:nvCxnSpPr>
          <p:spPr>
            <a:xfrm>
              <a:off x="9195202" y="3383136"/>
              <a:ext cx="338328" cy="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54" name="Anchor halo"/>
            <p:cNvSpPr/>
            <p:nvPr/>
          </p:nvSpPr>
          <p:spPr>
            <a:xfrm>
              <a:off x="9048898" y="3309984"/>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Anchor"/>
            <p:cNvSpPr/>
            <p:nvPr/>
          </p:nvSpPr>
          <p:spPr>
            <a:xfrm>
              <a:off x="9048898" y="3309984"/>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Chip"/>
            <p:cNvSpPr/>
            <p:nvPr/>
          </p:nvSpPr>
          <p:spPr>
            <a:xfrm>
              <a:off x="9533530" y="3181968"/>
              <a:ext cx="1572514"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Buildings</a:t>
              </a:r>
              <a:endParaRPr lang="en-GB" sz="2000"/>
            </a:p>
          </p:txBody>
        </p:sp>
        <p:sp>
          <p:nvSpPr>
            <p:cNvPr id="57" name="Swatch"/>
            <p:cNvSpPr/>
            <p:nvPr/>
          </p:nvSpPr>
          <p:spPr>
            <a:xfrm>
              <a:off x="9624970" y="3300840"/>
              <a:ext cx="164592" cy="164592"/>
            </a:xfrm>
            <a:prstGeom prst="rect">
              <a:avLst/>
            </a:prstGeom>
            <a:solidFill>
              <a:srgbClr val="6FA0CC"/>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58" name="Label vegetation" descr="Label: Vegetation, pointing at the vegetation in the render"/>
          <p:cNvGrpSpPr/>
          <p:nvPr/>
        </p:nvGrpSpPr>
        <p:grpSpPr>
          <a:xfrm>
            <a:off x="6969125" y="3983810"/>
            <a:ext cx="1745742" cy="886968"/>
            <a:chOff x="6969125" y="3983810"/>
            <a:chExt cx="1745742" cy="886968"/>
          </a:xfrm>
        </p:grpSpPr>
        <p:cxnSp>
          <p:nvCxnSpPr>
            <p:cNvPr id="59" name="Leader halo"/>
            <p:cNvCxnSpPr/>
            <p:nvPr/>
          </p:nvCxnSpPr>
          <p:spPr>
            <a:xfrm>
              <a:off x="7492848" y="4130114"/>
              <a:ext cx="0" cy="338328"/>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0" name="Leader"/>
            <p:cNvCxnSpPr/>
            <p:nvPr/>
          </p:nvCxnSpPr>
          <p:spPr>
            <a:xfrm>
              <a:off x="7492848" y="4130114"/>
              <a:ext cx="0" cy="338328"/>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1" name="Anchor halo"/>
            <p:cNvSpPr/>
            <p:nvPr/>
          </p:nvSpPr>
          <p:spPr>
            <a:xfrm>
              <a:off x="7419696" y="3983810"/>
              <a:ext cx="146304" cy="146304"/>
            </a:xfrm>
            <a:prstGeom prst="ellipse">
              <a:avLst/>
            </a:prstGeom>
            <a:noFill/>
            <a:ln w="444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Anchor"/>
            <p:cNvSpPr/>
            <p:nvPr/>
          </p:nvSpPr>
          <p:spPr>
            <a:xfrm>
              <a:off x="7419696" y="3983810"/>
              <a:ext cx="146304" cy="146304"/>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Chip"/>
            <p:cNvSpPr/>
            <p:nvPr/>
          </p:nvSpPr>
          <p:spPr>
            <a:xfrm>
              <a:off x="6969125" y="4468442"/>
              <a:ext cx="1745742"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Vegetation</a:t>
              </a:r>
              <a:endParaRPr lang="en-GB" sz="2000"/>
            </a:p>
          </p:txBody>
        </p:sp>
        <p:sp>
          <p:nvSpPr>
            <p:cNvPr id="64" name="Swatch"/>
            <p:cNvSpPr/>
            <p:nvPr/>
          </p:nvSpPr>
          <p:spPr>
            <a:xfrm>
              <a:off x="7060565" y="4587314"/>
              <a:ext cx="164592" cy="164592"/>
            </a:xfrm>
            <a:prstGeom prst="rect">
              <a:avLst/>
            </a:prstGeom>
            <a:solidFill>
              <a:srgbClr val="B1CAC5"/>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grpSp>
        <p:nvGrpSpPr>
          <p:cNvPr id="65" name="Label street_furniture" descr="Label: Street furniture, pointing at the street furniture in the render"/>
          <p:cNvGrpSpPr/>
          <p:nvPr/>
        </p:nvGrpSpPr>
        <p:grpSpPr>
          <a:xfrm>
            <a:off x="6791468" y="898600"/>
            <a:ext cx="2303526" cy="813816"/>
            <a:chOff x="6791468" y="898600"/>
            <a:chExt cx="2303526" cy="813816"/>
          </a:xfrm>
        </p:grpSpPr>
        <p:cxnSp>
          <p:nvCxnSpPr>
            <p:cNvPr id="66" name="Leader halo"/>
            <p:cNvCxnSpPr/>
            <p:nvPr/>
          </p:nvCxnSpPr>
          <p:spPr>
            <a:xfrm flipH="1" flipV="1">
              <a:off x="8403936" y="1300936"/>
              <a:ext cx="1582" cy="411480"/>
            </a:xfrm>
            <a:prstGeom prst="line">
              <a:avLst/>
            </a:prstGeom>
            <a:ln w="44450">
              <a:solidFill>
                <a:srgbClr val="1C325B"/>
              </a:solidFill>
            </a:ln>
          </p:spPr>
          <p:style>
            <a:lnRef idx="2">
              <a:schemeClr val="accent1"/>
            </a:lnRef>
            <a:fillRef idx="0">
              <a:schemeClr val="accent1"/>
            </a:fillRef>
            <a:effectRef idx="1">
              <a:schemeClr val="accent1"/>
            </a:effectRef>
            <a:fontRef idx="minor">
              <a:schemeClr val="tx1"/>
            </a:fontRef>
          </p:style>
        </p:cxnSp>
        <p:cxnSp>
          <p:nvCxnSpPr>
            <p:cNvPr id="67" name="Leader"/>
            <p:cNvCxnSpPr/>
            <p:nvPr/>
          </p:nvCxnSpPr>
          <p:spPr>
            <a:xfrm flipH="1" flipV="1">
              <a:off x="8403936" y="1300936"/>
              <a:ext cx="1582" cy="411480"/>
            </a:xfrm>
            <a:prstGeom prst="line">
              <a:avLst/>
            </a:prstGeom>
            <a:ln w="15875">
              <a:solidFill>
                <a:srgbClr val="FFFFFF"/>
              </a:solidFill>
            </a:ln>
          </p:spPr>
          <p:style>
            <a:lnRef idx="2">
              <a:schemeClr val="accent1"/>
            </a:lnRef>
            <a:fillRef idx="0">
              <a:schemeClr val="accent1"/>
            </a:fillRef>
            <a:effectRef idx="1">
              <a:schemeClr val="accent1"/>
            </a:effectRef>
            <a:fontRef idx="minor">
              <a:schemeClr val="tx1"/>
            </a:fontRef>
          </p:style>
        </p:cxnSp>
        <p:sp>
          <p:nvSpPr>
            <p:cNvPr id="68" name="Chip"/>
            <p:cNvSpPr/>
            <p:nvPr/>
          </p:nvSpPr>
          <p:spPr>
            <a:xfrm>
              <a:off x="6791468" y="898600"/>
              <a:ext cx="2303526" cy="402336"/>
            </a:xfrm>
            <a:prstGeom prst="roundRect">
              <a:avLst>
                <a:gd name="adj" fmla="val 18181"/>
              </a:avLst>
            </a:prstGeom>
            <a:solidFill>
              <a:srgbClr val="1C325B"/>
            </a:solidFill>
            <a:ln w="12700">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347472" tIns="0" rIns="91440" bIns="0">
              <a:noAutofit/>
            </a:bodyPr>
            <a:lstStyle/>
            <a:p>
              <a:pPr algn="l" marL="0" indent="0">
                <a:spcBef>
                  <a:spcPts val="0"/>
                </a:spcBef>
                <a:spcAft>
                  <a:spcPts val="0"/>
                </a:spcAft>
                <a:buNone/>
              </a:pPr>
              <a:r>
                <a:rPr sz="2000" b="1" lang="en-GB">
                  <a:solidFill>
                    <a:srgbClr val="FFFFFF"/>
                  </a:solidFill>
                  <a:latin typeface="+mn-lt"/>
                </a:rPr>
                <a:t>Street furniture</a:t>
              </a:r>
              <a:endParaRPr lang="en-GB" sz="2000"/>
            </a:p>
          </p:txBody>
        </p:sp>
        <p:sp>
          <p:nvSpPr>
            <p:cNvPr id="69" name="Swatch"/>
            <p:cNvSpPr/>
            <p:nvPr/>
          </p:nvSpPr>
          <p:spPr>
            <a:xfrm>
              <a:off x="6882908" y="1017472"/>
              <a:ext cx="164592" cy="164592"/>
            </a:xfrm>
            <a:prstGeom prst="rect">
              <a:avLst/>
            </a:prstGeom>
            <a:solidFill>
              <a:srgbClr val="FFFFF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1" name="Support"/>
          <p:cNvSpPr txBox="1"/>
          <p:nvPr/>
        </p:nvSpPr>
        <p:spPr>
          <a:xfrm>
            <a:off x="548640" y="4894800"/>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0.6 s from file to labels, and no loop over points.</a:t>
            </a:r>
            <a:endParaRPr lang="en-GB" sz="2000"/>
          </a:p>
        </p:txBody>
      </p:sp>
      <p:sp>
        <p:nvSpPr>
          <p:cNvPr id="42" name="Small print"/>
          <p:cNvSpPr txBox="1"/>
          <p:nvPr/>
        </p:nvSpPr>
        <p:spPr>
          <a:xfrm>
            <a:off x="548640" y="5540976"/>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One run, indicative; renders not included. Street furniture drawn enlarged.</a:t>
            </a:r>
            <a:endParaRPr lang="en-GB" sz="1200"/>
          </a:p>
        </p:txBody>
      </p:sp>
      <p:sp>
        <p:nvSpPr>
          <p:cNvPr id="43" name="Source"/>
          <p:cNvSpPr txBox="1"/>
          <p:nvPr/>
        </p:nvSpPr>
        <p:spPr>
          <a:xfrm>
            <a:off x="548640"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51077" b="19077"/>
          <a:stretch>
            <a:fillRect/>
          </a:stretch>
        </p:blipFill>
        <p:spPr>
          <a:xfrm>
            <a:off x="6029478" y="3770376"/>
            <a:ext cx="2742933" cy="990312"/>
          </a:xfrm>
          <a:prstGeom prst="rect">
            <a:avLst/>
          </a:prstGeom>
        </p:spPr>
      </p:pic>
      <p:pic>
        <p:nvPicPr>
          <p:cNvPr id="147" name="Photo 2" descr="Photo of Jaarbeursplein at night: tall leaning lamp posts on both sides of the red paved square, lit street lamps behind."/>
          <p:cNvPicPr>
            <a:picLocks noChangeAspect="1"/>
          </p:cNvPicPr>
          <p:nvPr/>
        </p:nvPicPr>
        <p:blipFill>
          <a:blip r:embed="rId4"/>
          <a:srcRect l="38000" t="33185" b="33185"/>
          <a:stretch>
            <a:fillRect/>
          </a:stretch>
        </p:blipFill>
        <p:spPr>
          <a:xfrm>
            <a:off x="8900427" y="3770376"/>
            <a:ext cx="2742933" cy="99031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490699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3946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via PDOK, 2026-10-12. Points: within 0.6 m, over 1.5 m above ground. Photos: Jaarbeursplein, Wikimedia Commons.</a:t>
            </a:r>
            <a:endParaRPr lang="en-GB" sz="1200"/>
          </a:p>
        </p:txBody>
      </p:sp>
      <p:sp>
        <p:nvSpPr>
          <p:cNvPr id="146" name="Small print photo credit 1"/>
          <p:cNvSpPr/>
          <p:nvPr/>
        </p:nvSpPr>
        <p:spPr>
          <a:xfrm>
            <a:off x="6029478" y="4486368"/>
            <a:ext cx="2137410"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2021 · Robot8A · CC BY-SA 4.0</a:t>
            </a:r>
            <a:endParaRPr lang="en-GB" sz="1200"/>
          </a:p>
        </p:txBody>
      </p:sp>
      <p:sp>
        <p:nvSpPr>
          <p:cNvPr id="148" name="Small print photo credit 2"/>
          <p:cNvSpPr/>
          <p:nvPr/>
        </p:nvSpPr>
        <p:spPr>
          <a:xfrm>
            <a:off x="8900427" y="4486368"/>
            <a:ext cx="2635301" cy="27432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1200" b="0" lang="en-GB">
                <a:solidFill>
                  <a:srgbClr val="FFFFFF"/>
                </a:solidFill>
                <a:latin typeface="+mn-lt"/>
              </a:rPr>
              <a:t>2014 · V. van Werkhooven · CC BY 3.0</a:t>
            </a:r>
            <a:endParaRPr lang="en-GB" sz="1200"/>
          </a:p>
        </p:txBody>
      </p:sp>
      <p:sp>
        <p:nvSpPr>
          <p:cNvPr id="149" name="Source"/>
          <p:cNvSpPr txBox="1"/>
          <p:nvPr/>
        </p:nvSpPr>
        <p:spPr>
          <a:xfrm>
            <a:off x="6029478" y="585187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 cloud: AHN5, Actueel Hoogtebestand Nederland (ahn.nl),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AHN file 135000_455000, cropped and processed.</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samples the surface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Here the middle 80 % of cells hold 9 to 22 points per m²; median 18.</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Occlusion, flight-strip overlap, angle and material decide where points land.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Every point carries error: AHN4 specifies at most 5 cm in height; AHN5 publishes no figure yet.</a:t>
            </a:r>
            <a:endParaRPr lang="en-GB" sz="20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Density, noise and gaps vary within one file. Measure them before tuning anything.</a:t>
            </a:r>
            <a:endParaRPr lang="en-GB" sz="2000"/>
          </a:p>
        </p:txBody>
      </p:sp>
      <p:sp>
        <p:nvSpPr>
          <p:cNvPr id="7" name="Small print caption"/>
          <p:cNvSpPr txBox="1"/>
          <p:nvPr/>
        </p:nvSpPr>
        <p:spPr>
          <a:xfrm>
            <a:off x="548640" y="5760720"/>
            <a:ext cx="658368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Points per m² in 2 m cells, this crop (AHN5). Walls stack many points in one map cell.</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8452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331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5876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4212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6966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12,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130×</a:t>
            </a:r>
            <a:r>
              <a:rPr sz="2000" lang="en-GB">
                <a:solidFill>
                  <a:srgbClr val="263238"/>
                </a:solidFill>
                <a:latin typeface="+mn-lt"/>
              </a:rPr>
              <a:t> slower</a:t>
            </a:r>
            <a:endParaRPr lang="en-GB" sz="96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Every trip into compiled code pays a toll</a:t>
            </a:r>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094720" cy="2758152"/>
            <a:chOff x="548640" y="1600200"/>
            <a:chExt cx="11094720" cy="2758152"/>
          </a:xfrm>
        </p:grpSpPr>
        <p:sp>
          <p:nvSpPr>
            <p:cNvPr id="6" name="toll_lane_top"/>
            <p:cNvSpPr txBox="1"/>
            <p:nvPr/>
          </p:nvSpPr>
          <p:spPr>
            <a:xfrm>
              <a:off x="548640" y="2642153"/>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7" name="toll_lane_bottom"/>
            <p:cNvSpPr txBox="1"/>
            <p:nvPr/>
          </p:nvSpPr>
          <p:spPr>
            <a:xfrm>
              <a:off x="548640" y="3236513"/>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8" name="toll_boundary"/>
            <p:cNvCxnSpPr/>
            <p:nvPr/>
          </p:nvCxnSpPr>
          <p:spPr>
            <a:xfrm>
              <a:off x="548640" y="3145073"/>
              <a:ext cx="11094720" cy="0"/>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9" name="toll_loop_code"/>
            <p:cNvSpPr/>
            <p:nvPr/>
          </p:nvSpPr>
          <p:spPr>
            <a:xfrm>
              <a:off x="2468880" y="1600200"/>
              <a:ext cx="3328416"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0" name="loop_down_1"/>
            <p:cNvCxnSpPr/>
            <p:nvPr/>
          </p:nvCxnSpPr>
          <p:spPr>
            <a:xfrm>
              <a:off x="26517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loop_work_1"/>
            <p:cNvSpPr/>
            <p:nvPr/>
          </p:nvSpPr>
          <p:spPr>
            <a:xfrm>
              <a:off x="25968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loop_up_1"/>
            <p:cNvCxnSpPr/>
            <p:nvPr/>
          </p:nvCxnSpPr>
          <p:spPr>
            <a:xfrm flipV="1">
              <a:off x="28712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loop_toll_1"/>
            <p:cNvSpPr/>
            <p:nvPr/>
          </p:nvSpPr>
          <p:spPr>
            <a:xfrm>
              <a:off x="25054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loop_down_2"/>
            <p:cNvCxnSpPr/>
            <p:nvPr/>
          </p:nvCxnSpPr>
          <p:spPr>
            <a:xfrm>
              <a:off x="320040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loop_work_2"/>
            <p:cNvSpPr/>
            <p:nvPr/>
          </p:nvSpPr>
          <p:spPr>
            <a:xfrm>
              <a:off x="314553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loop_up_2"/>
            <p:cNvCxnSpPr/>
            <p:nvPr/>
          </p:nvCxnSpPr>
          <p:spPr>
            <a:xfrm flipV="1">
              <a:off x="341985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loop_toll_2"/>
            <p:cNvSpPr/>
            <p:nvPr/>
          </p:nvSpPr>
          <p:spPr>
            <a:xfrm>
              <a:off x="305409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loop_down_3"/>
            <p:cNvCxnSpPr/>
            <p:nvPr/>
          </p:nvCxnSpPr>
          <p:spPr>
            <a:xfrm>
              <a:off x="374904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loop_work_3"/>
            <p:cNvSpPr/>
            <p:nvPr/>
          </p:nvSpPr>
          <p:spPr>
            <a:xfrm>
              <a:off x="369417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loop_up_3"/>
            <p:cNvCxnSpPr/>
            <p:nvPr/>
          </p:nvCxnSpPr>
          <p:spPr>
            <a:xfrm flipV="1">
              <a:off x="396849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loop_toll_3"/>
            <p:cNvSpPr/>
            <p:nvPr/>
          </p:nvSpPr>
          <p:spPr>
            <a:xfrm>
              <a:off x="360273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loop_down_4"/>
            <p:cNvCxnSpPr/>
            <p:nvPr/>
          </p:nvCxnSpPr>
          <p:spPr>
            <a:xfrm>
              <a:off x="429768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loop_work_4"/>
            <p:cNvSpPr/>
            <p:nvPr/>
          </p:nvSpPr>
          <p:spPr>
            <a:xfrm>
              <a:off x="424281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loop_up_4"/>
            <p:cNvCxnSpPr/>
            <p:nvPr/>
          </p:nvCxnSpPr>
          <p:spPr>
            <a:xfrm flipV="1">
              <a:off x="451713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loop_toll_4"/>
            <p:cNvSpPr/>
            <p:nvPr/>
          </p:nvSpPr>
          <p:spPr>
            <a:xfrm>
              <a:off x="415137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loop_down_5"/>
            <p:cNvCxnSpPr/>
            <p:nvPr/>
          </p:nvCxnSpPr>
          <p:spPr>
            <a:xfrm>
              <a:off x="484632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loop_work_5"/>
            <p:cNvSpPr/>
            <p:nvPr/>
          </p:nvSpPr>
          <p:spPr>
            <a:xfrm>
              <a:off x="479145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loop_up_5"/>
            <p:cNvCxnSpPr/>
            <p:nvPr/>
          </p:nvCxnSpPr>
          <p:spPr>
            <a:xfrm flipV="1">
              <a:off x="506577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loop_toll_5"/>
            <p:cNvSpPr/>
            <p:nvPr/>
          </p:nvSpPr>
          <p:spPr>
            <a:xfrm>
              <a:off x="470001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loop_down_6"/>
            <p:cNvCxnSpPr/>
            <p:nvPr/>
          </p:nvCxnSpPr>
          <p:spPr>
            <a:xfrm>
              <a:off x="5394960"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loop_work_6"/>
            <p:cNvSpPr/>
            <p:nvPr/>
          </p:nvSpPr>
          <p:spPr>
            <a:xfrm>
              <a:off x="5340096" y="4020024"/>
              <a:ext cx="329184"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loop_up_6"/>
            <p:cNvCxnSpPr/>
            <p:nvPr/>
          </p:nvCxnSpPr>
          <p:spPr>
            <a:xfrm flipV="1">
              <a:off x="5614416"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loop_toll_6"/>
            <p:cNvSpPr/>
            <p:nvPr/>
          </p:nvSpPr>
          <p:spPr>
            <a:xfrm>
              <a:off x="5248656"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oll_times"/>
            <p:cNvSpPr txBox="1"/>
            <p:nvPr/>
          </p:nvSpPr>
          <p:spPr>
            <a:xfrm>
              <a:off x="5779008" y="3974304"/>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35"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36" name="call_down_1"/>
            <p:cNvCxnSpPr/>
            <p:nvPr/>
          </p:nvCxnSpPr>
          <p:spPr>
            <a:xfrm>
              <a:off x="7388352"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call_work_1"/>
            <p:cNvSpPr/>
            <p:nvPr/>
          </p:nvSpPr>
          <p:spPr>
            <a:xfrm>
              <a:off x="7333488" y="4020024"/>
              <a:ext cx="4264152" cy="29260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all_up_1"/>
            <p:cNvCxnSpPr/>
            <p:nvPr/>
          </p:nvCxnSpPr>
          <p:spPr>
            <a:xfrm flipV="1">
              <a:off x="7607808" y="2130552"/>
              <a:ext cx="0" cy="1862040"/>
            </a:xfrm>
            <a:prstGeom prst="line">
              <a:avLst/>
            </a:prstGeom>
            <a:ln w="254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call_toll_1"/>
            <p:cNvSpPr/>
            <p:nvPr/>
          </p:nvSpPr>
          <p:spPr>
            <a:xfrm>
              <a:off x="7242048" y="3081065"/>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40" name="Hero"/>
          <p:cNvSpPr txBox="1"/>
          <p:nvPr/>
        </p:nvSpPr>
        <p:spPr>
          <a:xfrm>
            <a:off x="548640" y="4586952"/>
            <a:ext cx="2346198"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41" name="Hero label"/>
          <p:cNvSpPr txBox="1"/>
          <p:nvPr/>
        </p:nvSpPr>
        <p:spPr>
          <a:xfrm>
            <a:off x="3077718" y="5061932"/>
            <a:ext cx="8565642"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loop step (several NumPy calls)</a:t>
            </a:r>
            <a:endParaRPr lang="en-GB" sz="2000"/>
          </a:p>
        </p:txBody>
      </p:sp>
      <p:sp>
        <p:nvSpPr>
          <p:cNvPr id="42" name="Support"/>
          <p:cNvSpPr txBox="1"/>
          <p:nvPr/>
        </p:nvSpPr>
        <p:spPr>
          <a:xfrm>
            <a:off x="548640" y="55927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C++ libraries too: even an empty k = 16 KDTree query costs 9.8 µs.</a:t>
            </a:r>
            <a:endParaRPr lang="en-GB" sz="2000"/>
          </a:p>
        </p:txBody>
      </p:sp>
      <p:sp>
        <p:nvSpPr>
          <p:cNvPr id="4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Code profile command"/>
          <p:cNvSpPr txBox="1"/>
          <p:nvPr/>
        </p:nvSpPr>
        <p:spPr>
          <a:xfrm>
            <a:off x="402336" y="1554480"/>
            <a:ext cx="1124102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816352"/>
            <a:chOff x="548640" y="2186940"/>
            <a:chExt cx="11094720" cy="2816352"/>
          </a:xfrm>
        </p:grpSpPr>
        <p:sp>
          <p:nvSpPr>
            <p:cNvPr id="8" name="legend python swatch"/>
            <p:cNvSpPr/>
            <p:nvPr/>
          </p:nvSpPr>
          <p:spPr>
            <a:xfrm>
              <a:off x="6400292" y="2250948"/>
              <a:ext cx="182880" cy="182880"/>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egend python"/>
            <p:cNvSpPr txBox="1"/>
            <p:nvPr/>
          </p:nvSpPr>
          <p:spPr>
            <a:xfrm>
              <a:off x="6656324" y="2186940"/>
              <a:ext cx="900430" cy="310896"/>
            </a:xfrm>
            <a:prstGeom prst="rect">
              <a:avLst/>
            </a:prstGeom>
            <a:noFill/>
          </p:spPr>
          <p:txBody>
            <a:bodyPr wrap="none" anchor="ctr" lIns="0" tIns="0" rIns="0" bIns="0">
              <a:noAutofit/>
            </a:bodyPr>
            <a:lstStyle/>
            <a:p>
              <a:pPr algn="l"/>
              <a:r>
                <a:rPr sz="2000" b="0" i="0" lang="en-GB">
                  <a:solidFill>
                    <a:srgbClr val="263238"/>
                  </a:solidFill>
                  <a:latin typeface="Fira Sans"/>
                </a:rPr>
                <a:t>Python</a:t>
              </a:r>
            </a:p>
          </p:txBody>
        </p:sp>
        <p:sp>
          <p:nvSpPr>
            <p:cNvPr id="10" name="legend native swatch"/>
            <p:cNvSpPr/>
            <p:nvPr/>
          </p:nvSpPr>
          <p:spPr>
            <a:xfrm>
              <a:off x="7831074" y="2250948"/>
              <a:ext cx="182880" cy="18288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native"/>
            <p:cNvSpPr txBox="1"/>
            <p:nvPr/>
          </p:nvSpPr>
          <p:spPr>
            <a:xfrm>
              <a:off x="8087106" y="2186940"/>
              <a:ext cx="2134362" cy="310896"/>
            </a:xfrm>
            <a:prstGeom prst="rect">
              <a:avLst/>
            </a:prstGeom>
            <a:noFill/>
          </p:spPr>
          <p:txBody>
            <a:bodyPr wrap="none" anchor="ctr" lIns="0" tIns="0" rIns="0" bIns="0">
              <a:noAutofit/>
            </a:bodyPr>
            <a:lstStyle/>
            <a:p>
              <a:pPr algn="l"/>
              <a:r>
                <a:rPr sz="2000" b="0" i="0" lang="en-GB">
                  <a:solidFill>
                    <a:srgbClr val="263238"/>
                  </a:solidFill>
                  <a:latin typeface="Fira Sans"/>
                </a:rPr>
                <a:t>native, i.e. NumPy</a:t>
              </a:r>
            </a:p>
          </p:txBody>
        </p:sp>
        <p:sp>
          <p:nvSpPr>
            <p:cNvPr id="12" name="legend system swatch"/>
            <p:cNvSpPr/>
            <p:nvPr/>
          </p:nvSpPr>
          <p:spPr>
            <a:xfrm>
              <a:off x="10495788" y="2250948"/>
              <a:ext cx="182880" cy="182880"/>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system"/>
            <p:cNvSpPr txBox="1"/>
            <p:nvPr/>
          </p:nvSpPr>
          <p:spPr>
            <a:xfrm>
              <a:off x="10751820" y="2186940"/>
              <a:ext cx="891540" cy="310896"/>
            </a:xfrm>
            <a:prstGeom prst="rect">
              <a:avLst/>
            </a:prstGeom>
            <a:noFill/>
          </p:spPr>
          <p:txBody>
            <a:bodyPr wrap="none" anchor="ctr" lIns="0" tIns="0" rIns="0" bIns="0">
              <a:noAutofit/>
            </a:bodyPr>
            <a:lstStyle/>
            <a:p>
              <a:pPr algn="l"/>
              <a:r>
                <a:rPr sz="2000" b="0" i="0" lang="en-GB">
                  <a:solidFill>
                    <a:srgbClr val="263238"/>
                  </a:solidFill>
                  <a:latin typeface="Fira Sans"/>
                </a:rPr>
                <a:t>system</a:t>
              </a:r>
            </a:p>
          </p:txBody>
        </p:sp>
        <p:sp>
          <p:nvSpPr>
            <p:cNvPr id="14" name="tag"/>
            <p:cNvSpPr txBox="1"/>
            <p:nvPr/>
          </p:nvSpPr>
          <p:spPr>
            <a:xfrm>
              <a:off x="548640" y="26075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5" name="code"/>
            <p:cNvSpPr txBox="1"/>
            <p:nvPr/>
          </p:nvSpPr>
          <p:spPr>
            <a:xfrm>
              <a:off x="1587500" y="26075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6" name="share"/>
            <p:cNvSpPr txBox="1"/>
            <p:nvPr/>
          </p:nvSpPr>
          <p:spPr>
            <a:xfrm>
              <a:off x="7259828" y="26075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7" name="code"/>
            <p:cNvSpPr txBox="1"/>
            <p:nvPr/>
          </p:nvSpPr>
          <p:spPr>
            <a:xfrm>
              <a:off x="1587500" y="3174492"/>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18" name="share"/>
            <p:cNvSpPr txBox="1"/>
            <p:nvPr/>
          </p:nvSpPr>
          <p:spPr>
            <a:xfrm>
              <a:off x="7259828" y="3174492"/>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7500" y="3741420"/>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0" name="bar python"/>
            <p:cNvSpPr/>
            <p:nvPr/>
          </p:nvSpPr>
          <p:spPr>
            <a:xfrm>
              <a:off x="7150100" y="3823716"/>
              <a:ext cx="146653" cy="402336"/>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ar native"/>
            <p:cNvSpPr/>
            <p:nvPr/>
          </p:nvSpPr>
          <p:spPr>
            <a:xfrm>
              <a:off x="7296753" y="3823716"/>
              <a:ext cx="2971341"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r system"/>
            <p:cNvSpPr/>
            <p:nvPr/>
          </p:nvSpPr>
          <p:spPr>
            <a:xfrm>
              <a:off x="10268094" y="3823716"/>
              <a:ext cx="61767" cy="402336"/>
            </a:xfrm>
            <a:prstGeom prst="rect">
              <a:avLst/>
            </a:prstGeom>
            <a:solidFill>
              <a:srgbClr val="45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hare"/>
            <p:cNvSpPr txBox="1"/>
            <p:nvPr/>
          </p:nvSpPr>
          <p:spPr>
            <a:xfrm>
              <a:off x="10439590" y="3741420"/>
              <a:ext cx="743966" cy="566928"/>
            </a:xfrm>
            <a:prstGeom prst="rect">
              <a:avLst/>
            </a:prstGeom>
            <a:noFill/>
          </p:spPr>
          <p:txBody>
            <a:bodyPr wrap="none" anchor="ctr" lIns="0" tIns="0" rIns="0" bIns="0">
              <a:noAutofit/>
            </a:bodyPr>
            <a:lstStyle/>
            <a:p>
              <a:pPr algn="l"/>
              <a:r>
                <a:rPr sz="2000" b="1" i="0" lang="en-GB">
                  <a:solidFill>
                    <a:srgbClr val="2B6797"/>
                  </a:solidFill>
                  <a:latin typeface="Fira Sans"/>
                </a:rPr>
                <a:t>88 %</a:t>
              </a:r>
            </a:p>
          </p:txBody>
        </p:sp>
        <p:cxnSp>
          <p:nvCxnSpPr>
            <p:cNvPr id="24" name="rule"/>
            <p:cNvCxnSpPr/>
            <p:nvPr/>
          </p:nvCxnSpPr>
          <p:spPr>
            <a:xfrm>
              <a:off x="548640" y="4372356"/>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5" name="tag"/>
            <p:cNvSpPr txBox="1"/>
            <p:nvPr/>
          </p:nvSpPr>
          <p:spPr>
            <a:xfrm>
              <a:off x="548640" y="4436364"/>
              <a:ext cx="1038860" cy="566928"/>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6" name="code"/>
            <p:cNvSpPr txBox="1"/>
            <p:nvPr/>
          </p:nvSpPr>
          <p:spPr>
            <a:xfrm>
              <a:off x="1587500" y="4436364"/>
              <a:ext cx="5562600" cy="566928"/>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27" name="bar native"/>
            <p:cNvSpPr/>
            <p:nvPr/>
          </p:nvSpPr>
          <p:spPr>
            <a:xfrm>
              <a:off x="7150100" y="4518660"/>
              <a:ext cx="22034" cy="40233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share"/>
            <p:cNvSpPr txBox="1"/>
            <p:nvPr/>
          </p:nvSpPr>
          <p:spPr>
            <a:xfrm>
              <a:off x="7283668" y="4436364"/>
              <a:ext cx="743966" cy="566928"/>
            </a:xfrm>
            <a:prstGeom prst="rect">
              <a:avLst/>
            </a:prstGeom>
            <a:noFill/>
          </p:spPr>
          <p:txBody>
            <a:bodyPr wrap="none" anchor="ctr" lIns="0" tIns="0" rIns="0" bIns="0">
              <a:noAutofit/>
            </a:bodyPr>
            <a:lstStyle/>
            <a:p>
              <a:pPr algn="l"/>
              <a:r>
                <a:rPr sz="2000" b="0" i="0" lang="en-GB">
                  <a:solidFill>
                    <a:srgbClr val="263238"/>
                  </a:solidFill>
                  <a:latin typeface="Fira Sans"/>
                </a:rPr>
                <a:t>0.7 %</a:t>
              </a:r>
            </a:p>
          </p:txBody>
        </p:sp>
      </p:grpSp>
      <p:sp>
        <p:nvSpPr>
          <p:cNvPr id="29" name="Support"/>
          <p:cNvSpPr txBox="1"/>
          <p:nvPr/>
        </p:nvSpPr>
        <p:spPr>
          <a:xfrm>
            <a:off x="548640" y="5364192"/>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The loop's last line takes 88 % of the run. As one NumPy expression: 0.7 %.</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463040"/>
          </a:xfrm>
          <a:prstGeom prst="rect">
            <a:avLst/>
          </a:prstGeom>
          <a:noFill/>
        </p:spPr>
        <p:txBody>
          <a:bodyPr wrap="none" anchor="t" lIns="0" tIns="0" rIns="0" bIns="0">
            <a:noAutofit/>
          </a:bodyPr>
          <a:lstStyle/>
          <a:p>
            <a:pPr marL="0" indent="0" algn="l">
              <a:spcBef>
                <a:spcPts val="0"/>
              </a:spcBef>
              <a:spcAft>
                <a:spcPts val="0"/>
              </a:spcAft>
              <a:buNone/>
            </a:pPr>
            <a:r>
              <a:rPr sz="9600" lang="en-GB">
                <a:solidFill>
                  <a:srgbClr val="2B6797"/>
                </a:solidFill>
                <a:latin typeface="Fira Sans SemiBold"/>
              </a:rPr>
              <a:t>5.5×</a:t>
            </a:r>
            <a:r>
              <a:rPr sz="2000" lang="en-GB">
                <a:solidFill>
                  <a:srgbClr val="263238"/>
                </a:solidFill>
                <a:latin typeface="+mn-lt"/>
              </a:rPr>
              <a:t> faster on 8 free threads</a:t>
            </a:r>
            <a:endParaRPr lang="en-GB" sz="96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With the GIL, threads gain nothing; one NumPy call is still 27× faster.</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GB</a:t>
            </a:r>
          </a:p>
        </p:txBody>
      </p:sp>
      <p:graphicFrame>
        <p:nvGraphicFramePr>
          <p:cNvPr id="8" name="chart_memory" descr="Horizontal bar chart in gigabytes for one 5 by 6.25 km AHN5 file with 926 203 338 points: reference bars for 16 and 32 GB of RAM, then LAS records at 25.9 GB, plus a float64 copy of the coordinates at 46.6 GB, and our load and voxel downsampling steps (slides 12 and 13), all arrays kept, at 74.2 GB; a dashed line continues the end of the 32 GB bar down across the data bars; the three data bars are computed, not run."/>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cxnSp>
        <p:nvCxnSpPr>
          <p:cNvPr id="9" name="Threshold line 1">
            <a:extLst>
              <a:ext uri="{C183D7F6-B498-43B3-948B-1728B52AA6E4}">
                <adec:decorative xmlns:adec="http://schemas.microsoft.com/office/drawing/2017/decorative" val="1"/>
              </a:ext>
            </a:extLst>
          </p:cNvPr>
          <p:cNvCxnSpPr/>
          <p:nvPr/>
        </p:nvCxnSpPr>
        <p:spPr>
          <a:xfrm>
            <a:off x="3102702" y="2481820"/>
            <a:ext cx="0" cy="252962"/>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0" name="Threshold line 2">
            <a:extLst>
              <a:ext uri="{C183D7F6-B498-43B3-948B-1728B52AA6E4}">
                <adec:decorative xmlns:adec="http://schemas.microsoft.com/office/drawing/2017/decorative" val="1"/>
              </a:ext>
            </a:extLst>
          </p:cNvPr>
          <p:cNvCxnSpPr/>
          <p:nvPr/>
        </p:nvCxnSpPr>
        <p:spPr>
          <a:xfrm>
            <a:off x="3102702" y="3528570"/>
            <a:ext cx="0" cy="2082821"/>
          </a:xfrm>
          <a:prstGeom prst="line">
            <a:avLst/>
          </a:prstGeom>
          <a:ln w="1905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4" name="Machine line"/>
          <p:cNvSpPr txBox="1"/>
          <p:nvPr/>
        </p:nvSpPr>
        <p:spPr>
          <a:xfrm>
            <a:off x="6029478" y="49834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It works on my machine (31.3 GiB RAM).</a:t>
            </a:r>
            <a:endParaRPr lang="en-GB" sz="2000"/>
          </a:p>
        </p:txBody>
      </p:sp>
      <p:sp>
        <p:nvSpPr>
          <p:cNvPr id="11" name="Hero"/>
          <p:cNvSpPr txBox="1"/>
          <p:nvPr/>
        </p:nvSpPr>
        <p:spPr>
          <a:xfrm>
            <a:off x="6029478" y="1965960"/>
            <a:ext cx="5613882" cy="1341120"/>
          </a:xfrm>
          <a:prstGeom prst="rect">
            <a:avLst/>
          </a:prstGeom>
          <a:noFill/>
        </p:spPr>
        <p:txBody>
          <a:bodyPr wrap="none" anchor="t" lIns="0" tIns="0" rIns="0" bIns="0">
            <a:noAutofit/>
          </a:bodyPr>
          <a:lstStyle/>
          <a:p>
            <a:pPr marL="0" indent="0" algn="l">
              <a:spcBef>
                <a:spcPts val="0"/>
              </a:spcBef>
              <a:spcAft>
                <a:spcPts val="0"/>
              </a:spcAft>
              <a:buNone/>
            </a:pPr>
            <a:r>
              <a:rPr sz="8800" lang="en-GB">
                <a:solidFill>
                  <a:srgbClr val="2B6797"/>
                </a:solidFill>
                <a:latin typeface="Fira Sans SemiBold"/>
              </a:rPr>
              <a:t>86 B</a:t>
            </a:r>
            <a:r>
              <a:rPr sz="2000" lang="en-GB">
                <a:solidFill>
                  <a:srgbClr val="263238"/>
                </a:solidFill>
                <a:latin typeface="+mn-lt"/>
              </a:rPr>
              <a:t> per point in our pipeline</a:t>
            </a:r>
            <a:endParaRPr lang="en-GB" sz="8800"/>
          </a:p>
        </p:txBody>
      </p:sp>
      <p:sp>
        <p:nvSpPr>
          <p:cNvPr id="12" name="Support"/>
          <p:cNvSpPr txBox="1"/>
          <p:nvPr/>
        </p:nvSpPr>
        <p:spPr>
          <a:xfrm>
            <a:off x="6029478" y="353568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13" name="Small print"/>
          <p:cNvSpPr txBox="1"/>
          <p:nvPr/>
        </p:nvSpPr>
        <p:spPr>
          <a:xfrm>
            <a:off x="6029478" y="3977640"/>
            <a:ext cx="5613882" cy="73152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Bytes per point measured on the 1 km AHN file 135000_455000 (21 013 926 points); totals for 2023_C_31HZ2.LAZ computed, not run. Our pipeline: load and voxel downsampling (slides 12 and 13), all arrays kept, after gc.collect() and malloc_trim(0); peak 154 B per point.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Stream chunks, keep the first point per voxel</a:t>
            </a:r>
          </a:p>
        </p:txBody>
      </p:sp>
      <p:grpSp>
        <p:nvGrpSpPr>
          <p:cNvPr id="3" name="Key line 5">
            <a:extLst>
              <a:ext uri="{C183D7F6-B498-43B3-948B-1728B52AA6E4}">
                <adec:decorative xmlns:adec="http://schemas.microsoft.com/office/drawing/2017/decorative" val="1"/>
              </a:ext>
            </a:extLst>
          </p:cNvPr>
          <p:cNvGrpSpPr/>
          <p:nvPr/>
        </p:nvGrpSpPr>
        <p:grpSpPr>
          <a:xfrm>
            <a:off x="402336" y="2616200"/>
            <a:ext cx="9802368" cy="254000"/>
            <a:chOff x="402336" y="2616200"/>
            <a:chExt cx="9802368" cy="254000"/>
          </a:xfrm>
        </p:grpSpPr>
        <p:sp>
          <p:nvSpPr>
            <p:cNvPr id="7" name="Key line bar"/>
            <p:cNvSpPr/>
            <p:nvPr/>
          </p:nvSpPr>
          <p:spPr>
            <a:xfrm>
              <a:off x="402336" y="2616200"/>
              <a:ext cx="9802368" cy="2540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2616200"/>
              <a:ext cx="64008" cy="2540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descr="Twelve lines of Python that read a LAZ file in chunks of one million points and keep the first point in every voxel, above the peak memory before and after."/>
          <p:cNvSpPr txBox="1"/>
          <p:nvPr/>
        </p:nvSpPr>
        <p:spPr>
          <a:xfrm>
            <a:off x="402336" y="1554480"/>
            <a:ext cx="9802368" cy="3139440"/>
          </a:xfrm>
          <a:prstGeom prst="rect">
            <a:avLst/>
          </a:prstGeom>
          <a:noFill/>
        </p:spPr>
        <p:txBody>
          <a:bodyPr wrap="none" anchor="t" lIns="146304" tIns="45720" rIns="54864" bIns="45720">
            <a:noAutofit/>
          </a:bodyPr>
          <a:lstStyle/>
          <a:p>
            <a:pPr marL="0" indent="0" algn="l">
              <a:lnSpc>
                <a:spcPts val="2000"/>
              </a:lnSpc>
              <a:spcBef>
                <a:spcPts val="0"/>
              </a:spcBef>
              <a:spcAft>
                <a:spcPts val="0"/>
              </a:spcAft>
              <a:buNone/>
            </a:pPr>
            <a:r>
              <a:rPr sz="1800" b="0" lang="en-GB" noProof="1">
                <a:solidFill>
                  <a:srgbClr val="263238"/>
                </a:solidFill>
                <a:latin typeface="Fira Mono" pitchFamily="49"/>
              </a:rPr>
              <a:t>v, keys, pts = 0.5, [], []                      </a:t>
            </a:r>
            <a:r>
              <a:rPr sz="1800" b="0" lang="en-GB" noProof="1">
                <a:solidFill>
                  <a:srgbClr val="455A64"/>
                </a:solidFill>
                <a:latin typeface="Fira Mono" pitchFamily="49"/>
              </a:rPr>
              <a:t># voxel size: 0.5 m</a:t>
            </a:r>
            <a:endParaRPr lang="en-GB" sz="1800"/>
          </a:p>
          <a:p>
            <a:pPr marL="0" indent="0" algn="l">
              <a:lnSpc>
                <a:spcPts val="2000"/>
              </a:lnSpc>
              <a:spcBef>
                <a:spcPts val="0"/>
              </a:spcBef>
              <a:spcAft>
                <a:spcPts val="0"/>
              </a:spcAft>
              <a:buNone/>
            </a:pPr>
            <a:r>
              <a:rPr sz="1800" b="1" lang="en-GB" noProof="1">
                <a:solidFill>
                  <a:srgbClr val="1C325B"/>
                </a:solidFill>
                <a:latin typeface="Fira Mono" pitchFamily="49"/>
              </a:rPr>
              <a:t>with</a:t>
            </a:r>
            <a:r>
              <a:rPr sz="1800" b="0" lang="en-GB" noProof="1">
                <a:solidFill>
                  <a:srgbClr val="263238"/>
                </a:solidFill>
                <a:latin typeface="Fira Mono" pitchFamily="49"/>
              </a:rPr>
              <a:t> laspy.open(path) </a:t>
            </a:r>
            <a:r>
              <a:rPr sz="1800" b="1" lang="en-GB" noProof="1">
                <a:solidFill>
                  <a:srgbClr val="1C325B"/>
                </a:solidFill>
                <a:latin typeface="Fira Mono" pitchFamily="49"/>
              </a:rPr>
              <a:t>as</a:t>
            </a:r>
            <a:r>
              <a:rPr sz="1800" b="0" lang="en-GB" noProof="1">
                <a:solidFill>
                  <a:srgbClr val="263238"/>
                </a:solidFill>
                <a:latin typeface="Fira Mono" pitchFamily="49"/>
              </a:rPr>
              <a:t> f:</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lo, hi = f.header.mins, f.header.maxs       </a:t>
            </a:r>
            <a:r>
              <a:rPr sz="1800" b="0" lang="en-GB" noProof="1">
                <a:solidFill>
                  <a:srgbClr val="455A64"/>
                </a:solidFill>
                <a:latin typeface="Fira Mono" pitchFamily="49"/>
              </a:rPr>
              <a:t># local origin, extent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dims = ((hi - lo) // v).astype(np.int64) + 1  </a:t>
            </a:r>
            <a:r>
              <a:rPr sz="1800" b="0" lang="en-GB" noProof="1">
                <a:solidFill>
                  <a:srgbClr val="455A64"/>
                </a:solidFill>
                <a:latin typeface="Fira Mono" pitchFamily="49"/>
              </a:rPr>
              <a:t># voxels per axis</a:t>
            </a:r>
            <a:endParaRPr lang="en-GB" sz="1800"/>
          </a:p>
          <a:p>
            <a:pPr marL="0" indent="0" algn="l">
              <a:lnSpc>
                <a:spcPts val="20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for</a:t>
            </a:r>
            <a:r>
              <a:rPr sz="1800" b="1" lang="en-GB" noProof="1">
                <a:solidFill>
                  <a:srgbClr val="263238"/>
                </a:solidFill>
                <a:latin typeface="Fira Mono" pitchFamily="49"/>
              </a:rPr>
              <a:t> c </a:t>
            </a:r>
            <a:r>
              <a:rPr sz="1800" b="1" lang="en-GB" noProof="1">
                <a:solidFill>
                  <a:srgbClr val="1C325B"/>
                </a:solidFill>
                <a:latin typeface="Fira Mono" pitchFamily="49"/>
              </a:rPr>
              <a:t>in</a:t>
            </a:r>
            <a:r>
              <a:rPr sz="1800" b="1" lang="en-GB" noProof="1">
                <a:solidFill>
                  <a:srgbClr val="263238"/>
                </a:solidFill>
                <a:latin typeface="Fira Mono" pitchFamily="49"/>
              </a:rPr>
              <a:t> f.chunk_iterator(1_000_000):       </a:t>
            </a:r>
            <a:r>
              <a:rPr sz="1800" b="1" lang="en-GB" noProof="1">
                <a:solidFill>
                  <a:srgbClr val="455A64"/>
                </a:solidFill>
                <a:latin typeface="Fira Mono" pitchFamily="49"/>
              </a:rPr>
              <a:t># a million points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xyz = np.c_[c.x, c.y, c.z] - lo</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ijk = (xyz // v).astype(np.int64).T     </a:t>
            </a:r>
            <a:r>
              <a:rPr sz="1800" b="0" lang="en-GB" noProof="1">
                <a:solidFill>
                  <a:srgbClr val="455A64"/>
                </a:solidFill>
                <a:latin typeface="Fira Mono" pitchFamily="49"/>
              </a:rPr>
              <a:t># voxel index per axis</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 = np.ravel_multi_index(ijk, dims)   </a:t>
            </a:r>
            <a:r>
              <a:rPr sz="1800" b="0" lang="en-GB" noProof="1">
                <a:solidFill>
                  <a:srgbClr val="455A64"/>
                </a:solidFill>
                <a:latin typeface="Fira Mono" pitchFamily="49"/>
              </a:rPr>
              <a:t># one int64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 first = np.unique(key,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        keys.append(k); pts.append(xyz[first])  </a:t>
            </a:r>
            <a:r>
              <a:rPr sz="1800" b="0" lang="en-GB" noProof="1">
                <a:solidFill>
                  <a:srgbClr val="455A64"/>
                </a:solidFill>
                <a:latin typeface="Fira Mono" pitchFamily="49"/>
              </a:rPr>
              <a:t># first per voxel</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k, first = np.unique(np.concatenate(keys), return_index=</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000"/>
              </a:lnSpc>
              <a:spcBef>
                <a:spcPts val="0"/>
              </a:spcBef>
              <a:spcAft>
                <a:spcPts val="0"/>
              </a:spcAft>
              <a:buNone/>
            </a:pPr>
            <a:r>
              <a:rPr sz="1800" b="0" lang="en-GB" noProof="1">
                <a:solidFill>
                  <a:srgbClr val="263238"/>
                </a:solidFill>
                <a:latin typeface="Fira Mono" pitchFamily="49"/>
              </a:rPr>
              <a:t>points = np.concatenate(pts)[first]             </a:t>
            </a:r>
            <a:r>
              <a:rPr sz="1800" b="0" lang="en-GB" noProof="1">
                <a:solidFill>
                  <a:srgbClr val="455A64"/>
                </a:solidFill>
                <a:latin typeface="Fira Mono" pitchFamily="49"/>
              </a:rPr>
              <a:t># earliest chunk wins</a:t>
            </a:r>
            <a:endParaRPr lang="en-GB" sz="1800"/>
          </a:p>
        </p:txBody>
      </p:sp>
      <p:sp>
        <p:nvSpPr>
          <p:cNvPr id="10" name="Hero"/>
          <p:cNvSpPr txBox="1"/>
          <p:nvPr/>
        </p:nvSpPr>
        <p:spPr>
          <a:xfrm>
            <a:off x="548640" y="4806552"/>
            <a:ext cx="5548884"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3.0 GB → 0.8 GB</a:t>
            </a:r>
            <a:endParaRPr lang="en-GB" sz="6000"/>
          </a:p>
        </p:txBody>
      </p:sp>
      <p:sp>
        <p:nvSpPr>
          <p:cNvPr id="11" name="Hero label"/>
          <p:cNvSpPr txBox="1"/>
          <p:nvPr/>
        </p:nvSpPr>
        <p:spPr>
          <a:xfrm>
            <a:off x="6280404" y="5281532"/>
            <a:ext cx="5362956"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peak memory, 1 km AHN file</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1 GB = 2³⁰ B. Full: results/memory.json.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it works: memory over time</a:t>
            </a:r>
          </a:p>
        </p:txBody>
      </p:sp>
      <p:graphicFrame>
        <p:nvGraphicFramePr>
          <p:cNvPr id="7" name="Memory over time" descr="Line chart of memory over a run on the 1 km AHN file, 21 013 926 points, as profiled by Scalene. Loading everything climbs to about 2 GB once the file, the float64 xyz and Open3D's copy are in memory, then to 3.4 GB during voxel downsampling. The chunked loop reads one million points at a time, stays lower and peaks at 1.6 GB late in the loop."/>
          <p:cNvGraphicFramePr>
            <a:graphicFrameLocks noGrp="1"/>
          </p:cNvGraphicFramePr>
          <p:nvPr/>
        </p:nvGraphicFramePr>
        <p:xfrm>
          <a:off x="502920" y="1554480"/>
          <a:ext cx="11140440" cy="3322032"/>
        </p:xfrm>
        <a:graphic>
          <a:graphicData uri="http://schemas.openxmlformats.org/drawingml/2006/chart">
            <c:chart xmlns:c="http://schemas.openxmlformats.org/drawingml/2006/chart" r:id="rId2"/>
          </a:graphicData>
        </a:graphic>
      </p:graphicFrame>
      <p:cxnSp>
        <p:nvCxnSpPr>
          <p:cNvPr id="8" name="Trace leader">
            <a:extLst>
              <a:ext uri="{C183D7F6-B498-43B3-948B-1728B52AA6E4}">
                <adec:decorative xmlns:adec="http://schemas.microsoft.com/office/drawing/2017/decorative" val="1"/>
              </a:ext>
            </a:extLst>
          </p:cNvPr>
          <p:cNvCxnSpPr/>
          <p:nvPr/>
        </p:nvCxnSpPr>
        <p:spPr>
          <a:xfrm flipV="1">
            <a:off x="3828059" y="2506079"/>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9" name="Trace label"/>
          <p:cNvSpPr txBox="1"/>
          <p:nvPr/>
        </p:nvSpPr>
        <p:spPr>
          <a:xfrm>
            <a:off x="1639087" y="2201279"/>
            <a:ext cx="437794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load everything: Open3D copy: 2.0 GB</a:t>
            </a:r>
            <a:endParaRPr lang="en-GB" sz="2000"/>
          </a:p>
        </p:txBody>
      </p:sp>
      <p:cxnSp>
        <p:nvCxnSpPr>
          <p:cNvPr id="10" name="Trace leader">
            <a:extLst>
              <a:ext uri="{C183D7F6-B498-43B3-948B-1728B52AA6E4}">
                <adec:decorative xmlns:adec="http://schemas.microsoft.com/office/drawing/2017/decorative" val="1"/>
              </a:ext>
            </a:extLst>
          </p:cNvPr>
          <p:cNvCxnSpPr/>
          <p:nvPr/>
        </p:nvCxnSpPr>
        <p:spPr>
          <a:xfrm flipV="1">
            <a:off x="7563899" y="1527580"/>
            <a:ext cx="0" cy="448056"/>
          </a:xfrm>
          <a:prstGeom prst="line">
            <a:avLst/>
          </a:prstGeom>
          <a:ln w="12700">
            <a:solidFill>
              <a:srgbClr val="455A64"/>
            </a:solidFill>
          </a:ln>
        </p:spPr>
        <p:style>
          <a:lnRef idx="2">
            <a:schemeClr val="accent1"/>
          </a:lnRef>
          <a:fillRef idx="0">
            <a:schemeClr val="accent1"/>
          </a:fillRef>
          <a:effectRef idx="1">
            <a:schemeClr val="accent1"/>
          </a:effectRef>
          <a:fontRef idx="minor">
            <a:schemeClr val="tx1"/>
          </a:fontRef>
        </p:style>
      </p:cxnSp>
      <p:sp>
        <p:nvSpPr>
          <p:cNvPr id="11" name="Trace label"/>
          <p:cNvSpPr txBox="1"/>
          <p:nvPr/>
        </p:nvSpPr>
        <p:spPr>
          <a:xfrm>
            <a:off x="5932457" y="1222780"/>
            <a:ext cx="3262884"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63238"/>
                </a:solidFill>
                <a:latin typeface="+mn-lt"/>
              </a:rPr>
              <a:t>voxel_down_sample: 3.4 GB</a:t>
            </a:r>
            <a:endParaRPr lang="en-GB" sz="2000"/>
          </a:p>
        </p:txBody>
      </p:sp>
      <p:sp>
        <p:nvSpPr>
          <p:cNvPr id="12" name="Trace label"/>
          <p:cNvSpPr txBox="1"/>
          <p:nvPr/>
        </p:nvSpPr>
        <p:spPr>
          <a:xfrm>
            <a:off x="6997023" y="2839226"/>
            <a:ext cx="3795268" cy="304800"/>
          </a:xfrm>
          <a:prstGeom prst="rect">
            <a:avLst/>
          </a:prstGeom>
          <a:noFill/>
        </p:spPr>
        <p:txBody>
          <a:bodyPr wrap="none" anchor="t" lIns="0" tIns="0" rIns="0" bIns="0">
            <a:noAutofit/>
          </a:bodyPr>
          <a:lstStyle/>
          <a:p>
            <a:pPr marL="0" indent="0" algn="l">
              <a:spcBef>
                <a:spcPts val="0"/>
              </a:spcBef>
              <a:spcAft>
                <a:spcPts val="0"/>
              </a:spcAft>
              <a:buNone/>
            </a:pPr>
            <a:r>
              <a:rPr sz="2000" b="0" lang="en-GB">
                <a:solidFill>
                  <a:srgbClr val="2B6797"/>
                </a:solidFill>
                <a:latin typeface="Fira Sans SemiBold"/>
              </a:rPr>
              <a:t>chunked: late in the loop: 1.6 GB</a:t>
            </a:r>
            <a:endParaRPr lang="en-GB" sz="2000"/>
          </a:p>
        </p:txBody>
      </p:sp>
      <p:sp>
        <p:nvSpPr>
          <p:cNvPr id="13" name="Support"/>
          <p:cNvSpPr txBox="1"/>
          <p:nvPr/>
        </p:nvSpPr>
        <p:spPr>
          <a:xfrm>
            <a:off x="548640" y="5059392"/>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Profiled with Scalene. Load everything: memory follows the file. Chunked: memory follows what you keep.</a:t>
            </a:r>
            <a:endParaRPr lang="en-GB" sz="2000"/>
          </a:p>
        </p:txBody>
      </p:sp>
      <p:sp>
        <p:nvSpPr>
          <p:cNvPr id="6"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21 013 926 points, median of 3 runs;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Scalene counts allocations, not resident memory (slide 26). Full: results/memory_scalene.json.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gotchas I hit building this</a:t>
            </a:r>
          </a:p>
        </p:txBody>
      </p:sp>
      <p:graphicFrame>
        <p:nvGraphicFramePr>
          <p:cNvPr id="6" name="gotcha_table" descr="Table of six gotchas, a code token and its consequence. Open3D read_point_cloud on a LAZ file: an empty cloud, no error. pip install laspy alone: LAZ files will not open. xyz as float32: 1.6 cm steps at RD coordinates. Vector3dVector of float32: a 39× slower copy. segment_plane with a seed: runs differ unless probability is 1. AHN classification 1: not trees."/>
          <p:cNvGraphicFramePr>
            <a:graphicFrameLocks noGrp="1"/>
          </p:cNvGraphicFramePr>
          <p:nvPr/>
        </p:nvGraphicFramePr>
        <p:xfrm>
          <a:off x="4572000" y="731520"/>
          <a:ext cx="7071360" cy="5486112"/>
        </p:xfrm>
        <a:graphic>
          <a:graphicData uri="http://schemas.openxmlformats.org/drawingml/2006/table">
            <a:tbl>
              <a:tblPr>
                <a:tableStyleId>{2D5ABB26-0587-4C30-8999-92F81FD0307C}</a:tableStyleId>
              </a:tblPr>
              <a:tblGrid>
                <a:gridCol w="4242816"/>
                <a:gridCol w="2828544"/>
              </a:tblGrid>
              <a:tr h="914352">
                <a:tc>
                  <a:txBody>
                    <a:bodyPr wrap="square"/>
                    <a:lstStyle/>
                    <a:p>
                      <a:pPr algn="l"/>
                      <a:r>
                        <a:rPr sz="2000" b="0" i="0" lang="en-GB">
                          <a:solidFill>
                            <a:srgbClr val="263238"/>
                          </a:solidFill>
                          <a:latin typeface="Fira Mono" pitchFamily="49" charset="0"/>
                        </a:rPr>
                        <a:t>read_point_cloud("x.laz")</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Empty cloud, no error</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pip install laspy</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LAZ files will not open</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xyz.astype(np.float32)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1.6 cm steps in RD</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Vector3dVector(float32)</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39× slower copy</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segment_plane(seed)</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c>
                  <a:txBody>
                    <a:bodyPr wrap="square"/>
                    <a:lstStyle/>
                    <a:p>
                      <a:pPr algn="l"/>
                      <a:r>
                        <a:rPr sz="2000" b="0" i="0" lang="en-GB">
                          <a:solidFill>
                            <a:srgbClr val="263238"/>
                          </a:solidFill>
                          <a:latin typeface="Fira Sans"/>
                        </a:rPr>
                        <a:t>Differs unless probability=1</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solidFill>
                        <a:srgbClr val="1C325B"/>
                      </a:solidFill>
                      <a:prstDash val="solid"/>
                      <a:round/>
                      <a:headEnd type="none" w="med" len="med"/>
                      <a:tailEnd type="none" w="med" len="med"/>
                    </a:lnB>
                    <a:noFill/>
                  </a:tcPr>
                </a:tc>
              </a:tr>
              <a:tr h="914352">
                <a:tc>
                  <a:txBody>
                    <a:bodyPr wrap="square"/>
                    <a:lstStyle/>
                    <a:p>
                      <a:pPr algn="l"/>
                      <a:r>
                        <a:rPr sz="2000" b="0" i="0" lang="en-GB">
                          <a:solidFill>
                            <a:srgbClr val="263238"/>
                          </a:solidFill>
                          <a:latin typeface="Fira Mono" pitchFamily="49" charset="0"/>
                        </a:rPr>
                        <a:t>classification == 1</a:t>
                      </a:r>
                    </a:p>
                  </a:txBody>
                  <a:tcPr anchor="ctr" marL="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c>
                  <a:txBody>
                    <a:bodyPr wrap="square"/>
                    <a:lstStyle/>
                    <a:p>
                      <a:pPr algn="l"/>
                      <a:r>
                        <a:rPr sz="2000" b="0" i="0" lang="en-GB">
                          <a:solidFill>
                            <a:srgbClr val="263238"/>
                          </a:solidFill>
                          <a:latin typeface="Fira Sans"/>
                        </a:rPr>
                        <a:t>Class 1 is not trees</a:t>
                      </a:r>
                    </a:p>
                  </a:txBody>
                  <a:tcPr anchor="ctr" marL="137160" marR="9144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rgbClr val="1C325B"/>
                      </a:solidFill>
                      <a:prstDash val="solid"/>
                      <a:round/>
                      <a:headEnd type="none" w="med" len="med"/>
                      <a:tailEnd type="none" w="med" len="med"/>
                    </a:lnT>
                    <a:lnB w="12700" cap="flat" cmpd="sng" algn="ctr">
                      <a:noFill/>
                      <a:prstDash val="solid"/>
                      <a:round/>
                      <a:headEnd type="none" w="med" len="med"/>
                      <a:tailEnd type="none" w="med" len="med"/>
                    </a:lnB>
                    <a:no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B to 0.8 G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6, 11</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19, 30</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GB → 0.8 GB peak</a:t>
              </a:r>
            </a:p>
            <a:p>
              <a:pPr algn="l">
                <a:spcBef>
                  <a:spcPts val="600"/>
                </a:spcBef>
              </a:pPr>
              <a:r>
                <a:rPr sz="2000" b="0" i="0" lang="en-GB">
                  <a:solidFill>
                    <a:srgbClr val="455A64"/>
                  </a:solidFill>
                  <a:latin typeface="Fira Sans"/>
                </a:rPr>
                <a:t>slides 13, 28, 29</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21 to 25</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Copy the pipeline</a:t>
            </a:r>
          </a:p>
        </p:txBody>
      </p:sp>
      <p:sp>
        <p:nvSpPr>
          <p:cNvPr id="3" name="Contact"/>
          <p:cNvSpPr>
            <a:spLocks noGrp="1"/>
          </p:cNvSpPr>
          <p:nvPr>
            <p:ph type="body" idx="15"/>
          </p:nvPr>
        </p:nvSpPr>
        <p:spPr/>
        <p:txBody>
          <a:bodyPr/>
          <a:lstStyle/>
          <a:p>
            <a:pPr marL="0" indent="0" algn="l">
              <a:spcBef>
                <a:spcPts val="0"/>
              </a:spcBef>
              <a:spcAft>
                <a:spcPts val="1400"/>
              </a:spcAft>
              <a:buNone/>
            </a:pPr>
            <a:r>
              <a:rPr sz="2800" b="0" lang="en-GB">
                <a:solidFill>
                  <a:srgbClr val="B1CAC5"/>
                </a:solidFill>
                <a:latin typeface="+mn-lt"/>
              </a:rPr>
              <a:t>github.com/Sloppy1999/pycon-nl-2026-3d-data-science</a:t>
            </a:r>
            <a:endParaRPr lang="en-GB" sz="2800"/>
          </a:p>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Your loop is still running. Your coffee is cold.</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Point cloud: AHN5, Actueel Hoogtebestand Nederland (ahn.nl),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 AHN file 135000_455000, cropped and processed.</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a:p>
            <a:pPr marL="0" indent="0" algn="l">
              <a:spcBef>
                <a:spcPts val="0"/>
              </a:spcBef>
              <a:spcAft>
                <a:spcPts val="0"/>
              </a:spcAft>
              <a:buNone/>
            </a:pPr>
            <a:r>
              <a:rPr sz="1200" lang="en-GB">
                <a:solidFill>
                  <a:srgbClr val="B1CAC5"/>
                </a:solidFill>
                <a:latin typeface="+mn-lt"/>
              </a:rPr>
              <a:t>[Optional: Title shared with F. Poux, 3D Data Science with Python, O'Reilly 2025; this talk is independent.]</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0.6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21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2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MB LAZ); 5 × 6.25 km file 2023_C_31HZ2, 926 203 338 points (5.1 GB);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GB at 30 B per point (format 6); our pipeline (slides 12 and 13): 74.2 GB.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 (slide 27)</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16</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16's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The crop's first point in RD New and in the local frame (data/utrecht_jaarbeurs_200m.laz). Right: Z up (LAS, RD + NAP, Blender) and Y up, left-handed (Unity).</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7" name="Small print caption"/>
          <p:cNvSpPr txBox="1"/>
          <p:nvPr/>
        </p:nvSpPr>
        <p:spPr>
          <a:xfrm>
            <a:off x="548640" y="5760720"/>
            <a:ext cx="658368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footprint, top view. Column vectors: T @ R rotates first, R @ T translates first.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15 and the voxel on slide 13 are the same choice.</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Synthetic gable roof, 18 points per m², 3.0 cm noise. PCA normal of the points within the radius, SciPy KDTree.</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9"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(slides 27, 29, B2).</a:t>
            </a:r>
            <a:endParaRPr lang="en-GB" sz="1600"/>
          </a:p>
        </p:txBody>
      </p:sp>
      <p:sp>
        <p:nvSpPr>
          <p:cNvPr id="8"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7" name="Small print caption"/>
          <p:cNvSpPr txBox="1"/>
          <p:nvPr/>
        </p:nvSpPr>
        <p:spPr>
          <a:xfrm>
            <a:off x="548640" y="5760720"/>
            <a:ext cx="6583680"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Memory for N points: float64 xyz grows linearly, all pairwise distances quadratically. 1 GB = 2^30 B. Computed, not run.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1895094"/>
          <a:ext cx="11094719" cy="1883664"/>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3888486"/>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10).</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9).</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11094720" cy="324739"/>
          </a:xfrm>
          <a:prstGeom prst="rect">
            <a:avLst/>
          </a:prstGeom>
          <a:noFill/>
        </p:spPr>
        <p:txBody>
          <a:bodyPr wrap="square" anchor="t" lIns="0" tIns="0" rIns="0" bIns="0">
            <a:noAutofit/>
          </a:bodyPr>
          <a:lstStyle/>
          <a:p>
            <a:pPr marL="0" indent="0" algn="l">
              <a:spcBef>
                <a:spcPts val="0"/>
              </a:spcBef>
              <a:spcAft>
                <a:spcPts val="0"/>
              </a:spcAft>
              <a:buNone/>
            </a:pPr>
            <a:r>
              <a:rPr sz="1700" b="0" lang="en-GB">
                <a:solidFill>
                  <a:srgbClr val="1C325B"/>
                </a:solidFill>
                <a:latin typeface="Fira Sans SemiBold"/>
              </a:rPr>
              <a:t>Priority for a beginner audience, and where each idea joins the main deck</a:t>
            </a:r>
            <a:endParaRPr lang="en-GB" sz="17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1879219"/>
          <a:ext cx="11094721" cy="2830068"/>
        </p:xfrm>
        <a:graphic>
          <a:graphicData uri="http://schemas.openxmlformats.org/drawingml/2006/table">
            <a:tbl>
              <a:tblPr firstRow="0" bandRow="0">
                <a:tableStyleId>{2D5ABB26-0587-4C30-8999-92F81FD0307C}</a:tableStyleId>
              </a:tblPr>
              <a:tblGrid>
                <a:gridCol w="583933"/>
                <a:gridCol w="3737169"/>
                <a:gridCol w="4204315"/>
                <a:gridCol w="2569304"/>
              </a:tblGrid>
              <a:tr h="299466">
                <a:tc>
                  <a:txBody>
                    <a:bodyPr/>
                    <a:lstStyle/>
                    <a:p>
                      <a:pPr marL="0" indent="0" algn="l">
                        <a:lnSpc>
                          <a:spcPct val="95000"/>
                        </a:lnSpc>
                        <a:spcBef>
                          <a:spcPts val="0"/>
                        </a:spcBef>
                        <a:spcAft>
                          <a:spcPts val="0"/>
                        </a:spcAft>
                        <a:buNone/>
                      </a:pPr>
                      <a:r>
                        <a:rPr sz="1500" lang="en-GB">
                          <a:solidFill>
                            <a:srgbClr val="FFFFFF"/>
                          </a:solidFill>
                          <a:latin typeface="Fira Sans SemiBold"/>
                        </a:rPr>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Idea</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One line for the audience</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Joins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 point cloud is an array (slide 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 rows, x y z plus attributes, no order, no links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6, rule 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Every array needs a frame (C2)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Reference system, units, origin, up axis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Neighbourhood size changes the answer (C4)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Radius, eps and voxel size are model choices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13 to 15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Samples, not the surface (C5)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Density and error vary; measure first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20,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Memory follows N and the algorithm (C6)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Linear fits, quadratic never does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26, rule 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Three representations (C1)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Points measure, meshes connect, voxels index</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6 and 7,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Transforms as matrices (C3)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One matrix per frame change, order matters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12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819015"/>
            <a:ext cx="11094720" cy="10251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Narrative: what the data is (1, 6), where it is (2, 7), what is near what (3), how far to trust it (4), how big it gets (5). Close with C7: ideas outlive tools.</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In the 30 minute slot the main deck carries 1, 4 and 6 in full (slides 6, 21 and 7) and 2, 3 and 5 in short form; add C2 and C4 first if time allows.</a:t>
            </a:r>
            <a:endParaRPr lang="en-GB" sz="15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3453384"/>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45</Slides>
  <Notes>45</Notes>
  <HiddenSlides>14</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2026-10-12T22:26:40Z</dcterms:created>
  <dcterms:modified xsi:type="dcterms:W3CDTF">2026-10-12T22:26:40Z</dcterms:modified>
</cp:coreProperties>
</file>