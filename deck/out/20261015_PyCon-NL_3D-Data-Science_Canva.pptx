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embedTrueTypeFonts="1">
  <p:sldMasterIdLst>
    <p:sldMasterId id="2147483648" r:id="rId1"/>
  </p:sldMasterIdLst>
  <p:notesMasterIdLst>
    <p:notesMasterId r:id="rId2"/>
  </p:notesMasterIdLst>
  <p:sldIdLst>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p:notesSz cx="6858000" cy="9144000"/>
  <p:defaultTextStyle>
    <a:defPPr>
      <a:defRPr lang="en-GB"/>
    </a:defPPr>
    <a:lvl1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1pPr>
    <a:lvl2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2pPr>
    <a:lvl3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3pPr>
    <a:lvl4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4pPr>
    <a:lvl5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5pPr>
    <a:lvl6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6pPr>
    <a:lvl7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7pPr>
    <a:lvl8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8pPr>
    <a:lvl9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42BA9F01-9AAF-523B-A1FF-D7CD8E092C9A}">
          <p14:sldIdLst>
            <p14:sldId id="267"/>
            <p14:sldId id="268"/>
            <p14:sldId id="269"/>
            <p14:sldId id="270"/>
            <p14:sldId id="271"/>
            <p14:sldId id="272"/>
            <p14:sldId id="273"/>
            <p14:sldId id="274"/>
          </p14:sldIdLst>
        </p14:section>
        <p14:section name="Landscape" id="{8732EF79-AE0B-58DF-972A-54AD5E8564E7}">
          <p14:sldIdLst>
            <p14:sldId id="275"/>
            <p14:sldId id="276"/>
          </p14:sldIdLst>
        </p14:section>
        <p14:section name="Pipeline" id="{EC630927-BFAE-5D8A-B61A-65E18449044C}">
          <p14:sldIdLst>
            <p14:sldId id="277"/>
            <p14:sldId id="278"/>
            <p14:sldId id="279"/>
            <p14:sldId id="280"/>
            <p14:sldId id="281"/>
            <p14:sldId id="282"/>
            <p14:sldId id="283"/>
            <p14:sldId id="284"/>
            <p14:sldId id="285"/>
            <p14:sldId id="286"/>
          </p14:sldIdLst>
        </p14:section>
        <p14:section name="Performance" id="{F91C7034-C18A-5F43-AD8B-059D4F0584F7}">
          <p14:sldIdLst>
            <p14:sldId id="287"/>
            <p14:sldId id="288"/>
            <p14:sldId id="289"/>
            <p14:sldId id="290"/>
            <p14:sldId id="291"/>
          </p14:sldIdLst>
        </p14:section>
        <p14:section name="RAM" id="{FC093E39-7134-57DE-B3D4-50466B1AA227}">
          <p14:sldIdLst>
            <p14:sldId id="292"/>
          </p14:sldIdLst>
        </p14:section>
        <p14:section name="Close" id="{135F424C-7FE6-5892-BFB5-AB3C758E24F6}">
          <p14:sldIdLst>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c:chart>
    <c:autoTitleDeleted val="1"/>
    <c:plotArea>
      <c:barChart>
        <c:barDir val="col"/>
        <c:grouping val="clustered"/>
        <c:varyColors val="0"/>
        <c:ser>
          <c:idx val="0"/>
          <c:order val="0"/>
          <c:tx>
            <c:strRef>
              <c:f>Sheet1!$B$1</c:f>
              <c:strCache>
                <c:ptCount val="1"/>
                <c:pt idx="0">
                  <c:v>Median time (ms)</c:v>
                </c:pt>
              </c:strCache>
            </c:strRef>
          </c:tx>
          <c:invertIfNegative val="0"/>
          <c:dPt>
            <c:idx val="0"/>
            <c:spPr>
              <a:solidFill>
                <a:srgbClr val="2B6797"/>
              </a:solidFill>
              <a:ln>
                <a:noFill/>
              </a:ln>
            </c:spPr>
          </c:dPt>
          <c:dPt>
            <c:idx val="1"/>
            <c:spPr>
              <a:solidFill>
                <a:srgbClr val="9CA3AF"/>
              </a:solidFill>
              <a:ln>
                <a:noFill/>
              </a:ln>
            </c:spPr>
          </c:dPt>
          <c:dLbls>
            <c:numFmt formatCode="[&lt;10]0.0&quot; ms&quot;;[&lt;1000]0&quot; ms&quot;;0.0,&quot; s&quot;" sourceLinked="0"/>
            <c:txPr>
              <a:bodyPr/>
              <a:lstStyle/>
              <a:p>
                <a:pPr>
                  <a:defRPr sz="2000">
                    <a:solidFill>
                      <a:srgbClr val="263238"/>
                    </a:solidFill>
                    <a:latin typeface="Fira Sans"/>
                  </a:defRPr>
                </a:pPr>
              </a:p>
            </c:txPr>
            <c:dLblPos val="outEnd"/>
            <c:showLegendKey val="0"/>
            <c:showVal val="1"/>
            <c:showCatName val="0"/>
            <c:showSerName val="0"/>
            <c:showPercent val="0"/>
            <c:showBubbleSize val="0"/>
            <c:showLeaderLines val="1"/>
          </c:dLbls>
          <c:cat>
            <c:strRef>
              <c:f>Sheet1!$A$2:$A$3</c:f>
              <c:strCache>
                <c:ptCount val="2"/>
                <c:pt idx="0">
                  <c:v>Loop over NumPy rows</c:v>
                </c:pt>
                <c:pt idx="1">
                  <c:v>One NumPy expression</c:v>
                </c:pt>
              </c:strCache>
            </c:strRef>
          </c:cat>
          <c:val>
            <c:numRef>
              <c:f>Sheet1!$B$2:$B$3</c:f>
              <c:numCache>
                <c:formatCode>0.000</c:formatCode>
                <c:ptCount val="2"/>
                <c:pt idx="0">
                  <c:v>317.0335899994825</c:v>
                </c:pt>
                <c:pt idx="1">
                  <c:v>2.440463002130855</c:v>
                </c:pt>
              </c:numCache>
            </c:numRef>
          </c:val>
        </c:ser>
        <c:gapWidth val="60"/>
        <c:axId val="-2068027336"/>
        <c:axId val="-2113994440"/>
      </c:barChart>
      <c:catAx>
        <c:axId val="-2068027336"/>
        <c:scaling>
          <c:orientation val="minMax"/>
        </c:scaling>
        <c:delete val="0"/>
        <c:axPos val="b"/>
        <c:majorTickMark val="none"/>
        <c:minorTickMark val="none"/>
        <c:tickLblPos val="nextTo"/>
        <c:spPr>
          <a:ln w="9525">
            <a:solidFill>
              <a:srgbClr val="9CA3AF"/>
            </a:solidFill>
          </a:ln>
        </c:spPr>
        <c:txPr>
          <a:bodyPr rot="0" vert="horz"/>
          <a:lstStyle/>
          <a:p>
            <a:pPr>
              <a:defRPr sz="2000">
                <a:solidFill>
                  <a:srgbClr val="263238"/>
                </a:solidFill>
                <a:latin typeface="Fira Sans"/>
              </a:defRPr>
            </a:pPr>
          </a:p>
        </c:txPr>
        <c:crossAx val="-2113994440"/>
        <c:crosses val="autoZero"/>
        <c:auto val="1"/>
        <c:lblAlgn val="ctr"/>
        <c:lblOffset val="100"/>
        <c:noMultiLvlLbl val="0"/>
      </c:catAx>
      <c:valAx>
        <c:axId val="-2113994440"/>
        <c:scaling>
          <c:logBase val="10"/>
          <c:max val="1000.0"/>
          <c:min val="1.0"/>
        </c:scaling>
        <c:delete val="0"/>
        <c:axPos val="l"/>
        <c:title>
          <c:tx>
            <c:rich>
              <a:bodyPr/>
              <a:lstStyle/>
              <a:p>
                <a:r>
                  <a:rPr sz="2000" b="0" lang="en-GB">
                    <a:solidFill>
                      <a:srgbClr val="455A64"/>
                    </a:solidFill>
                    <a:latin typeface="Fira Sans"/>
                  </a:rPr>
                  <a:t>Median time per run, log scale</a:t>
                </a:r>
              </a:p>
            </c:rich>
          </c:tx>
          <c:layout/>
          <c:overlay val="0"/>
        </c:title>
        <c:numFmt formatCode="[&lt;1000]0&quot; ms&quot;;0,&quot; s&quot;" sourceLinked="0"/>
        <c:majorTickMark val="out"/>
        <c:minorTickMark val="none"/>
        <c:tickLblPos val="nextTo"/>
        <c:spPr>
          <a:ln w="9525">
            <a:solidFill>
              <a:srgbClr val="9CA3AF"/>
            </a:solidFill>
          </a:ln>
        </c:spPr>
        <c:txPr>
          <a:bodyPr/>
          <a:lstStyle/>
          <a:p>
            <a:pPr>
              <a:defRPr sz="2000">
                <a:solidFill>
                  <a:srgbClr val="455A64"/>
                </a:solidFill>
                <a:latin typeface="Fira Sans"/>
              </a:defRPr>
            </a:pPr>
          </a:p>
        </c:txPr>
        <c:crossAx val="-2068027336"/>
        <c:crosses val="autoZero"/>
      </c:valAx>
      <c:spPr>
        <a:noFill/>
        <a:ln>
          <a:noFill/>
        </a:ln>
      </c:spPr>
    </c:plotArea>
    <c:dispBlanksAs val="gap"/>
  </c:chart>
  <c:spPr>
    <a:noFill/>
    <a:ln>
      <a:noFill/>
    </a:ln>
  </c:spPr>
  <c:txPr>
    <a:bodyPr/>
    <a:lstStyle/>
    <a:p>
      <a:pPr>
        <a:defRPr sz="2000">
          <a:solidFill>
            <a:srgbClr val="263238"/>
          </a:solidFill>
          <a:latin typeface="Fira Sans"/>
        </a:defRPr>
      </a:pPr>
      <a:endParaRPr lang="en-GB"/>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GB"/>
  <c:roundedCorners val="0"/>
  <c:chart>
    <c:autoTitleDeleted val="1"/>
    <c:plotArea>
      <c:barChart>
        <c:barDir val="col"/>
        <c:grouping val="clustered"/>
        <c:varyColors val="0"/>
        <c:ser>
          <c:idx val="0"/>
          <c:order val="0"/>
          <c:tx>
            <c:strRef>
              <c:f>Sheet1!$B$1</c:f>
              <c:strCache>
                <c:ptCount val="1"/>
                <c:pt idx="0">
                  <c:v>Median time (ms)</c:v>
                </c:pt>
              </c:strCache>
            </c:strRef>
          </c:tx>
          <c:invertIfNegative val="0"/>
          <c:dPt>
            <c:idx val="0"/>
            <c:spPr>
              <a:solidFill>
                <a:srgbClr val="9CA3AF"/>
              </a:solidFill>
              <a:ln>
                <a:noFill/>
              </a:ln>
            </c:spPr>
          </c:dPt>
          <c:dPt>
            <c:idx val="1"/>
            <c:spPr>
              <a:solidFill>
                <a:srgbClr val="2B6797"/>
              </a:solidFill>
              <a:ln>
                <a:noFill/>
              </a:ln>
            </c:spPr>
          </c:dPt>
          <c:dPt>
            <c:idx val="2"/>
            <c:spPr>
              <a:solidFill>
                <a:srgbClr val="9CA3AF"/>
              </a:solidFill>
              <a:ln>
                <a:noFill/>
              </a:ln>
            </c:spPr>
          </c:dPt>
          <c:dLbls>
            <c:numFmt formatCode="[&lt;10]0.0&quot; ms&quot;;[&lt;1000]0&quot; ms&quot;;0.0,&quot; s&quot;" sourceLinked="0"/>
            <c:txPr>
              <a:bodyPr/>
              <a:lstStyle/>
              <a:p>
                <a:pPr>
                  <a:defRPr sz="2000">
                    <a:solidFill>
                      <a:srgbClr val="263238"/>
                    </a:solidFill>
                    <a:latin typeface="Fira Sans"/>
                  </a:defRPr>
                </a:pPr>
              </a:p>
            </c:txPr>
            <c:dLblPos val="outEnd"/>
            <c:showLegendKey val="0"/>
            <c:showVal val="1"/>
            <c:showCatName val="0"/>
            <c:showSerName val="0"/>
            <c:showPercent val="0"/>
            <c:showBubbleSize val="0"/>
            <c:showLeaderLines val="1"/>
          </c:dLbls>
          <c:cat>
            <c:strRef>
              <c:f>Sheet1!$A$2:$A$4</c:f>
              <c:strCache>
                <c:ptCount val="3"/>
                <c:pt idx="0">
                  <c:v>Loop,
1 thread</c:v>
                </c:pt>
                <c:pt idx="1">
                  <c:v>Loop,
threads</c:v>
                </c:pt>
                <c:pt idx="2">
                  <c:v>NumPy,
1 call</c:v>
                </c:pt>
              </c:strCache>
            </c:strRef>
          </c:cat>
          <c:val>
            <c:numRef>
              <c:f>Sheet1!$B$2:$B$4</c:f>
              <c:numCache>
                <c:formatCode>0.000</c:formatCode>
                <c:ptCount val="3"/>
                <c:pt idx="0">
                  <c:v>335.80125799926464</c:v>
                </c:pt>
                <c:pt idx="1">
                  <c:v>61.14176099799806</c:v>
                </c:pt>
                <c:pt idx="2">
                  <c:v>2.2707629977958277</c:v>
                </c:pt>
              </c:numCache>
            </c:numRef>
          </c:val>
        </c:ser>
        <c:gapWidth val="60"/>
        <c:axId val="-2068027336"/>
        <c:axId val="-2113994440"/>
      </c:barChart>
      <c:catAx>
        <c:axId val="-2068027336"/>
        <c:scaling>
          <c:orientation val="minMax"/>
        </c:scaling>
        <c:delete val="0"/>
        <c:axPos val="b"/>
        <c:majorTickMark val="none"/>
        <c:minorTickMark val="none"/>
        <c:tickLblPos val="nextTo"/>
        <c:spPr>
          <a:ln w="9525">
            <a:solidFill>
              <a:srgbClr val="9CA3AF"/>
            </a:solidFill>
          </a:ln>
        </c:spPr>
        <c:txPr>
          <a:bodyPr rot="0" vert="horz"/>
          <a:lstStyle/>
          <a:p>
            <a:pPr>
              <a:defRPr sz="2000">
                <a:solidFill>
                  <a:srgbClr val="263238"/>
                </a:solidFill>
                <a:latin typeface="Fira Sans"/>
              </a:defRPr>
            </a:pPr>
          </a:p>
        </c:txPr>
        <c:crossAx val="-2113994440"/>
        <c:crosses val="autoZero"/>
        <c:auto val="1"/>
        <c:lblAlgn val="ctr"/>
        <c:lblOffset val="100"/>
        <c:noMultiLvlLbl val="0"/>
      </c:catAx>
      <c:valAx>
        <c:axId val="-2113994440"/>
        <c:scaling>
          <c:logBase val="10"/>
          <c:max val="1000.0"/>
          <c:min val="1.0"/>
        </c:scaling>
        <c:delete val="0"/>
        <c:axPos val="l"/>
        <c:title>
          <c:tx>
            <c:rich>
              <a:bodyPr/>
              <a:lstStyle/>
              <a:p>
                <a:r>
                  <a:rPr sz="2000" b="0" lang="en-GB">
                    <a:solidFill>
                      <a:srgbClr val="455A64"/>
                    </a:solidFill>
                    <a:latin typeface="Fira Sans"/>
                  </a:rPr>
                  <a:t>Median time per run, log scale</a:t>
                </a:r>
              </a:p>
            </c:rich>
          </c:tx>
          <c:layout/>
          <c:overlay val="0"/>
        </c:title>
        <c:numFmt formatCode="[&lt;1000]0&quot; ms&quot;;0,&quot; s&quot;" sourceLinked="0"/>
        <c:majorTickMark val="out"/>
        <c:minorTickMark val="none"/>
        <c:tickLblPos val="nextTo"/>
        <c:spPr>
          <a:ln w="9525">
            <a:solidFill>
              <a:srgbClr val="9CA3AF"/>
            </a:solidFill>
          </a:ln>
        </c:spPr>
        <c:txPr>
          <a:bodyPr/>
          <a:lstStyle/>
          <a:p>
            <a:pPr>
              <a:defRPr sz="2000">
                <a:solidFill>
                  <a:srgbClr val="455A64"/>
                </a:solidFill>
                <a:latin typeface="Fira Sans"/>
              </a:defRPr>
            </a:pPr>
          </a:p>
        </c:txPr>
        <c:crossAx val="-2068027336"/>
        <c:crosses val="autoZero"/>
      </c:valAx>
      <c:spPr>
        <a:noFill/>
        <a:ln>
          <a:noFill/>
        </a:ln>
      </c:spPr>
    </c:plotArea>
    <c:dispBlanksAs val="gap"/>
  </c:chart>
  <c:spPr>
    <a:noFill/>
    <a:ln>
      <a:noFill/>
    </a:ln>
  </c:spPr>
  <c:txPr>
    <a:bodyPr/>
    <a:lstStyle/>
    <a:p>
      <a:pPr>
        <a:defRPr sz="2000">
          <a:solidFill>
            <a:srgbClr val="263238"/>
          </a:solidFill>
          <a:latin typeface="Fira Sans"/>
        </a:defRPr>
      </a:pPr>
      <a:endParaRPr lang="en-GB"/>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GB"/>
  <c:roundedCorners val="0"/>
  <c:chart>
    <c:autoTitleDeleted val="1"/>
    <c:plotArea>
      <c:layout>
        <c:manualLayout>
          <c:layoutTarget val="inner"/>
          <c:xMode val="edge"/>
          <c:yMode val="edge"/>
          <c:x val="0.4632"/>
          <c:y val="0.0200"/>
          <c:w val="0.5332"/>
          <c:h val="0.9600"/>
        </c:manualLayout>
      </c:layout>
      <c:barChart>
        <c:barDir val="bar"/>
        <c:grouping val="clustered"/>
        <c:varyColors val="0"/>
        <c:ser>
          <c:idx val="0"/>
          <c:order val="0"/>
          <c:tx>
            <c:strRef>
              <c:f>Sheet1!$B$1</c:f>
              <c:strCache>
                <c:ptCount val="1"/>
                <c:pt idx="0">
                  <c:v>GB (2^30 bytes)</c:v>
                </c:pt>
              </c:strCache>
            </c:strRef>
          </c:tx>
          <c:invertIfNegative val="0"/>
          <c:dPt>
            <c:idx val="0"/>
            <c:spPr>
              <a:solidFill>
                <a:srgbClr val="1C325B"/>
              </a:solidFill>
              <a:ln>
                <a:noFill/>
              </a:ln>
            </c:spPr>
          </c:dPt>
          <c:dPt>
            <c:idx val="1"/>
            <c:spPr>
              <a:solidFill>
                <a:srgbClr val="9CA3AF"/>
              </a:solidFill>
              <a:ln>
                <a:noFill/>
              </a:ln>
            </c:spPr>
          </c:dPt>
          <c:dPt>
            <c:idx val="2"/>
            <c:spPr>
              <a:solidFill>
                <a:srgbClr val="9CA3AF"/>
              </a:solidFill>
              <a:ln>
                <a:noFill/>
              </a:ln>
            </c:spPr>
          </c:dPt>
          <c:dPt>
            <c:idx val="3"/>
            <c:spPr>
              <a:solidFill>
                <a:srgbClr val="2B6797"/>
              </a:solidFill>
              <a:ln>
                <a:noFill/>
              </a:ln>
            </c:spPr>
          </c:dPt>
          <c:dPt>
            <c:idx val="4"/>
            <c:spPr>
              <a:solidFill>
                <a:srgbClr val="2B6797"/>
              </a:solidFill>
              <a:ln>
                <a:noFill/>
              </a:ln>
            </c:spPr>
          </c:dPt>
          <c:dLbls>
            <c:dLbl>
              <c:idx val="0"/>
              <c:delete val="1"/>
            </c:dLbl>
            <c:numFmt formatCode="0.0&quot; GiB&quot;" sourceLinked="0"/>
            <c:txPr>
              <a:bodyPr/>
              <a:lstStyle/>
              <a:p>
                <a:pPr>
                  <a:defRPr sz="2000">
                    <a:solidFill>
                      <a:srgbClr val="263238"/>
                    </a:solidFill>
                    <a:latin typeface="Fira Sans"/>
                  </a:defRPr>
                </a:pPr>
              </a:p>
            </c:txPr>
            <c:dLblPos val="outEnd"/>
            <c:showLegendKey val="0"/>
            <c:showVal val="1"/>
            <c:showCatName val="0"/>
            <c:showSerName val="0"/>
            <c:showPercent val="0"/>
            <c:showBubbleSize val="0"/>
            <c:showLeaderLines val="1"/>
          </c:dLbls>
          <c:cat>
            <c:strRef>
              <c:f>Sheet1!$A$2:$A$6</c:f>
              <c:strCache>
                <c:ptCount val="5"/>
                <c:pt idx="0">
                  <c:v>32 GiB RAM</c:v>
                </c:pt>
                <c:pt idx="1">
                  <c:v>LAS records
(computed)</c:v>
                </c:pt>
                <c:pt idx="2">
                  <c:v>+ float64 xyz
(computed)</c:v>
                </c:pt>
                <c:pt idx="3">
                  <c:v>Load + voxels
(extrapolated)</c:v>
                </c:pt>
                <c:pt idx="4">
                  <c:v>Chunked, 1 km file
(measured)</c:v>
                </c:pt>
              </c:strCache>
            </c:strRef>
          </c:cat>
          <c:val>
            <c:numRef>
              <c:f>Sheet1!$B$2:$B$6</c:f>
              <c:numCache>
                <c:formatCode>0.0</c:formatCode>
                <c:ptCount val="5"/>
                <c:pt idx="0">
                  <c:v>32.0</c:v>
                </c:pt>
                <c:pt idx="1">
                  <c:v>25.877822320908308</c:v>
                </c:pt>
                <c:pt idx="2">
                  <c:v>46.580080177634954</c:v>
                </c:pt>
                <c:pt idx="3">
                  <c:v>74.24490390114173</c:v>
                </c:pt>
                <c:pt idx="4">
                  <c:v>0.8194465637207031</c:v>
                </c:pt>
              </c:numCache>
            </c:numRef>
          </c:val>
        </c:ser>
        <c:gapWidth val="45"/>
        <c:axId val="-2068027336"/>
        <c:axId val="-2113994440"/>
      </c:barChart>
      <c:catAx>
        <c:axId val="-2068027336"/>
        <c:scaling>
          <c:orientation val="maxMin"/>
        </c:scaling>
        <c:delete val="0"/>
        <c:axPos val="l"/>
        <c:majorTickMark val="none"/>
        <c:minorTickMark val="none"/>
        <c:tickLblPos val="nextTo"/>
        <c:spPr>
          <a:ln w="9525">
            <a:solidFill>
              <a:srgbClr val="9CA3AF"/>
            </a:solidFill>
          </a:ln>
        </c:spPr>
        <c:txPr>
          <a:bodyPr rot="0" vert="horz"/>
          <a:lstStyle/>
          <a:p>
            <a:pPr>
              <a:defRPr sz="2000">
                <a:solidFill>
                  <a:srgbClr val="263238"/>
                </a:solidFill>
                <a:latin typeface="Fira Sans"/>
              </a:defRPr>
            </a:pPr>
          </a:p>
        </c:txPr>
        <c:crossAx val="-2113994440"/>
        <c:crosses val="autoZero"/>
        <c:auto val="1"/>
        <c:lblAlgn val="ctr"/>
        <c:lblOffset val="100"/>
        <c:noMultiLvlLbl val="0"/>
      </c:catAx>
      <c:valAx>
        <c:axId val="-2113994440"/>
        <c:scaling>
          <c:max val="120.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2000">
          <a:solidFill>
            <a:srgbClr val="263238"/>
          </a:solidFill>
          <a:latin typeface="Fira Sans"/>
        </a:defRPr>
      </a:pPr>
      <a:endParaRPr lang="en-GB"/>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image"/>
          <p:cNvSpPr>
            <a:spLocks noGrp="1" noRot="1" noChangeAspect="1"/>
          </p:cNvSpPr>
          <p:nvPr>
            <p:ph type="sldImg" idx="2"/>
          </p:nvPr>
        </p:nvSpPr>
        <p:spPr>
          <a:xfrm>
            <a:off x="381000" y="685800"/>
            <a:ext cx="6096000" cy="3429000"/>
          </a:xfrm>
          <a:prstGeom prst="rect">
            <a:avLst/>
          </a:prstGeom>
          <a:noFill/>
          <a:ln w="12700">
            <a:solidFill>
              <a:schemeClr val="accent5"/>
            </a:solidFill>
          </a:ln>
        </p:spPr>
      </p:sp>
      <p:sp>
        <p:nvSpPr>
          <p:cNvPr id="3" name="Notes"/>
          <p:cNvSpPr>
            <a:spLocks noGrp="1"/>
          </p:cNvSpPr>
          <p:nvPr>
            <p:ph type="body" sz="quarter" idx="3"/>
          </p:nvPr>
        </p:nvSpPr>
        <p:spPr>
          <a:xfrm>
            <a:off x="685800" y="4343400"/>
            <a:ext cx="5486400" cy="4114800"/>
          </a:xfrm>
          <a:prstGeom prst="rect">
            <a:avLst/>
          </a:prstGeom>
        </p:spPr>
        <p:txBody>
          <a:bodyPr vert="horz" lIns="91440" tIns="45720" rIns="91440" bIns="45720" rtlCol="0"/>
          <a:lstStyle/>
          <a:p>
            <a:r>
              <a:rPr lang="en-GB" dirty="0"/>
              <a:t>Speaker notes: talk track, time, traceability</a:t>
            </a:r>
            <a:endParaRPr lang="en-GB" dirty="0"/>
          </a:p>
        </p:txBody>
      </p:sp>
      <p:sp>
        <p:nvSpPr>
          <p:cNvPr id="4" name="Slide number"/>
          <p:cNvSpPr>
            <a:spLocks noGrp="1"/>
          </p:cNvSpPr>
          <p:nvPr>
            <p:ph type="sldNum" sz="quarter" idx="5"/>
          </p:nvPr>
        </p:nvSpPr>
        <p:spPr>
          <a:xfrm>
            <a:off x="3884613" y="8685213"/>
            <a:ext cx="2971800" cy="458787"/>
          </a:xfrm>
          <a:prstGeom prst="rect">
            <a:avLst/>
          </a:prstGeom>
        </p:spPr>
        <p:txBody>
          <a:bodyPr vert="horz" lIns="91440" tIns="45720" rIns="91440" bIns="45720" rtlCol="0"/>
          <a:lstStyle/>
          <a:p>
            <a:pPr algn="r"/>
            <a:fld id="{B6F15528-21DE-4FAA-801E-634DDDAF4B2B}" type="slidenum">
              <a:rPr lang="en-GB"/>
              <a:t>‹#›</a:t>
            </a:fld>
            <a:endParaRPr lang="en-GB" dirty="0"/>
          </a:p>
        </p:txBody>
      </p:sp>
    </p:spTree>
  </p:cSld>
  <p:clrMap bg1="lt1" tx1="dk1" bg2="lt2" tx2="dk2" accent1="accent1" accent2="accent2" accent3="accent3" accent4="accent4" accent5="accent5" accent6="accent6" hlink="hlink" folHlink="folHlink"/>
  <p:hf hdr="0" dt="0" ftr="0"/>
  <p:notesStyle>
    <a:lvl1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1pPr>
    <a:lvl2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2pPr>
    <a:lvl3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3pPr>
    <a:lvl4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4pPr>
    <a:lvl5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5pPr>
    <a:lvl6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6pPr>
    <a:lvl7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7pPr>
    <a:lvl8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8pPr>
    <a:lvl9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Quick show of hands: who has written this loop? Keep it up if it finished before your coffee went cold. In 30 minutes you get a pipeline you can copy and the gotchas that cost me weeks; first, a confession about C++.</a:t>
            </a:r>
          </a:p>
          <a:p/>
          <a:p>
            <a:r>
              <a:t>TIME: 20 s, ends at 0:20</a:t>
            </a:r>
          </a:p>
          <a:p/>
          <a:p>
            <a:r>
              <a:t>LIKELY QUESTION: Does that loop really take until tomorrow on 12 million points?</a:t>
            </a:r>
          </a:p>
          <a:p/>
          <a:p>
            <a:r>
              <a:t>ANSWER: The 12 million is the abstract's joke, not our data: this crop has 722 961 points and the 1 km AHN file 21 013 926. I haven't timed a 12 million point loop, so I don't quote a time; what I did measure is the cost per loop step, on slide 23.</a:t>
            </a:r>
          </a:p>
          <a:p/>
          <a:p>
            <a:r>
              <a:t>CHECK BEFORE THE TALK:</a:t>
            </a:r>
          </a:p>
          <a:p>
            <a:r>
              <a:t>• The code line is the abstract's joke word for word, as the speaker asked (it is a joke, not runnable: a loop body of only a comment would raise IndentationError). Fira Mono has no cup glyph: PowerPoint falls back to an emoji font; check the cup renders on the presenting laptop</a:t>
            </a:r>
          </a:p>
          <a:p/>
          <a:p>
            <a:r>
              <a:t>TRACE:</a:t>
            </a:r>
          </a:p>
          <a:p>
            <a:r>
              <a:t>• Code line: the talk abstract, with '...' as the loop body; shown, not run</a:t>
            </a:r>
          </a:p>
          <a:p>
            <a:r>
              <a:t>• results/pipeline.json: points_in</a:t>
            </a:r>
          </a:p>
          <a:p>
            <a:r>
              <a:t>• results/memory.json: tile_1km.points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For years, serious 3D work meant C++, like the greyed-out code on the left. Both programs on this slide are real: I compiled the PCL one and ran both on the same file from today's case, and the output under each is what they printed. Twelve lines of C++ against three of Python for the same job: load the cloud and keep one average point per half-metre voxel. The C++ is still there underneath; you just stopped writing it, and if that feels like flying, you're not the first.</a:t>
            </a:r>
          </a:p>
          <a:p/>
          <a:p>
            <a:r>
              <a:t>TIME: 35 s, ends at 0:55</a:t>
            </a:r>
          </a:p>
          <a:p/>
          <a:p>
            <a:r>
              <a:t>LIKELY QUESTION: Why do the two counts differ?</a:t>
            </a:r>
          </a:p>
          <a:p/>
          <a:p>
            <a:r>
              <a:t>ANSWER: Both average the points in each 0.5 m voxel, but the grids sit in different places: PCL anchors its voxels at multiples of the leaf size, Open3D at the minimum corner minus half a voxel. Redoing both rules in NumPy on the same file gives exactly the two counts on the slide. Neither is wrong; it's a reminder that 'voxel downsampling' is a family of algorithms.</a:t>
            </a:r>
          </a:p>
          <a:p/>
          <a:p>
            <a:r>
              <a:t>CHECK BEFORE THE TALK:</a:t>
            </a:r>
          </a:p>
          <a:p>
            <a:r>
              <a:t>• To rerun the C++ side: PCL_PREFIX=&lt;micromamba env&gt; uv run python snippets/run_all.py (docs/HOW_TO_UPDATE.md step 4); without PCL_PREFIX the .cpp is listed as NOT RUN and the left output box would still show the last recorded line</a:t>
            </a:r>
          </a:p>
          <a:p/>
          <a:p>
            <a:r>
              <a:t>TRACE:</a:t>
            </a:r>
          </a:p>
          <a:p>
            <a:r>
              <a:t>• snippets/s02_pcl.cpp: compiled and run on 2026-10-12, PCL 1.15.1 and g++ 15.3.0 from conda-forge in a user-space micromamba env; build: g++ -std=c++17 -O2 -Wall -Wextra s02_pcl.cpp $(pkg-config --cflags --libs pcl_io pcl_filters), no warnings</a:t>
            </a:r>
          </a:p>
          <a:p>
            <a:r>
              <a:t>• snippets/s02_python.py; both read the same crop.pcd, written by snippets/_setup.py write_crop_pcd (local coordinates, float32 in the file)</a:t>
            </a:r>
          </a:p>
          <a:p>
            <a:r>
              <a:t>• results/snippets.json: s02_pcl.cpp.output_line, s02_python.py.output_line (the two output boxes), compiler, pcl_version, build_cmd</a:t>
            </a:r>
          </a:p>
          <a:p>
            <a:r>
              <a:t>• Grid anchoring: PCL filters/impl/voxel_grid.hpp floor(p * inverse_leaf); Open3D PointCloud::VoxelDownSample, GetMinBound() - voxel_size / 2; both re-implemented in NumPy on crop.pcd give the same counts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Let's see who's really behind the mask. Python is the interface. Take NumPy: when you add two arrays, a compiled C core does the loop, with some C++ in parts. Open3D is C++, PyVista draws with VTK, also C++, and laspy decodes with Rust. So the C++ never went away; you just call it from Python, and the next slides use exactly that.</a:t>
            </a:r>
          </a:p>
          <a:p/>
          <a:p>
            <a:r>
              <a:t>TIME: 30 s, ends at 1:25</a:t>
            </a:r>
          </a:p>
          <a:p/>
          <a:p>
            <a:r>
              <a:t>LIKELY QUESTION: Is Python really just a wrapper?</a:t>
            </a:r>
          </a:p>
          <a:p/>
          <a:p>
            <a:r>
              <a:t>ANSWER: For the heavy 3D libraries, yes: Open3D and VTK (under PyVista) are C++, NumPy's core is C with some C++, and the lazrs decoder behind laspy is Rust; Python calls compiled code. That is also why the hand-off between libraries on slide 10 costs something.</a:t>
            </a:r>
          </a:p>
          <a:p/>
          <a:p>
            <a:r>
              <a:t>CHECK BEFORE THE TALK:</a:t>
            </a:r>
          </a:p>
          <a:p>
            <a:r>
              <a:t>• NumPy is mostly C (its core), with C++ in parts and BLAS/LAPACK underneath; the slide says "a compiled C core, with some C++" on purpose. Say "C++" for Open3D and VTK, which are C++ throughout</a:t>
            </a:r>
          </a:p>
          <a:p>
            <a:r>
              <a:t>• Legibility: the caption and both logos should read from the back of the room (check on the presenting projector). The template and the logos belong to their owners; no endorsement is implied (small print on the slide)</a:t>
            </a:r>
          </a:p>
          <a:p/>
          <a:p>
            <a:r>
              <a:t>TRACE:</a:t>
            </a:r>
          </a:p>
          <a:p>
            <a:r>
              <a:t>• deck/assets/meme/python_cpp_unmasking.png: the Scooby-Doo unmasking template with the Python and C++ logos added</a:t>
            </a:r>
          </a:p>
          <a:p>
            <a:r>
              <a:t>• Logos: Wikimedia Commons, Python-logo-notext.svg and ISO_C++_Logo.svg</a:t>
            </a:r>
          </a:p>
          <a:p>
            <a:r>
              <a:t>• Credit (was the slide caption, moved here 2026-10-13): meme template: the Scooby-Doo unmasking scene (Hanna-Barbera). Python and C++ logos belong to their owners; no endorsement implied.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Before the hall: the Python 3D ecosystem, one row per layer, and only what this talk uses or names. The five with a blue outline are today's pipeline: laspy, NumPy, SciPy, Open3D and PyVista. The rest come up later: PDAL and pyproj for AHN files and Dutch coordinates, Numba and Dask when NumPy or RAM runs out, trimesh for meshes, and scikit-learn and PyTorch when rules stop being enough. The repo lists every library I checked, with status and licence.</a:t>
            </a:r>
          </a:p>
          <a:p/>
          <a:p>
            <a:r>
              <a:t>TIME: 30 s, ends at 1:55</a:t>
            </a:r>
          </a:p>
          <a:p/>
          <a:p>
            <a:r>
              <a:t>LIKELY QUESTION: Why is my favourite library not on the wall?</a:t>
            </a:r>
          </a:p>
          <a:p/>
          <a:p>
            <a:r>
              <a:t>ANSWER: The wall is the selection this talk uses or mentions, from the 119 libraries and applications I checked. The full list is docs/ECOSYSTEM.md in the repo, with status, licence and release date per library. Open an issue or a pull request if one is missing.</a:t>
            </a:r>
          </a:p>
          <a:p/>
          <a:p>
            <a:r>
              <a:t>IF SKIPPED: Not on the skip list (30 s); if very late at the start, say 'photograph this' and click on to slide 5.</a:t>
            </a:r>
          </a:p>
          <a:p/>
          <a:p>
            <a:r>
              <a:t>CHECK BEFORE THE TALK:</a:t>
            </a:r>
          </a:p>
          <a:p>
            <a:r>
              <a:t>• Logo use: logos are shown to identify projects; brand policies per file in deck/assets/logos/SOURCES.md and docs/OPEN_ITEMS.md. No company logos are on the wall. If one is not acceptable, remove its id from the wall row in content.yaml; the row closes up</a:t>
            </a:r>
          </a:p>
          <a:p>
            <a:r>
              <a:t>• Logos are in their own colours (an exception to the palette, docs/DESIGN.md); the tiles are white or light grey so each logo stays legible</a:t>
            </a:r>
          </a:p>
          <a:p/>
          <a:p>
            <a:r>
              <a:t>TRACE:</a:t>
            </a:r>
          </a:p>
          <a:p>
            <a:r>
              <a:t>• Small print: Blue outline: used in today's pipeline. Logos belong to their owners; no endorsement implied. 119 libraries checked on PyPI and GitHub: docs/ECOSYSTEM.md in the repo.</a:t>
            </a:r>
          </a:p>
          <a:p>
            <a:r>
              <a:t>• deck/ecosystem/ecosystem.yaml (merged by deck/ecosystem/merge.py from part1 to part3; each entry's evidence list: PyPI JSON and GitHub API, 2026-10-11)</a:t>
            </a:r>
          </a:p>
          <a:p>
            <a:r>
              <a:t>• results/ecosystem.json: n_entries</a:t>
            </a:r>
          </a:p>
          <a:p>
            <a:r>
              <a:t>• docs/ECOSYSTEM.md (same data); logo sources and brand-policy notes: deck/assets/logos/SOURCES.md</a:t>
            </a:r>
          </a:p>
          <a:p>
            <a:r>
              <a:t>• Layers as the ecosystem map in Matthew Turk's SciPy 2016 talk on yt: research: reports/videos.md V4</a:t>
            </a:r>
          </a:p>
          <a:p/>
          <a:p>
            <a:r>
              <a:t>RELEVANCE:</a:t>
            </a:r>
          </a:p>
          <a:p>
            <a:r>
              <a:t>• Used in the pipeline (blue outline): laspy (load), NumPy (every step), SciPy (KDTree: height above ground, distances, paint-back), Open3D (voxels, RANSAC, DBSCAN), PyVista (renders)</a:t>
            </a:r>
          </a:p>
          <a:p>
            <a:r>
              <a:t>• VTK: PyVista's engine, drawn under it</a:t>
            </a:r>
          </a:p>
          <a:p>
            <a:r>
              <a:t>• PDAL: the standard LiDAR pipeline tool for AHN and COPC files (backup B2 territory); pyproj: RD New (EPSG:28992) to and from WGS84, slide 5; laspy's header.parse_crs() needs it</a:t>
            </a:r>
          </a:p>
          <a:p>
            <a:r>
              <a:t>• Numba (B1, the escape hatch for a kernel that has no batched call) and Dask (arrays bigger than RAM, slide 26)</a:t>
            </a:r>
          </a:p>
          <a:p>
            <a:r>
              <a:t>• trimesh and PyTorch3D: named on slide 9 as not in this pipeline; scikit-learn: the Random Forest of backup B5. PyTorch (backup B3) is dropped from the wall, PyTorch3D covers the Learn row</a:t>
            </a:r>
          </a:p>
          <a:p>
            <a:r>
              <a:t>• Dropped on 2026-10-12 as not relevant to this talk: Potree, CloudCompare and QGIS (not Python libraries), GDAL (rasters), OpenCV, COLMAP and nerfstudio (images and photogrammetry), Matplotlib (not used), PyG and Pointcept (deep learning on point clouds, not covered)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This is our case for the whole talk: a 200 by 200 metre square of Utrecht around the Jaarbeurs hall, the big flat roof under the arrow. The data set: 722 961 points, about 18 per square metre, from AHN5, the Dutch national elevation dataset, flown at night in April 2023 while the trees had no leaves. It's one 4.3 MB LAZ file in RD New coordinates with NAP heights, so everything is in metres, and it's CC BY 4.0, so you can use it too. AHN arrives already classified; I hid its labels, and the goal is to rebuild four classes, ground, buildings, vegetation and street furniture, and score ground and buildings against AHN's own. First: what is this thing, as data?</a:t>
            </a:r>
          </a:p>
          <a:p/>
          <a:p>
            <a:r>
              <a:t>TIME: 65 s, ends at 3:00</a:t>
            </a:r>
          </a:p>
          <a:p/>
          <a:p>
            <a:r>
              <a:t>LIKELY QUESTION: Why this square and not a whole AHN file?</a:t>
            </a:r>
          </a:p>
          <a:p/>
          <a:p>
            <a:r>
              <a:t>ANSWER: It's the venue, and it's small enough to run every step live in under a second, which is rule three, make it small first. The whole 1 km file has 21 million points; slide 26 shows what happens to memory when you load it, and how to stream it instead.</a:t>
            </a:r>
          </a:p>
          <a:p/>
          <a:p>
            <a:r>
              <a:t>CHECK BEFORE THE TALK:</a:t>
            </a:r>
          </a:p>
          <a:p>
            <a:r>
              <a:t>• Confirm which Jaarbeurs building the talk room is in. If it is this one, say 'the building we're sitting in'; the name of the building (Beatrixgebouw?) is UNVERIFIED, so the talk says only 'the Jaarbeurs hall at Jaarbeursplein 6'</a:t>
            </a:r>
          </a:p>
          <a:p/>
          <a:p>
            <a:r>
              <a:t>TRACE:</a:t>
            </a:r>
          </a:p>
          <a:p>
            <a:r>
              <a:t>• renders/f1_load.png (left frame), renders/f6_final.png (right frame)</a:t>
            </a:r>
          </a:p>
          <a:p>
            <a:r>
              <a:t>• renders/render_spec.json</a:t>
            </a:r>
          </a:p>
          <a:p>
            <a:r>
              <a:t>• renders/labels.json: f6_final (label chips), f1_load.jaarbeurs_edge (edge arrow position)</a:t>
            </a:r>
          </a:p>
          <a:p>
            <a:r>
              <a:t>• results/pipeline.json: ground, buildings, crop.bbox_rd</a:t>
            </a:r>
          </a:p>
          <a:p>
            <a:r>
              <a:t>• data/utrecht_jaarbeurs_200m.laz (crop box: data/fetch_ahn5.py CROP_BBOX_RD, RD 135715, 455475 to 135915, 455675)</a:t>
            </a:r>
          </a:p>
          <a:p>
            <a:r>
              <a:t>• The hall: BAG pand 0344100000077882 (Jaarbeursplein 6, built 1970, use: bijeenkomstfunctie), footprint bbox RD 135747.7, 455512.5 to 135905.8, 455654.0, from the PDOK BAG WFS and locatieserver, checked 2026-10-11 (pipeline/render.py HALL_BBOX_RD)</a:t>
            </a:r>
          </a:p>
          <a:p>
            <a:r>
              <a:t>• Arrow on the roof: renders/labels.json f1_load.jaarbeurs_hall; evidence in renders/render_spec.json labels.detail.f1_load.jaarbeurs_hall_note</a:t>
            </a:r>
          </a:p>
          <a:p>
            <a:r>
              <a:t>• Class 1 definition ('overig'): AHN4 acquisition spec, research: reports/dataset.md</a:t>
            </a:r>
          </a:p>
          <a:p>
            <a:r>
              <a:t>• Venue: Jaarbeurs Utrecht is the PyCon NL 2026 venue, confirmed on pycon-nl.org (research: reports/dataset.md); which building the talk room is in is UNVERIFIED</a:t>
            </a:r>
          </a:p>
          <a:p>
            <a:r>
              <a:t>• Data set table: data/README.md (crop box, classes, flight time, file size), results/pipeline.json crop (points, classes); density computed from points and area</a:t>
            </a:r>
          </a:p>
          <a:p/>
          <a:p>
            <a:r>
              <a:t>DATA SET:</a:t>
            </a:r>
          </a:p>
          <a:p>
            <a:r>
              <a:t>• Area: RD New box x 135715 to 135915, y 455475 to 455675 (200 m by 200 m, 4 ha), cut from the 1 km AHN5 file 135000_455000 (21 013 926 points, 130 MB COPC LAZ)</a:t>
            </a:r>
          </a:p>
          <a:p>
            <a:r>
              <a:t>• Points: 722 961; density 722 961 / 40 000 m2 = 18.1 points per m2 (all returns)</a:t>
            </a:r>
          </a:p>
          <a:p>
            <a:r>
              <a:t>• Flown: one strip, GPS time about 23:51 UTC on 5 April 2023 (01:51 CEST on 6 April), leaf-off as AHN's spec asks</a:t>
            </a:r>
          </a:p>
          <a:p>
            <a:r>
              <a:t>• File: LAS 1.4, point format 6 (x, y, z, intensity, return number, number of returns, classification, scan angle, GPS time); no colour; 4 336 320 bytes</a:t>
            </a:r>
          </a:p>
          <a:p>
            <a:r>
              <a:t>• Coordinates: RD New (EPSG:28992), heights in m NAP; z from about -0.8 m to 101.6 m; the WKT record is in the file</a:t>
            </a:r>
          </a:p>
          <a:p>
            <a:r>
              <a:t>• AHN classes in the crop: 1 other 109 363, 2 ground 262 712, 6 building 338 943, 26 civil structure 11 943; hidden from the pipeline, used only to score</a:t>
            </a:r>
          </a:p>
          <a:p>
            <a:r>
              <a:t>• Licence: CC BY 4.0, Het Waterschapshuis; attribution on every slide that shows the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What is this thing, as data? One house, drawn three ways. A scanner gives you the left one, a point cloud: an N by 3 array of x, y and z plus a column per attribute, samples of the surface with nothing joining them. A mesh adds the connections, so area and volume exist. A voxel grid trades exact positions for a regular index of space. Today's pipeline stays with points and uses voxels only to downsample. Each of the three trades something.</a:t>
            </a:r>
          </a:p>
          <a:p/>
          <a:p>
            <a:r>
              <a:t>TIME: 40 s, ends at 3:40</a:t>
            </a:r>
          </a:p>
          <a:p/>
          <a:p>
            <a:r>
              <a:t>LIKELY QUESTION: Should I turn my point cloud into a mesh or voxels first?</a:t>
            </a:r>
          </a:p>
          <a:p/>
          <a:p>
            <a:r>
              <a:t>ANSWER: Only when the question needs it: area, volume or a solid render want a mesh; occupancy and neighbour lookups like voxels. Every conversion loses detail and adds a parameter you then have to defend, such as the voxel size or the meshing depth. This pipeline stays with points.</a:t>
            </a:r>
          </a:p>
          <a:p/>
          <a:p>
            <a:r>
              <a:t>TRACE:</a:t>
            </a:r>
          </a:p>
          <a:p>
            <a:r>
              <a:t>• deck/appendix.yaml C1 (bullets, figure, citations; shown here as a main slide)</a:t>
            </a:r>
          </a:p>
          <a:p>
            <a:r>
              <a:t>• deck/concepts/make_figures.py: deck/assets/concepts/c1_representations.png, results/concepts.json c1</a:t>
            </a:r>
          </a:p>
          <a:p>
            <a:r>
              <a:t>• research: reports/mental_models.md section 1</a:t>
            </a:r>
          </a:p>
          <a:p/>
          <a:p>
            <a:r>
              <a:t>WHY IT MATTERS: Choosing the representation decides which questions are cheap. Converting costs detail and adds a parameter you now have to justify.</a:t>
            </a:r>
          </a:p>
          <a:p/>
          <a:p>
            <a:r>
              <a:t>EXAMPLE: Open3D: o3d.geometry.VoxelGrid.create_from_point_cloud(pcd, voxel_size) and TriangleMesh.create_from_point_cloud_poisson(pcd); PyVista: PolyData for points and meshes, ImageData for regular grids; trimesh: mesh.voxelized(pitch). Analogy: a dot-to-dot puzzle before the lines (points), after the lines (mesh), and as pixel art (voxels).</a:t>
            </a:r>
          </a:p>
          <a:p/>
          <a:p>
            <a:r>
              <a:t>LIMITS AND DISAGREEMENTS:</a:t>
            </a:r>
          </a:p>
          <a:p>
            <a:r>
              <a:t>• The figure is synthetic and tiny; real meshes from scans need cleaning and are rarely watertight.</a:t>
            </a:r>
          </a:p>
          <a:p>
            <a:r>
              <a:t>• Dense voxel grids grow with the cube of the resolution; sparse structures (hashing, octrees) avoid that. Which is best depends on the task.</a:t>
            </a:r>
          </a:p>
          <a:p>
            <a:r>
              <a:t>• Deep learning uses all three (point-based, mesh-based, voxel or sparse convolution); no representation wins everywhere (Guo et al. survey).</a:t>
            </a:r>
          </a:p>
          <a:p/>
          <a:p>
            <a:r>
              <a:t>CITATIONS:</a:t>
            </a:r>
          </a:p>
          <a:p>
            <a:r>
              <a:t>• Qi, Su, Mo, Guibas: PointNet, CVPR 2017 (arXiv 1612.00593, v2 10 Apr 2017), point sets are unordered</a:t>
            </a:r>
          </a:p>
          <a:p>
            <a:r>
              <a:t>• Open3D 0.20.0 docs: PointCloud, TriangleMesh, voxelization tutorial (open3d.org/docs/latest, no date shown)</a:t>
            </a:r>
          </a:p>
          <a:p>
            <a:r>
              <a:t>• PyVista 0.49.1 docs: What Is a Mesh? (docs.pyvista.org/user-guide/what-is-a-mesh.html, no date shown): a point cloud is a mesh without connectivity</a:t>
            </a:r>
          </a:p>
          <a:p>
            <a:r>
              <a:t>• trimesh 5.1.1 docs (trimesh.org; PyPI 2026-10-02)</a:t>
            </a:r>
          </a:p>
          <a:p>
            <a:r>
              <a:t>• Choy, Gwak, Savarese: Minkowski CNNs, CVPR 2019 (arXiv 1904.08755), sparse voxels</a:t>
            </a:r>
          </a:p>
          <a:p>
            <a:r>
              <a:t>• Guo et al.: Deep Learning for 3D Point Clouds: A Survey, IEEE TPAMI 43(12), Dec 2021, doi 10.1109/TPAMI.2020.3005434</a:t>
            </a:r>
          </a:p>
          <a:p>
            <a:r>
              <a:t>• Poux: 3D Data Science with Python, O'Reilly, 2025 (ISBN 9781098161330)</a:t>
            </a:r>
          </a:p>
          <a:p/>
          <a:p>
            <a:r>
              <a:t>SOURCES AND STATUS:</a:t>
            </a:r>
          </a:p>
          <a:p>
            <a:r>
              <a:t>• Bullet 1 "Point cloud: an unordered N×3 array plus attributes; no...": status verified; source: research: reports/mental_models.md section 1 (PointNet, Open3D PointCloud)</a:t>
            </a:r>
          </a:p>
          <a:p>
            <a:r>
              <a:t>• Bullet 2 "Mesh: vertices plus faces, so surfaces, normals and areas...": status verified; source: research: reports/mental_models.md section 1 (Open3D TriangleMesh, PyVista data model, trimesh)</a:t>
            </a:r>
          </a:p>
          <a:p>
            <a:r>
              <a:t>• Bullet 3 "Voxel grid: occupied cells at one resolution; detail below...": status verified; source: research: reports/mental_models.md section 1 (Open3D VoxelGrid; sparse voxels)</a:t>
            </a:r>
          </a:p>
          <a:p/>
          <a:p>
            <a:r>
              <a:t>STATUS KEY: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Whatever the data, a 3D project goes round the same ring, and each stage has its Python tool. The two dark blue stages get the data. One, acquisition: a scanner, a camera or a depth sensor gives you raw points, and laspy reads them from the LAZ file; this is what single points look like. Two, preparation: you clean the data and register scans into one coordinate system, with NumPy and Open3D. NumPy is the glue throughout: every library hands the next one an N by 3 array. The two lighter blue stages understand it. Three, exploration: Open3D and SciPy give you voxels, planes and clusters, here each cluster in its own colour. Four, analysis: you measure and monitor, again in NumPy and SciPy. The two green stages deliver it. Five, visualisation: PyVista draws the result, because you need to see it to trust it. Six, application: it ends up in a product. And the dashed arrows are the real story: you loop back, from analysis to preparation, from a render to a re-scan, whenever the data surprises you. Today's example is a small version of stages one to five. First, four rules of thumb I wish I'd had on day one.</a:t>
            </a:r>
          </a:p>
          <a:p/>
          <a:p>
            <a:r>
              <a:t>TIME: 145 s, ends at 6:05</a:t>
            </a:r>
          </a:p>
          <a:p/>
          <a:p>
            <a:r>
              <a:t>LIKELY QUESTION: Where does most of the time go?</a:t>
            </a:r>
          </a:p>
          <a:p/>
          <a:p>
            <a:r>
              <a:t>ANSWER: Preparation, nearly always. Registration, cleaning and checking coordinates take far longer than any model, which is why the rules of thumb on the next slide are about getting the data small and trustworthy first.</a:t>
            </a:r>
          </a:p>
          <a:p/>
          <a:p>
            <a:r>
              <a:t>TRACE:</a:t>
            </a:r>
          </a:p>
          <a:p>
            <a:r>
              <a:t>• content.yaml slide 7 stages (the former chain slide merged in: laspy, NumPy, Open3D, PyVista with an image each); simplified from Figure 1-12, "A high-level view of the 3D data science workflow", in the book 3D Data Science with Python (O'Reilly)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Four rules of thumb for 3D data; they're the mental model for the rest of the talk, and I'll bring them back at the end with numbers. One: think in arrays, not points: a point cloud is a table, so work on whole columns. Two: look before you compute: render it, check units, coordinates and classes, because most 3D bugs are silent. Three: make it small first: crop, tile and downsample until it's fast to try things, then scale up. Four: let compiled code do the loops: one call per array or per tile, never one per point. Now, which library does what?</a:t>
            </a:r>
          </a:p>
          <a:p/>
          <a:p>
            <a:r>
              <a:t>TIME: 45 s, ends at 6:50</a:t>
            </a:r>
          </a:p>
          <a:p/>
          <a:p>
            <a:r>
              <a:t>LIKELY QUESTION: Aren't these just general data science rules?</a:t>
            </a:r>
          </a:p>
          <a:p/>
          <a:p>
            <a:r>
              <a:t>ANSWER: Mostly, yes, and that's the point: 3D data is less exotic than it looks. What changes is the scale and the silence: a wrong coordinate system or float32 rounding doesn't raise an error, it just moves your points by centimetres, and a loop over points is a loop over millions.</a:t>
            </a:r>
          </a:p>
          <a:p/>
          <a:p>
            <a:r>
              <a:t>TRACE:</a:t>
            </a:r>
          </a:p>
          <a:p>
            <a:r>
              <a:t>• content.yaml slide 8 rules; the same four rules close the talk on slide 27 with their evidence</a:t>
            </a:r>
          </a:p>
          <a:p/>
          <a:p>
            <a:r>
              <a:t>WHERE IN THE TALK:</a:t>
            </a:r>
          </a:p>
          <a:p>
            <a:r>
              <a:t>• 1 Think in arrays: slides 6, 10 and 11 (N by 3 arrays, copy or view at every hand-off)</a:t>
            </a:r>
          </a:p>
          <a:p>
            <a:r>
              <a:t>• 2 Look before you compute: slides 5, 20 and 26 (AHN classes, street furniture against the BGT register, the gotchas)</a:t>
            </a:r>
          </a:p>
          <a:p>
            <a:r>
              <a:t>• 3 Make it small first: slides 13 and 15 (voxels, tiles, streaming chunks)</a:t>
            </a:r>
          </a:p>
          <a:p>
            <a:r>
              <a:t>• 4 Let compiled code loop: slides 21 to 25 (the quiz, the toll, the profiler, free threads)</a:t>
            </a:r>
          </a:p>
          <a:p/>
          <a:p>
            <a:r>
              <a:t>MENTAL MODEL: The rules rest on the hidden mental-models section (C2 to C9, with citations; C1 and C5 are slides 6 and 20; slide 7 is the workflow); C8 ranks the ideas and says where each joins the talk.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Here's the landscape, mapped onto the six steps we're about to run, with NumPy carrying the arrays from step to step. laspy reads and writes LAS and LAZ, in chunks if you ask; Open3D does the heavy work: voxel downsampling, plane fitting and DBSCAN. SciPy's KDTree answers neighbour questions for all points in one call, and PyVista renders every image in this talk. So how do these libraries hand data to each other?</a:t>
            </a:r>
          </a:p>
          <a:p/>
          <a:p>
            <a:r>
              <a:t>TIME: 55 s, ends at 7:45</a:t>
            </a:r>
          </a:p>
          <a:p/>
          <a:p>
            <a:r>
              <a:t>LIKELY QUESTION: [pending]</a:t>
            </a:r>
          </a:p>
          <a:p/>
          <a:p>
            <a:r>
              <a:t>ANSWER: [pending]</a:t>
            </a:r>
          </a:p>
          <a:p/>
          <a:p>
            <a:r>
              <a:t>TRACE:</a:t>
            </a:r>
          </a:p>
          <a:p>
            <a:r>
              <a:t>• research: reports/libraries.md section 1 (PyPI JSON fetched 2026-10-01, libraries/pypi/*.json)</a:t>
            </a:r>
          </a:p>
          <a:p>
            <a:r>
              <a:t>• pipeline/run.py, pipeline/steps.py (imports: no trimesh; per-cluster features use NumPy, pipeline/steps.py cluster_features)</a:t>
            </a:r>
          </a:p>
          <a:p>
            <a:r>
              <a:t>• results/pipeline.json: versions</a:t>
            </a:r>
          </a:p>
          <a:p>
            <a:r>
              <a:t>• trimesh convex_hull and bounding_box_oriented checked on one pole: research: reports/libraries.md section 2 (libraries/06_trimesh_interop.py)</a:t>
            </a:r>
          </a:p>
          <a:p/>
          <a:p>
            <a:r>
              <a:t>MENTAL MODEL: Hidden C7 (ideas outlive the library you use): the same idea spelled in Open3D, PyVista and trimesh.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chain works because Python passes whole arrays, not points, and every hand-off is either a copy or a view. The legend is the one idea: a copy is new memory, two names on two blocks, so it costs time and RAM, and changing one leaves the other alone. A view is two names on one block: free, but a write through one shows up in the other. las.xyz builds a brand-new array every time you touch it, so name it once. Vector3dVector always copies, and given float32 it takes a slow path, 39× slower. On the way back, np.asarray(pcd.points) is a writeable view, and PyVista's PolyData shares that same memory. Why it matters: every xyz copy is 24 bytes per point, half a gigabyte for one 1 km AHN file. Now, the six steps.</a:t>
            </a:r>
          </a:p>
          <a:p/>
          <a:p>
            <a:r>
              <a:t>TIME: 70 s, ends at 8:55</a:t>
            </a:r>
          </a:p>
          <a:p/>
          <a:p>
            <a:r>
              <a:t>LIKELY QUESTION: Why does Vector3dVector copy at all?</a:t>
            </a:r>
          </a:p>
          <a:p/>
          <a:p>
            <a:r>
              <a:t>ANSWER: Open3D keeps its points in its own C++ vector, which is what the name says, so it has to own that memory; np.asarray on the way back is a view into it, which is why writes reach the cloud. The fast way in is a C-ordered float64 array: 1.7 ms, against 8.2 ms for laspy's column-ordered one and 317 ms for float32.</a:t>
            </a:r>
          </a:p>
          <a:p/>
          <a:p>
            <a:r>
              <a:t>IF SKIPPED: Skip-first number 5 (decide at the end of slide 9). If skipped, say on slide 11: "between the libraries Python passes whole arrays; Vector3dVector copies, np.asarray gives you a view".</a:t>
            </a:r>
          </a:p>
          <a:p/>
          <a:p>
            <a:r>
              <a:t>TRACE:</a:t>
            </a:r>
          </a:p>
          <a:p>
            <a:r>
              <a:t>• bench/python_facts.py (copy or view: write to one side, read the other, and np.shares_memory; timings 1 warm-up and 7 runs, median and IQR, idle check)</a:t>
            </a:r>
          </a:p>
          <a:p>
            <a:r>
              <a:t>• results/python_facts.json: las_xyz.fresh_copy_each_access, las_xyz.f_contiguous, vector3dvector.copies, asarray_points.view, asarray_points.writeable, polydata.shares_memory_open3d_view, polydata.shares_memory_c_float64, timings.*, factor_v3d_float32_vs_float64_f, conditions</a:t>
            </a:r>
          </a:p>
          <a:p>
            <a:r>
              <a:t>• snippets/s06b_handoffs.py (the four calls on the crop, with asserts); results/snippets.json: s06b_handoffs.py.ok</a:t>
            </a:r>
          </a:p>
          <a:p>
            <a:r>
              <a:t>• pv.PolyData of laspy's F-ordered array does not share memory (results/python_facts.json polydata.shares_memory_f_float64); the slide's pts is Open3D's C-ordered view</a:t>
            </a:r>
          </a:p>
          <a:p>
            <a:r>
              <a:t>• Candidate gotchas 'las.xyz' and 'Vector3dVector(float32)' are measured here (their slide is removed)</a:t>
            </a:r>
          </a:p>
          <a:p/>
          <a:p>
            <a:r>
              <a:t>CONDITIONS IN FULL (the slide shows the short line): Conditions: Ryzen 7 5700X, 8 cores / 16 threads, 31.3 GiB RAM; Linux (Omarchy, kernel 7.2.5-3-omarchy); Python 3.13.15, NumPy 2.5.3, SciPy 1.18.1, Open3D 0.20.0, laspy 2.7.0, PyVista 0.49.0; N = 722 961 points, 7 runs after 1 warm-up, median and IQR of wall time over the timed runs; governor performance; boost on; measured 2026-10-11 20:06 UTC; data: the AHN5 crop of slide 5 (ahn.nl, Het Waterschapshuis, CC BY 4.0). Copy or view: checked by writing to one side and reading the other, and with np.shares_memory. float32: Vector3dVector of a float32 copy, 317 ms, against the float64 xyz of slide 12, 8.2 ms.</a:t>
            </a:r>
          </a:p>
          <a:p/>
          <a:p>
            <a:r>
              <a:t>WHY IT MATTERS:</a:t>
            </a:r>
          </a:p>
          <a:p>
            <a:r>
              <a:t>• Memory: one float64 xyz copy is 24 B per point (results/memory.json); 21 013 926 points × 24 B = 0.47 GiB per copy of a 1 km AHN file, and the load-everything pipeline holds several (slide 25)</a:t>
            </a:r>
          </a:p>
          <a:p>
            <a:r>
              <a:t>• Time: copying the crop into Open3D takes 1.7 ms from a C-ordered float64 array, 8.2 ms from laspy's column-ordered one and 317 ms from float32; np.asarray(pcd.points) takes 15 µs, because it copies nothing</a:t>
            </a:r>
          </a:p>
          <a:p>
            <a:r>
              <a:t>• Correctness: a write through a view changes the point cloud behind it (np.asarray(pcd.points) -= origin moves Open3D's points); a write to a copy is silently lost (las.xyz[:] = 0 changes nothing in the file data)</a:t>
            </a:r>
          </a:p>
          <a:p>
            <a:r>
              <a:t>• Rule of thumb: name an array once, pass it on, and copy only on purpose (astype, np.ascontiguousarray)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Six steps turn this point cloud into labels: load, voxel downsampling, ground removal, clustering, labelling and visualisation. It's the same area and the same camera in every frame, so you can watch it change from slide to slide. Let's start with step one.</a:t>
            </a:r>
          </a:p>
          <a:p/>
          <a:p>
            <a:r>
              <a:t>TIME: 25 s, ends at 9:20</a:t>
            </a:r>
          </a:p>
          <a:p/>
          <a:p>
            <a:r>
              <a:t>LIKELY QUESTION: Why remove the ground before clustering?</a:t>
            </a:r>
          </a:p>
          <a:p/>
          <a:p>
            <a:r>
              <a:t>ANSWER: Because DBSCAN groups whatever touches, and the ground touches everything: left in, it would link the whole scene together through the road. That is reasoning; I didn't benchmark the other order.</a:t>
            </a:r>
          </a:p>
          <a:p/>
          <a:p>
            <a:r>
              <a:t>TRACE:</a:t>
            </a:r>
          </a:p>
          <a:p>
            <a:r>
              <a:t>• renders/f1_load.png, f2_voxel.png, f3_ground.png, f4_clusters.png, f5_labels.png, f6_final.png</a:t>
            </a:r>
          </a:p>
          <a:p>
            <a:r>
              <a:t>• renders/render_spec.json (one camera for all frames)</a:t>
            </a:r>
          </a:p>
          <a:p/>
          <a:p>
            <a:r>
              <a:t>WHY SEVERAL TOOLS IN ONE STEP:</a:t>
            </a:r>
          </a:p>
          <a:p>
            <a:r>
              <a:t>• No library has a fast, batched call for every part of a step, so each part goes to the library that has one; because they all take and give NumPy arrays (slide 10), mixing them costs at most one copy</a:t>
            </a:r>
          </a:p>
          <a:p>
            <a:r>
              <a:t>• Clustering, Open3D and SciPy: DBSCAN is Open3D's cluster_dbscan, but first SciPy's KDTree answers 'how high is each voxel above the ground?' (height_above, one query on all cores), so only voxels clearly above the ground go into DBSCAN; left in, the ground would link the whole scene into one cluster</a:t>
            </a:r>
          </a:p>
          <a:p>
            <a:r>
              <a:t>• Labelling, NumPy and SciPy: NumPy computes every cluster's features at once with np.bincount over the cluster ids (top height, footprint, share of multiple returns); SciPy's KDTree gives each cluster its distance to the nearest building and tree for rules 3 and 4 (facade, free-standing)</a:t>
            </a:r>
          </a:p>
          <a:p>
            <a:r>
              <a:t>• Visualisation, SciPy and PyVista: SciPy's KDTree paints the labels from the 232 180 voxels back onto all 722 961 points in one query; PyVista then renders them off-screen</a:t>
            </a:r>
          </a:p>
          <a:p>
            <a:r>
              <a:t>• Load and ground removal use one library each for the work (laspy, Open3D), with NumPy for the arithmetic around the calls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one: laspy reads the LAZ file and gives you plain NumPy arrays. The first thing I do is subtract a local origin, the minimum corner from the file header. Dutch RD coordinates run to hundreds of thousands of metres, and at that size float32 can only step 1.6 cm in x and 3.1 cm in y; Open3D's PointCloud.from_legacy, for one, converts to float32 by default. After that it's one copy into Open3D as float64, and we're ready to shrink it.</a:t>
            </a:r>
          </a:p>
          <a:p/>
          <a:p>
            <a:r>
              <a:t>TIME: 65 s, ends at 10:25</a:t>
            </a:r>
          </a:p>
          <a:p/>
          <a:p>
            <a:r>
              <a:t>LIKELY QUESTION: Why not keep RD coordinates and stay in float64 everywhere?</a:t>
            </a:r>
          </a:p>
          <a:p/>
          <a:p>
            <a:r>
              <a:t>ANSWER: You can, as long as nothing on the way casts to float32, and some tools do that quietly. Subtracting header.mins once makes it harmless, and fitted plane coefficients become readable numbers too.</a:t>
            </a:r>
          </a:p>
          <a:p/>
          <a:p>
            <a:r>
              <a:t>TRACE:</a:t>
            </a:r>
          </a:p>
          <a:p>
            <a:r>
              <a:t>• snippets/s08_load.py</a:t>
            </a:r>
          </a:p>
          <a:p>
            <a:r>
              <a:t>• results/snippets.json: s08_load.py.ok</a:t>
            </a:r>
          </a:p>
          <a:p>
            <a:r>
              <a:t>• renders/f1_load.png</a:t>
            </a:r>
          </a:p>
          <a:p>
            <a:r>
              <a:t>• renders/render_spec.json (local origin = header.mins)</a:t>
            </a:r>
          </a:p>
          <a:p>
            <a:r>
              <a:t>• data/utrecht_jaarbeurs_200m.laz</a:t>
            </a:r>
          </a:p>
          <a:p>
            <a:r>
              <a:t>• float32 steps: np.spacing(np.float32(v)) at the crop's RD origin, deterministic; run it to check (results/research_facts.json float32_step_m, written by docs/research/research_facts.py)</a:t>
            </a:r>
          </a:p>
          <a:p>
            <a:r>
              <a:t>• from_legacy defaults to float32 (dtype=Float32 in its signature; a tensor point cloud built from a float64 tensor stays float64): research: reports/libraries.md (03_open3d_tensor.py)</a:t>
            </a:r>
          </a:p>
          <a:p/>
          <a:p>
            <a:r>
              <a:t>LINE BY LINE:</a:t>
            </a:r>
          </a:p>
          <a:p>
            <a:r>
              <a:t>• import laspy / import open3d as o3d: the reader for LAS and LAZ, and the processing library</a:t>
            </a:r>
          </a:p>
          <a:p>
            <a:r>
              <a:t>• las = laspy.read("crop.laz"): decompresses the whole file (lazrs backend) into a LasData object; every dimension becomes a NumPy array</a:t>
            </a:r>
          </a:p>
          <a:p>
            <a:r>
              <a:t>• xyz = las.xyz - las.header.mins (key line): an N by 3 float64 array in metres, shifted so the minimum corner of the file is the origin; las.xyz is already a new array (slide 10), the subtraction makes one more</a:t>
            </a:r>
          </a:p>
          <a:p>
            <a:r>
              <a:t>• v = o3d.utility.Vector3dVector(xyz): copies the array into Open3D's own C++ vector of 3D points (float64, fastest from a C-ordered array)</a:t>
            </a:r>
          </a:p>
          <a:p>
            <a:r>
              <a:t>• pcd = o3d.geometry.PointCloud(v): the point cloud object every later Open3D call works on</a:t>
            </a:r>
          </a:p>
          <a:p/>
          <a:p>
            <a:r>
              <a:t>SKETCH: The first point's x in RD is 135914.6 m; float32 can only step 1.6 cm at that size. After subtracting header.mins it is 199.6 m, where float32 steps 15 micrometres (np.spacing). That is why the origin comes off first: some tools cast to float32 without telling you.</a:t>
            </a:r>
          </a:p>
          <a:p/>
          <a:p>
            <a:r>
              <a:t>MENTAL MODEL: Hidden C2 (every array needs a frame) and C3 (a transform is a matrix, order matters) go deeper on the local origin.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two: lay a grid of 0.5 m voxels over the crop and replace all the points inside each voxel with their average. That leaves 32.1 % as many points, and every step after this gets cheaper. One catch: the average is a new point, not one of yours, and LAS attributes such as returns and class are dropped unless you carry them along. I store the multiple-return flag as a colour, so each voxel keeps its share of multiple returns for step five. Next, the ground.</a:t>
            </a:r>
          </a:p>
          <a:p/>
          <a:p>
            <a:r>
              <a:t>TIME: 55 s, ends at 11:20</a:t>
            </a:r>
          </a:p>
          <a:p/>
          <a:p>
            <a:r>
              <a:t>LIKELY QUESTION: Why average? Why not keep one real point per voxel?</a:t>
            </a:r>
          </a:p>
          <a:p/>
          <a:p>
            <a:r>
              <a:t>ANSWER: You can, and in the chunked read (backup B2) I do exactly that, because it streams. Open3D's voxel_down_sample returns the centroid: I checked that it equals the per-voxel mean, on a grid anchored half a voxel below the minimum corner.</a:t>
            </a:r>
          </a:p>
          <a:p/>
          <a:p>
            <a:r>
              <a:t>TRACE:</a:t>
            </a:r>
          </a:p>
          <a:p>
            <a:r>
              <a:t>• Sketch caption: 0.5 m voxels</a:t>
            </a:r>
          </a:p>
          <a:p>
            <a:r>
              <a:t>• snippets/s09_voxel.py</a:t>
            </a:r>
          </a:p>
          <a:p>
            <a:r>
              <a:t>• results/snippets.json: s09_voxel.py.ok</a:t>
            </a:r>
          </a:p>
          <a:p>
            <a:r>
              <a:t>• results/pipeline.json: points_in, points_after_voxel, kept_share, params.voxel</a:t>
            </a:r>
          </a:p>
          <a:p>
            <a:r>
              <a:t>• renders/f2_voxel.png</a:t>
            </a:r>
          </a:p>
          <a:p>
            <a:r>
              <a:t>• Centroid and grid anchor: research: reports/critic.md section 2, reports/review/honesty.md row 9, notes/verify_facts.json</a:t>
            </a:r>
          </a:p>
          <a:p>
            <a:r>
              <a:t>• Attributes dropped: research: reports/review/honesty.md rows 9 and 12</a:t>
            </a:r>
          </a:p>
          <a:p>
            <a:r>
              <a:t>• results/pipeline.json: params.rules.features.multi</a:t>
            </a:r>
          </a:p>
          <a:p>
            <a:r>
              <a:t>• Flag kept as colour: pipeline/steps.py to_open3d and multi_share; research: reports/review/honesty.md row 12 (review/honesty/run_extra.out)</a:t>
            </a:r>
          </a:p>
          <a:p/>
          <a:p>
            <a:r>
              <a:t>LINE BY LINE:</a:t>
            </a:r>
          </a:p>
          <a:p>
            <a:r>
              <a:t>• down = pcd.voxel_down_sample(0.5) (key line): lays a grid of 0.5 m cubes over the cloud (anchored at the minimum corner minus half a voxel) and replaces the points in each occupied cube by their average; colours, our multiple-return flag, are averaged too</a:t>
            </a:r>
          </a:p>
          <a:p>
            <a:r>
              <a:t>• P = np.asarray(down.points): a view of the 232 180 voxel points as an N by 3 NumPy array, no copy</a:t>
            </a:r>
          </a:p>
          <a:p>
            <a:r>
              <a:t>• print(len(xyz), "-&gt;", len(P)): 722 961 points in, 232 180 out, 32.1 % kept</a:t>
            </a:r>
          </a:p>
          <a:p/>
          <a:p>
            <a:r>
              <a:t>SKETCH: A grid of cells, the small white dots are original points, the large sage dot in each occupied cell is their average: one new point per voxel, and empty cells give nothing. Dense areas shrink most, which is why every later step gets cheaper.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actual helper fits low candidates per tile, checks tilt and height relative to the median tile plane, and borrows a nearby accepted plane for rejected tiles. Subtracting header.mins shifts all three axes: Z is above the crop minimum, not above terrain. There is no absolute five-metre ground cutoff. Parameters are heuristics for this crop, not a universal terrain classifier. Precision 98 % and recall 94 % compare painted-back original-point labels with AHN class 2, which was withheld from classification. This is reference-label agreement on one crop, not independent field validation.</a:t>
            </a:r>
          </a:p>
          <a:p/>
          <a:p>
            <a:r>
              <a:t>TIME: 75 s, ends at 12:35</a:t>
            </a:r>
          </a:p>
          <a:p/>
          <a:p>
            <a:r>
              <a:t>LIKELY QUESTION: How do the indices map?</a:t>
            </a:r>
          </a:p>
          <a:p/>
          <a:p>
            <a:r>
              <a:t>ANSWER: tiles returns indices in down; low preserves that ascending order; segment_plane returns indices in the selected subcloud, so low[inl] maps back to down. The slide calls the full helper and therefore includes the same plausibility repair as the scored pipeline.</a:t>
            </a:r>
          </a:p>
          <a:p/>
          <a:p>
            <a:r>
              <a:t>TRACE:</a:t>
            </a:r>
          </a:p>
          <a:p>
            <a:r>
              <a:t>• snippets/s10_ground.py</a:t>
            </a:r>
          </a:p>
          <a:p>
            <a:r>
              <a:t>• pipeline/steps.py</a:t>
            </a:r>
          </a:p>
          <a:p>
            <a:r>
              <a:t>• results/pipeline.json</a:t>
            </a:r>
          </a:p>
          <a:p>
            <a:r>
              <a:t>• results/labels_crop.npz</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four: DBSCAN chains together points that sit within 0.75 m of each other, so 'touches' really means 'closer than eps'. On the voxels that aren't ground and sit more than 0.3 m above it, I get 1 026 clusters, and 10 % of those voxels are noise that belong to no cluster. A cluster is just a blob, not yet a building or a tree. Naming the blobs is the next step.</a:t>
            </a:r>
          </a:p>
          <a:p/>
          <a:p>
            <a:r>
              <a:t>TIME: 55 s, ends at 13:30</a:t>
            </a:r>
          </a:p>
          <a:p/>
          <a:p>
            <a:r>
              <a:t>LIKELY QUESTION: How do you choose eps and min_points?</a:t>
            </a:r>
          </a:p>
          <a:p/>
          <a:p>
            <a:r>
              <a:t>ANSWER: By looking, plus one rule from testing: eps has to be clearly larger than the voxel size. Too small and most points become noise, too large and buildings fuse with their trees; prototype runs showed both. Here it is eps 0.75 m with min_points 6 on 0.5 m voxels.</a:t>
            </a:r>
          </a:p>
          <a:p/>
          <a:p>
            <a:r>
              <a:t>TRACE:</a:t>
            </a:r>
          </a:p>
          <a:p>
            <a:r>
              <a:t>• Sketch caption: eps = 0.75 m</a:t>
            </a:r>
          </a:p>
          <a:p>
            <a:r>
              <a:t>• snippets/s11_cluster.py</a:t>
            </a:r>
          </a:p>
          <a:p>
            <a:r>
              <a:t>• results/snippets.json: s11_cluster.py.ok</a:t>
            </a:r>
          </a:p>
          <a:p>
            <a:r>
              <a:t>• results/pipeline.json: n_clusters, noise_share, params.eps, params.min_points, params.voxel</a:t>
            </a:r>
          </a:p>
          <a:p>
            <a:r>
              <a:t>• renders/f4_clusters.png</a:t>
            </a:r>
          </a:p>
          <a:p>
            <a:r>
              <a:t>• results/pipeline.json: params.cluster_min_height_m, noise_share_note, params_why.eps, params_why.min_points, param_choice</a:t>
            </a:r>
          </a:p>
          <a:p>
            <a:r>
              <a:t>• eps against voxel size: research: reports/review/honesty.md row 11, reports/review/feasibility.md section 2 (prototype runs)</a:t>
            </a:r>
          </a:p>
          <a:p/>
          <a:p>
            <a:r>
              <a:t>LINE BY LINE:</a:t>
            </a:r>
          </a:p>
          <a:p>
            <a:r>
              <a:t>• hag = height_above(P, ground): for every voxel, its height above the nearest ground voxel in plan view (one SciPy KDTree query on all cores)</a:t>
            </a:r>
          </a:p>
          <a:p>
            <a:r>
              <a:t>• up = ~ground &amp; (hag &gt; 0.3): the voxels that are not ground and stand more than 0.3 m above it, so kerbs and noise near the road stay out</a:t>
            </a:r>
          </a:p>
          <a:p>
            <a:r>
              <a:t>• rest = down.select_by_index(np.flatnonzero(up)): those voxels as their own point cloud</a:t>
            </a:r>
          </a:p>
          <a:p>
            <a:r>
              <a:t>• lab = rest.cluster_dbscan(eps=0.75, min_points=6) (key line): DBSCAN: a voxel with at least 6 neighbours within 0.75 m is a core point, clusters grow from core to core, and whatever no cluster reaches gets -1, noise</a:t>
            </a:r>
          </a:p>
          <a:p>
            <a:r>
              <a:t>• ids = np.asarray(lab): one cluster id per voxel, as NumPy</a:t>
            </a:r>
          </a:p>
          <a:p>
            <a:r>
              <a:t>• print(ids.max() + 1, "clusters"): ids start at 0, so the largest plus one is the count, 1 026</a:t>
            </a:r>
          </a:p>
          <a:p/>
          <a:p>
            <a:r>
              <a:t>SKETCH: Two groups of points, each a cluster because every point has neighbours within eps, the dashed circle; the lone grey point has none and is noise. DBSCAN needs no number of clusters, only how close is close.</a:t>
            </a:r>
          </a:p>
          <a:p/>
          <a:p>
            <a:r>
              <a:t>MENTAL MODEL: Hidden C4 (neighbourhood size changes the answer): eps, the voxel size and normal radii are the same kind of choice.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five names the blobs with a few rules per cluster: how tall it is, how big its footprint is, and what share of its points had more than one return. That last one is the clue for trees: AHN's spec asks for a leaf-off flight, and this one was flown in early April, so pulses slip between bare branches and a tree echoes several times, while roads and roofs mostly echo once. Street furniture is the honest weak spot: from the air a lamp post is a few dozen points at most, and DBSCAN drops objects of fewer than 6 voxels as noise, so my rules find 3 objects, 53 points in all. Cars fail the street furniture rule because they are not twice as tall as they are wide, so they stay unlabelled. Then one last step paints these labels back onto every original point.</a:t>
            </a:r>
          </a:p>
          <a:p/>
          <a:p>
            <a:r>
              <a:t>TIME: 70 s, ends at 14:40</a:t>
            </a:r>
          </a:p>
          <a:p/>
          <a:p>
            <a:r>
              <a:t>LIKELY QUESTION: Why hand-written rules and not machine learning?</a:t>
            </a:r>
          </a:p>
          <a:p/>
          <a:p>
            <a:r>
              <a:t>ANSWER: Rules fit on a slide and you can debug them. Machine learning needs training labels, and for vegetation and street furniture AHN has none: they are all inside class 1. Buildings, which AHN does label, score 82 % precision and 99 % recall against class 6. I did try Florent Poux's PCA plus Random Forest idea on these clusters (backup B5): against AHN's building class it scores 81 % balanced accuracy, my rules 66 %. But AHN files facades under class 1 and my rules call them building, so part of that gap is the forest copying AHN's convention.</a:t>
            </a:r>
          </a:p>
          <a:p/>
          <a:p>
            <a:r>
              <a:t>TRACE:</a:t>
            </a:r>
          </a:p>
          <a:p>
            <a:r>
              <a:t>• Sketch caption: shape → class</a:t>
            </a:r>
          </a:p>
          <a:p>
            <a:r>
              <a:t>• Small print: Street furniture: 3 objects, 53 points, drawn enlarged. Poles nearly vanish.</a:t>
            </a:r>
          </a:p>
          <a:p>
            <a:r>
              <a:t>• snippets/s12_label.py</a:t>
            </a:r>
          </a:p>
          <a:p>
            <a:r>
              <a:t>• ML alternative: bench/eigen_features.py; results/eigen_features.json rules, forest_eigen_plus_rule_inputs (balanced accuracy weighted by points, spatial cross-validation); idea: research: reports/videos.md V3</a:t>
            </a:r>
          </a:p>
          <a:p>
            <a:r>
              <a:t>• results/snippets.json: s12_label.py.ok</a:t>
            </a:r>
          </a:p>
          <a:p>
            <a:r>
              <a:t>• results/pipeline.json: params.rules, n_objects, label_points, buildings.precision, buildings.recall</a:t>
            </a:r>
          </a:p>
          <a:p>
            <a:r>
              <a:t>• renders/f5_labels.png</a:t>
            </a:r>
          </a:p>
          <a:p>
            <a:r>
              <a:t>• renders/labels.json: f6_final (the same chip anchors as slides 17 and 18; checked on f5_labels.png)</a:t>
            </a:r>
          </a:p>
          <a:p>
            <a:r>
              <a:t>• Leaf-off flight: AHN5 acquisition spec not checked; the AHN4 spec requires a leaf-off flight ('bladloze seizoen'); this crop was flown in the night of 2023-04-05 to 2023-04-06, about 01:51 CEST, one strip (point source id 1110; GPS time of the crop's points, checked 2026-10-11; the first example street was about 01:35, research: reports/dataset.md)</a:t>
            </a:r>
          </a:p>
          <a:p>
            <a:r>
              <a:t>• Multiple-return share per AHN class on the crop: research: review/honesty/inspect_crop.out</a:t>
            </a:r>
          </a:p>
          <a:p>
            <a:r>
              <a:t>• Lamp posts as a few dozen points: research: reports/dataset.md (pole_analysis.json, measured on the first example street, not on this crop)</a:t>
            </a:r>
          </a:p>
          <a:p>
            <a:r>
              <a:t>• Cars fail rule 4: pipeline/steps.py; results/pipeline.json params.rules.slender (a car fails 'twice as tall as wide')</a:t>
            </a:r>
          </a:p>
          <a:p>
            <a:r>
              <a:t>• Objects below min_points dropped as noise: results/pipeline.json street_furniture_note, params.min_points</a:t>
            </a:r>
          </a:p>
          <a:p>
            <a:r>
              <a:t>• Street furniture drawn enlarged: renders/render_spec.json point_size_px</a:t>
            </a:r>
          </a:p>
          <a:p>
            <a:r>
              <a:t>• What the 3 objects (53 points) are on the ground is UNVERIFIED (results/pipeline.json street_furniture_note: no imagery checked); do not call it a lamp post</a:t>
            </a:r>
          </a:p>
          <a:p/>
          <a:p>
            <a:r>
              <a:t>LINE BY LINE:</a:t>
            </a:r>
          </a:p>
          <a:p>
            <a:r>
              <a:t>• def name(c): the rules, applied to one cluster c with its features (computed for all clusters at once with np.bincount); the first rule that fires wins</a:t>
            </a:r>
          </a:p>
          <a:p>
            <a:r>
              <a:t>• if c.multi &gt; 0.4 and c.top &gt; 1 (key line): more than 40 % of its points had several returns and its top is over 1 m: VEGETATION (leaf-off, the pulses pass between bare branches)</a:t>
            </a:r>
          </a:p>
          <a:p>
            <a:r>
              <a:t>• if c.foot &gt; 25 and c.top &gt; 2.5: footprint over 25 m2 and taller than 2.5 m: BUILDINGS (roofs)</a:t>
            </a:r>
          </a:p>
          <a:p>
            <a:r>
              <a:t>• if c.to_building &lt; 2: within 2 m of a building in plan view: BUILDINGS too (facade fragments that DBSCAN split off their roof)</a:t>
            </a:r>
          </a:p>
          <a:p>
            <a:r>
              <a:t>• if c.slender and c.free: at most 1.5 m wide, 1.5 to 15 m tall and at least twice as tall as wide, more than 2 m from buildings and 1 m from trees: STREET_FURNITURE</a:t>
            </a:r>
          </a:p>
          <a:p>
            <a:r>
              <a:t>• return UNLABELLED: everything else, cars included (not twice as tall as wide)</a:t>
            </a:r>
          </a:p>
          <a:p/>
          <a:p>
            <a:r>
              <a:t>SKETCH: Three cluster shapes and the class each one gets: a crown with many echoes becomes vegetation, a wide flat block a building, a thin pole street furniture. The rules only look at shape and echoes, never at AHN's labels.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six: the labels live on the 232 180 voxel points, so one KDTree query gives each of the 722 961 original points the label of its nearest voxel point. PyVista then renders off-screen with one fixed camera, one PNG per step, which is why every frame in this talk lines up. Let's put all six steps together.</a:t>
            </a:r>
          </a:p>
          <a:p/>
          <a:p>
            <a:r>
              <a:t>TIME: 40 s, ends at 15:20</a:t>
            </a:r>
          </a:p>
          <a:p/>
          <a:p>
            <a:r>
              <a:t>LIKELY QUESTION: Why not Open3D's own viewer?</a:t>
            </a:r>
          </a:p>
          <a:p/>
          <a:p>
            <a:r>
              <a:t>ANSWER: Open3D's draw_geometries opens a window and blocks until you close it. I needed identical frames from a script, without a window, and PyVista does that off-screen; in testing it also rendered headless, through EGL.</a:t>
            </a:r>
          </a:p>
          <a:p/>
          <a:p>
            <a:r>
              <a:t>IF SKIPPED: Skip-first number 4. If skipped, say on slide 18: "every render here is PyVista, off-screen, one fixed camera".</a:t>
            </a:r>
          </a:p>
          <a:p/>
          <a:p>
            <a:r>
              <a:t>TRACE:</a:t>
            </a:r>
          </a:p>
          <a:p>
            <a:r>
              <a:t>• Sketch caption: nearest voxel's label</a:t>
            </a:r>
          </a:p>
          <a:p>
            <a:r>
              <a:t>• Small print: Street furniture: 3 objects, 53 points, drawn enlarged. Poles nearly vanish.</a:t>
            </a:r>
          </a:p>
          <a:p>
            <a:r>
              <a:t>• snippets/s13_render.py</a:t>
            </a:r>
          </a:p>
          <a:p>
            <a:r>
              <a:t>• results/snippets.json: s13_render.py.ok</a:t>
            </a:r>
          </a:p>
          <a:p>
            <a:r>
              <a:t>• results/labels_crop.npz</a:t>
            </a:r>
          </a:p>
          <a:p>
            <a:r>
              <a:t>• results/pipeline.json: points_in, points_after_voxel</a:t>
            </a:r>
          </a:p>
          <a:p>
            <a:r>
              <a:t>• renders/f6_final.png</a:t>
            </a:r>
          </a:p>
          <a:p>
            <a:r>
              <a:t>• pipeline/render.py (makes the frame shown; draws the street furniture objects enlarged, renders/render_spec.json point_size_px)</a:t>
            </a:r>
          </a:p>
          <a:p>
            <a:r>
              <a:t>• renders/render_spec.json</a:t>
            </a:r>
          </a:p>
          <a:p>
            <a:r>
              <a:t>• renders/labels.json: f6_final</a:t>
            </a:r>
          </a:p>
          <a:p>
            <a:r>
              <a:t>• Headless PyVista: research: reports/libraries.md (04_pyvista_render.py); draw_geometries blocks: research: reports/book.md</a:t>
            </a:r>
          </a:p>
          <a:p/>
          <a:p>
            <a:r>
              <a:t>LINE BY LINE:</a:t>
            </a:r>
          </a:p>
          <a:p>
            <a:r>
              <a:t>• P = np.asarray(down.points): the voxel points, a view</a:t>
            </a:r>
          </a:p>
          <a:p>
            <a:r>
              <a:t>• _, j = KDTree(P).query(xyz, workers=-1): for each of the 722 961 original points, the index of its nearest voxel point; one query on all cores</a:t>
            </a:r>
          </a:p>
          <a:p>
            <a:r>
              <a:t>• pl = pv.Plotter(off_screen=True) (key line): a renderer without a window, so a script can make the images, also headless</a:t>
            </a:r>
          </a:p>
          <a:p>
            <a:r>
              <a:t>• pl.add_points(xyz, point_size=3, scalars=RGB[cls[j]], rgb=True): every original point coloured by the class of its nearest voxel; cls[j] is NumPy fancy indexing, one call</a:t>
            </a:r>
          </a:p>
          <a:p>
            <a:r>
              <a:t>• pl.camera_position = CAM: the one fixed camera (renders/render_spec.json), never reset_camera, so every frame lines up</a:t>
            </a:r>
          </a:p>
          <a:p>
            <a:r>
              <a:t>• pl.screenshot("f6_final.png"): writes the PNG you see on the right</a:t>
            </a:r>
          </a:p>
          <a:p/>
          <a:p>
            <a:r>
              <a:t>SKETCH: Three large voxel points with their class colours and many small original points; each small point takes the colour of its nearest voxel point, the grey lines. That is the paint-back: the labels were computed on 232 180 voxels and land on all 722 961 points.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So what did the six steps do? laspy loaded 722 961 points, Open3D cut them to 232 180 voxels, fitted the ground at 98 % precision against AHN and found 1 026 clusters, NumPy's rules turned the clusters into four classes, and SciPy painted those back onto every point. From file to labels that's 1.0 seconds on this crop, one run, so take it as indicative, and not a single Python loop over points. First, a confession about street furniture.</a:t>
            </a:r>
          </a:p>
          <a:p/>
          <a:p>
            <a:r>
              <a:t>TIME: 65 s, ends at 16:25</a:t>
            </a:r>
          </a:p>
          <a:p/>
          <a:p>
            <a:r>
              <a:t>LIKELY QUESTION: Can I run this on my own AHN file?</a:t>
            </a:r>
          </a:p>
          <a:p/>
          <a:p>
            <a:r>
              <a:t>ANSWER: Yes, that's what the repo is for. For a whole 1 km AHN file or larger, start with the chunked read (backup B2), and expect to retune voxel size, tile size and eps for a different point density. Not in the Netherlands? Backup B6 lists other open sources.</a:t>
            </a:r>
          </a:p>
          <a:p/>
          <a:p>
            <a:r>
              <a:t>CHECKPOINT: Skip-first order: 26, 25, 18, 11. Target: leave this slide by 16:25. Leaving after 17:25: skip 26 and 25. Leaving after 18:55: also skip 18, and tell only one story on 26. Further on: reach slide 26 by 23:45, otherwise skip it. To skip: one sentence, then click.</a:t>
            </a:r>
          </a:p>
          <a:p/>
          <a:p>
            <a:r>
              <a:t>CHECK BEFORE THE TALK:</a:t>
            </a:r>
          </a:p>
          <a:p>
            <a:r>
              <a:t>• QR repository verified publicly accessible on 2026-10-14</a:t>
            </a:r>
          </a:p>
          <a:p>
            <a:r>
              <a:t>• Other open sources (B6): research: reports/videos.md V1</a:t>
            </a:r>
          </a:p>
          <a:p/>
          <a:p>
            <a:r>
              <a:t>TRACE:</a:t>
            </a:r>
          </a:p>
          <a:p>
            <a:r>
              <a:t>• Small print: One run, indicative; renders not included. Street furniture drawn enlarged.</a:t>
            </a:r>
          </a:p>
          <a:p>
            <a:r>
              <a:t>• snippets/s14_pipeline.py</a:t>
            </a:r>
          </a:p>
          <a:p>
            <a:r>
              <a:t>• pipeline/run.py</a:t>
            </a:r>
          </a:p>
          <a:p>
            <a:r>
              <a:t>• results/snippets.json: s14_pipeline.py.ok</a:t>
            </a:r>
          </a:p>
          <a:p>
            <a:r>
              <a:t>• results/pipeline.json: runtime_s (single run, indicative), versions</a:t>
            </a:r>
          </a:p>
          <a:p>
            <a:r>
              <a:t>• results/pipeline.json: runtime_note</a:t>
            </a:r>
          </a:p>
          <a:p>
            <a:r>
              <a:t>• No per-point Python loop: the loops in pipeline/steps.py run over tiles (remove_ground) and clusters (label)</a:t>
            </a:r>
          </a:p>
          <a:p>
            <a:r>
              <a:t>• renders/f6_final.png</a:t>
            </a:r>
          </a:p>
          <a:p>
            <a:r>
              <a:t>• renders/labels.json: f6_final</a:t>
            </a:r>
          </a:p>
          <a:p>
            <a:r>
              <a:t>• Before and after: same stored camera. Four predicted classes plus unlabelled; runtime excludes rendering.</a:t>
            </a:r>
          </a:p>
          <a:p/>
          <a:p>
            <a:r>
              <a:t>THE SEVEN CALLS:</a:t>
            </a:r>
          </a:p>
          <a:p>
            <a:r>
              <a:t>• The whole pipeline is seven calls in the repo (snippets/s14_pipeline.py, pipeline/run.py):</a:t>
            </a:r>
          </a:p>
          <a:p>
            <a:r>
              <a:t>• las, xyz, _ = load("crop.laz") / multi = las.number_of_returns &gt; 1 / pcd = to_open3d(xyz, multi) / down = downsample(pcd, 0.5) / ground, _ = remove_ground(down, 25) / ids = cluster(down, ground, 0.75, 6) / cls, _ = label(down, ground, ids) / full = paint_back(xyz, down, cls)</a:t>
            </a:r>
          </a:p>
          <a:p>
            <a:r>
              <a:t>• Times per step (results/pipeline.json timings_s, one run): load 61 ms, copy into Open3D 8.0 ms, voxels 123 ms, ground 99 ms, clusters 270 ms, labels 260 ms, paint-back 178 ms; total 999 ms, renders not included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Expectation versus reality. The expectation isn't made up: the BGT, the Dutch large-scale topography register kept by the municipality, lists 61 poles inside this exact square, 51 lamp posts and 10 bollards, the small rings. Reality: my pipeline found 3 objects, the big rings, and two of them do stand on a registered lamp post. The data explains it: 42 of the 61 poles don't get a single LiDAR point more than 1.5 metres above the ground, and only 10 leave DBSCAN the six voxels it needs. Rule two in action: look at your data before you blame your algorithm. So why do poles get so few points?</a:t>
            </a:r>
          </a:p>
          <a:p/>
          <a:p>
            <a:r>
              <a:t>TIME: 40 s, ends at 17:05</a:t>
            </a:r>
          </a:p>
          <a:p/>
          <a:p>
            <a:r>
              <a:t>LIKELY QUESTION: Isn't the register out of date, or the flight too old?</a:t>
            </a:r>
          </a:p>
          <a:p/>
          <a:p>
            <a:r>
              <a:t>ANSWER: Partly: 3 of the poles were first registered after the April 2023 flight, so they may not have existed yet. That doesn't change the picture: most poles that did exist are a few points or none from the air. The municipality's own 2021 street-light export disagrees with the BGT too, so registers aren't ground truth either.</a:t>
            </a:r>
          </a:p>
          <a:p/>
          <a:p>
            <a:r>
              <a:t>TRACE:</a:t>
            </a:r>
          </a:p>
          <a:p>
            <a:r>
              <a:t>• Photo credit: 2021 · Robot8A · CC BY-SA 4.0</a:t>
            </a:r>
          </a:p>
          <a:p>
            <a:r>
              <a:t>• Photo credit: 2014 · V. van Werkhooven · CC BY 3.0</a:t>
            </a:r>
          </a:p>
          <a:p>
            <a:r>
              <a:t>• Small print: Poles: BGT (Kadaster, CC BY 4.0) via PDOK, 2026-10-12. Points: within 0.6 m, over 1.5 m above ground. Photos: Jaarbeursplein, Wikimedia Commons.</a:t>
            </a:r>
          </a:p>
          <a:p>
            <a:r>
              <a:t>• bench/bgt_street_furniture.py, results/bgt_street_furniture.json (label FINAL)</a:t>
            </a:r>
          </a:p>
          <a:p>
            <a:r>
              <a:t>• BGT licence: CC BY 4.0 per the national geo register record (attribution Kadaster, BGT), CC0 1.0 on the PDOK API landing page; the slide credits Kadaster, BGT</a:t>
            </a:r>
          </a:p>
          <a:p>
            <a:r>
              <a:t>• Rings: build_deck.py slide_expectation_map; poles projected with the stored camera (renders/render_spec.json), our objects at renders/render_spec.json frames[f6_final.png].street_furniture_visible patches</a:t>
            </a:r>
          </a:p>
          <a:p>
            <a:r>
              <a:t>• results/pipeline.json: n_objects.street_furniture, street_furniture_objects</a:t>
            </a:r>
          </a:p>
          <a:p/>
          <a:p>
            <a:r>
              <a:t>EVIDENCE:</a:t>
            </a:r>
          </a:p>
          <a:p>
            <a:r>
              <a:t>• BGT via PDOK OGC API Features, queried 2026-10-12 08:04 UTC: paal 61 (lichtmast 51, afsluitpaal 10), straatmeubilair 29 (26 benches, 3 play objects), kast 4; current versions only, strictly inside the crop box</a:t>
            </a:r>
          </a:p>
          <a:p>
            <a:r>
              <a:t>• Points within 0.6 m of each pole and more than 1.5 m above the local ground: 0 points 42, 1 to 5 4, 6 to 20 15, more than 20 none</a:t>
            </a:r>
          </a:p>
          <a:p>
            <a:r>
              <a:t>• Poles with at least 6 occupied 0.5 m voxels above 1.5 m: 10, all lamp posts; half of them sit under building or viaduct points</a:t>
            </a:r>
          </a:p>
          <a:p>
            <a:r>
              <a:t>• Our objects against the BGT: the two candidates within 0.51 m and 0.49 m of a lamp post; the third is 4.97 m from the nearest one</a:t>
            </a:r>
          </a:p>
          <a:p>
            <a:r>
              <a:t>• Map: 60 of the 61 poles project inside the render (one falls just outside the frame)</a:t>
            </a:r>
          </a:p>
          <a:p/>
          <a:p>
            <a:r>
              <a:t>MENTAL MODEL: Slide 20 (a point cloud samples the surface unevenly) follows: the density map of this crop explains why poles get few points.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Why so few points on a pole? Because a scanner doesn't see the city, it samples it. This map counts points per square metre in our crop, median 18. Walls and tree crowns stack points into bright lines and spots, and some bands are thin, so a thin pole can fall between the samples. A radius tuned in one corner can fail in the next: measure density and error before you tune anything. We've turned the scan into labels. Now let's look at the Python decisions that made the pipeline fast enough to be practical. Think in arrays and let compiled code loop: first, a quiz.</a:t>
            </a:r>
          </a:p>
          <a:p/>
          <a:p>
            <a:r>
              <a:t>TIME: 40 s, ends at 17:45</a:t>
            </a:r>
          </a:p>
          <a:p/>
          <a:p>
            <a:r>
              <a:t>LIKELY QUESTION: Is the density on the map the density of the surface?</a:t>
            </a:r>
          </a:p>
          <a:p/>
          <a:p>
            <a:r>
              <a:t>ANSWER: Not quite: a map cell counts every point above it, so walls and tree crowns look denser than they are as surfaces; a per-surface density needs normals. And the published accuracy is a specification for the whole data set, not a guarantee for each point.</a:t>
            </a:r>
          </a:p>
          <a:p/>
          <a:p>
            <a:r>
              <a:t>TRACE:</a:t>
            </a:r>
          </a:p>
          <a:p>
            <a:r>
              <a:t>• deck/appendix.yaml C5 (bullets, figure, citations; shown here as a main slide)</a:t>
            </a:r>
          </a:p>
          <a:p>
            <a:r>
              <a:t>• deck/concepts/make_figures.py: deck/assets/concepts/c5_density.png, results/concepts.json c5</a:t>
            </a:r>
          </a:p>
          <a:p>
            <a:r>
              <a:t>• data/utrecht_jaarbeurs_200m.laz</a:t>
            </a:r>
          </a:p>
          <a:p>
            <a:r>
              <a:t>• research: reports/mental_models.md section 6</a:t>
            </a:r>
          </a:p>
          <a:p/>
          <a:p>
            <a:r>
              <a:t>WHY IT MATTERS: Thresholds, radii and quality scores all assume a density and an error level; uneven sampling makes them wrong in parts of the same file.</a:t>
            </a:r>
          </a:p>
          <a:p/>
          <a:p>
            <a:r>
              <a:t>EXAMPLE: NumPy: np.histogram2d(x, y, bins=100, range=[[0, 200], [0, 200]]) gives this density map in one call. laspy: las.return_number and las.number_of_returns tell multiple echoes apart (slide 16).</a:t>
            </a:r>
          </a:p>
          <a:p/>
          <a:p>
            <a:r>
              <a:t>LIMITS AND DISAGREEMENTS:</a:t>
            </a:r>
          </a:p>
          <a:p>
            <a:r>
              <a:t>• Density per map cell mixes surface density with geometry: walls and canopies inflate it. A per-surface density needs normals (C4).</a:t>
            </a:r>
          </a:p>
          <a:p>
            <a:r>
              <a:t>• Published accuracy is a specification for the whole data set, not a guarantee for each point; local errors near edges and on dark or wet surfaces can be larger.</a:t>
            </a:r>
          </a:p>
          <a:p>
            <a:r>
              <a:t>• Which density is enough depends on the object size: lamp posts on slide 19 got few or no points.</a:t>
            </a:r>
          </a:p>
          <a:p/>
          <a:p>
            <a:r>
              <a:t>CITATIONS:</a:t>
            </a:r>
          </a:p>
          <a:p>
            <a:r>
              <a:t>• AHN Kwaliteitsbeschrijving (ahn.nl/kwaliteitsbeschrijving, no date shown, written before 2020): AHN4 height error at most 5 cm systematic and 5 cm stochastic; about 10 to 14 points per m2</a:t>
            </a:r>
          </a:p>
          <a:p>
            <a:r>
              <a:t>• AHN5 tender, Nota van inlichtingen, 2022-08-18 (TenderNed 275983): base requirement 10 points per m2; no AHN5 accuracy figures published</a:t>
            </a:r>
          </a:p>
          <a:p>
            <a:r>
              <a:t>• AHN: The making of (ahn.nl/ahn-making, no date shown, AHN3 process): flight strips overlap about 20 to 35 %, vegetation gives first or intermediate returns</a:t>
            </a:r>
          </a:p>
          <a:p>
            <a:r>
              <a:t>• Manders: AHN3 vs AHN4 for 3D buildings, MSc thesis, 2023 (gdmc.nl; not peer reviewed): facade occlusion</a:t>
            </a:r>
          </a:p>
          <a:p>
            <a:r>
              <a:t>• ASPRS Positional Accuracy Standards, Edition 2, Version 2, approved 2024-06-24 (via Geo Week News, 2024-07-03; ASPRS PDF not fetched)</a:t>
            </a:r>
          </a:p>
          <a:p/>
          <a:p>
            <a:r>
              <a:t>SOURCES AND STATUS:</a:t>
            </a:r>
          </a:p>
          <a:p>
            <a:r>
              <a:t>• Bullet 1 "Here the middle 80 % of cells hold 9 to 22 points per m²...": status token; source: results/concepts.json c5 (data/utrecht_jaarbeurs_200m.laz, 2 m cells)</a:t>
            </a:r>
          </a:p>
          <a:p>
            <a:r>
              <a:t>• Bullet 2 "Occlusion, flight-strip overlap, angle and material decide...": status verified; source: research: reports/mental_models.md section 6</a:t>
            </a:r>
          </a:p>
          <a:p>
            <a:r>
              <a:t>• Bullet 3 "Every point carries error: AHN4 specifies at most 5 cm in...": status verified; source: research: reports/mental_models.md section 6 (AHN Kwaliteitsbeschrijving; AHN5 tender)</a:t>
            </a:r>
          </a:p>
          <a:p/>
          <a:p>
            <a:r>
              <a:t>STATUS KEY: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Quiz time. Both blocks compute the same thing: the distance of all 722 961 points to the ground plane, and they give exactly the same numbers. A loops over the rows in Python; B is one NumPy expression on whole columns. Hands up if you think A is faster. And B? Now the real question: by how much, roughly 2, 10, 100 or 1000 times? Keep your answer in mind.</a:t>
            </a:r>
          </a:p>
          <a:p/>
          <a:p>
            <a:r>
              <a:t>TIME: 75 s, ends at 19:00</a:t>
            </a:r>
          </a:p>
          <a:p/>
          <a:p>
            <a:r>
              <a:t>LIKELY QUESTION: Why not P @ (a, b, c) + d? That's the idiomatic way.</a:t>
            </a:r>
          </a:p>
          <a:p/>
          <a:p>
            <a:r>
              <a:t>ANSWER: In real code, use it. In my final run it even matched the loop bit for bit, but I left it out of the comparison: in my pilot runs OpenBLAS ran it on several threads, while the element-wise form runs on 1 thread, so the factor would mix the boundary with parallelism.</a:t>
            </a:r>
          </a:p>
          <a:p/>
          <a:p>
            <a:r>
              <a:t>TRACE:</a:t>
            </a:r>
          </a:p>
          <a:p>
            <a:r>
              <a:t>• snippets/s16_loop.py</a:t>
            </a:r>
          </a:p>
          <a:p>
            <a:r>
              <a:t>• snippets/s16_vec.py</a:t>
            </a:r>
          </a:p>
          <a:p>
            <a:r>
              <a:t>• results/snippets.json: s16_loop.py.ok, s16_vec.py.ok</a:t>
            </a:r>
          </a:p>
          <a:p>
            <a:r>
              <a:t>• bench/bench_cliff.py</a:t>
            </a:r>
          </a:p>
          <a:p>
            <a:r>
              <a:t>• results/bench_cliff.json: plane.equal, plane.vectorised.threads</a:t>
            </a:r>
          </a:p>
          <a:p>
            <a:r>
              <a:t>• results/bench_cliff.json: plane.matmul_reference (expr, equal, max_abs_diff)</a:t>
            </a:r>
          </a:p>
          <a:p>
            <a:r>
              <a:t>• results/bench_cliff.json: plane.n, plane.array.how (P = las.xyz - las.header.mins, the full crop)</a:t>
            </a:r>
          </a:p>
          <a:p>
            <a:r>
              <a:t>• OpenBLAS threads for @ at 1M points (pilot only): research: reports/perf.md</a:t>
            </a:r>
          </a:p>
          <a:p/>
          <a:p>
            <a:r>
              <a:t>LINE BY LINE:</a:t>
            </a:r>
          </a:p>
          <a:p>
            <a:r>
              <a:t>• A: a, b, c, d = plane (the plane's coefficients from segment_plane); h = np.empty(len(P)) (one result per point); for i, p in enumerate(P) (key line: one Python iteration per point, each p is a row view); x, y, z = p[0], p[1], p[2] (three NumPy scalar lookups); h[i] = abs(a*x + b*y + c*z + d) (scalar arithmetic and one store)</a:t>
            </a:r>
          </a:p>
          <a:p>
            <a:r>
              <a:t>• B: x, y, z = P.T (three column views, no copy); h = np.abs(a*x + b*y + c*z + d) (key line: a handful of NumPy calls, each on all points)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answer: on 722 961 points the loop takes 317 ms and the single expression 2.4 ms: (click) that's 130×, so if you said 100, you win. The axis is logarithmic, otherwise the grey bar would barely show. Same data, same machine, same result; what changed most is how many times we call into compiled code, and memory layout does the rest. Even a loop over plain Python floats, which avoids NumPy scalars, takes 78 ms, plus 107 ms to build those lists with P.tolist(). So where does the time go?</a:t>
            </a:r>
          </a:p>
          <a:p/>
          <a:p>
            <a:r>
              <a:t>TIME: 80 s, ends at 20:20</a:t>
            </a:r>
          </a:p>
          <a:p/>
          <a:p>
            <a:r>
              <a:t>LIKELY QUESTION: The abstract promised two orders of magnitude. Is that what you measured?</a:t>
            </a:r>
          </a:p>
          <a:p/>
          <a:p>
            <a:r>
              <a:t>ANSWER: For this per-point arithmetic: 130×, with an IQR-bounded range of 128× to 131×. For KDTree queries the cliff is smaller, 6.2× on one thread, because each call does more real work; it grows to 58× once the single call uses all cores. More on slide 23 and B4. That is on the column-ordered array laspy gives you; on a row-ordered copy the expression slows to 3.6 ms and the factor drops to 88× (85× to 94×).</a:t>
            </a:r>
          </a:p>
          <a:p/>
          <a:p>
            <a:r>
              <a:t>CHECK BEFORE THE TALK:</a:t>
            </a:r>
          </a:p>
          <a:p>
            <a:r>
              <a:t>• Checked: bench.plane.factor.iqr_low = 128×, at least 100×, so 'two orders of magnitude' may be said, for this loop over NumPy rows only (it is not on the slide)</a:t>
            </a:r>
          </a:p>
          <a:p>
            <a:r>
              <a:t>• The 130× hero holds for laspy's column-ordered array (slide 12 code), not for a C-ordered copy</a:t>
            </a:r>
          </a:p>
          <a:p/>
          <a:p>
            <a:r>
              <a:t>TRACE:</a:t>
            </a:r>
          </a:p>
          <a:p>
            <a:r>
              <a:t>• bench/bench_cliff.py</a:t>
            </a:r>
          </a:p>
          <a:p>
            <a:r>
              <a:t>• results/bench_cliff.json: plane.n, plane.loop_numpy_rows, plane.vectorised, plane.loop_python_floats, plane.factor (median, iqr_low, iqr_high), knn.factor_loop_vs_1t, knn.factor_loop_vs_all, conditions (small print)</a:t>
            </a:r>
          </a:p>
          <a:p>
            <a:r>
              <a:t>• results/bench_cliff.json: plane.sensitivity (vectorised_c_contiguous, factor_c_contiguous, tolist), plane.array (how, dtype, layout: the conditions line)</a:t>
            </a:r>
          </a:p>
          <a:p>
            <a:r>
              <a:t>• Chart data embedded by deck/build_deck.py from these keys</a:t>
            </a:r>
          </a:p>
          <a:p/>
          <a:p>
            <a:r>
              <a:t>CONDITIONS IN FULL (the slide shows the short line): Conditions: Ryzen 7 5700X, 8 cores / 16 threads, 31.3 GiB RAM; Linux (Omarchy, kernel 7.2.5-3-omarchy); Python 3.13.15, NumPy 2.5.3, SciPy 1.18.1, Open3D 0.20.0, laspy 2.7.0; N = 722 961 points, 7 runs after 1 warm-up, median and IQR of wall time over the timed runs; plane loop and expression on 1 thread each (CPU/wall 1.0); governor performance; boost on; measured 2026-10-11 20:08 UTC; data: the AHN5 crop of slide 5 (ahn.nl, Het Waterschapshuis, CC BY 4.0). Array: las.xyz − las.header.mins, float64, column-ordered as laspy returns it; on a row-ordered copy the factor is 88×.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Here's where the time goes: Python above the line, compiled code below. Each loop step makes several small calls into NumPy, a row, three elements, a few scalar operations, and together they cost about 439 ns per point; the same loop on plain Python floats, one NumPy call per step, still costs 107 ns; the work itself costs 3.4 ns per point inside NumPy. It's like sending every point through the toll booth in its own car, when NumPy puts them all on one bus. C++ libraries are no exception: the KDTree query the loop uses costs 9.8 µs even when it finds nothing, against 2.1 µs per point inside one call, so the kNN loop is 6.2× slower than one call. So how do you find such a loop in your own code?</a:t>
            </a:r>
          </a:p>
          <a:p/>
          <a:p>
            <a:r>
              <a:t>TIME: 95 s, ends at 21:55</a:t>
            </a:r>
          </a:p>
          <a:p/>
          <a:p>
            <a:r>
              <a:t>LIKELY QUESTION: Why is the KDTree cliff so much smaller than the plane cliff?</a:t>
            </a:r>
          </a:p>
          <a:p/>
          <a:p>
            <a:r>
              <a:t>ANSWER: Because the factor is roughly toll plus work, divided by work. A KDTree query does microseconds of real work, so a toll of a few microseconds only multiplies the time a few times; plane distance does nanoseconds of work, so the toll dominates. In the synthetic pilot, queries with more neighbours had a smaller cliff.</a:t>
            </a:r>
          </a:p>
          <a:p/>
          <a:p>
            <a:r>
              <a:t>TRACE:</a:t>
            </a:r>
          </a:p>
          <a:p>
            <a:r>
              <a:t>• bench/bench_cliff.py</a:t>
            </a:r>
          </a:p>
          <a:p>
            <a:r>
              <a:t>• results/bench_cliff.json: plane.per_step_ns_loop, plane.per_step_ns_python_floats, plane.per_point_ns_vectorised, knn.k, knn.per_query_us_far_knn, knn.per_query_desc.per_query_us_far_knn (the call: query with k and distance_upper_bound), knn.per_point_us_one_call_1t, knn.factor_loop_vs_1t</a:t>
            </a:r>
          </a:p>
          <a:p>
            <a:r>
              <a:t>• Toll model and neighbour-count sweep: research: reports/perf.md (synthetic pilot)</a:t>
            </a:r>
          </a:p>
          <a:p>
            <a:r>
              <a:t>• Diagram drawn natively by deck/build_deck.py</a:t>
            </a:r>
          </a:p>
          <a:p/>
          <a:p>
            <a:r>
              <a:t>CONDITIONS IN FULL (the slide shows the short line): Conditions: Ryzen 7 5700X, 8 cores / 16 threads, 31.3 GiB RAM; Linux (Omarchy, kernel 7.2.5-3-omarchy); Python 3.13.15, NumPy 2.5.3, SciPy 1.18.1, Open3D 0.20.0, laspy 2.7.0; N = 722 961 points, 7 runs after 1 warm-up, median and IQR of wall time over the timed runs; governor performance; boost on; measured 2026-10-11 20:08 UTC; data: the AHN5 crop of slide 5 (ahn.nl, Het Waterschapshuis, CC BY 4.0). Loop-step time includes indexing and arithmetic, not just call overhead. The NumPy expression makes several array operations; the diagram shows the batching principle.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You don't guess where the time goes; you ask a profiler. I used Scalene, a profiler for Python that shows time per line. One command, on the loop from the quiz. Each bar is one line of code, and its length is its share of the whole run: navy for time in the Python interpreter, blue for time in native code, here NumPy. The line that computes the distance takes 88 percent of the run, and almost all of it is NumPy, one value at a time. The same arithmetic as one expression takes 0.7 percent. These are sample-attributed totals over 30 calls per version, with imports and reading included in the denominator. Slide 22 times one call without the profiler. The repetition count, scope and instrumentation all differ; profiler overhead alone has not been isolated. Use this profile to locate work, and the standalone benchmark for speedup. Could threads rescue this loop?</a:t>
            </a:r>
          </a:p>
          <a:p/>
          <a:p>
            <a:r>
              <a:t>TIME: 55 s, ends at 22:50</a:t>
            </a:r>
          </a:p>
          <a:p/>
          <a:p>
            <a:r>
              <a:t>LIKELY QUESTION: Why do the for line and the indexing line show 0 %?</a:t>
            </a:r>
          </a:p>
          <a:p/>
          <a:p>
            <a:r>
              <a:t>ANSWER: Scalene samples the program with a timer and bills each sample to the line the interpreter is executing when it gets to handle it. A long call into C, such as NumPy arithmetic on scalars, is handled once it returns, so the time of the whole loop turn lands on the last line, the one with abs(). The three lines are one loop turn; read the 0 % lines as part of the 88 %. For a cross-check I also ran cProfile (bench/profile_loop.py), which gives the loop function 66 % of its run and abs() called 722 961 times, once per point.</a:t>
            </a:r>
          </a:p>
          <a:p/>
          <a:p>
            <a:r>
              <a:t>IF SKIPPED: Skip-first number 2. If skipped, say on the next slide shown: "a profiler finds such loops: Scalene puts one line at 88 percent".</a:t>
            </a:r>
          </a:p>
          <a:p/>
          <a:p>
            <a:r>
              <a:t>TRACE:</a:t>
            </a:r>
          </a:p>
          <a:p>
            <a:r>
              <a:t>• bench/profile_loop_scalene.py (runs `scalene run --cpu-only --cpu-sampling-rate 0.001 bench/cpuprof/loop.py --- 30` three times and stores the run with the median loop-line share)</a:t>
            </a:r>
          </a:p>
          <a:p>
            <a:r>
              <a:t>• bench/cpuprof/loop.py (the slide lines of snippets/s16_loop.py and s16_vec.py as two functions, checked by the script itself; the plane from results/bench_cliff.json plane.coefficients; each function called 30 times so Scalene gets enough samples)</a:t>
            </a:r>
          </a:p>
          <a:p>
            <a:r>
              <a:t>• results/profile_scalene.json (label FINAL): lines.for, lines.unpack, lines.loop_body, lines.vectorised (python, native, system, total, samples), loop_native_fraction, factor_loop_vs_vectorised, rest_percent, conditions</a:t>
            </a:r>
          </a:p>
          <a:p>
            <a:r>
              <a:t>• Cross-check, not on the slide: cProfile, results/profile_loop.json and .txt (bench/profile_loop.py). The loop is 0.4 s of a 0.6 s run there; unprofiled, slide 22 gives the loop against the expression</a:t>
            </a:r>
          </a:p>
          <a:p/>
          <a:p>
            <a:r>
              <a:t>HOW TO READ IT:</a:t>
            </a:r>
          </a:p>
          <a:p>
            <a:r>
              <a:t>• Rows: the lines of the slide-18 loop (for, unpack, distance) and the one-expression version; bars: percent of the whole profiled run, 100 % being the full bar width</a:t>
            </a:r>
          </a:p>
          <a:p>
            <a:r>
              <a:t>• Colours: navy = time in the Python interpreter, blue = time in native code that the line calls (NumPy here), grey = system (waiting, I/O)</a:t>
            </a:r>
          </a:p>
          <a:p>
            <a:r>
              <a:t>• The distance line: 88 % of the run, of which 4.1 % Python, 82.3 % native, 1.7 % system. Native is NumPy arithmetic and abs on single np.float64 values: compiled code, but called 722 961 times, one point per call, which is the toll</a:t>
            </a:r>
          </a:p>
          <a:p>
            <a:r>
              <a:t>• The rest of the run (11.3 %) is imports and reading the LAZ file</a:t>
            </a:r>
          </a:p>
          <a:p>
            <a:r>
              <a:t>• The NumPy expression: 0.7 % of the run; Scalene says the loop line is 133 times the expression line, slide 22 measured 130×</a:t>
            </a:r>
          </a:p>
          <a:p>
            <a:r>
              <a:t>• Sampling: every 1.0 ms, 30 repeats of both functions; loop line shares of the three runs 87.9, 88.0 and 88.4 %</a:t>
            </a:r>
          </a:p>
          <a:p>
            <a:r>
              <a:t>• Run it: uv run --group profile scalene run --cpu-only -o out.json bench/cpuprof/loop.py, then scalene view out.json. Scalene skips any path with "scalene" in it; the directory is cpuprof for that reason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Python 3.14 ships a free-threaded build, so I split the same loop over threads. With the GIL, 8 threads gain nothing; on Python 3.14t, without the GIL, they make the loop 5.5× faster. One NumPy call on one thread is still 27× faster than that. Free threading spreads the toll over your cores; it doesn't remove it. Now the other way 3D data hurts: memory.</a:t>
            </a:r>
          </a:p>
          <a:p/>
          <a:p>
            <a:r>
              <a:t>TIME: 50 s, ends at 23:40</a:t>
            </a:r>
          </a:p>
          <a:p/>
          <a:p>
            <a:r>
              <a:t>LIKELY QUESTION: What about more threads, or multiprocessing?</a:t>
            </a:r>
          </a:p>
          <a:p/>
          <a:p>
            <a:r>
              <a:t>ANSWER: On this CPU with 8 cores, 8 threads were the fastest I measured, 61 ms; all 16 hardware threads took 75 ms. I didn't benchmark multiprocessing; it would also have to copy or share the array.</a:t>
            </a:r>
          </a:p>
          <a:p/>
          <a:p>
            <a:r>
              <a:t>IF SKIPPED: Skip-first number 1. If skipped, say on slide 26: 'free-threaded Python spreads the toll over your cores but doesn't remove it; now, memory'.</a:t>
            </a:r>
          </a:p>
          <a:p/>
          <a:p>
            <a:r>
              <a:t>CHECK BEFORE THE TALK:</a:t>
            </a:r>
          </a:p>
          <a:p>
            <a:r>
              <a:t>• Say 'free-threaded build' (3.14t). The default CPython build still has the GIL</a:t>
            </a:r>
          </a:p>
          <a:p/>
          <a:p>
            <a:r>
              <a:t>TRACE:</a:t>
            </a:r>
          </a:p>
          <a:p>
            <a:r>
              <a:t>• bench/bench_freethreaded.py (driver in the project venv; workers in two throw-away venvs: CPython 3.14.7 free-threaded and default build, numpy and laspy[lazrs] only)</a:t>
            </a:r>
          </a:p>
          <a:p>
            <a:r>
              <a:t>• results/bench_freethreaded.json: builds.free_threaded.timings (loop, threads_1 to threads_16, vectorised), builds.gil.timings, summary (best_threads_ft, ft_speedup_best_vs_loop, ft_vectorised_vs_best_threads, gil_speedup_vs_loop), builds.*.gil_enabled_at_end, builds.*.equal_to_vectorised, conditions</a:t>
            </a:r>
          </a:p>
          <a:p>
            <a:r>
              <a:t>• Loop: the slide region of snippets/s16_loop.py compiled verbatim; threads: the same body over contiguous slices of P, ThreadPoolExecutor; vectorised: snippets/s16_vec.py</a:t>
            </a:r>
          </a:p>
          <a:p>
            <a:r>
              <a:t>• 1 warm-up round and 7 timed rounds, variants in a seeded random order per round; load average below 1.0 before each build</a:t>
            </a:r>
          </a:p>
          <a:p/>
          <a:p>
            <a:r>
              <a:t>CONDITIONS IN FULL (the slide shows the short line): Conditions: Ryzen 7 5700X, 8 cores / 16 threads, 31.3 GiB RAM; Linux (Omarchy, kernel 7.2.5-3-omarchy); CPython 3.14.7 free-threaded build (sys._is_gil_enabled() returns False) and the default build 3.14.7, NumPy 2.5.4, laspy 2.7.0; N = 722 961 points, 7 runs after 1 warm-up, median and IQR of wall time over the timed runs; governor performance; boost on; measured 2026-10-11 20:07 UTC; data: the AHN5 crop of slide 5 (ahn.nl, Het Waterschapshuis, CC BY 4.0). Loop: the slide 21 loop. Threads: the same loop body over N slices of P, concurrent.futures.ThreadPoolExecutor. Default build with the GIL: loop 327 ms, 8 threads 347 ms.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Memory is the fourth engineering decision. The large file has 926 203 338 points. Its LAS records and float64 xyz alone require 46.6 GiB, calculated from the record sizes. On the smaller 1 km tile I measured about 86 bytes retained per input point by loading and voxel downsampling, with all arrays kept. Extrapolating gives 74.2 GiB; this is not the full classifier or peak memory. The peak extrapolation is 133.1 GiB, and neither was run on the large file. Chunked first-per-voxel processing measured 0.8 GiB peak on the 1 km tile. It is not a constant-memory guarantee: survivors and the output accumulate, and first points differ from Open3D centroids. Make it small first, and budget copies and temporaries deliberately.</a:t>
            </a:r>
          </a:p>
          <a:p/>
          <a:p>
            <a:r>
              <a:t>TIME: 55 s, ends at 24:35</a:t>
            </a:r>
          </a:p>
          <a:p/>
          <a:p>
            <a:r>
              <a:t>LIKELY QUESTION: The LAS record is 30 bytes. Why do you need so many more?</a:t>
            </a:r>
          </a:p>
          <a:p/>
          <a:p>
            <a:r>
              <a:t>ANSWER: Because a working pipeline holds more than the record. Measured on the 1 km file: laspy.read peaks at 38 and keeps 30 bytes per point, the float64 xyz array adds 24, Open3D's own copy adds 24, and the downsampled cloud makes up the rest. Scaling to billions of points is on backup slide B2.</a:t>
            </a:r>
          </a:p>
          <a:p/>
          <a:p>
            <a:r>
              <a:t>CHECKPOINT: Arrive here by 23:45. Later than that: skip this slide.</a:t>
            </a:r>
          </a:p>
          <a:p/>
          <a:p>
            <a:r>
              <a:t>IF SKIPPED: Skip-first number 3. If skipped, say the one fact on slide 26: "a full-size AHN file has 926 203 338 points".</a:t>
            </a:r>
          </a:p>
          <a:p/>
          <a:p>
            <a:r>
              <a:t>TRACE:</a:t>
            </a:r>
          </a:p>
          <a:p>
            <a:r>
              <a:t>• Small print: Bytes per point measured on the 1 km AHN file 135000_455000 (21 013 926 points); totals for 2023_C_31HZ2.LAZ computed, not run. Our pipeline: load and voxel downsampling (slides 12 and 13), all arrays kept, after gc.collect() and malloc_trim(0); peak 154 B per point.</a:t>
            </a:r>
          </a:p>
          <a:p>
            <a:r>
              <a:t>• bench/bench_memory.py</a:t>
            </a:r>
          </a:p>
          <a:p>
            <a:r>
              <a:t>• results/memory.json: tile_1km.points, tile_1km.bytes_per_point (all five keys), big_file.points, big_file.computed_gb, ram_reference_gb</a:t>
            </a:r>
          </a:p>
          <a:p>
            <a:r>
              <a:t>• results/memory.json: big_file.formulas (las_records uses the record size, our_pipeline the measured bytes per point)</a:t>
            </a:r>
          </a:p>
          <a:p>
            <a:r>
              <a:t>• Our pipeline = bench/bench_memory.py case 'pipeline': laspy.read, xyz, Open3D copy, voxel_down_sample, everything kept (slides 12 and 13); the rest of the 86 B per point: the kept centroids, results/memory.json tile_1km.naive_kept_open3d_centroids</a:t>
            </a:r>
          </a:p>
          <a:p>
            <a:r>
              <a:t>• big_file.points: LAS header via a 64 KB range request; the header bounds contain the crop (research: dataset/top_tile_headers.txt; size in km: results/research_facts.json ahn5_c_31hz2)</a:t>
            </a:r>
          </a:p>
          <a:p>
            <a:r>
              <a:t>• Record size for point format 6: results/memory.json tile_1km.record_bytes; LAS 1.4 R16 and laspy.PointFormat(6).size (research: reports/memory.md, notes/verify_facts.json)</a:t>
            </a:r>
          </a:p>
          <a:p>
            <a:r>
              <a:t>• Machine line: results/memory.json conditions.ram_gib (the machine all measurements ran on)</a:t>
            </a:r>
          </a:p>
          <a:p/>
          <a:p>
            <a:r>
              <a:t>CONDITIONS IN FULL (the slide shows the short line): Conditions: Ryzen 7 5700X, 8 cores / 16 threads, 31.3 GiB RAM; Linux (Omarchy, kernel 7.2.5-3-omarchy); Python 3.13.15, NumPy 2.5.3, SciPy 1.18.1, Open3D 0.20.0, laspy 2.7.0; N = 21 013 926 points, median of 3 runs, each in a fresh subprocess; governor performance; boost on; measured 2026-10-11 20:10 UTC; data: AHN file 135000_455000 (AHN5, ahn.nl, Het Waterschapshuis, CC BY 4.0). Memory: increase over the process after imports; 1 GiB = 2³⁰ bytes.</a:t>
            </a:r>
          </a:p>
          <a:p/>
          <a:p>
            <a:r>
              <a:t>WHAT IS ON THE SLIDE:</a:t>
            </a:r>
          </a:p>
          <a:p>
            <a:r>
              <a:t>• Title: the AHN5 file that holds this area, 2023_C_31HZ2, is 5 by 6.25 km with 926 203 338 points; loading it whole needs more than the 32 GiB of a big laptop</a:t>
            </a:r>
          </a:p>
          <a:p>
            <a:r>
              <a:t>• Bars: one reference bar, 32 GiB of RAM (navy), then three computed bars for that file: the LAS records alone (30 B per point for point format 6), plus a float64 xyz copy (24 B per point more), and our load and voxel steps with every array kept (86 B per point); the dashed line is 32 GiB</a:t>
            </a:r>
          </a:p>
          <a:p>
            <a:r>
              <a:t>• Computed, not run: bytes per point measured on the 1 km file (21 013 926 points), multiplied by the big file's point count</a:t>
            </a:r>
          </a:p>
          <a:p>
            <a:r>
              <a:t>• Hero: 86 B per point; where they go: laspy.read keeps 30, xyz adds 24, Open3D's copy 24, the voxel centroids the rest; the peak while running is 154 B per point</a:t>
            </a:r>
          </a:p>
          <a:p>
            <a:r>
              <a:t>• Machine line: the RAM of the machine everything ran on, 31.3 GiB</a:t>
            </a:r>
          </a:p>
          <a:p>
            <a:r>
              <a:t>• Units: GiB = 2^30 bytes; memory figures are the increase over the process after its imports</a:t>
            </a:r>
          </a:p>
          <a:p/>
          <a:p>
            <a:r>
              <a:t>MENTAL MODEL: Hidden C6 (memory follows N and the algorithm): linear storage against quadratic pairwise distances.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So, the four rules again, now with the evidence from this talk. Think in arrays: 722 961 by 3, passed between four libraries as views wherever possible. Look before you compute: 61 poles on the map, 3 found, and the data told us why. Make it small first: streaming took the 1 km file from 3.0 GiB to 0.8 GiB. And let compiled code loop: the loop over rows was 130× slower. And you can copy every line of it.</a:t>
            </a:r>
          </a:p>
          <a:p/>
          <a:p>
            <a:r>
              <a:t>TIME: 60 s, ends at 29:10</a:t>
            </a:r>
          </a:p>
          <a:p/>
          <a:p>
            <a:r>
              <a:t>LIKELY QUESTION: Do these rules apply outside 3D?</a:t>
            </a:r>
          </a:p>
          <a:p/>
          <a:p>
            <a:r>
              <a:t>ANSWER: Three of them are plain data engineering, and the compiled-loop one holds wherever Python calls into compiled code, because the toll is per call. But I only measured them in this pipeline, so that's the evidence I can show.</a:t>
            </a:r>
          </a:p>
          <a:p/>
          <a:p>
            <a:r>
              <a:t>TRACE:</a:t>
            </a:r>
          </a:p>
          <a:p>
            <a:r>
              <a:t>• content.yaml slide 27 rules (the rules of slide 8 with evidence); tokens: results/pipeline.json crop.points and n_objects, results/bgt_street_furniture.json collections.paal.n, results/memory.json tile_1km peaks, results/bench_cliff.json plane.factor</a:t>
            </a:r>
          </a:p>
          <a:p>
            <a:r>
              <a:t>• Replaces the old 'Three habits' tiles and the 'Loop over tiles, never over points' statement slide (both removed on 2026-10-12)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Everything you saw is in the repo behind this QR code: the pipeline, the snippets and the benchmarks. The point cloud is AHN5 from Het Waterschapshuis under CC BY 4.0, so you can use it too, as long as you credit it. Thank you to the Python community and to all of you for being here. I'm happy to take questions.</a:t>
            </a:r>
          </a:p>
          <a:p/>
          <a:p>
            <a:r>
              <a:t>TIME: 50 s, ends at 30:00</a:t>
            </a:r>
          </a:p>
          <a:p/>
          <a:p>
            <a:r>
              <a:t>LIKELY QUESTION: Is this talk based on the O'Reilly book with the same title?</a:t>
            </a:r>
          </a:p>
          <a:p/>
          <a:p>
            <a:r>
              <a:t>ANSWER: No. The title is shared with Florent Poux's O'Reilly book from 2025; this talk and its code are independent. His YouTube channel is a good next step: backup B5 tests his PCA plus Random Forest idea on this area, and B6 lists the data sources from his beginner video.</a:t>
            </a:r>
          </a:p>
          <a:p/>
          <a:p>
            <a:r>
              <a:t>CHECK BEFORE THE TALK:</a:t>
            </a:r>
          </a:p>
          <a:p>
            <a:r>
              <a:t>• Publish the repo URL and QR only after the repo clean-up listed in the open items (docs/OPEN_ITEMS.md, section f)</a:t>
            </a:r>
          </a:p>
          <a:p>
            <a:r>
              <a:t>• Book title overlap is covered only if asked; the closing slide keeps the data attribution.</a:t>
            </a:r>
          </a:p>
          <a:p/>
          <a:p>
            <a:r>
              <a:t>TRACE:</a:t>
            </a:r>
          </a:p>
          <a:p>
            <a:r>
              <a:t>• content.yaml slide 28: QR repository returned HTTP 200 on 2026-10-14; contact is configured.</a:t>
            </a:r>
          </a:p>
          <a:p>
            <a:r>
              <a:t>• content.yaml meta.source_ahn (licence: research: reports/dataset.md)</a:t>
            </a:r>
          </a:p>
          <a:p>
            <a:r>
              <a:t>• Book title and year: research: reports/book.md</a:t>
            </a:r>
          </a:p>
          <a:p>
            <a:r>
              <a:t>• Poux's videos used for B5 and B6: research: reports/videos.md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type="title">
  <p:cSld name="Title">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1600200"/>
            <a:ext cx="502920" cy="64008"/>
          </a:xfrm>
          <a:prstGeom prst="rect">
            <a:avLst/>
          </a:prstGeom>
          <a:solidFill>
            <a:schemeClr val="accent2"/>
          </a:solidFill>
          <a:ln>
            <a:noFill/>
          </a:ln>
        </p:spPr>
      </p:sp>
      <p:sp>
        <p:nvSpPr>
          <p:cNvPr id="3" name="Title"/>
          <p:cNvSpPr>
            <a:spLocks noGrp="1"/>
          </p:cNvSpPr>
          <p:nvPr>
            <p:ph type="ctrTitle"/>
          </p:nvPr>
        </p:nvSpPr>
        <p:spPr>
          <a:xfrm>
            <a:off x="548640" y="1783080"/>
            <a:ext cx="11094720" cy="91440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5400">
                <a:solidFill>
                  <a:schemeClr val="bg1"/>
                </a:solidFill>
              </a:defRPr>
            </a:lvl1pPr>
          </a:lstStyle>
          <a:p>
            <a:r>
              <a:rPr lang="en-GB" dirty="0"/>
              <a:t>Talk title</a:t>
            </a:r>
            <a:endParaRPr lang="en-GB" dirty="0"/>
          </a:p>
        </p:txBody>
      </p:sp>
      <p:sp>
        <p:nvSpPr>
          <p:cNvPr id="4" name="Subtitle"/>
          <p:cNvSpPr>
            <a:spLocks noGrp="1"/>
          </p:cNvSpPr>
          <p:nvPr>
            <p:ph type="subTitle" idx="1"/>
          </p:nvPr>
        </p:nvSpPr>
        <p:spPr>
          <a:xfrm>
            <a:off x="548640" y="2926080"/>
            <a:ext cx="9601200" cy="86868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400">
                <a:solidFill>
                  <a:schemeClr val="accent2"/>
                </a:solidFill>
                <a:latin typeface="Fira Mono" panose="020B0509050000020004" pitchFamily="49" charset="0"/>
              </a:defRPr>
            </a:lvl1pPr>
          </a:lstStyle>
          <a:p>
            <a:r>
              <a:rPr lang="en-GB" dirty="0"/>
              <a:t>Subtitle or code line, two lines of Fira Mono 24 pt</a:t>
            </a:r>
            <a:endParaRPr lang="en-GB" dirty="0"/>
          </a:p>
        </p:txBody>
      </p:sp>
      <p:sp>
        <p:nvSpPr>
          <p:cNvPr id="5" name="Presenter"/>
          <p:cNvSpPr>
            <a:spLocks noGrp="1"/>
          </p:cNvSpPr>
          <p:nvPr>
            <p:ph type="body" idx="13"/>
          </p:nvPr>
        </p:nvSpPr>
        <p:spPr>
          <a:xfrm>
            <a:off x="548640" y="5212080"/>
            <a:ext cx="8168640" cy="109728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600"/>
              </a:spcAft>
              <a:buNone/>
              <a:defRPr lang="en-GB" sz="2400">
                <a:solidFill>
                  <a:schemeClr val="bg1"/>
                </a:solidFill>
              </a:defRPr>
            </a:lvl1pPr>
          </a:lstStyle>
          <a:p>
            <a:r>
              <a:rPr lang="en-GB" dirty="0"/>
              <a:t>Speaker name · role · repo URL</a:t>
            </a:r>
            <a:endParaRPr lang="en-GB" dirty="0"/>
          </a:p>
        </p:txBody>
      </p:sp>
      <p:sp>
        <p:nvSpPr>
          <p:cNvPr id="6" name="Logo zone"/>
          <p:cNvSpPr>
            <a:spLocks noGrp="1"/>
          </p:cNvSpPr>
          <p:nvPr>
            <p:ph type="pic" idx="16"/>
          </p:nvPr>
        </p:nvSpPr>
        <p:spPr>
          <a:xfrm>
            <a:off x="8991600" y="5120640"/>
            <a:ext cx="2651760" cy="1188720"/>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PyCon NL logo (file and permission pending)</a:t>
            </a:r>
            <a:endParaRPr lang="en-GB" dirty="0"/>
          </a:p>
        </p:txBody>
      </p:sp>
    </p:spTree>
  </p:cSld>
  <p:clrMapOvr>
    <a:overrideClrMapping bg1="lt1" tx1="dk1" bg2="lt2" tx2="dk2" accent1="accent1" accent2="accent2" accent3="accent3" accent4="accent4" accent5="accent5" accent6="accent6" hlink="accent2" folHlink="accent2"/>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Agenda list"/>
          <p:cNvSpPr>
            <a:spLocks noGrp="1"/>
          </p:cNvSpPr>
          <p:nvPr>
            <p:ph idx="1"/>
          </p:nvPr>
        </p:nvSpPr>
        <p:spPr>
          <a:xfrm>
            <a:off x="548640" y="1554480"/>
            <a:ext cx="11094720" cy="4663152"/>
          </a:xfrm>
        </p:spPr>
        <p:txBody>
          <a:bodyPr vert="horz" wrap="square" lIns="0" tIns="0" rIns="0" bIns="0" rtlCol="0" anchor="t">
            <a:noAutofit/>
          </a:bodyPr>
          <a:lstStyle>
            <a:lvl1pPr marL="457200" indent="-457200" algn="l" defTabSz="457200" rtl="0" eaLnBrk="1" latinLnBrk="0" hangingPunct="1">
              <a:lnSpc>
                <a:spcPct val="100000"/>
              </a:lnSpc>
              <a:spcBef>
                <a:spcPts val="0"/>
              </a:spcBef>
              <a:spcAft>
                <a:spcPts val="1000"/>
              </a:spcAft>
              <a:buClr>
                <a:schemeClr val="accent1"/>
              </a:buClr>
              <a:buFont typeface="+mj-lt"/>
              <a:buAutoNum type="arabicPeriod"/>
              <a:defRPr lang="en-GB" sz="2400"/>
            </a:lvl1pPr>
          </a:lstStyle>
          <a:p>
            <a:r>
              <a:rPr lang="en-GB" dirty="0"/>
              <a:t>Agenda item</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type="secHead">
  <p:cSld name="Section">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2377440"/>
            <a:ext cx="502920" cy="64008"/>
          </a:xfrm>
          <a:prstGeom prst="rect">
            <a:avLst/>
          </a:prstGeom>
          <a:solidFill>
            <a:schemeClr val="accent2"/>
          </a:solidFill>
          <a:ln>
            <a:noFill/>
          </a:ln>
        </p:spPr>
      </p:sp>
      <p:sp>
        <p:nvSpPr>
          <p:cNvPr id="3" name="Title"/>
          <p:cNvSpPr>
            <a:spLocks noGrp="1"/>
          </p:cNvSpPr>
          <p:nvPr>
            <p:ph type="title"/>
          </p:nvPr>
        </p:nvSpPr>
        <p:spPr>
          <a:xfrm>
            <a:off x="548640" y="2560320"/>
            <a:ext cx="11094720" cy="91440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4400">
                <a:solidFill>
                  <a:schemeClr val="bg1"/>
                </a:solidFill>
              </a:defRPr>
            </a:lvl1pPr>
          </a:lstStyle>
          <a:p>
            <a:r>
              <a:rPr lang="en-GB" dirty="0"/>
              <a:t>Section title</a:t>
            </a:r>
            <a:endParaRPr lang="en-GB" dirty="0"/>
          </a:p>
        </p:txBody>
      </p:sp>
      <p:sp>
        <p:nvSpPr>
          <p:cNvPr id="4" name="Section line"/>
          <p:cNvSpPr>
            <a:spLocks noGrp="1"/>
          </p:cNvSpPr>
          <p:nvPr>
            <p:ph type="body" idx="1"/>
          </p:nvPr>
        </p:nvSpPr>
        <p:spPr>
          <a:xfrm>
            <a:off x="548640" y="3611880"/>
            <a:ext cx="11094720" cy="82296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400">
                <a:solidFill>
                  <a:schemeClr val="accent2"/>
                </a:solidFill>
              </a:defRPr>
            </a:lvl1pPr>
          </a:lstStyle>
          <a:p>
            <a:r>
              <a:rPr lang="en-GB" dirty="0"/>
              <a:t>What this section answers</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2"/>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2"/>
                </a:solidFill>
              </a:defRPr>
            </a:lvl1pPr>
          </a:lstStyle>
          <a:p>
            <a:fld id="{B6F15528-21DE-4FAA-801E-634DDDAF4B2B}" type="slidenum">
              <a:rPr lang="en-GB"/>
              <a:t>‹#›</a:t>
            </a:fld>
            <a:endParaRPr lang="en-GB" dirty="0"/>
          </a:p>
        </p:txBody>
      </p:sp>
    </p:spTree>
  </p:cSld>
  <p:clrMapOvr>
    <a:overrideClrMapping bg1="lt1" tx1="dk1" bg2="lt2" tx2="dk2" accent1="accent1" accent2="accent2" accent3="accent3" accent4="accent4" accent5="accent5" accent6="accent6" hlink="accent2" folHlink="accent2"/>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type="obj">
  <p:cSld name="Title and conten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Content"/>
          <p:cNvSpPr>
            <a:spLocks noGrp="1"/>
          </p:cNvSpPr>
          <p:nvPr>
            <p:ph idx="1"/>
          </p:nvPr>
        </p:nvSpPr>
        <p:spPr>
          <a:xfrm>
            <a:off x="548640" y="1554480"/>
            <a:ext cx="11094720" cy="4663152"/>
          </a:xfrm>
        </p:spPr>
        <p:txBody>
          <a:bodyPr vert="horz" wrap="square" lIns="0" tIns="0" rIns="0" bIns="0" rtlCol="0" anchor="t">
            <a:noAutofit/>
          </a:bodyPr>
          <a:lstStyle/>
          <a:p>
            <a:r>
              <a:rPr lang="en-GB" dirty="0"/>
              <a:t>Content: one visual, or body text at 24 pt</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type="twoObj">
  <p:cSld name="Two columns">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Left column"/>
          <p:cNvSpPr>
            <a:spLocks noGrp="1"/>
          </p:cNvSpPr>
          <p:nvPr>
            <p:ph idx="1"/>
          </p:nvPr>
        </p:nvSpPr>
        <p:spPr>
          <a:xfrm>
            <a:off x="548640" y="1554480"/>
            <a:ext cx="5318760" cy="4663152"/>
          </a:xfrm>
        </p:spPr>
        <p:txBody>
          <a:bodyPr vert="horz" wrap="square" lIns="0" tIns="0" rIns="0" bIns="0" rtlCol="0" anchor="t">
            <a:noAutofit/>
          </a:bodyPr>
          <a:lstStyle/>
          <a:p>
            <a:r>
              <a:rPr lang="en-GB" dirty="0"/>
              <a:t>Left column</a:t>
            </a:r>
            <a:endParaRPr lang="en-GB" dirty="0"/>
          </a:p>
        </p:txBody>
      </p:sp>
      <p:sp>
        <p:nvSpPr>
          <p:cNvPr id="5" name="Right column"/>
          <p:cNvSpPr>
            <a:spLocks noGrp="1"/>
          </p:cNvSpPr>
          <p:nvPr>
            <p:ph idx="2"/>
          </p:nvPr>
        </p:nvSpPr>
        <p:spPr>
          <a:xfrm>
            <a:off x="6324600" y="1554480"/>
            <a:ext cx="5318760" cy="4663152"/>
          </a:xfrm>
        </p:spPr>
        <p:txBody>
          <a:bodyPr vert="horz" wrap="square" lIns="0" tIns="0" rIns="0" bIns="0" rtlCol="0" anchor="t">
            <a:noAutofit/>
          </a:bodyPr>
          <a:lstStyle/>
          <a:p>
            <a:r>
              <a:rPr lang="en-GB" dirty="0"/>
              <a:t>Right column</a:t>
            </a:r>
            <a:endParaRPr lang="en-GB" dirty="0"/>
          </a:p>
        </p:txBody>
      </p:sp>
      <p:sp>
        <p:nvSpPr>
          <p:cNvPr id="6"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7"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1874520"/>
            <a:ext cx="502920" cy="64008"/>
          </a:xfrm>
          <a:prstGeom prst="rect">
            <a:avLst/>
          </a:prstGeom>
          <a:solidFill>
            <a:schemeClr val="accent2"/>
          </a:solidFill>
          <a:ln>
            <a:noFill/>
          </a:ln>
        </p:spPr>
      </p:sp>
      <p:sp>
        <p:nvSpPr>
          <p:cNvPr id="3" name="Statement"/>
          <p:cNvSpPr>
            <a:spLocks noGrp="1"/>
          </p:cNvSpPr>
          <p:nvPr>
            <p:ph type="title"/>
          </p:nvPr>
        </p:nvSpPr>
        <p:spPr>
          <a:xfrm>
            <a:off x="548640" y="2057400"/>
            <a:ext cx="10058400" cy="155448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4800">
                <a:solidFill>
                  <a:schemeClr val="bg1"/>
                </a:solidFill>
              </a:defRPr>
            </a:lvl1pPr>
          </a:lstStyle>
          <a:p>
            <a:r>
              <a:rPr lang="en-GB" dirty="0"/>
              <a:t>One statement, max 8 words</a:t>
            </a:r>
            <a:endParaRPr lang="en-GB" dirty="0"/>
          </a:p>
        </p:txBody>
      </p:sp>
      <p:sp>
        <p:nvSpPr>
          <p:cNvPr id="4" name="Support"/>
          <p:cNvSpPr>
            <a:spLocks noGrp="1"/>
          </p:cNvSpPr>
          <p:nvPr>
            <p:ph type="body" idx="1"/>
          </p:nvPr>
        </p:nvSpPr>
        <p:spPr>
          <a:xfrm>
            <a:off x="548640" y="3794760"/>
            <a:ext cx="10058400" cy="128016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800">
                <a:solidFill>
                  <a:schemeClr val="accent2"/>
                </a:solidFill>
              </a:defRPr>
            </a:lvl1pPr>
          </a:lstStyle>
          <a:p>
            <a:r>
              <a:rPr lang="en-GB" dirty="0"/>
              <a:t>Optional support line or code</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2"/>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2"/>
                </a:solidFill>
              </a:defRPr>
            </a:lvl1pPr>
          </a:lstStyle>
          <a:p>
            <a:fld id="{B6F15528-21DE-4FAA-801E-634DDDAF4B2B}" type="slidenum">
              <a:rPr lang="en-GB"/>
              <a:t>‹#›</a:t>
            </a:fld>
            <a:endParaRPr lang="en-GB" dirty="0"/>
          </a:p>
        </p:txBody>
      </p:sp>
    </p:spTree>
  </p:cSld>
  <p:clrMapOvr>
    <a:overrideClrMapping bg1="lt1" tx1="dk1" bg2="lt2" tx2="dk2" accent1="accent1" accent2="accent2" accent3="accent3" accent4="accent4" accent5="accent5" accent6="accent6" hlink="accent2" folHlink="accent2"/>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left, media righ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5613882" cy="1005840"/>
          </a:xfrm>
        </p:spPr>
        <p:txBody>
          <a:bodyPr vert="horz" wrap="square" lIns="0" tIns="0" rIns="0" bIns="0" rtlCol="0" anchor="t">
            <a:noAutofit/>
          </a:bodyPr>
          <a:lstStyle/>
          <a:p>
            <a:r>
              <a:rPr lang="en-GB" dirty="0"/>
              <a:t>Title in sentence case, max 8 words</a:t>
            </a:r>
            <a:endParaRPr lang="en-GB" dirty="0"/>
          </a:p>
        </p:txBody>
      </p:sp>
      <p:sp>
        <p:nvSpPr>
          <p:cNvPr id="4" name="Text column"/>
          <p:cNvSpPr>
            <a:spLocks noGrp="1"/>
          </p:cNvSpPr>
          <p:nvPr>
            <p:ph idx="14"/>
          </p:nvPr>
        </p:nvSpPr>
        <p:spPr>
          <a:xfrm>
            <a:off x="548640" y="1965960"/>
            <a:ext cx="5613882" cy="4251672"/>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000"/>
            </a:lvl1pPr>
          </a:lstStyle>
          <a:p>
            <a:r>
              <a:rPr lang="en-GB" dirty="0"/>
              <a:t>Code (18 pt) or text (20 pt), support line, source line</a:t>
            </a:r>
            <a:endParaRPr lang="en-GB" dirty="0"/>
          </a:p>
        </p:txBody>
      </p:sp>
      <p:sp>
        <p:nvSpPr>
          <p:cNvPr id="5" name="Media"/>
          <p:cNvSpPr>
            <a:spLocks noGrp="1"/>
          </p:cNvSpPr>
          <p:nvPr>
            <p:ph type="pic" idx="18"/>
          </p:nvPr>
        </p:nvSpPr>
        <p:spPr>
          <a:xfrm>
            <a:off x="6619722" y="548640"/>
            <a:ext cx="5023638" cy="5668992"/>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Render, 1588 × 1792 px</a:t>
            </a:r>
            <a:endParaRPr lang="en-GB" dirty="0"/>
          </a:p>
        </p:txBody>
      </p:sp>
      <p:sp>
        <p:nvSpPr>
          <p:cNvPr id="6"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7"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edia left, text righ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6029478" y="548640"/>
            <a:ext cx="502920" cy="64008"/>
          </a:xfrm>
          <a:prstGeom prst="rect">
            <a:avLst/>
          </a:prstGeom>
          <a:solidFill>
            <a:schemeClr val="accent1"/>
          </a:solidFill>
          <a:ln>
            <a:noFill/>
          </a:ln>
        </p:spPr>
      </p:sp>
      <p:sp>
        <p:nvSpPr>
          <p:cNvPr id="3" name="Title"/>
          <p:cNvSpPr>
            <a:spLocks noGrp="1"/>
          </p:cNvSpPr>
          <p:nvPr>
            <p:ph type="title"/>
          </p:nvPr>
        </p:nvSpPr>
        <p:spPr>
          <a:xfrm>
            <a:off x="6029478" y="731520"/>
            <a:ext cx="5613882" cy="1005840"/>
          </a:xfrm>
        </p:spPr>
        <p:txBody>
          <a:bodyPr vert="horz" wrap="square" lIns="0" tIns="0" rIns="0" bIns="0" rtlCol="0" anchor="t">
            <a:noAutofit/>
          </a:bodyPr>
          <a:lstStyle/>
          <a:p>
            <a:r>
              <a:rPr lang="en-GB" dirty="0"/>
              <a:t>Title in sentence case, max 8 words</a:t>
            </a:r>
            <a:endParaRPr lang="en-GB" dirty="0"/>
          </a:p>
        </p:txBody>
      </p:sp>
      <p:sp>
        <p:nvSpPr>
          <p:cNvPr id="4" name="Text column"/>
          <p:cNvSpPr>
            <a:spLocks noGrp="1"/>
          </p:cNvSpPr>
          <p:nvPr>
            <p:ph idx="14"/>
          </p:nvPr>
        </p:nvSpPr>
        <p:spPr>
          <a:xfrm>
            <a:off x="6029478" y="1965960"/>
            <a:ext cx="5613882" cy="4251672"/>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000"/>
            </a:lvl1pPr>
          </a:lstStyle>
          <a:p>
            <a:r>
              <a:rPr lang="en-GB" dirty="0"/>
              <a:t>Code (18 pt) or text (20 pt), support line, source line</a:t>
            </a:r>
            <a:endParaRPr lang="en-GB" dirty="0"/>
          </a:p>
        </p:txBody>
      </p:sp>
      <p:sp>
        <p:nvSpPr>
          <p:cNvPr id="5" name="Media"/>
          <p:cNvSpPr>
            <a:spLocks noGrp="1"/>
          </p:cNvSpPr>
          <p:nvPr>
            <p:ph type="pic" idx="18"/>
          </p:nvPr>
        </p:nvSpPr>
        <p:spPr>
          <a:xfrm>
            <a:off x="548640" y="548640"/>
            <a:ext cx="5023638" cy="5668992"/>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Render, 1588 × 1792 px</a:t>
            </a:r>
            <a:endParaRPr lang="en-GB" dirty="0"/>
          </a:p>
        </p:txBody>
      </p:sp>
      <p:sp>
        <p:nvSpPr>
          <p:cNvPr id="6"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7"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media">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Media"/>
          <p:cNvSpPr>
            <a:spLocks noGrp="1"/>
          </p:cNvSpPr>
          <p:nvPr>
            <p:ph type="pic" idx="18"/>
          </p:nvPr>
        </p:nvSpPr>
        <p:spPr>
          <a:xfrm>
            <a:off x="548640" y="1554480"/>
            <a:ext cx="11094720" cy="4663152"/>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Picture, chart or diagram</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left, content righ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3566160" cy="2377440"/>
          </a:xfrm>
        </p:spPr>
        <p:txBody>
          <a:bodyPr vert="horz" wrap="square" lIns="0" tIns="0" rIns="0" bIns="0" rtlCol="0" anchor="t">
            <a:noAutofit/>
          </a:bodyPr>
          <a:lstStyle/>
          <a:p>
            <a:r>
              <a:rPr lang="en-GB" dirty="0"/>
              <a:t>Title in sentence case, max 8 words</a:t>
            </a:r>
            <a:endParaRPr lang="en-GB" dirty="0"/>
          </a:p>
        </p:txBody>
      </p:sp>
      <p:sp>
        <p:nvSpPr>
          <p:cNvPr id="4" name="Content"/>
          <p:cNvSpPr>
            <a:spLocks noGrp="1"/>
          </p:cNvSpPr>
          <p:nvPr>
            <p:ph idx="1"/>
          </p:nvPr>
        </p:nvSpPr>
        <p:spPr>
          <a:xfrm>
            <a:off x="4572000" y="731520"/>
            <a:ext cx="7071360" cy="5486112"/>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000"/>
            </a:lvl1pPr>
          </a:lstStyle>
          <a:p>
            <a:r>
              <a:rPr lang="en-GB" dirty="0"/>
              <a:t>Content: table, list or visual, body 20 pt</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2"/>
          </a:solidFill>
          <a:ln>
            <a:noFill/>
          </a:ln>
        </p:spPr>
      </p:sp>
      <p:sp>
        <p:nvSpPr>
          <p:cNvPr id="3" name="QR tile">
            <a:extLst>
              <a:ext uri="{C183D7F6-B498-43B3-948B-1728B52AA6E4}">
                <adec:decorative xmlns:adec="http://schemas.microsoft.com/office/drawing/2017/decorative" val="1"/>
              </a:ext>
            </a:extLst>
          </p:cNvPr>
          <p:cNvSpPr/>
          <p:nvPr userDrawn="1"/>
        </p:nvSpPr>
        <p:spPr>
          <a:xfrm>
            <a:off x="8991600" y="2834640"/>
            <a:ext cx="2651760" cy="2651760"/>
          </a:xfrm>
          <a:prstGeom prst="roundRect">
            <a:avLst>
              <a:gd name="adj" fmla="val 6000"/>
            </a:avLst>
          </a:prstGeom>
          <a:solidFill>
            <a:schemeClr val="bg1"/>
          </a:solidFill>
          <a:ln>
            <a:noFill/>
          </a:ln>
        </p:spPr>
      </p:sp>
      <p:sp>
        <p:nvSpPr>
          <p:cNvPr id="4" name="Title"/>
          <p:cNvSpPr>
            <a:spLocks noGrp="1"/>
          </p:cNvSpPr>
          <p:nvPr>
            <p:ph type="title"/>
          </p:nvPr>
        </p:nvSpPr>
        <p:spPr>
          <a:xfrm>
            <a:off x="548640" y="731520"/>
            <a:ext cx="8168640" cy="100584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6000">
                <a:solidFill>
                  <a:schemeClr val="bg1"/>
                </a:solidFill>
              </a:defRPr>
            </a:lvl1pPr>
          </a:lstStyle>
          <a:p>
            <a:r>
              <a:rPr lang="en-GB" dirty="0"/>
              <a:t>Closing title</a:t>
            </a:r>
            <a:endParaRPr lang="en-GB" dirty="0"/>
          </a:p>
        </p:txBody>
      </p:sp>
      <p:sp>
        <p:nvSpPr>
          <p:cNvPr id="5" name="Contact"/>
          <p:cNvSpPr>
            <a:spLocks noGrp="1"/>
          </p:cNvSpPr>
          <p:nvPr>
            <p:ph type="body" idx="15"/>
          </p:nvPr>
        </p:nvSpPr>
        <p:spPr>
          <a:xfrm>
            <a:off x="548640" y="2103120"/>
            <a:ext cx="8168640" cy="338328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400"/>
              </a:spcAft>
              <a:buNone/>
              <a:defRPr lang="en-GB" sz="2400">
                <a:solidFill>
                  <a:schemeClr val="bg1"/>
                </a:solidFill>
              </a:defRPr>
            </a:lvl1pPr>
          </a:lstStyle>
          <a:p>
            <a:r>
              <a:rPr lang="en-GB" dirty="0"/>
              <a:t>Repo URL, name, contact</a:t>
            </a:r>
            <a:endParaRPr lang="en-GB" dirty="0"/>
          </a:p>
        </p:txBody>
      </p:sp>
      <p:sp>
        <p:nvSpPr>
          <p:cNvPr id="6" name="Small print"/>
          <p:cNvSpPr>
            <a:spLocks noGrp="1"/>
          </p:cNvSpPr>
          <p:nvPr>
            <p:ph type="body" idx="19"/>
          </p:nvPr>
        </p:nvSpPr>
        <p:spPr>
          <a:xfrm>
            <a:off x="548640" y="5669280"/>
            <a:ext cx="11094720" cy="64008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2"/>
                </a:solidFill>
              </a:defRPr>
            </a:lvl1pPr>
          </a:lstStyle>
          <a:p>
            <a:r>
              <a:rPr lang="en-GB" dirty="0"/>
              <a:t>Source and licence lines, 12 pt</a:t>
            </a:r>
            <a:endParaRPr lang="en-GB" dirty="0"/>
          </a:p>
        </p:txBody>
      </p:sp>
      <p:sp>
        <p:nvSpPr>
          <p:cNvPr id="7" name="Logo zone"/>
          <p:cNvSpPr>
            <a:spLocks noGrp="1"/>
          </p:cNvSpPr>
          <p:nvPr>
            <p:ph type="pic" idx="16"/>
          </p:nvPr>
        </p:nvSpPr>
        <p:spPr>
          <a:xfrm>
            <a:off x="8991600" y="548640"/>
            <a:ext cx="2651760" cy="1188720"/>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PyCon NL logo (file and permission pending)</a:t>
            </a:r>
            <a:endParaRPr lang="en-GB" dirty="0"/>
          </a:p>
        </p:txBody>
      </p:sp>
      <p:sp>
        <p:nvSpPr>
          <p:cNvPr id="8" name="QR code"/>
          <p:cNvSpPr>
            <a:spLocks noGrp="1"/>
          </p:cNvSpPr>
          <p:nvPr>
            <p:ph type="pic" idx="17"/>
          </p:nvPr>
        </p:nvSpPr>
        <p:spPr>
          <a:xfrm>
            <a:off x="9174480" y="3017520"/>
            <a:ext cx="2286000" cy="2286000"/>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QR code</a:t>
            </a:r>
            <a:endParaRPr lang="en-GB" dirty="0"/>
          </a:p>
        </p:txBody>
      </p:sp>
    </p:spTree>
  </p:cSld>
  <p:clrMapOvr>
    <a:overrideClrMapping bg1="lt1" tx1="dk1" bg2="lt2" tx2="dk2" accent1="accent1" accent2="accent2" accent3="accent3" accent4="accent4" accent5="accent5" accent6="accent6" hlink="accent2" folHlink="accent2"/>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3" name="Body"/>
          <p:cNvSpPr>
            <a:spLocks noGrp="1"/>
          </p:cNvSpPr>
          <p:nvPr>
            <p:ph type="body" idx="1"/>
          </p:nvPr>
        </p:nvSpPr>
        <p:spPr>
          <a:xfrm>
            <a:off x="548640" y="1554480"/>
            <a:ext cx="11094720" cy="4663152"/>
          </a:xfrm>
        </p:spPr>
        <p:txBody>
          <a:bodyPr vert="horz" wrap="square" lIns="0" tIns="0" rIns="0" bIns="0" rtlCol="0" anchor="t">
            <a:noAutofit/>
          </a:bodyPr>
          <a:lstStyle/>
          <a:p>
            <a:r>
              <a:rPr lang="en-GB" dirty="0"/>
              <a:t>Body text at 24 pt</a:t>
            </a:r>
            <a:endParaRPr lang="en-GB" dirty="0"/>
          </a:p>
          <a:p>
            <a:pPr lvl="1"/>
            <a:r>
              <a:rPr lang="en-GB" dirty="0"/>
              <a:t>Second level at 20 pt</a:t>
            </a:r>
            <a:endParaRPr lang="en-GB" dirty="0"/>
          </a:p>
          <a:p>
            <a:pPr lvl="2"/>
            <a:r>
              <a:rPr lang="en-GB" dirty="0"/>
              <a:t>Third level at 20 pt</a:t>
            </a:r>
            <a:endParaRPr lang="en-GB" dirty="0"/>
          </a:p>
        </p:txBody>
      </p:sp>
      <p:sp>
        <p:nvSpPr>
          <p:cNvPr id="4"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5"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marL="0" indent="0" algn="l" defTabSz="457200" rtl="0" eaLnBrk="1" latinLnBrk="0" hangingPunct="1">
        <a:lnSpc>
          <a:spcPct val="100000"/>
        </a:lnSpc>
        <a:spcBef>
          <a:spcPts val="0"/>
        </a:spcBef>
        <a:spcAft>
          <a:spcPts val="0"/>
        </a:spcAft>
        <a:buNone/>
        <a:defRPr lang="en-GB" sz="3200" b="0" kern="1200">
          <a:solidFill>
            <a:schemeClr val="tx2"/>
          </a:solidFill>
          <a:latin typeface="Fira Sans SemiBold" panose="020B0603050000020004" pitchFamily="34" charset="0"/>
        </a:defRPr>
      </a:lvl1pPr>
    </p:titleStyle>
    <p:bodyStyle>
      <a:lvl1pPr marL="0" indent="0" algn="l" defTabSz="457200" rtl="0" eaLnBrk="1" latinLnBrk="0" hangingPunct="1">
        <a:lnSpc>
          <a:spcPct val="100000"/>
        </a:lnSpc>
        <a:spcBef>
          <a:spcPts val="0"/>
        </a:spcBef>
        <a:spcAft>
          <a:spcPts val="600"/>
        </a:spcAft>
        <a:buNone/>
        <a:defRPr lang="en-GB" sz="2400" kern="1200">
          <a:solidFill>
            <a:schemeClr val="tx1"/>
          </a:solidFill>
          <a:latin typeface="+mn-lt"/>
          <a:ea typeface="+mn-ea"/>
          <a:cs typeface="+mn-cs"/>
        </a:defRPr>
      </a:lvl1pPr>
      <a:lvl2pPr marL="285750" indent="-285750" algn="l" defTabSz="457200" rtl="0" eaLnBrk="1" latinLnBrk="0" hangingPunct="1">
        <a:lnSpc>
          <a:spcPct val="100000"/>
        </a:lnSpc>
        <a:spcBef>
          <a:spcPts val="0"/>
        </a:spcBef>
        <a:spcAft>
          <a:spcPts val="600"/>
        </a:spcAft>
        <a:buClr>
          <a:schemeClr val="accent1"/>
        </a:buClr>
        <a:buFont typeface="Fira Sans"/>
        <a:buChar char="•"/>
        <a:defRPr lang="en-GB" sz="2000" kern="1200">
          <a:solidFill>
            <a:schemeClr val="tx1"/>
          </a:solidFill>
          <a:latin typeface="+mn-lt"/>
          <a:ea typeface="+mn-ea"/>
          <a:cs typeface="+mn-cs"/>
        </a:defRPr>
      </a:lvl2pPr>
      <a:lvl3pPr marL="5715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3pPr>
      <a:lvl4pPr marL="85725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4pPr>
      <a:lvl5pPr marL="11430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5pPr>
      <a:lvl6pPr marL="142875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6pPr>
      <a:lvl7pPr marL="17145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7pPr>
      <a:lvl8pPr marL="200025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8pPr>
      <a:lvl9pPr marL="22860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9pPr>
    </p:bodyStyle>
    <p:otherStyle>
      <a:defPPr>
        <a:defRPr lang="en-GB"/>
      </a:defPPr>
      <a:lvl1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1pPr>
      <a:lvl2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2pPr>
      <a:lvl3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3pPr>
      <a:lvl4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4pPr>
      <a:lvl5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5pPr>
      <a:lvl6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6pPr>
      <a:lvl7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7pPr>
      <a:lvl8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8pPr>
      <a:lvl9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hyperlink" Target="https://creativecommons.org/licenses/by/4.0/"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hyperlink" Target="https://creativecommons.org/licenses/by/4.0/" TargetMode="Externa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16.png"/><Relationship Id="rId8" Type="http://schemas.openxmlformats.org/officeDocument/2006/relationships/hyperlink" Target="https://creativecommons.org/licenses/by/4.0/" TargetMode="Externa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hyperlink" Target="https://creativecommons.org/licenses/by/4.0/" TargetMode="Externa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hyperlink" Target="https://creativecommons.org/licenses/by/4.0/" TargetMode="Externa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hyperlink" Target="https://creativecommons.org/licenses/by/4.0/" TargetMode="Externa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6.png"/><Relationship Id="rId4" Type="http://schemas.openxmlformats.org/officeDocument/2006/relationships/hyperlink" Target="https://creativecommons.org/licenses/by/4.0/" TargetMode="Externa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7.png"/><Relationship Id="rId4" Type="http://schemas.openxmlformats.org/officeDocument/2006/relationships/hyperlink" Target="https://creativecommons.org/licenses/by/4.0/"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28.png"/><Relationship Id="rId4" Type="http://schemas.openxmlformats.org/officeDocument/2006/relationships/hyperlink" Target="https://creativecommons.org/licenses/by/4.0/" TargetMode="Externa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hyperlink" Target="https://creativecommons.org/licenses/by/4.0/" TargetMode="Externa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 Id="rId3" Type="http://schemas.openxmlformats.org/officeDocument/2006/relationships/image" Target="../media/image29.jpg"/><Relationship Id="rId4" Type="http://schemas.openxmlformats.org/officeDocument/2006/relationships/image" Target="../media/image30.jpg"/><Relationship Id="rId5" Type="http://schemas.openxmlformats.org/officeDocument/2006/relationships/hyperlink" Target="https://creativecommons.org/licenses/by/4.0/" TargetMode="Externa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hyperlink" Target="https://creativecommons.org/licenses/by/4.0/"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hyperlink" Target="https://creativecommons.org/licenses/by/4.0/"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3.xml"/><Relationship Id="rId3" Type="http://schemas.openxmlformats.org/officeDocument/2006/relationships/hyperlink" Target="https://creativecommons.org/licenses/by/4.0/"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2.png"/><Relationship Id="rId3" Type="http://schemas.openxmlformats.org/officeDocument/2006/relationships/image" Target="../media/image1.png"/><Relationship Id="rId4" Type="http://schemas.openxmlformats.org/officeDocument/2006/relationships/hyperlink" Target="https://creativecommons.org/licenses/by/4.0/" TargetMode="Externa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p:txBody>
          <a:bodyPr/>
          <a:lstStyle/>
          <a:p>
            <a:r>
              <a:rPr lang="en-GB"/>
              <a:t>3D Data Science with Python</a:t>
            </a:r>
          </a:p>
        </p:txBody>
      </p:sp>
      <p:sp>
        <p:nvSpPr>
          <p:cNvPr id="4" name="Presenter"/>
          <p:cNvSpPr>
            <a:spLocks noGrp="1"/>
          </p:cNvSpPr>
          <p:nvPr>
            <p:ph type="body" idx="13"/>
          </p:nvPr>
        </p:nvSpPr>
        <p:spPr/>
        <p:txBody>
          <a:bodyPr/>
          <a:lstStyle/>
          <a:p>
            <a:pPr marL="0" indent="0" algn="l">
              <a:spcBef>
                <a:spcPts val="0"/>
              </a:spcBef>
              <a:spcAft>
                <a:spcPts val="0"/>
              </a:spcAft>
              <a:buNone/>
            </a:pPr>
            <a:r>
              <a:rPr sz="2400" lang="en-GB">
                <a:solidFill>
                  <a:srgbClr val="FFFFFF"/>
                </a:solidFill>
                <a:latin typeface="+mn-lt"/>
              </a:rPr>
              <a:t>Sergio Peral · ML Engineer, Teqyard</a:t>
            </a:r>
            <a:endParaRPr lang="en-GB" sz="2400"/>
          </a:p>
        </p:txBody>
      </p:sp>
      <p:sp>
        <p:nvSpPr>
          <p:cNvPr id="5" name="Logo tile"/>
          <p:cNvSpPr/>
          <p:nvPr/>
        </p:nvSpPr>
        <p:spPr>
          <a:xfrm>
            <a:off x="10454640" y="5120640"/>
            <a:ext cx="11887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Logo" descr="PyCon NL 2026 logo: the Python snakes filled with a Dutch canal house, tulips and a windmill"/>
          <p:cNvPicPr>
            <a:picLocks noChangeAspect="1"/>
          </p:cNvPicPr>
          <p:nvPr/>
        </p:nvPicPr>
        <p:blipFill>
          <a:blip r:embed="rId2"/>
          <a:stretch>
            <a:fillRect/>
          </a:stretch>
        </p:blipFill>
        <p:spPr>
          <a:xfrm>
            <a:off x="10509504" y="5175504"/>
            <a:ext cx="1078992" cy="1078992"/>
          </a:xfrm>
          <a:prstGeom prst="rect">
            <a:avLst/>
          </a:prstGeom>
        </p:spPr>
      </p:pic>
    </p:spTree>
  </p:cSld>
  <p:clrMapOvr>
    <a:overrideClrMapping bg1="lt1" tx1="dk1" bg2="lt2" tx2="dk2" accent1="accent1" accent2="accent2" accent3="accent3" accent4="accent4" accent5="accent5" accent6="accent6" hlink="accent2" folHlink="accent2"/>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3D used to mean C++. Not anymore</a:t>
            </a:r>
          </a:p>
        </p:txBody>
      </p:sp>
      <p:sp>
        <p:nvSpPr>
          <p:cNvPr id="7" name="Caption left"/>
          <p:cNvSpPr txBox="1"/>
          <p:nvPr/>
        </p:nvSpPr>
        <p:spPr>
          <a:xfrm>
            <a:off x="548640" y="1554480"/>
            <a:ext cx="5318760" cy="377952"/>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455A64"/>
                </a:solidFill>
                <a:latin typeface="Fira Sans SemiBold"/>
              </a:rPr>
              <a:t>C++ with PCL</a:t>
            </a:r>
            <a:endParaRPr lang="en-GB" sz="2000"/>
          </a:p>
        </p:txBody>
      </p:sp>
      <p:grpSp>
        <p:nvGrpSpPr>
          <p:cNvPr id="3" name="Key line left">
            <a:extLst>
              <a:ext uri="{C183D7F6-B498-43B3-948B-1728B52AA6E4}">
                <adec:decorative xmlns:adec="http://schemas.microsoft.com/office/drawing/2017/decorative" val="1"/>
              </a:ext>
            </a:extLst>
          </p:cNvPr>
          <p:cNvGrpSpPr/>
          <p:nvPr/>
        </p:nvGrpSpPr>
        <p:grpSpPr>
          <a:xfrm>
            <a:off x="402336" y="4111752"/>
            <a:ext cx="5465064" cy="266700"/>
            <a:chOff x="402336" y="4111752"/>
            <a:chExt cx="5465064" cy="266700"/>
          </a:xfrm>
        </p:grpSpPr>
        <p:sp>
          <p:nvSpPr>
            <p:cNvPr id="8" name="Key line bar"/>
            <p:cNvSpPr/>
            <p:nvPr/>
          </p:nvSpPr>
          <p:spPr>
            <a:xfrm>
              <a:off x="402336" y="4111752"/>
              <a:ext cx="546506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ey line edge"/>
            <p:cNvSpPr/>
            <p:nvPr/>
          </p:nvSpPr>
          <p:spPr>
            <a:xfrm>
              <a:off x="402336" y="4111752"/>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0" name="Code left"/>
          <p:cNvSpPr txBox="1"/>
          <p:nvPr/>
        </p:nvSpPr>
        <p:spPr>
          <a:xfrm>
            <a:off x="402336" y="1932432"/>
            <a:ext cx="5465064" cy="3291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using Cloud =</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pcl::PointCloud&lt;pcl::PointXYZ&gt;;</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Cloud::Ptr cloud(new Cloud);</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Cloud down;</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if (pcl::io::loadPCDFile(</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"crop.pcd", *cloud)) return 1;</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pcl::VoxelGrid&lt;pcl::PointXYZ&gt; vg;</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vg.setInputCloud(cloud);</a:t>
            </a:r>
            <a:endParaRPr lang="en-GB" sz="1800"/>
          </a:p>
          <a:p>
            <a:pPr marL="0" indent="0" algn="l">
              <a:lnSpc>
                <a:spcPts val="2100"/>
              </a:lnSpc>
              <a:spcBef>
                <a:spcPts val="0"/>
              </a:spcBef>
              <a:spcAft>
                <a:spcPts val="0"/>
              </a:spcAft>
              <a:buNone/>
            </a:pPr>
            <a:r>
              <a:rPr sz="1800" b="1" lang="en-GB" noProof="1">
                <a:solidFill>
                  <a:srgbClr val="455A64"/>
                </a:solidFill>
                <a:latin typeface="Fira Mono" pitchFamily="49"/>
              </a:rPr>
              <a:t>vg.setLeafSize(0.5f, 0.5f, 0.5f);</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vg.filter(down);</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std::cout &lt;&lt; cloud-&gt;size()</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&lt;&lt; " -&gt; " &lt;&lt; down.size() &lt;&lt; "\n";</a:t>
            </a:r>
            <a:endParaRPr lang="en-GB" sz="1800"/>
          </a:p>
        </p:txBody>
      </p:sp>
      <p:sp>
        <p:nvSpPr>
          <p:cNvPr id="11" name="Code output left"/>
          <p:cNvSpPr txBox="1"/>
          <p:nvPr/>
        </p:nvSpPr>
        <p:spPr>
          <a:xfrm>
            <a:off x="402336" y="5498592"/>
            <a:ext cx="5465064" cy="624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 output</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722961 -&gt; 230519</a:t>
            </a:r>
            <a:endParaRPr lang="en-GB" sz="1800"/>
          </a:p>
        </p:txBody>
      </p:sp>
      <p:sp>
        <p:nvSpPr>
          <p:cNvPr id="12" name="Caption right"/>
          <p:cNvSpPr txBox="1"/>
          <p:nvPr/>
        </p:nvSpPr>
        <p:spPr>
          <a:xfrm>
            <a:off x="6324600" y="1554480"/>
            <a:ext cx="5318760" cy="377952"/>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1C325B"/>
                </a:solidFill>
                <a:latin typeface="Fira Sans SemiBold"/>
              </a:rPr>
              <a:t>Python with Open3D</a:t>
            </a:r>
            <a:endParaRPr lang="en-GB" sz="2000"/>
          </a:p>
        </p:txBody>
      </p:sp>
      <p:grpSp>
        <p:nvGrpSpPr>
          <p:cNvPr id="4" name="Key line right">
            <a:extLst>
              <a:ext uri="{C183D7F6-B498-43B3-948B-1728B52AA6E4}">
                <adec:decorative xmlns:adec="http://schemas.microsoft.com/office/drawing/2017/decorative" val="1"/>
              </a:ext>
            </a:extLst>
          </p:cNvPr>
          <p:cNvGrpSpPr/>
          <p:nvPr/>
        </p:nvGrpSpPr>
        <p:grpSpPr>
          <a:xfrm>
            <a:off x="6178296" y="2244852"/>
            <a:ext cx="5465064" cy="266700"/>
            <a:chOff x="6178296" y="2244852"/>
            <a:chExt cx="5465064" cy="266700"/>
          </a:xfrm>
        </p:grpSpPr>
        <p:sp>
          <p:nvSpPr>
            <p:cNvPr id="13" name="Key line bar"/>
            <p:cNvSpPr/>
            <p:nvPr/>
          </p:nvSpPr>
          <p:spPr>
            <a:xfrm>
              <a:off x="6178296" y="2244852"/>
              <a:ext cx="546506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line edge"/>
            <p:cNvSpPr/>
            <p:nvPr/>
          </p:nvSpPr>
          <p:spPr>
            <a:xfrm>
              <a:off x="6178296" y="2244852"/>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Code right"/>
          <p:cNvSpPr txBox="1"/>
          <p:nvPr/>
        </p:nvSpPr>
        <p:spPr>
          <a:xfrm>
            <a:off x="6178296" y="1932432"/>
            <a:ext cx="5465064" cy="11582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pcd = o3d.io.read_point_cloud(path)</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down = pcd.voxel_down_sample(0.5)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print(len(pcd.points), </a:t>
            </a:r>
            <a:r>
              <a:rPr sz="1800" b="0" lang="en-GB" noProof="1">
                <a:solidFill>
                  <a:srgbClr val="2B6797"/>
                </a:solidFill>
                <a:latin typeface="Fira Mono" pitchFamily="49"/>
              </a:rPr>
              <a:t>"-&gt;"</a:t>
            </a:r>
            <a:r>
              <a:rPr sz="1800" b="0"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len(down.points))</a:t>
            </a:r>
            <a:endParaRPr lang="en-GB" sz="1800"/>
          </a:p>
        </p:txBody>
      </p:sp>
      <p:sp>
        <p:nvSpPr>
          <p:cNvPr id="16" name="Code output right"/>
          <p:cNvSpPr txBox="1"/>
          <p:nvPr/>
        </p:nvSpPr>
        <p:spPr>
          <a:xfrm>
            <a:off x="6178296" y="3364992"/>
            <a:ext cx="5465064" cy="624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 output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722961 -&gt; 232180</a:t>
            </a:r>
            <a:endParaRPr lang="en-GB" sz="1800"/>
          </a:p>
        </p:txBody>
      </p:sp>
      <p:sp>
        <p:nvSpPr>
          <p:cNvPr id="17" name="Note box"/>
          <p:cNvSpPr/>
          <p:nvPr/>
        </p:nvSpPr>
        <p:spPr>
          <a:xfrm>
            <a:off x="6324600" y="4571712"/>
            <a:ext cx="5318760" cy="1645920"/>
          </a:xfrm>
          <a:prstGeom prst="roundRect">
            <a:avLst>
              <a:gd name="adj" fmla="val 4444"/>
            </a:avLst>
          </a:prstGeom>
          <a:solidFill>
            <a:srgbClr val="DFE8E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ote"/>
          <p:cNvSpPr txBox="1"/>
          <p:nvPr/>
        </p:nvSpPr>
        <p:spPr>
          <a:xfrm>
            <a:off x="6489192" y="4708872"/>
            <a:ext cx="4989576" cy="137160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455A64"/>
                </a:solidFill>
                <a:latin typeface="+mn-lt"/>
              </a:rPr>
              <a:t>Why the counts differ: both average the points in each 0.5 m voxel, but the grids sit in different places. PCL anchors its voxels at multiples of the leaf size; Open3D at the minimum corner minus half a voxel.</a:t>
            </a:r>
            <a:endParaRPr lang="en-GB" sz="1800"/>
          </a:p>
        </p:txBody>
      </p:sp>
      <p:sp>
        <p:nvSpPr>
          <p:cNvPr id="19" name="Small print"/>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 output: recorded Linux / PCL run; not rerun on this machine.</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Python is the interface. C++ does the work</a:t>
            </a:r>
          </a:p>
        </p:txBody>
      </p:sp>
      <p:pic>
        <p:nvPicPr>
          <p:cNvPr id="6" name="Meme" descr="Scooby-Doo unmasking meme. Top: Fred touches the hood of a tied-up ghost whose head is the Python logo. Bottom: the unmasked figure's head is the C++ logo. Caption: Let's see who's really behind the mask."/>
          <p:cNvPicPr>
            <a:picLocks noChangeAspect="1"/>
          </p:cNvPicPr>
          <p:nvPr/>
        </p:nvPicPr>
        <p:blipFill>
          <a:blip r:embed="rId2"/>
          <a:stretch>
            <a:fillRect/>
          </a:stretch>
        </p:blipFill>
        <p:spPr>
          <a:xfrm>
            <a:off x="548640" y="1554480"/>
            <a:ext cx="3492863" cy="4663152"/>
          </a:xfrm>
          <a:prstGeom prst="rect">
            <a:avLst/>
          </a:prstGeom>
        </p:spPr>
      </p:pic>
      <p:sp>
        <p:nvSpPr>
          <p:cNvPr id="8" name="Meme bullets"/>
          <p:cNvSpPr txBox="1"/>
          <p:nvPr/>
        </p:nvSpPr>
        <p:spPr>
          <a:xfrm>
            <a:off x="4498703" y="2133600"/>
            <a:ext cx="7144657" cy="408403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NumPy: a compiled C core, with some C++</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Open3D: C++, wrapped for Python</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PyVista: VTK, which is C++</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laspy: the lazrs decoder is Rust</a:t>
            </a:r>
            <a:endParaRPr lang="en-GB" sz="2000"/>
          </a:p>
        </p:txBody>
      </p:sp>
      <p:sp>
        <p:nvSpPr>
          <p:cNvPr id="9" name="Note box"/>
          <p:cNvSpPr/>
          <p:nvPr/>
        </p:nvSpPr>
        <p:spPr>
          <a:xfrm>
            <a:off x="4498703" y="5394672"/>
            <a:ext cx="7144657" cy="822960"/>
          </a:xfrm>
          <a:prstGeom prst="roundRect">
            <a:avLst>
              <a:gd name="adj" fmla="val 8888"/>
            </a:avLst>
          </a:prstGeom>
          <a:solidFill>
            <a:srgbClr val="DFE8E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te"/>
          <p:cNvSpPr txBox="1"/>
          <p:nvPr/>
        </p:nvSpPr>
        <p:spPr>
          <a:xfrm>
            <a:off x="4663295" y="5531832"/>
            <a:ext cx="6815473" cy="5486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455A64"/>
                </a:solidFill>
                <a:latin typeface="+mn-lt"/>
              </a:rPr>
              <a:t>Python is used as a proxy to write higher-level code: the heavy loops run below it, in compiled code.</a:t>
            </a:r>
            <a:endParaRPr lang="en-GB" sz="1800"/>
          </a:p>
        </p:txBody>
      </p:sp>
      <p:sp>
        <p:nvSpPr>
          <p:cNvPr id="7" name="Support"/>
          <p:cNvSpPr txBox="1"/>
          <p:nvPr/>
        </p:nvSpPr>
        <p:spPr>
          <a:xfrm>
            <a:off x="4498703" y="1554480"/>
            <a:ext cx="7144657"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Every call you make here runs compiled code</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The Python 3D ecosystem</a:t>
            </a:r>
          </a:p>
        </p:txBody>
      </p:sp>
      <p:grpSp>
        <p:nvGrpSpPr>
          <p:cNvPr id="3" name="ecosystem_wall" descr="Ecosystem wall in five rows of logos; the five used in this talk's pipeline have a blue outline. Load and store: laspy (used), PDAL, pyproj. Arrays and speed: NumPy (used), SciPy (used), Numba, Dask. Process: Open3D (used), trimesh. Visualise: PyVista (used), VTK. Learn: scikit-learn, PyTorch3D."/>
          <p:cNvGrpSpPr/>
          <p:nvPr/>
        </p:nvGrpSpPr>
        <p:grpSpPr>
          <a:xfrm>
            <a:off x="548640" y="1600200"/>
            <a:ext cx="11094720" cy="4617432"/>
            <a:chOff x="548640" y="1600200"/>
            <a:chExt cx="11094720" cy="4617432"/>
          </a:xfrm>
        </p:grpSpPr>
        <p:sp>
          <p:nvSpPr>
            <p:cNvPr id="6" name="wall_label_1"/>
            <p:cNvSpPr txBox="1"/>
            <p:nvPr/>
          </p:nvSpPr>
          <p:spPr>
            <a:xfrm>
              <a:off x="548640" y="1600200"/>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Load and store</a:t>
              </a:r>
            </a:p>
          </p:txBody>
        </p:sp>
        <p:sp>
          <p:nvSpPr>
            <p:cNvPr id="7" name="wall_tile_1_1"/>
            <p:cNvSpPr/>
            <p:nvPr/>
          </p:nvSpPr>
          <p:spPr>
            <a:xfrm>
              <a:off x="2880360" y="1600200"/>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le_ref_text_1_1"/>
            <p:cNvSpPr txBox="1"/>
            <p:nvPr/>
          </p:nvSpPr>
          <p:spPr>
            <a:xfrm>
              <a:off x="2926080" y="1600200"/>
              <a:ext cx="2017014" cy="821074"/>
            </a:xfrm>
            <a:prstGeom prst="rect">
              <a:avLst/>
            </a:prstGeom>
            <a:noFill/>
          </p:spPr>
          <p:txBody>
            <a:bodyPr wrap="square" anchor="ctr" lIns="0" tIns="0" rIns="0" bIns="0">
              <a:noAutofit/>
            </a:bodyPr>
            <a:lstStyle/>
            <a:p>
              <a:pPr algn="ctr"/>
              <a:r>
                <a:rPr sz="1400" b="0" i="0" lang="en-GB">
                  <a:solidFill>
                    <a:srgbClr val="263238"/>
                  </a:solidFill>
                  <a:latin typeface="Fira Sans Medium"/>
                </a:rPr>
                <a:t>laspy</a:t>
              </a:r>
            </a:p>
          </p:txBody>
        </p:sp>
        <p:sp>
          <p:nvSpPr>
            <p:cNvPr id="9" name="wall_tile_1_2"/>
            <p:cNvSpPr/>
            <p:nvPr/>
          </p:nvSpPr>
          <p:spPr>
            <a:xfrm>
              <a:off x="5098542" y="160020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wall_logo_1_2" descr="PDAL logo"/>
            <p:cNvPicPr>
              <a:picLocks noChangeAspect="1"/>
            </p:cNvPicPr>
            <p:nvPr/>
          </p:nvPicPr>
          <p:blipFill>
            <a:blip r:embed="rId2"/>
            <a:stretch>
              <a:fillRect/>
            </a:stretch>
          </p:blipFill>
          <p:spPr>
            <a:xfrm>
              <a:off x="5941586" y="1691640"/>
              <a:ext cx="422366" cy="429406"/>
            </a:xfrm>
            <a:prstGeom prst="rect">
              <a:avLst/>
            </a:prstGeom>
          </p:spPr>
        </p:pic>
        <p:sp>
          <p:nvSpPr>
            <p:cNvPr id="11" name="tile_ref_1_2"/>
            <p:cNvSpPr txBox="1"/>
            <p:nvPr/>
          </p:nvSpPr>
          <p:spPr>
            <a:xfrm>
              <a:off x="5098542" y="2139334"/>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PDAL</a:t>
              </a:r>
            </a:p>
          </p:txBody>
        </p:sp>
        <p:sp>
          <p:nvSpPr>
            <p:cNvPr id="12" name="wall_tile_1_3"/>
            <p:cNvSpPr/>
            <p:nvPr/>
          </p:nvSpPr>
          <p:spPr>
            <a:xfrm>
              <a:off x="7316724" y="160020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wall_logo_1_3" descr="pyproj logo"/>
            <p:cNvPicPr>
              <a:picLocks noChangeAspect="1"/>
            </p:cNvPicPr>
            <p:nvPr/>
          </p:nvPicPr>
          <p:blipFill>
            <a:blip r:embed="rId3"/>
            <a:stretch>
              <a:fillRect/>
            </a:stretch>
          </p:blipFill>
          <p:spPr>
            <a:xfrm>
              <a:off x="7541182" y="1691640"/>
              <a:ext cx="1659539" cy="429406"/>
            </a:xfrm>
            <a:prstGeom prst="rect">
              <a:avLst/>
            </a:prstGeom>
          </p:spPr>
        </p:pic>
        <p:sp>
          <p:nvSpPr>
            <p:cNvPr id="14" name="tile_ref_1_3"/>
            <p:cNvSpPr txBox="1"/>
            <p:nvPr/>
          </p:nvSpPr>
          <p:spPr>
            <a:xfrm>
              <a:off x="7316724" y="2139334"/>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pyproj</a:t>
              </a:r>
            </a:p>
          </p:txBody>
        </p:sp>
        <p:sp>
          <p:nvSpPr>
            <p:cNvPr id="15" name="wall_label_2"/>
            <p:cNvSpPr txBox="1"/>
            <p:nvPr/>
          </p:nvSpPr>
          <p:spPr>
            <a:xfrm>
              <a:off x="548640" y="2549290"/>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Arrays and speed</a:t>
              </a:r>
            </a:p>
          </p:txBody>
        </p:sp>
        <p:sp>
          <p:nvSpPr>
            <p:cNvPr id="16" name="wall_tile_2_1"/>
            <p:cNvSpPr/>
            <p:nvPr/>
          </p:nvSpPr>
          <p:spPr>
            <a:xfrm>
              <a:off x="2880360" y="2549290"/>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wall_logo_2_1" descr="NumPy logo"/>
            <p:cNvPicPr>
              <a:picLocks noChangeAspect="1"/>
            </p:cNvPicPr>
            <p:nvPr/>
          </p:nvPicPr>
          <p:blipFill>
            <a:blip r:embed="rId4"/>
            <a:stretch>
              <a:fillRect/>
            </a:stretch>
          </p:blipFill>
          <p:spPr>
            <a:xfrm>
              <a:off x="3225483" y="2640730"/>
              <a:ext cx="1418208" cy="638194"/>
            </a:xfrm>
            <a:prstGeom prst="rect">
              <a:avLst/>
            </a:prstGeom>
          </p:spPr>
        </p:pic>
        <p:sp>
          <p:nvSpPr>
            <p:cNvPr id="18" name="wall_tile_2_2"/>
            <p:cNvSpPr/>
            <p:nvPr/>
          </p:nvSpPr>
          <p:spPr>
            <a:xfrm>
              <a:off x="5098542" y="2549290"/>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wall_logo_2_2" descr="SciPy logo"/>
            <p:cNvPicPr>
              <a:picLocks noChangeAspect="1"/>
            </p:cNvPicPr>
            <p:nvPr/>
          </p:nvPicPr>
          <p:blipFill>
            <a:blip r:embed="rId5"/>
            <a:stretch>
              <a:fillRect/>
            </a:stretch>
          </p:blipFill>
          <p:spPr>
            <a:xfrm>
              <a:off x="5938066" y="2640730"/>
              <a:ext cx="429406" cy="429406"/>
            </a:xfrm>
            <a:prstGeom prst="rect">
              <a:avLst/>
            </a:prstGeom>
          </p:spPr>
        </p:pic>
        <p:sp>
          <p:nvSpPr>
            <p:cNvPr id="20" name="tile_ref_2_2"/>
            <p:cNvSpPr txBox="1"/>
            <p:nvPr/>
          </p:nvSpPr>
          <p:spPr>
            <a:xfrm>
              <a:off x="5098542" y="3088423"/>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SciPy</a:t>
              </a:r>
            </a:p>
          </p:txBody>
        </p:sp>
        <p:sp>
          <p:nvSpPr>
            <p:cNvPr id="21" name="wall_tile_2_3"/>
            <p:cNvSpPr/>
            <p:nvPr/>
          </p:nvSpPr>
          <p:spPr>
            <a:xfrm>
              <a:off x="7316724" y="254929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wall_logo_2_3" descr="Numba logo"/>
            <p:cNvPicPr>
              <a:picLocks noChangeAspect="1"/>
            </p:cNvPicPr>
            <p:nvPr/>
          </p:nvPicPr>
          <p:blipFill>
            <a:blip r:embed="rId6"/>
            <a:stretch>
              <a:fillRect/>
            </a:stretch>
          </p:blipFill>
          <p:spPr>
            <a:xfrm>
              <a:off x="8156248" y="2640730"/>
              <a:ext cx="429406" cy="429406"/>
            </a:xfrm>
            <a:prstGeom prst="rect">
              <a:avLst/>
            </a:prstGeom>
          </p:spPr>
        </p:pic>
        <p:sp>
          <p:nvSpPr>
            <p:cNvPr id="23" name="tile_ref_2_3"/>
            <p:cNvSpPr txBox="1"/>
            <p:nvPr/>
          </p:nvSpPr>
          <p:spPr>
            <a:xfrm>
              <a:off x="7316724" y="3088423"/>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Numba</a:t>
              </a:r>
            </a:p>
          </p:txBody>
        </p:sp>
        <p:sp>
          <p:nvSpPr>
            <p:cNvPr id="24" name="wall_tile_2_4"/>
            <p:cNvSpPr/>
            <p:nvPr/>
          </p:nvSpPr>
          <p:spPr>
            <a:xfrm>
              <a:off x="9534906" y="254929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wall_logo_2_4" descr="Dask logo"/>
            <p:cNvPicPr>
              <a:picLocks noChangeAspect="1"/>
            </p:cNvPicPr>
            <p:nvPr/>
          </p:nvPicPr>
          <p:blipFill>
            <a:blip r:embed="rId7"/>
            <a:stretch>
              <a:fillRect/>
            </a:stretch>
          </p:blipFill>
          <p:spPr>
            <a:xfrm>
              <a:off x="9717879" y="2640730"/>
              <a:ext cx="1742508" cy="638194"/>
            </a:xfrm>
            <a:prstGeom prst="rect">
              <a:avLst/>
            </a:prstGeom>
          </p:spPr>
        </p:pic>
        <p:sp>
          <p:nvSpPr>
            <p:cNvPr id="26" name="wall_label_3"/>
            <p:cNvSpPr txBox="1"/>
            <p:nvPr/>
          </p:nvSpPr>
          <p:spPr>
            <a:xfrm>
              <a:off x="548640" y="3498379"/>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Process</a:t>
              </a:r>
            </a:p>
          </p:txBody>
        </p:sp>
        <p:sp>
          <p:nvSpPr>
            <p:cNvPr id="27" name="wall_tile_3_1"/>
            <p:cNvSpPr/>
            <p:nvPr/>
          </p:nvSpPr>
          <p:spPr>
            <a:xfrm>
              <a:off x="2880360" y="3498379"/>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wall_logo_3_1" descr="Open3D logo"/>
            <p:cNvPicPr>
              <a:picLocks noChangeAspect="1"/>
            </p:cNvPicPr>
            <p:nvPr/>
          </p:nvPicPr>
          <p:blipFill>
            <a:blip r:embed="rId8"/>
            <a:stretch>
              <a:fillRect/>
            </a:stretch>
          </p:blipFill>
          <p:spPr>
            <a:xfrm>
              <a:off x="2971800" y="3665812"/>
              <a:ext cx="1925574" cy="486207"/>
            </a:xfrm>
            <a:prstGeom prst="rect">
              <a:avLst/>
            </a:prstGeom>
          </p:spPr>
        </p:pic>
        <p:sp>
          <p:nvSpPr>
            <p:cNvPr id="29" name="wall_tile_3_2"/>
            <p:cNvSpPr/>
            <p:nvPr/>
          </p:nvSpPr>
          <p:spPr>
            <a:xfrm>
              <a:off x="5098542" y="3498379"/>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wall_logo_3_2" descr="trimesh logo"/>
            <p:cNvPicPr>
              <a:picLocks noChangeAspect="1"/>
            </p:cNvPicPr>
            <p:nvPr/>
          </p:nvPicPr>
          <p:blipFill>
            <a:blip r:embed="rId9"/>
            <a:stretch>
              <a:fillRect/>
            </a:stretch>
          </p:blipFill>
          <p:spPr>
            <a:xfrm>
              <a:off x="5189982" y="3765701"/>
              <a:ext cx="1925574" cy="286429"/>
            </a:xfrm>
            <a:prstGeom prst="rect">
              <a:avLst/>
            </a:prstGeom>
          </p:spPr>
        </p:pic>
        <p:sp>
          <p:nvSpPr>
            <p:cNvPr id="31" name="wall_label_4"/>
            <p:cNvSpPr txBox="1"/>
            <p:nvPr/>
          </p:nvSpPr>
          <p:spPr>
            <a:xfrm>
              <a:off x="548640" y="4447469"/>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Visualise</a:t>
              </a:r>
            </a:p>
          </p:txBody>
        </p:sp>
        <p:sp>
          <p:nvSpPr>
            <p:cNvPr id="32" name="wall_tile_4_1"/>
            <p:cNvSpPr/>
            <p:nvPr/>
          </p:nvSpPr>
          <p:spPr>
            <a:xfrm>
              <a:off x="2880360" y="4447469"/>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wall_logo_4_1" descr="PyVista logo"/>
            <p:cNvPicPr>
              <a:picLocks noChangeAspect="1"/>
            </p:cNvPicPr>
            <p:nvPr/>
          </p:nvPicPr>
          <p:blipFill>
            <a:blip r:embed="rId10"/>
            <a:stretch>
              <a:fillRect/>
            </a:stretch>
          </p:blipFill>
          <p:spPr>
            <a:xfrm>
              <a:off x="3185973" y="4538909"/>
              <a:ext cx="1497228" cy="638194"/>
            </a:xfrm>
            <a:prstGeom prst="rect">
              <a:avLst/>
            </a:prstGeom>
          </p:spPr>
        </p:pic>
        <p:sp>
          <p:nvSpPr>
            <p:cNvPr id="34" name="wall_tile_4_2"/>
            <p:cNvSpPr/>
            <p:nvPr/>
          </p:nvSpPr>
          <p:spPr>
            <a:xfrm>
              <a:off x="5098542" y="4447469"/>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wall_logo_4_2" descr="VTK logo"/>
            <p:cNvPicPr>
              <a:picLocks noChangeAspect="1"/>
            </p:cNvPicPr>
            <p:nvPr/>
          </p:nvPicPr>
          <p:blipFill>
            <a:blip r:embed="rId11"/>
            <a:stretch>
              <a:fillRect/>
            </a:stretch>
          </p:blipFill>
          <p:spPr>
            <a:xfrm>
              <a:off x="5557717" y="4538909"/>
              <a:ext cx="1190105" cy="638194"/>
            </a:xfrm>
            <a:prstGeom prst="rect">
              <a:avLst/>
            </a:prstGeom>
          </p:spPr>
        </p:pic>
        <p:sp>
          <p:nvSpPr>
            <p:cNvPr id="36" name="wall_label_5"/>
            <p:cNvSpPr txBox="1"/>
            <p:nvPr/>
          </p:nvSpPr>
          <p:spPr>
            <a:xfrm>
              <a:off x="548640" y="5396558"/>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Learn</a:t>
              </a:r>
            </a:p>
          </p:txBody>
        </p:sp>
        <p:sp>
          <p:nvSpPr>
            <p:cNvPr id="37" name="wall_tile_5_1"/>
            <p:cNvSpPr/>
            <p:nvPr/>
          </p:nvSpPr>
          <p:spPr>
            <a:xfrm>
              <a:off x="2880360" y="5396558"/>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wall_logo_5_1" descr="scikit-learn logo"/>
            <p:cNvPicPr>
              <a:picLocks noChangeAspect="1"/>
            </p:cNvPicPr>
            <p:nvPr/>
          </p:nvPicPr>
          <p:blipFill>
            <a:blip r:embed="rId12"/>
            <a:stretch>
              <a:fillRect/>
            </a:stretch>
          </p:blipFill>
          <p:spPr>
            <a:xfrm>
              <a:off x="3657104" y="5487998"/>
              <a:ext cx="554967" cy="429406"/>
            </a:xfrm>
            <a:prstGeom prst="rect">
              <a:avLst/>
            </a:prstGeom>
          </p:spPr>
        </p:pic>
        <p:sp>
          <p:nvSpPr>
            <p:cNvPr id="39" name="tile_ref_5_1"/>
            <p:cNvSpPr txBox="1"/>
            <p:nvPr/>
          </p:nvSpPr>
          <p:spPr>
            <a:xfrm>
              <a:off x="2880360" y="5935692"/>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scikit-learn</a:t>
              </a:r>
            </a:p>
          </p:txBody>
        </p:sp>
        <p:sp>
          <p:nvSpPr>
            <p:cNvPr id="40" name="wall_tile_5_2"/>
            <p:cNvSpPr/>
            <p:nvPr/>
          </p:nvSpPr>
          <p:spPr>
            <a:xfrm>
              <a:off x="5098542" y="5396558"/>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wall_logo_5_2" descr="PyTorch3D logo"/>
            <p:cNvPicPr>
              <a:picLocks noChangeAspect="1"/>
            </p:cNvPicPr>
            <p:nvPr/>
          </p:nvPicPr>
          <p:blipFill>
            <a:blip r:embed="rId13"/>
            <a:stretch>
              <a:fillRect/>
            </a:stretch>
          </p:blipFill>
          <p:spPr>
            <a:xfrm>
              <a:off x="5189982" y="5561585"/>
              <a:ext cx="1925574" cy="491021"/>
            </a:xfrm>
            <a:prstGeom prst="rect">
              <a:avLst/>
            </a:prstGeom>
          </p:spPr>
        </p:pic>
      </p:gr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Today's case: the Jaarbeurs hall, from a plane</a:t>
            </a:r>
          </a:p>
        </p:txBody>
      </p:sp>
      <p:pic>
        <p:nvPicPr>
          <p:cNvPr id="6" name="Render raw" descr="Bird's-eye render of the Jaarbeurs hall in Utrecht and the streets, trees and buildings around it, coloured by height from blue near the ground through sage to white on the roofs."/>
          <p:cNvPicPr>
            <a:picLocks noChangeAspect="1"/>
          </p:cNvPicPr>
          <p:nvPr/>
        </p:nvPicPr>
        <p:blipFill>
          <a:blip r:embed="rId2"/>
          <a:stretch>
            <a:fillRect/>
          </a:stretch>
        </p:blipFill>
        <p:spPr>
          <a:xfrm>
            <a:off x="548640" y="1554480"/>
            <a:ext cx="2941153" cy="3318984"/>
          </a:xfrm>
          <a:prstGeom prst="rect">
            <a:avLst/>
          </a:prstGeom>
        </p:spPr>
      </p:pic>
      <p:pic>
        <p:nvPicPr>
          <p:cNvPr id="7" name="Render labels" descr="The same view with our labels: ground slate grey, buildings light blue, vegetation sage green, street furniture white."/>
          <p:cNvPicPr>
            <a:picLocks noChangeAspect="1"/>
          </p:cNvPicPr>
          <p:nvPr/>
        </p:nvPicPr>
        <p:blipFill>
          <a:blip r:embed="rId3"/>
          <a:stretch>
            <a:fillRect/>
          </a:stretch>
        </p:blipFill>
        <p:spPr>
          <a:xfrm>
            <a:off x="4358473" y="1554480"/>
            <a:ext cx="2941153" cy="3318984"/>
          </a:xfrm>
          <a:prstGeom prst="rect">
            <a:avLst/>
          </a:prstGeom>
        </p:spPr>
      </p:pic>
      <p:sp>
        <p:nvSpPr>
          <p:cNvPr id="8" name="Arrow raw to labels">
            <a:extLst>
              <a:ext uri="{C183D7F6-B498-43B3-948B-1728B52AA6E4}">
                <adec:decorative xmlns:adec="http://schemas.microsoft.com/office/drawing/2017/decorative" val="1"/>
              </a:ext>
            </a:extLst>
          </p:cNvPr>
          <p:cNvSpPr/>
          <p:nvPr/>
        </p:nvSpPr>
        <p:spPr>
          <a:xfrm>
            <a:off x="3668101" y="3012804"/>
            <a:ext cx="512064" cy="402336"/>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Edge arrow Jaarbeurs" descr="Arrow pointing down at the roof of the Jaarbeurs hall"/>
          <p:cNvGrpSpPr/>
          <p:nvPr/>
        </p:nvGrpSpPr>
        <p:grpSpPr>
          <a:xfrm>
            <a:off x="1131699" y="1760400"/>
            <a:ext cx="1893570" cy="1188720"/>
            <a:chOff x="1131699" y="1760400"/>
            <a:chExt cx="1893570" cy="1188720"/>
          </a:xfrm>
        </p:grpSpPr>
        <p:sp>
          <p:nvSpPr>
            <p:cNvPr id="9" name="Edge arrow"/>
            <p:cNvSpPr/>
            <p:nvPr/>
          </p:nvSpPr>
          <p:spPr>
            <a:xfrm>
              <a:off x="1941324" y="2235888"/>
              <a:ext cx="274320" cy="713232"/>
            </a:xfrm>
            <a:prstGeom prst="downArrow">
              <a:avLst/>
            </a:prstGeom>
            <a:solidFill>
              <a:srgbClr val="B1CAC5"/>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ge label"/>
            <p:cNvSpPr/>
            <p:nvPr/>
          </p:nvSpPr>
          <p:spPr>
            <a:xfrm>
              <a:off x="1131699" y="1760400"/>
              <a:ext cx="1893570" cy="420624"/>
            </a:xfrm>
            <a:prstGeom prst="roundRect">
              <a:avLst>
                <a:gd name="adj" fmla="val 17391"/>
              </a:avLst>
            </a:prstGeom>
            <a:solidFill>
              <a:srgbClr val="1C325B"/>
            </a:solidFill>
            <a:ln w="1587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wrap="none" lIns="91440" tIns="0" rIns="91440" bIns="0">
              <a:noAutofit/>
            </a:bodyPr>
            <a:lstStyle/>
            <a:p>
              <a:pPr algn="ctr" marL="0" indent="0">
                <a:spcBef>
                  <a:spcPts val="0"/>
                </a:spcBef>
                <a:spcAft>
                  <a:spcPts val="0"/>
                </a:spcAft>
                <a:buNone/>
              </a:pPr>
              <a:r>
                <a:rPr sz="2000" b="1" lang="en-GB">
                  <a:solidFill>
                    <a:srgbClr val="FFFFFF"/>
                  </a:solidFill>
                  <a:latin typeface="+mn-lt"/>
                </a:rPr>
                <a:t>Jaarbeurs hall</a:t>
              </a:r>
              <a:endParaRPr lang="en-GB" sz="2000"/>
            </a:p>
          </p:txBody>
        </p:sp>
      </p:grpSp>
      <p:grpSp>
        <p:nvGrpSpPr>
          <p:cNvPr id="11" name="Data set" descr="Specification of the data set: area 200 m by 200 m; 722 961 points, about 18 per square metre; source AHN5 from ahn.nl; flown in April 2023, at night; a 4.3 MB LAZ file; coordinates in RD New with NAP heights; licence CC BY 4.0."/>
          <p:cNvGrpSpPr/>
          <p:nvPr/>
        </p:nvGrpSpPr>
        <p:grpSpPr>
          <a:xfrm>
            <a:off x="8031480" y="1554480"/>
            <a:ext cx="3611880" cy="3318984"/>
            <a:chOff x="8031480" y="1554480"/>
            <a:chExt cx="3611880" cy="3318984"/>
          </a:xfrm>
        </p:grpSpPr>
        <p:sp>
          <p:nvSpPr>
            <p:cNvPr id="12" name="spec heading"/>
            <p:cNvSpPr txBox="1"/>
            <p:nvPr/>
          </p:nvSpPr>
          <p:spPr>
            <a:xfrm>
              <a:off x="8031480" y="1554480"/>
              <a:ext cx="3611880" cy="457200"/>
            </a:xfrm>
            <a:prstGeom prst="rect">
              <a:avLst/>
            </a:prstGeom>
            <a:noFill/>
          </p:spPr>
          <p:txBody>
            <a:bodyPr wrap="none" anchor="t" lIns="0" tIns="0" rIns="0" bIns="0">
              <a:noAutofit/>
            </a:bodyPr>
            <a:lstStyle/>
            <a:p>
              <a:pPr algn="l"/>
              <a:r>
                <a:rPr sz="2400" b="0" i="0" lang="en-GB">
                  <a:solidFill>
                    <a:srgbClr val="1C325B"/>
                  </a:solidFill>
                  <a:latin typeface="Fira Sans SemiBold"/>
                </a:rPr>
                <a:t>The data set</a:t>
              </a:r>
            </a:p>
          </p:txBody>
        </p:sp>
        <p:cxnSp>
          <p:nvCxnSpPr>
            <p:cNvPr id="13" name="spec rule"/>
            <p:cNvCxnSpPr/>
            <p:nvPr/>
          </p:nvCxnSpPr>
          <p:spPr>
            <a:xfrm>
              <a:off x="8031480" y="2066544"/>
              <a:ext cx="3611880" cy="0"/>
            </a:xfrm>
            <a:prstGeom prst="line">
              <a:avLst/>
            </a:prstGeom>
            <a:ln w="19050">
              <a:solidFill>
                <a:srgbClr val="1C325B"/>
              </a:solidFill>
            </a:ln>
          </p:spPr>
          <p:style>
            <a:lnRef idx="2">
              <a:schemeClr val="accent1"/>
            </a:lnRef>
            <a:fillRef idx="0">
              <a:schemeClr val="accent1"/>
            </a:fillRef>
            <a:effectRef idx="1">
              <a:schemeClr val="accent1"/>
            </a:effectRef>
            <a:fontRef idx="minor">
              <a:schemeClr val="tx1"/>
            </a:fontRef>
          </p:style>
        </p:cxnSp>
        <p:sp>
          <p:nvSpPr>
            <p:cNvPr id="14" name="spec label 1"/>
            <p:cNvSpPr txBox="1"/>
            <p:nvPr/>
          </p:nvSpPr>
          <p:spPr>
            <a:xfrm>
              <a:off x="8031480" y="2066544"/>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Area</a:t>
              </a:r>
            </a:p>
          </p:txBody>
        </p:sp>
        <p:sp>
          <p:nvSpPr>
            <p:cNvPr id="15" name="spec value 1"/>
            <p:cNvSpPr txBox="1"/>
            <p:nvPr/>
          </p:nvSpPr>
          <p:spPr>
            <a:xfrm>
              <a:off x="9721088" y="2066544"/>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200 m × 200 m</a:t>
              </a:r>
            </a:p>
          </p:txBody>
        </p:sp>
        <p:cxnSp>
          <p:nvCxnSpPr>
            <p:cNvPr id="16" name="spec rule"/>
            <p:cNvCxnSpPr/>
            <p:nvPr/>
          </p:nvCxnSpPr>
          <p:spPr>
            <a:xfrm>
              <a:off x="8031480" y="241740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17" name="spec label 2"/>
            <p:cNvSpPr txBox="1"/>
            <p:nvPr/>
          </p:nvSpPr>
          <p:spPr>
            <a:xfrm>
              <a:off x="8031480" y="2417409"/>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Points</a:t>
              </a:r>
            </a:p>
          </p:txBody>
        </p:sp>
        <p:sp>
          <p:nvSpPr>
            <p:cNvPr id="18" name="spec value 2"/>
            <p:cNvSpPr txBox="1"/>
            <p:nvPr/>
          </p:nvSpPr>
          <p:spPr>
            <a:xfrm>
              <a:off x="9721088" y="2417409"/>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722 961</a:t>
              </a:r>
            </a:p>
          </p:txBody>
        </p:sp>
        <p:cxnSp>
          <p:nvCxnSpPr>
            <p:cNvPr id="19" name="spec rule"/>
            <p:cNvCxnSpPr/>
            <p:nvPr/>
          </p:nvCxnSpPr>
          <p:spPr>
            <a:xfrm>
              <a:off x="8031480" y="2768274"/>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0" name="spec label 3"/>
            <p:cNvSpPr txBox="1"/>
            <p:nvPr/>
          </p:nvSpPr>
          <p:spPr>
            <a:xfrm>
              <a:off x="8031480" y="2768274"/>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Density</a:t>
              </a:r>
            </a:p>
          </p:txBody>
        </p:sp>
        <p:sp>
          <p:nvSpPr>
            <p:cNvPr id="21" name="spec value 3"/>
            <p:cNvSpPr txBox="1"/>
            <p:nvPr/>
          </p:nvSpPr>
          <p:spPr>
            <a:xfrm>
              <a:off x="9721088" y="2768274"/>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about 18 per m²</a:t>
              </a:r>
            </a:p>
          </p:txBody>
        </p:sp>
        <p:cxnSp>
          <p:nvCxnSpPr>
            <p:cNvPr id="22" name="spec rule"/>
            <p:cNvCxnSpPr/>
            <p:nvPr/>
          </p:nvCxnSpPr>
          <p:spPr>
            <a:xfrm>
              <a:off x="8031480" y="311913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3" name="spec label 4"/>
            <p:cNvSpPr txBox="1"/>
            <p:nvPr/>
          </p:nvSpPr>
          <p:spPr>
            <a:xfrm>
              <a:off x="8031480" y="3119139"/>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Source</a:t>
              </a:r>
            </a:p>
          </p:txBody>
        </p:sp>
        <p:sp>
          <p:nvSpPr>
            <p:cNvPr id="24" name="spec value 4"/>
            <p:cNvSpPr txBox="1"/>
            <p:nvPr/>
          </p:nvSpPr>
          <p:spPr>
            <a:xfrm>
              <a:off x="9721088" y="3119139"/>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AHN5, ahn.nl</a:t>
              </a:r>
            </a:p>
          </p:txBody>
        </p:sp>
        <p:cxnSp>
          <p:nvCxnSpPr>
            <p:cNvPr id="25" name="spec rule"/>
            <p:cNvCxnSpPr/>
            <p:nvPr/>
          </p:nvCxnSpPr>
          <p:spPr>
            <a:xfrm>
              <a:off x="8031480" y="3470004"/>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6" name="spec label 5"/>
            <p:cNvSpPr txBox="1"/>
            <p:nvPr/>
          </p:nvSpPr>
          <p:spPr>
            <a:xfrm>
              <a:off x="8031480" y="3470004"/>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Flown</a:t>
              </a:r>
            </a:p>
          </p:txBody>
        </p:sp>
        <p:sp>
          <p:nvSpPr>
            <p:cNvPr id="27" name="spec value 5"/>
            <p:cNvSpPr txBox="1"/>
            <p:nvPr/>
          </p:nvSpPr>
          <p:spPr>
            <a:xfrm>
              <a:off x="9721088" y="3470004"/>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April 2023, night</a:t>
              </a:r>
            </a:p>
          </p:txBody>
        </p:sp>
        <p:cxnSp>
          <p:nvCxnSpPr>
            <p:cNvPr id="28" name="spec rule"/>
            <p:cNvCxnSpPr/>
            <p:nvPr/>
          </p:nvCxnSpPr>
          <p:spPr>
            <a:xfrm>
              <a:off x="8031480" y="382086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9" name="spec label 6"/>
            <p:cNvSpPr txBox="1"/>
            <p:nvPr/>
          </p:nvSpPr>
          <p:spPr>
            <a:xfrm>
              <a:off x="8031480" y="3820869"/>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File</a:t>
              </a:r>
            </a:p>
          </p:txBody>
        </p:sp>
        <p:sp>
          <p:nvSpPr>
            <p:cNvPr id="30" name="spec value 6"/>
            <p:cNvSpPr txBox="1"/>
            <p:nvPr/>
          </p:nvSpPr>
          <p:spPr>
            <a:xfrm>
              <a:off x="9721088" y="3820869"/>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LAZ, 4.3 MB</a:t>
              </a:r>
            </a:p>
          </p:txBody>
        </p:sp>
        <p:cxnSp>
          <p:nvCxnSpPr>
            <p:cNvPr id="31" name="spec rule"/>
            <p:cNvCxnSpPr/>
            <p:nvPr/>
          </p:nvCxnSpPr>
          <p:spPr>
            <a:xfrm>
              <a:off x="8031480" y="4171734"/>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32" name="spec label 7"/>
            <p:cNvSpPr txBox="1"/>
            <p:nvPr/>
          </p:nvSpPr>
          <p:spPr>
            <a:xfrm>
              <a:off x="8031480" y="4171734"/>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Coordinates</a:t>
              </a:r>
            </a:p>
          </p:txBody>
        </p:sp>
        <p:sp>
          <p:nvSpPr>
            <p:cNvPr id="33" name="spec value 7"/>
            <p:cNvSpPr txBox="1"/>
            <p:nvPr/>
          </p:nvSpPr>
          <p:spPr>
            <a:xfrm>
              <a:off x="9721088" y="4171734"/>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rPr>
                <a:t>RD New + NAP</a:t>
              </a:r>
            </a:p>
          </p:txBody>
        </p:sp>
        <p:cxnSp>
          <p:nvCxnSpPr>
            <p:cNvPr id="34" name="spec rule"/>
            <p:cNvCxnSpPr/>
            <p:nvPr/>
          </p:nvCxnSpPr>
          <p:spPr>
            <a:xfrm>
              <a:off x="8031480" y="452259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35" name="spec label 8"/>
            <p:cNvSpPr txBox="1"/>
            <p:nvPr/>
          </p:nvSpPr>
          <p:spPr>
            <a:xfrm>
              <a:off x="8031480" y="4522599"/>
              <a:ext cx="1689608"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Licence</a:t>
              </a:r>
            </a:p>
          </p:txBody>
        </p:sp>
        <p:sp>
          <p:nvSpPr>
            <p:cNvPr id="36" name="spec value 8"/>
            <p:cNvSpPr txBox="1"/>
            <p:nvPr/>
          </p:nvSpPr>
          <p:spPr>
            <a:xfrm>
              <a:off x="9721088" y="4522599"/>
              <a:ext cx="1922272" cy="350865"/>
            </a:xfrm>
            <a:prstGeom prst="rect">
              <a:avLst/>
            </a:prstGeom>
            <a:noFill/>
          </p:spPr>
          <p:txBody>
            <a:bodyPr wrap="none" anchor="ctr" lIns="0" tIns="0" rIns="0" bIns="0">
              <a:noAutofit/>
            </a:bodyPr>
            <a:lstStyle/>
            <a:p>
              <a:pPr algn="l"/>
              <a:r>
                <a:rPr sz="2000" b="0" i="0" lang="en-GB">
                  <a:solidFill>
                    <a:srgbClr val="263238"/>
                  </a:solidFill>
                  <a:latin typeface="Fira Sans"/>
                  <a:hlinkClick r:id="rId4">
                    <a:extLst>
                      <a:ext uri="{A12FA001-AC4F-418D-AE19-62706E023703}">
                        <ahyp:hlinkClr xmlns:ahyp="http://schemas.microsoft.com/office/drawing/2018/hyperlinkcolor" val="tx"/>
                      </a:ext>
                    </a:extLst>
                  </a:hlinkClick>
                </a:rPr>
                <a:t>CC BY 4.0</a:t>
              </a:r>
            </a:p>
          </p:txBody>
        </p:sp>
      </p:grpSp>
      <p:sp>
        <p:nvSpPr>
          <p:cNvPr id="37" name="Note box"/>
          <p:cNvSpPr/>
          <p:nvPr/>
        </p:nvSpPr>
        <p:spPr>
          <a:xfrm>
            <a:off x="548640" y="5056344"/>
            <a:ext cx="6750986" cy="822960"/>
          </a:xfrm>
          <a:prstGeom prst="roundRect">
            <a:avLst>
              <a:gd name="adj" fmla="val 8888"/>
            </a:avLst>
          </a:prstGeom>
          <a:solidFill>
            <a:srgbClr val="DFE8E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Note"/>
          <p:cNvSpPr txBox="1"/>
          <p:nvPr/>
        </p:nvSpPr>
        <p:spPr>
          <a:xfrm>
            <a:off x="713232" y="5193504"/>
            <a:ext cx="6421802" cy="5486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455A64"/>
                </a:solidFill>
                <a:latin typeface="+mn-lt"/>
              </a:rPr>
              <a:t>Goal: ground, buildings, vegetation, street furniture; scored against AHN.</a:t>
            </a:r>
            <a:endParaRPr lang="en-GB" sz="1800"/>
          </a:p>
        </p:txBody>
      </p:sp>
      <p:sp>
        <p:nvSpPr>
          <p:cNvPr id="39"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One object, three representations</a:t>
            </a:r>
          </a:p>
        </p:txBody>
      </p:sp>
      <p:pic>
        <p:nvPicPr>
          <p:cNvPr id="6" name="Concept figure" descr="The same small house three times. Left, a point cloud: scattered dots on its walls and roof. Middle, a mesh: flat triangles joined at shared edges. Right, a voxel grid: stacked cubes, blocky, with no gaps."/>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Point cloud: an unordered N×3 array plus attributes; no neighbours stored.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Mesh: vertices plus faces, so surfaces, normals and areas are defined.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Voxel grid: occupied cells at one resolution; detail below a cell is gone.</a:t>
            </a:r>
            <a:endParaRPr lang="en-GB" sz="20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Points measure, meshes connect, voxels index space. Convert only when the task needs it.</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 3D project moves through six stages</a:t>
            </a:r>
          </a:p>
        </p:txBody>
      </p:sp>
      <p:grpSp>
        <p:nvGrpSpPr>
          <p:cNvPr id="3" name="Workflow" descr="A ring of six numbered stages, clockwise, with the Python libraries under each. 1 Acquisition, scan the scene, laspy, with a close-up of single points as laspy reads them; 2 Preparation, clean and register, NumPy and Open3D; 3 Exploration, model and label, Open3D and SciPy, with the clustered point cloud; 4 Analysis, measure, monitor, NumPy and SciPy; 5 Visualisation, see it, trust it, PyVista, with the final labelled render; 6 Application, ship it. Stages 1 and 2 are coloured as data, 3 and 4 as understanding, 5 and 6 as delivery. Dashed arrows through the middle lead from analysis back to preparation and from visualisation back to acquisition: loop back when the data surprises you."/>
          <p:cNvGrpSpPr/>
          <p:nvPr/>
        </p:nvGrpSpPr>
        <p:grpSpPr>
          <a:xfrm>
            <a:off x="906780" y="1706392"/>
            <a:ext cx="9464040" cy="4039288"/>
            <a:chOff x="906780" y="1706392"/>
            <a:chExt cx="9464040" cy="4039288"/>
          </a:xfrm>
        </p:grpSpPr>
        <p:cxnSp>
          <p:nvCxnSpPr>
            <p:cNvPr id="6" name="arrow 1"/>
            <p:cNvCxnSpPr/>
            <p:nvPr/>
          </p:nvCxnSpPr>
          <p:spPr>
            <a:xfrm>
              <a:off x="5158740" y="2300752"/>
              <a:ext cx="960120" cy="0"/>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arrow 2"/>
            <p:cNvCxnSpPr/>
            <p:nvPr/>
          </p:nvCxnSpPr>
          <p:spPr>
            <a:xfrm>
              <a:off x="6947800" y="2730332"/>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arrow 3"/>
            <p:cNvCxnSpPr/>
            <p:nvPr/>
          </p:nvCxnSpPr>
          <p:spPr>
            <a:xfrm flipH="1">
              <a:off x="6947800" y="4155616"/>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arrow 4"/>
            <p:cNvCxnSpPr/>
            <p:nvPr/>
          </p:nvCxnSpPr>
          <p:spPr>
            <a:xfrm flipH="1">
              <a:off x="5158740" y="5151320"/>
              <a:ext cx="960120" cy="0"/>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arrow 5"/>
            <p:cNvCxnSpPr/>
            <p:nvPr/>
          </p:nvCxnSpPr>
          <p:spPr>
            <a:xfrm flipH="1" flipV="1">
              <a:off x="3930280" y="4155616"/>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arrow 6"/>
            <p:cNvCxnSpPr/>
            <p:nvPr/>
          </p:nvCxnSpPr>
          <p:spPr>
            <a:xfrm flipV="1">
              <a:off x="3930280" y="2730332"/>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loop 7"/>
            <p:cNvCxnSpPr/>
            <p:nvPr/>
          </p:nvCxnSpPr>
          <p:spPr>
            <a:xfrm flipV="1">
              <a:off x="6644640" y="2826532"/>
              <a:ext cx="0" cy="1799008"/>
            </a:xfrm>
            <a:prstGeom prst="line">
              <a:avLst/>
            </a:prstGeom>
            <a:ln w="38100">
              <a:solidFill>
                <a:srgbClr val="2B679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loop 8"/>
            <p:cNvCxnSpPr/>
            <p:nvPr/>
          </p:nvCxnSpPr>
          <p:spPr>
            <a:xfrm flipV="1">
              <a:off x="4632960" y="2826532"/>
              <a:ext cx="0" cy="1799008"/>
            </a:xfrm>
            <a:prstGeom prst="line">
              <a:avLst/>
            </a:prstGeom>
            <a:ln w="38100">
              <a:solidFill>
                <a:srgbClr val="2B679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stage disc 1"/>
            <p:cNvSpPr/>
            <p:nvPr/>
          </p:nvSpPr>
          <p:spPr>
            <a:xfrm>
              <a:off x="4198620" y="1866412"/>
              <a:ext cx="868680" cy="868680"/>
            </a:xfrm>
            <a:prstGeom prst="ellipse">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1</a:t>
              </a:r>
            </a:p>
          </p:txBody>
        </p:sp>
        <p:sp>
          <p:nvSpPr>
            <p:cNvPr id="15" name="stage label 1"/>
            <p:cNvSpPr txBox="1"/>
            <p:nvPr/>
          </p:nvSpPr>
          <p:spPr>
            <a:xfrm>
              <a:off x="1912620" y="1706392"/>
              <a:ext cx="2103120" cy="1188720"/>
            </a:xfrm>
            <a:prstGeom prst="rect">
              <a:avLst/>
            </a:prstGeom>
            <a:noFill/>
          </p:spPr>
          <p:txBody>
            <a:bodyPr wrap="square" anchor="ctr" lIns="0" tIns="0" rIns="0" bIns="0">
              <a:noAutofit/>
            </a:bodyPr>
            <a:lstStyle/>
            <a:p>
              <a:pPr algn="r"/>
              <a:r>
                <a:rPr sz="2800" b="0" i="0" lang="en-GB">
                  <a:solidFill>
                    <a:srgbClr val="1C325B"/>
                  </a:solidFill>
                  <a:latin typeface="Fira Sans SemiBold"/>
                </a:rPr>
                <a:t>Acquisition</a:t>
              </a:r>
            </a:p>
            <a:p>
              <a:pPr algn="r"/>
              <a:r>
                <a:rPr sz="2000" b="0" i="0" lang="en-GB">
                  <a:solidFill>
                    <a:srgbClr val="263238"/>
                  </a:solidFill>
                  <a:latin typeface="Fira Sans"/>
                </a:rPr>
                <a:t>Scan the scene</a:t>
              </a:r>
            </a:p>
            <a:p>
              <a:pPr algn="r"/>
              <a:r>
                <a:rPr sz="2000" b="0" i="0" lang="en-GB">
                  <a:solidFill>
                    <a:srgbClr val="2B6797"/>
                  </a:solidFill>
                  <a:latin typeface="Fira Sans SemiBold"/>
                </a:rPr>
                <a:t>laspy</a:t>
              </a:r>
            </a:p>
          </p:txBody>
        </p:sp>
        <p:sp>
          <p:nvSpPr>
            <p:cNvPr id="16" name="stage disc 2"/>
            <p:cNvSpPr/>
            <p:nvPr/>
          </p:nvSpPr>
          <p:spPr>
            <a:xfrm>
              <a:off x="6210300" y="1866412"/>
              <a:ext cx="868680" cy="868680"/>
            </a:xfrm>
            <a:prstGeom prst="ellipse">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2</a:t>
              </a:r>
            </a:p>
          </p:txBody>
        </p:sp>
        <p:sp>
          <p:nvSpPr>
            <p:cNvPr id="17" name="stage label 2"/>
            <p:cNvSpPr txBox="1"/>
            <p:nvPr/>
          </p:nvSpPr>
          <p:spPr>
            <a:xfrm>
              <a:off x="7261860" y="1706392"/>
              <a:ext cx="2103120" cy="1188720"/>
            </a:xfrm>
            <a:prstGeom prst="rect">
              <a:avLst/>
            </a:prstGeom>
            <a:noFill/>
          </p:spPr>
          <p:txBody>
            <a:bodyPr wrap="square" anchor="ctr" lIns="0" tIns="0" rIns="0" bIns="0">
              <a:noAutofit/>
            </a:bodyPr>
            <a:lstStyle/>
            <a:p>
              <a:pPr algn="l"/>
              <a:r>
                <a:rPr sz="2800" b="0" i="0" lang="en-GB">
                  <a:solidFill>
                    <a:srgbClr val="1C325B"/>
                  </a:solidFill>
                  <a:latin typeface="Fira Sans SemiBold"/>
                </a:rPr>
                <a:t>Preparation</a:t>
              </a:r>
            </a:p>
            <a:p>
              <a:pPr algn="l"/>
              <a:r>
                <a:rPr sz="2000" b="0" i="0" lang="en-GB">
                  <a:solidFill>
                    <a:srgbClr val="263238"/>
                  </a:solidFill>
                  <a:latin typeface="Fira Sans"/>
                </a:rPr>
                <a:t>Clean and register</a:t>
              </a:r>
            </a:p>
            <a:p>
              <a:pPr algn="l"/>
              <a:r>
                <a:rPr sz="2000" b="0" i="0" lang="en-GB">
                  <a:solidFill>
                    <a:srgbClr val="2B6797"/>
                  </a:solidFill>
                  <a:latin typeface="Fira Sans SemiBold"/>
                </a:rPr>
                <a:t>NumPy, Open3D</a:t>
              </a:r>
            </a:p>
          </p:txBody>
        </p:sp>
        <p:sp>
          <p:nvSpPr>
            <p:cNvPr id="18" name="stage disc 3"/>
            <p:cNvSpPr/>
            <p:nvPr/>
          </p:nvSpPr>
          <p:spPr>
            <a:xfrm>
              <a:off x="7216140" y="3291696"/>
              <a:ext cx="868680" cy="868680"/>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3</a:t>
              </a:r>
            </a:p>
          </p:txBody>
        </p:sp>
        <p:sp>
          <p:nvSpPr>
            <p:cNvPr id="19" name="stage label 3"/>
            <p:cNvSpPr txBox="1"/>
            <p:nvPr/>
          </p:nvSpPr>
          <p:spPr>
            <a:xfrm>
              <a:off x="8267700" y="3131676"/>
              <a:ext cx="2103120" cy="1188720"/>
            </a:xfrm>
            <a:prstGeom prst="rect">
              <a:avLst/>
            </a:prstGeom>
            <a:noFill/>
          </p:spPr>
          <p:txBody>
            <a:bodyPr wrap="square" anchor="ctr" lIns="0" tIns="0" rIns="0" bIns="0">
              <a:noAutofit/>
            </a:bodyPr>
            <a:lstStyle/>
            <a:p>
              <a:pPr algn="l"/>
              <a:r>
                <a:rPr sz="2800" b="0" i="0" lang="en-GB">
                  <a:solidFill>
                    <a:srgbClr val="1C325B"/>
                  </a:solidFill>
                  <a:latin typeface="Fira Sans SemiBold"/>
                </a:rPr>
                <a:t>Exploration</a:t>
              </a:r>
            </a:p>
            <a:p>
              <a:pPr algn="l"/>
              <a:r>
                <a:rPr sz="2000" b="0" i="0" lang="en-GB">
                  <a:solidFill>
                    <a:srgbClr val="263238"/>
                  </a:solidFill>
                  <a:latin typeface="Fira Sans"/>
                </a:rPr>
                <a:t>Model and label</a:t>
              </a:r>
            </a:p>
            <a:p>
              <a:pPr algn="l"/>
              <a:r>
                <a:rPr sz="2000" b="0" i="0" lang="en-GB">
                  <a:solidFill>
                    <a:srgbClr val="2B6797"/>
                  </a:solidFill>
                  <a:latin typeface="Fira Sans SemiBold"/>
                </a:rPr>
                <a:t>Open3D, SciPy</a:t>
              </a:r>
            </a:p>
          </p:txBody>
        </p:sp>
        <p:sp>
          <p:nvSpPr>
            <p:cNvPr id="20" name="stage disc 4"/>
            <p:cNvSpPr/>
            <p:nvPr/>
          </p:nvSpPr>
          <p:spPr>
            <a:xfrm>
              <a:off x="6210300" y="4716980"/>
              <a:ext cx="868680" cy="868680"/>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4</a:t>
              </a:r>
            </a:p>
          </p:txBody>
        </p:sp>
        <p:sp>
          <p:nvSpPr>
            <p:cNvPr id="21" name="stage label 4"/>
            <p:cNvSpPr txBox="1"/>
            <p:nvPr/>
          </p:nvSpPr>
          <p:spPr>
            <a:xfrm>
              <a:off x="7261860" y="4556960"/>
              <a:ext cx="2103120" cy="1188720"/>
            </a:xfrm>
            <a:prstGeom prst="rect">
              <a:avLst/>
            </a:prstGeom>
            <a:noFill/>
          </p:spPr>
          <p:txBody>
            <a:bodyPr wrap="square" anchor="ctr" lIns="0" tIns="0" rIns="0" bIns="0">
              <a:noAutofit/>
            </a:bodyPr>
            <a:lstStyle/>
            <a:p>
              <a:pPr algn="l"/>
              <a:r>
                <a:rPr sz="2800" b="0" i="0" lang="en-GB">
                  <a:solidFill>
                    <a:srgbClr val="1C325B"/>
                  </a:solidFill>
                  <a:latin typeface="Fira Sans SemiBold"/>
                </a:rPr>
                <a:t>Analysis</a:t>
              </a:r>
            </a:p>
            <a:p>
              <a:pPr algn="l"/>
              <a:r>
                <a:rPr sz="2000" b="0" i="0" lang="en-GB">
                  <a:solidFill>
                    <a:srgbClr val="263238"/>
                  </a:solidFill>
                  <a:latin typeface="Fira Sans"/>
                </a:rPr>
                <a:t>Measure, monitor</a:t>
              </a:r>
            </a:p>
            <a:p>
              <a:pPr algn="l"/>
              <a:r>
                <a:rPr sz="2000" b="0" i="0" lang="en-GB">
                  <a:solidFill>
                    <a:srgbClr val="2B6797"/>
                  </a:solidFill>
                  <a:latin typeface="Fira Sans SemiBold"/>
                </a:rPr>
                <a:t>NumPy, SciPy</a:t>
              </a:r>
            </a:p>
          </p:txBody>
        </p:sp>
        <p:sp>
          <p:nvSpPr>
            <p:cNvPr id="22" name="stage disc 5"/>
            <p:cNvSpPr/>
            <p:nvPr/>
          </p:nvSpPr>
          <p:spPr>
            <a:xfrm>
              <a:off x="4198620" y="4716980"/>
              <a:ext cx="868680" cy="868680"/>
            </a:xfrm>
            <a:prstGeom prst="ellipse">
              <a:avLst/>
            </a:prstGeom>
            <a:solidFill>
              <a:srgbClr val="B1CAC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1C325B"/>
                  </a:solidFill>
                  <a:latin typeface="Fira Sans SemiBold"/>
                </a:rPr>
                <a:t>5</a:t>
              </a:r>
            </a:p>
          </p:txBody>
        </p:sp>
        <p:sp>
          <p:nvSpPr>
            <p:cNvPr id="23" name="stage label 5"/>
            <p:cNvSpPr txBox="1"/>
            <p:nvPr/>
          </p:nvSpPr>
          <p:spPr>
            <a:xfrm>
              <a:off x="1912620" y="4556960"/>
              <a:ext cx="2103120" cy="1188720"/>
            </a:xfrm>
            <a:prstGeom prst="rect">
              <a:avLst/>
            </a:prstGeom>
            <a:noFill/>
          </p:spPr>
          <p:txBody>
            <a:bodyPr wrap="square" anchor="ctr" lIns="0" tIns="0" rIns="0" bIns="0">
              <a:noAutofit/>
            </a:bodyPr>
            <a:lstStyle/>
            <a:p>
              <a:pPr algn="r"/>
              <a:r>
                <a:rPr sz="2800" b="0" i="0" lang="en-GB">
                  <a:solidFill>
                    <a:srgbClr val="1C325B"/>
                  </a:solidFill>
                  <a:latin typeface="Fira Sans SemiBold"/>
                </a:rPr>
                <a:t>Visualisation</a:t>
              </a:r>
            </a:p>
            <a:p>
              <a:pPr algn="r"/>
              <a:r>
                <a:rPr sz="2000" b="0" i="0" lang="en-GB">
                  <a:solidFill>
                    <a:srgbClr val="263238"/>
                  </a:solidFill>
                  <a:latin typeface="Fira Sans"/>
                </a:rPr>
                <a:t>See it, trust it</a:t>
              </a:r>
            </a:p>
            <a:p>
              <a:pPr algn="r"/>
              <a:r>
                <a:rPr sz="2000" b="0" i="0" lang="en-GB">
                  <a:solidFill>
                    <a:srgbClr val="2B6797"/>
                  </a:solidFill>
                  <a:latin typeface="Fira Sans SemiBold"/>
                </a:rPr>
                <a:t>PyVista</a:t>
              </a:r>
            </a:p>
          </p:txBody>
        </p:sp>
        <p:sp>
          <p:nvSpPr>
            <p:cNvPr id="24" name="stage disc 6"/>
            <p:cNvSpPr/>
            <p:nvPr/>
          </p:nvSpPr>
          <p:spPr>
            <a:xfrm>
              <a:off x="3192780" y="3291696"/>
              <a:ext cx="868680" cy="868680"/>
            </a:xfrm>
            <a:prstGeom prst="ellipse">
              <a:avLst/>
            </a:prstGeom>
            <a:solidFill>
              <a:srgbClr val="B1CAC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1C325B"/>
                  </a:solidFill>
                  <a:latin typeface="Fira Sans SemiBold"/>
                </a:rPr>
                <a:t>6</a:t>
              </a:r>
            </a:p>
          </p:txBody>
        </p:sp>
        <p:sp>
          <p:nvSpPr>
            <p:cNvPr id="25" name="stage label 6"/>
            <p:cNvSpPr txBox="1"/>
            <p:nvPr/>
          </p:nvSpPr>
          <p:spPr>
            <a:xfrm>
              <a:off x="906780" y="3131676"/>
              <a:ext cx="2103120" cy="1188720"/>
            </a:xfrm>
            <a:prstGeom prst="rect">
              <a:avLst/>
            </a:prstGeom>
            <a:noFill/>
          </p:spPr>
          <p:txBody>
            <a:bodyPr wrap="square" anchor="ctr" lIns="0" tIns="0" rIns="0" bIns="0">
              <a:noAutofit/>
            </a:bodyPr>
            <a:lstStyle/>
            <a:p>
              <a:pPr algn="r"/>
              <a:r>
                <a:rPr sz="2800" b="0" i="0" lang="en-GB">
                  <a:solidFill>
                    <a:srgbClr val="1C325B"/>
                  </a:solidFill>
                  <a:latin typeface="Fira Sans SemiBold"/>
                </a:rPr>
                <a:t>Application</a:t>
              </a:r>
            </a:p>
            <a:p>
              <a:pPr algn="r"/>
              <a:r>
                <a:rPr sz="2000" b="0" i="0" lang="en-GB">
                  <a:solidFill>
                    <a:srgbClr val="263238"/>
                  </a:solidFill>
                  <a:latin typeface="Fira Sans"/>
                </a:rPr>
                <a:t>Ship it</a:t>
              </a:r>
            </a:p>
          </p:txBody>
        </p:sp>
        <p:sp>
          <p:nvSpPr>
            <p:cNvPr id="26" name="loop note"/>
            <p:cNvSpPr txBox="1"/>
            <p:nvPr/>
          </p:nvSpPr>
          <p:spPr>
            <a:xfrm>
              <a:off x="4861560" y="3177396"/>
              <a:ext cx="1554480" cy="1097280"/>
            </a:xfrm>
            <a:prstGeom prst="rect">
              <a:avLst/>
            </a:prstGeom>
            <a:noFill/>
          </p:spPr>
          <p:txBody>
            <a:bodyPr wrap="square" anchor="ctr" lIns="0" tIns="0" rIns="0" bIns="0">
              <a:noAutofit/>
            </a:bodyPr>
            <a:lstStyle/>
            <a:p>
              <a:pPr algn="ctr"/>
              <a:r>
                <a:rPr sz="2000" b="0" i="0" lang="en-GB">
                  <a:solidFill>
                    <a:srgbClr val="2B6797"/>
                  </a:solidFill>
                  <a:latin typeface="Fira Sans"/>
                </a:rPr>
                <a:t>Loop back when the data surprises</a:t>
              </a:r>
            </a:p>
          </p:txBody>
        </p:sp>
      </p:grpSp>
      <p:pic>
        <p:nvPicPr>
          <p:cNvPr id="27" name="Workflow image 1" descr="Close-up render of the crop: single points as laspy reads them."/>
          <p:cNvPicPr>
            <a:picLocks noChangeAspect="1"/>
          </p:cNvPicPr>
          <p:nvPr/>
        </p:nvPicPr>
        <p:blipFill>
          <a:blip r:embed="rId2"/>
          <a:stretch>
            <a:fillRect/>
          </a:stretch>
        </p:blipFill>
        <p:spPr>
          <a:xfrm>
            <a:off x="751332" y="1707429"/>
            <a:ext cx="1051560" cy="1186647"/>
          </a:xfrm>
          <a:prstGeom prst="rect">
            <a:avLst/>
          </a:prstGeom>
        </p:spPr>
      </p:pic>
      <p:pic>
        <p:nvPicPr>
          <p:cNvPr id="28" name="Workflow image 3" descr="The clusters render: ground grey, each cluster in one of four colours."/>
          <p:cNvPicPr>
            <a:picLocks noChangeAspect="1"/>
          </p:cNvPicPr>
          <p:nvPr/>
        </p:nvPicPr>
        <p:blipFill>
          <a:blip r:embed="rId3"/>
          <a:stretch>
            <a:fillRect/>
          </a:stretch>
        </p:blipFill>
        <p:spPr>
          <a:xfrm>
            <a:off x="10480548" y="3132712"/>
            <a:ext cx="1051560" cy="1186647"/>
          </a:xfrm>
          <a:prstGeom prst="rect">
            <a:avLst/>
          </a:prstGeom>
        </p:spPr>
      </p:pic>
      <p:pic>
        <p:nvPicPr>
          <p:cNvPr id="29" name="Workflow image 5" descr="The final render: ground, buildings, vegetation and street furniture."/>
          <p:cNvPicPr>
            <a:picLocks noChangeAspect="1"/>
          </p:cNvPicPr>
          <p:nvPr/>
        </p:nvPicPr>
        <p:blipFill>
          <a:blip r:embed="rId4"/>
          <a:stretch>
            <a:fillRect/>
          </a:stretch>
        </p:blipFill>
        <p:spPr>
          <a:xfrm>
            <a:off x="751332" y="4557996"/>
            <a:ext cx="1051560" cy="1186647"/>
          </a:xfrm>
          <a:prstGeom prst="rect">
            <a:avLst/>
          </a:prstGeom>
        </p:spPr>
      </p:pic>
      <p:sp>
        <p:nvSpPr>
          <p:cNvPr id="30"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5">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Four rules of thumb for 3D data</a:t>
            </a:r>
          </a:p>
        </p:txBody>
      </p:sp>
      <p:grpSp>
        <p:nvGrpSpPr>
          <p:cNvPr id="3" name="Rules of thumb" descr="Four tiles, one rule of thumb each. 1 Think in arrays, not points: a point cloud is an N by 3 table plus attribute columns. 2 Look before you compute: render it; check units, coordinates and classes. 3 Make it small first: crop, tile and downsample; scale up last. 4 Let compiled code loop: one call per array or tile, never per point."/>
          <p:cNvGrpSpPr/>
          <p:nvPr/>
        </p:nvGrpSpPr>
        <p:grpSpPr>
          <a:xfrm>
            <a:off x="548640" y="1600200"/>
            <a:ext cx="11094720" cy="4480272"/>
            <a:chOff x="548640" y="1600200"/>
            <a:chExt cx="11094720" cy="4480272"/>
          </a:xfrm>
        </p:grpSpPr>
        <p:sp>
          <p:nvSpPr>
            <p:cNvPr id="6" name="rule tile 1"/>
            <p:cNvSpPr/>
            <p:nvPr/>
          </p:nvSpPr>
          <p:spPr>
            <a:xfrm>
              <a:off x="54864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number 1"/>
            <p:cNvSpPr/>
            <p:nvPr/>
          </p:nvSpPr>
          <p:spPr>
            <a:xfrm>
              <a:off x="77724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1</a:t>
              </a:r>
            </a:p>
          </p:txBody>
        </p:sp>
        <p:sp>
          <p:nvSpPr>
            <p:cNvPr id="8" name="rule head 1"/>
            <p:cNvSpPr txBox="1"/>
            <p:nvPr/>
          </p:nvSpPr>
          <p:spPr>
            <a:xfrm>
              <a:off x="1517904" y="1801368"/>
              <a:ext cx="4120896" cy="853440"/>
            </a:xfrm>
            <a:prstGeom prst="rect">
              <a:avLst/>
            </a:prstGeom>
            <a:noFill/>
          </p:spPr>
          <p:txBody>
            <a:bodyPr wrap="none" anchor="t" lIns="0" tIns="0" rIns="0" bIns="0">
              <a:noAutofit/>
            </a:bodyPr>
            <a:lstStyle/>
            <a:p>
              <a:pPr algn="l"/>
              <a:r>
                <a:rPr sz="2800" b="0" i="0" lang="en-GB">
                  <a:solidFill>
                    <a:srgbClr val="1C325B"/>
                  </a:solidFill>
                  <a:latin typeface="Fira Sans SemiBold"/>
                </a:rPr>
                <a:t>Think in arrays, not</a:t>
              </a:r>
            </a:p>
            <a:p>
              <a:pPr algn="l"/>
              <a:r>
                <a:rPr sz="2800" b="0" i="0" lang="en-GB">
                  <a:solidFill>
                    <a:srgbClr val="1C325B"/>
                  </a:solidFill>
                  <a:latin typeface="Fira Sans SemiBold"/>
                </a:rPr>
                <a:t>points</a:t>
              </a:r>
            </a:p>
          </p:txBody>
        </p:sp>
        <p:sp>
          <p:nvSpPr>
            <p:cNvPr id="9" name="rule text 1"/>
            <p:cNvSpPr txBox="1"/>
            <p:nvPr/>
          </p:nvSpPr>
          <p:spPr>
            <a:xfrm>
              <a:off x="1517904" y="2791968"/>
              <a:ext cx="4120896" cy="728328"/>
            </a:xfrm>
            <a:prstGeom prst="rect">
              <a:avLst/>
            </a:prstGeom>
            <a:noFill/>
          </p:spPr>
          <p:txBody>
            <a:bodyPr wrap="square" anchor="t" lIns="0" tIns="0" rIns="0" bIns="0">
              <a:noAutofit/>
            </a:bodyPr>
            <a:lstStyle/>
            <a:p>
              <a:pPr algn="l"/>
              <a:r>
                <a:rPr sz="2400" b="0" i="0" lang="en-GB">
                  <a:solidFill>
                    <a:srgbClr val="263238"/>
                  </a:solidFill>
                  <a:latin typeface="Fira Sans"/>
                </a:rPr>
                <a:t>A point cloud is an N×3 table plus attribute columns.</a:t>
              </a:r>
            </a:p>
          </p:txBody>
        </p:sp>
        <p:sp>
          <p:nvSpPr>
            <p:cNvPr id="10" name="rule tile 2"/>
            <p:cNvSpPr/>
            <p:nvPr/>
          </p:nvSpPr>
          <p:spPr>
            <a:xfrm>
              <a:off x="632460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le number 2"/>
            <p:cNvSpPr/>
            <p:nvPr/>
          </p:nvSpPr>
          <p:spPr>
            <a:xfrm>
              <a:off x="655320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2</a:t>
              </a:r>
            </a:p>
          </p:txBody>
        </p:sp>
        <p:sp>
          <p:nvSpPr>
            <p:cNvPr id="12" name="rule head 2"/>
            <p:cNvSpPr txBox="1"/>
            <p:nvPr/>
          </p:nvSpPr>
          <p:spPr>
            <a:xfrm>
              <a:off x="7293864" y="1801368"/>
              <a:ext cx="4120896" cy="853440"/>
            </a:xfrm>
            <a:prstGeom prst="rect">
              <a:avLst/>
            </a:prstGeom>
            <a:noFill/>
          </p:spPr>
          <p:txBody>
            <a:bodyPr wrap="none" anchor="t" lIns="0" tIns="0" rIns="0" bIns="0">
              <a:noAutofit/>
            </a:bodyPr>
            <a:lstStyle/>
            <a:p>
              <a:pPr algn="l"/>
              <a:r>
                <a:rPr sz="2800" b="0" i="0" lang="en-GB">
                  <a:solidFill>
                    <a:srgbClr val="1C325B"/>
                  </a:solidFill>
                  <a:latin typeface="Fira Sans SemiBold"/>
                </a:rPr>
                <a:t>Look before you</a:t>
              </a:r>
            </a:p>
            <a:p>
              <a:pPr algn="l"/>
              <a:r>
                <a:rPr sz="2800" b="0" i="0" lang="en-GB">
                  <a:solidFill>
                    <a:srgbClr val="1C325B"/>
                  </a:solidFill>
                  <a:latin typeface="Fira Sans SemiBold"/>
                </a:rPr>
                <a:t>compute</a:t>
              </a:r>
            </a:p>
          </p:txBody>
        </p:sp>
        <p:sp>
          <p:nvSpPr>
            <p:cNvPr id="13" name="rule text 2"/>
            <p:cNvSpPr txBox="1"/>
            <p:nvPr/>
          </p:nvSpPr>
          <p:spPr>
            <a:xfrm>
              <a:off x="7293864" y="2791968"/>
              <a:ext cx="4120896" cy="728328"/>
            </a:xfrm>
            <a:prstGeom prst="rect">
              <a:avLst/>
            </a:prstGeom>
            <a:noFill/>
          </p:spPr>
          <p:txBody>
            <a:bodyPr wrap="square" anchor="t" lIns="0" tIns="0" rIns="0" bIns="0">
              <a:noAutofit/>
            </a:bodyPr>
            <a:lstStyle/>
            <a:p>
              <a:pPr algn="l"/>
              <a:r>
                <a:rPr sz="2400" b="0" i="0" lang="en-GB">
                  <a:solidFill>
                    <a:srgbClr val="263238"/>
                  </a:solidFill>
                  <a:latin typeface="Fira Sans"/>
                </a:rPr>
                <a:t>Render it; check units, coordinates and classes.</a:t>
              </a:r>
            </a:p>
          </p:txBody>
        </p:sp>
        <p:sp>
          <p:nvSpPr>
            <p:cNvPr id="14" name="rule tile 3"/>
            <p:cNvSpPr/>
            <p:nvPr/>
          </p:nvSpPr>
          <p:spPr>
            <a:xfrm>
              <a:off x="54864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ule number 3"/>
            <p:cNvSpPr/>
            <p:nvPr/>
          </p:nvSpPr>
          <p:spPr>
            <a:xfrm>
              <a:off x="77724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3</a:t>
              </a:r>
            </a:p>
          </p:txBody>
        </p:sp>
        <p:sp>
          <p:nvSpPr>
            <p:cNvPr id="16" name="rule head 3"/>
            <p:cNvSpPr txBox="1"/>
            <p:nvPr/>
          </p:nvSpPr>
          <p:spPr>
            <a:xfrm>
              <a:off x="1517904" y="4248768"/>
              <a:ext cx="4120896" cy="426720"/>
            </a:xfrm>
            <a:prstGeom prst="rect">
              <a:avLst/>
            </a:prstGeom>
            <a:noFill/>
          </p:spPr>
          <p:txBody>
            <a:bodyPr wrap="none" anchor="t" lIns="0" tIns="0" rIns="0" bIns="0">
              <a:noAutofit/>
            </a:bodyPr>
            <a:lstStyle/>
            <a:p>
              <a:pPr algn="l"/>
              <a:r>
                <a:rPr sz="2800" b="0" i="0" lang="en-GB">
                  <a:solidFill>
                    <a:srgbClr val="1C325B"/>
                  </a:solidFill>
                  <a:latin typeface="Fira Sans SemiBold"/>
                </a:rPr>
                <a:t>Make it small first</a:t>
              </a:r>
            </a:p>
          </p:txBody>
        </p:sp>
        <p:sp>
          <p:nvSpPr>
            <p:cNvPr id="17" name="rule text 3"/>
            <p:cNvSpPr txBox="1"/>
            <p:nvPr/>
          </p:nvSpPr>
          <p:spPr>
            <a:xfrm>
              <a:off x="1517904" y="4855320"/>
              <a:ext cx="4120896" cy="1042272"/>
            </a:xfrm>
            <a:prstGeom prst="rect">
              <a:avLst/>
            </a:prstGeom>
            <a:noFill/>
          </p:spPr>
          <p:txBody>
            <a:bodyPr wrap="square" anchor="t" lIns="0" tIns="0" rIns="0" bIns="0">
              <a:noAutofit/>
            </a:bodyPr>
            <a:lstStyle/>
            <a:p>
              <a:pPr algn="l"/>
              <a:r>
                <a:rPr sz="2400" b="0" i="0" lang="en-GB">
                  <a:solidFill>
                    <a:srgbClr val="263238"/>
                  </a:solidFill>
                  <a:latin typeface="Fira Sans"/>
                </a:rPr>
                <a:t>Crop, tile and downsample; scale up last.</a:t>
              </a:r>
            </a:p>
          </p:txBody>
        </p:sp>
        <p:sp>
          <p:nvSpPr>
            <p:cNvPr id="18" name="rule tile 4"/>
            <p:cNvSpPr/>
            <p:nvPr/>
          </p:nvSpPr>
          <p:spPr>
            <a:xfrm>
              <a:off x="632460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ule number 4"/>
            <p:cNvSpPr/>
            <p:nvPr/>
          </p:nvSpPr>
          <p:spPr>
            <a:xfrm>
              <a:off x="655320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4</a:t>
              </a:r>
            </a:p>
          </p:txBody>
        </p:sp>
        <p:sp>
          <p:nvSpPr>
            <p:cNvPr id="20" name="rule head 4"/>
            <p:cNvSpPr txBox="1"/>
            <p:nvPr/>
          </p:nvSpPr>
          <p:spPr>
            <a:xfrm>
              <a:off x="7293864" y="4248768"/>
              <a:ext cx="4120896" cy="426720"/>
            </a:xfrm>
            <a:prstGeom prst="rect">
              <a:avLst/>
            </a:prstGeom>
            <a:noFill/>
          </p:spPr>
          <p:txBody>
            <a:bodyPr wrap="none" anchor="t" lIns="0" tIns="0" rIns="0" bIns="0">
              <a:noAutofit/>
            </a:bodyPr>
            <a:lstStyle/>
            <a:p>
              <a:pPr algn="l"/>
              <a:r>
                <a:rPr sz="2800" b="0" i="0" lang="en-GB">
                  <a:solidFill>
                    <a:srgbClr val="1C325B"/>
                  </a:solidFill>
                  <a:latin typeface="Fira Sans SemiBold"/>
                </a:rPr>
                <a:t>Let compiled code loop</a:t>
              </a:r>
            </a:p>
          </p:txBody>
        </p:sp>
        <p:sp>
          <p:nvSpPr>
            <p:cNvPr id="21" name="rule text 4"/>
            <p:cNvSpPr txBox="1"/>
            <p:nvPr/>
          </p:nvSpPr>
          <p:spPr>
            <a:xfrm>
              <a:off x="7293864" y="4855320"/>
              <a:ext cx="4120896" cy="1042272"/>
            </a:xfrm>
            <a:prstGeom prst="rect">
              <a:avLst/>
            </a:prstGeom>
            <a:noFill/>
          </p:spPr>
          <p:txBody>
            <a:bodyPr wrap="square" anchor="t" lIns="0" tIns="0" rIns="0" bIns="0">
              <a:noAutofit/>
            </a:bodyPr>
            <a:lstStyle/>
            <a:p>
              <a:pPr algn="l"/>
              <a:r>
                <a:rPr sz="2400" b="0" i="0" lang="en-GB">
                  <a:solidFill>
                    <a:srgbClr val="263238"/>
                  </a:solidFill>
                  <a:latin typeface="Fira Sans"/>
                </a:rPr>
                <a:t>One call per array or tile, never per point.</a:t>
              </a:r>
            </a:p>
          </p:txBody>
        </p:sp>
      </p:gr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No single library does the whole job</a:t>
            </a:r>
          </a:p>
        </p:txBody>
      </p:sp>
      <p:grpSp>
        <p:nvGrpSpPr>
          <p:cNvPr id="3" name="ecosystem_map" descr="Diagram: six pipeline steps in a row. Under each step, the library that does it: laspy under Load, Open3D across voxel downsampling, ground removal and clustering, SciPy KDTree under clustering, labelling and visualisation, PyVista under visualisation, NumPy under all six steps, the arrays every step passes on."/>
          <p:cNvGrpSpPr/>
          <p:nvPr/>
        </p:nvGrpSpPr>
        <p:grpSpPr>
          <a:xfrm>
            <a:off x="548640" y="1600200"/>
            <a:ext cx="11094720" cy="3947160"/>
            <a:chOff x="548640" y="1600200"/>
            <a:chExt cx="11094720" cy="3947160"/>
          </a:xfrm>
        </p:grpSpPr>
        <p:sp>
          <p:nvSpPr>
            <p:cNvPr id="6" name="eco_step_1"/>
            <p:cNvSpPr txBox="1"/>
            <p:nvPr/>
          </p:nvSpPr>
          <p:spPr>
            <a:xfrm>
              <a:off x="548640" y="1600200"/>
              <a:ext cx="1788160" cy="694944"/>
            </a:xfrm>
            <a:prstGeom prst="rect">
              <a:avLst/>
            </a:prstGeom>
            <a:noFill/>
          </p:spPr>
          <p:txBody>
            <a:bodyPr wrap="none" anchor="b" lIns="0" tIns="0" rIns="0" bIns="0">
              <a:noAutofit/>
            </a:bodyPr>
            <a:lstStyle/>
            <a:p>
              <a:pPr algn="ctr"/>
              <a:r>
                <a:rPr sz="2000" b="1" i="0" lang="en-GB">
                  <a:solidFill>
                    <a:srgbClr val="263238"/>
                  </a:solidFill>
                  <a:latin typeface="Fira Sans"/>
                </a:rPr>
                <a:t>Load</a:t>
              </a:r>
            </a:p>
          </p:txBody>
        </p:sp>
        <p:cxnSp>
          <p:nvCxnSpPr>
            <p:cNvPr id="7" name="eco_rule_1"/>
            <p:cNvCxnSpPr/>
            <p:nvPr/>
          </p:nvCxnSpPr>
          <p:spPr>
            <a:xfrm>
              <a:off x="548640" y="2350008"/>
              <a:ext cx="1788160" cy="0"/>
            </a:xfrm>
            <a:prstGeom prst="line">
              <a:avLst/>
            </a:prstGeom>
            <a:ln w="28575">
              <a:solidFill>
                <a:srgbClr val="1C325B"/>
              </a:solidFill>
            </a:ln>
          </p:spPr>
          <p:style>
            <a:lnRef idx="2">
              <a:schemeClr val="accent1"/>
            </a:lnRef>
            <a:fillRef idx="0">
              <a:schemeClr val="accent1"/>
            </a:fillRef>
            <a:effectRef idx="1">
              <a:schemeClr val="accent1"/>
            </a:effectRef>
            <a:fontRef idx="minor">
              <a:schemeClr val="tx1"/>
            </a:fontRef>
          </p:style>
        </p:cxnSp>
        <p:sp>
          <p:nvSpPr>
            <p:cNvPr id="8" name="eco_step_2"/>
            <p:cNvSpPr txBox="1"/>
            <p:nvPr/>
          </p:nvSpPr>
          <p:spPr>
            <a:xfrm>
              <a:off x="2409952" y="1600200"/>
              <a:ext cx="1788160" cy="694944"/>
            </a:xfrm>
            <a:prstGeom prst="rect">
              <a:avLst/>
            </a:prstGeom>
            <a:noFill/>
          </p:spPr>
          <p:txBody>
            <a:bodyPr wrap="none" anchor="b" lIns="0" tIns="0" rIns="0" bIns="0">
              <a:noAutofit/>
            </a:bodyPr>
            <a:lstStyle/>
            <a:p>
              <a:pPr algn="ctr"/>
              <a:r>
                <a:rPr sz="2000" b="1" i="0" lang="en-GB">
                  <a:solidFill>
                    <a:srgbClr val="263238"/>
                  </a:solidFill>
                  <a:latin typeface="Fira Sans"/>
                </a:rPr>
                <a:t>Voxel</a:t>
              </a:r>
            </a:p>
            <a:p>
              <a:pPr algn="ctr"/>
              <a:r>
                <a:rPr sz="2000" b="1" i="0" lang="en-GB">
                  <a:solidFill>
                    <a:srgbClr val="263238"/>
                  </a:solidFill>
                  <a:latin typeface="Fira Sans"/>
                </a:rPr>
                <a:t>downsampling</a:t>
              </a:r>
            </a:p>
          </p:txBody>
        </p:sp>
        <p:cxnSp>
          <p:nvCxnSpPr>
            <p:cNvPr id="9" name="eco_rule_2"/>
            <p:cNvCxnSpPr/>
            <p:nvPr/>
          </p:nvCxnSpPr>
          <p:spPr>
            <a:xfrm>
              <a:off x="2409952" y="2350008"/>
              <a:ext cx="1788160" cy="0"/>
            </a:xfrm>
            <a:prstGeom prst="line">
              <a:avLst/>
            </a:prstGeom>
            <a:ln w="28575">
              <a:solidFill>
                <a:srgbClr val="1C325B"/>
              </a:solidFill>
            </a:ln>
          </p:spPr>
          <p:style>
            <a:lnRef idx="2">
              <a:schemeClr val="accent1"/>
            </a:lnRef>
            <a:fillRef idx="0">
              <a:schemeClr val="accent1"/>
            </a:fillRef>
            <a:effectRef idx="1">
              <a:schemeClr val="accent1"/>
            </a:effectRef>
            <a:fontRef idx="minor">
              <a:schemeClr val="tx1"/>
            </a:fontRef>
          </p:style>
        </p:cxnSp>
        <p:sp>
          <p:nvSpPr>
            <p:cNvPr id="10" name="eco_step_3"/>
            <p:cNvSpPr txBox="1"/>
            <p:nvPr/>
          </p:nvSpPr>
          <p:spPr>
            <a:xfrm>
              <a:off x="4271264" y="1600200"/>
              <a:ext cx="1788160" cy="694944"/>
            </a:xfrm>
            <a:prstGeom prst="rect">
              <a:avLst/>
            </a:prstGeom>
            <a:noFill/>
          </p:spPr>
          <p:txBody>
            <a:bodyPr wrap="none" anchor="b" lIns="0" tIns="0" rIns="0" bIns="0">
              <a:noAutofit/>
            </a:bodyPr>
            <a:lstStyle/>
            <a:p>
              <a:pPr algn="ctr"/>
              <a:r>
                <a:rPr sz="2000" b="1" i="0" lang="en-GB">
                  <a:solidFill>
                    <a:srgbClr val="263238"/>
                  </a:solidFill>
                  <a:latin typeface="Fira Sans"/>
                </a:rPr>
                <a:t>Ground</a:t>
              </a:r>
            </a:p>
            <a:p>
              <a:pPr algn="ctr"/>
              <a:r>
                <a:rPr sz="2000" b="1" i="0" lang="en-GB">
                  <a:solidFill>
                    <a:srgbClr val="263238"/>
                  </a:solidFill>
                  <a:latin typeface="Fira Sans"/>
                </a:rPr>
                <a:t>removal</a:t>
              </a:r>
            </a:p>
          </p:txBody>
        </p:sp>
        <p:cxnSp>
          <p:nvCxnSpPr>
            <p:cNvPr id="11" name="eco_rule_3"/>
            <p:cNvCxnSpPr/>
            <p:nvPr/>
          </p:nvCxnSpPr>
          <p:spPr>
            <a:xfrm>
              <a:off x="4271264" y="2350008"/>
              <a:ext cx="1788160" cy="0"/>
            </a:xfrm>
            <a:prstGeom prst="line">
              <a:avLst/>
            </a:prstGeom>
            <a:ln w="28575">
              <a:solidFill>
                <a:srgbClr val="1C325B"/>
              </a:solidFill>
            </a:ln>
          </p:spPr>
          <p:style>
            <a:lnRef idx="2">
              <a:schemeClr val="accent1"/>
            </a:lnRef>
            <a:fillRef idx="0">
              <a:schemeClr val="accent1"/>
            </a:fillRef>
            <a:effectRef idx="1">
              <a:schemeClr val="accent1"/>
            </a:effectRef>
            <a:fontRef idx="minor">
              <a:schemeClr val="tx1"/>
            </a:fontRef>
          </p:style>
        </p:cxnSp>
        <p:sp>
          <p:nvSpPr>
            <p:cNvPr id="12" name="eco_step_4"/>
            <p:cNvSpPr txBox="1"/>
            <p:nvPr/>
          </p:nvSpPr>
          <p:spPr>
            <a:xfrm>
              <a:off x="6132576" y="1600200"/>
              <a:ext cx="1788160" cy="694944"/>
            </a:xfrm>
            <a:prstGeom prst="rect">
              <a:avLst/>
            </a:prstGeom>
            <a:noFill/>
          </p:spPr>
          <p:txBody>
            <a:bodyPr wrap="none" anchor="b" lIns="0" tIns="0" rIns="0" bIns="0">
              <a:noAutofit/>
            </a:bodyPr>
            <a:lstStyle/>
            <a:p>
              <a:pPr algn="ctr"/>
              <a:r>
                <a:rPr sz="2000" b="1" i="0" lang="en-GB">
                  <a:solidFill>
                    <a:srgbClr val="263238"/>
                  </a:solidFill>
                  <a:latin typeface="Fira Sans"/>
                </a:rPr>
                <a:t>Clustering</a:t>
              </a:r>
            </a:p>
          </p:txBody>
        </p:sp>
        <p:cxnSp>
          <p:nvCxnSpPr>
            <p:cNvPr id="13" name="eco_rule_4"/>
            <p:cNvCxnSpPr/>
            <p:nvPr/>
          </p:nvCxnSpPr>
          <p:spPr>
            <a:xfrm>
              <a:off x="6132576" y="2350008"/>
              <a:ext cx="1788160" cy="0"/>
            </a:xfrm>
            <a:prstGeom prst="line">
              <a:avLst/>
            </a:prstGeom>
            <a:ln w="28575">
              <a:solidFill>
                <a:srgbClr val="1C325B"/>
              </a:solidFill>
            </a:ln>
          </p:spPr>
          <p:style>
            <a:lnRef idx="2">
              <a:schemeClr val="accent1"/>
            </a:lnRef>
            <a:fillRef idx="0">
              <a:schemeClr val="accent1"/>
            </a:fillRef>
            <a:effectRef idx="1">
              <a:schemeClr val="accent1"/>
            </a:effectRef>
            <a:fontRef idx="minor">
              <a:schemeClr val="tx1"/>
            </a:fontRef>
          </p:style>
        </p:cxnSp>
        <p:sp>
          <p:nvSpPr>
            <p:cNvPr id="14" name="eco_step_5"/>
            <p:cNvSpPr txBox="1"/>
            <p:nvPr/>
          </p:nvSpPr>
          <p:spPr>
            <a:xfrm>
              <a:off x="7993888" y="1600200"/>
              <a:ext cx="1788160" cy="694944"/>
            </a:xfrm>
            <a:prstGeom prst="rect">
              <a:avLst/>
            </a:prstGeom>
            <a:noFill/>
          </p:spPr>
          <p:txBody>
            <a:bodyPr wrap="none" anchor="b" lIns="0" tIns="0" rIns="0" bIns="0">
              <a:noAutofit/>
            </a:bodyPr>
            <a:lstStyle/>
            <a:p>
              <a:pPr algn="ctr"/>
              <a:r>
                <a:rPr sz="2000" b="1" i="0" lang="en-GB">
                  <a:solidFill>
                    <a:srgbClr val="263238"/>
                  </a:solidFill>
                  <a:latin typeface="Fira Sans"/>
                </a:rPr>
                <a:t>Labelling</a:t>
              </a:r>
            </a:p>
          </p:txBody>
        </p:sp>
        <p:cxnSp>
          <p:nvCxnSpPr>
            <p:cNvPr id="15" name="eco_rule_5"/>
            <p:cNvCxnSpPr/>
            <p:nvPr/>
          </p:nvCxnSpPr>
          <p:spPr>
            <a:xfrm>
              <a:off x="7993888" y="2350008"/>
              <a:ext cx="1788160" cy="0"/>
            </a:xfrm>
            <a:prstGeom prst="line">
              <a:avLst/>
            </a:prstGeom>
            <a:ln w="28575">
              <a:solidFill>
                <a:srgbClr val="1C325B"/>
              </a:solidFill>
            </a:ln>
          </p:spPr>
          <p:style>
            <a:lnRef idx="2">
              <a:schemeClr val="accent1"/>
            </a:lnRef>
            <a:fillRef idx="0">
              <a:schemeClr val="accent1"/>
            </a:fillRef>
            <a:effectRef idx="1">
              <a:schemeClr val="accent1"/>
            </a:effectRef>
            <a:fontRef idx="minor">
              <a:schemeClr val="tx1"/>
            </a:fontRef>
          </p:style>
        </p:cxnSp>
        <p:sp>
          <p:nvSpPr>
            <p:cNvPr id="16" name="eco_step_6"/>
            <p:cNvSpPr txBox="1"/>
            <p:nvPr/>
          </p:nvSpPr>
          <p:spPr>
            <a:xfrm>
              <a:off x="9855200" y="1600200"/>
              <a:ext cx="1788160" cy="694944"/>
            </a:xfrm>
            <a:prstGeom prst="rect">
              <a:avLst/>
            </a:prstGeom>
            <a:noFill/>
          </p:spPr>
          <p:txBody>
            <a:bodyPr wrap="none" anchor="b" lIns="0" tIns="0" rIns="0" bIns="0">
              <a:noAutofit/>
            </a:bodyPr>
            <a:lstStyle/>
            <a:p>
              <a:pPr algn="ctr"/>
              <a:r>
                <a:rPr sz="2000" b="1" i="0" lang="en-GB">
                  <a:solidFill>
                    <a:srgbClr val="263238"/>
                  </a:solidFill>
                  <a:latin typeface="Fira Sans"/>
                </a:rPr>
                <a:t>Visualisation</a:t>
              </a:r>
            </a:p>
          </p:txBody>
        </p:sp>
        <p:cxnSp>
          <p:nvCxnSpPr>
            <p:cNvPr id="17" name="eco_rule_6"/>
            <p:cNvCxnSpPr/>
            <p:nvPr/>
          </p:nvCxnSpPr>
          <p:spPr>
            <a:xfrm>
              <a:off x="9855200" y="2350008"/>
              <a:ext cx="1788160" cy="0"/>
            </a:xfrm>
            <a:prstGeom prst="line">
              <a:avLst/>
            </a:prstGeom>
            <a:ln w="28575">
              <a:solidFill>
                <a:srgbClr val="1C325B"/>
              </a:solidFill>
            </a:ln>
          </p:spPr>
          <p:style>
            <a:lnRef idx="2">
              <a:schemeClr val="accent1"/>
            </a:lnRef>
            <a:fillRef idx="0">
              <a:schemeClr val="accent1"/>
            </a:fillRef>
            <a:effectRef idx="1">
              <a:schemeClr val="accent1"/>
            </a:effectRef>
            <a:fontRef idx="minor">
              <a:schemeClr val="tx1"/>
            </a:fontRef>
          </p:style>
        </p:cxnSp>
        <p:sp>
          <p:nvSpPr>
            <p:cNvPr id="18" name="eco_lib_laspy"/>
            <p:cNvSpPr/>
            <p:nvPr/>
          </p:nvSpPr>
          <p:spPr>
            <a:xfrm>
              <a:off x="548640" y="2587752"/>
              <a:ext cx="1788160" cy="1067816"/>
            </a:xfrm>
            <a:prstGeom prst="roundRect">
              <a:avLst>
                <a:gd name="adj" fmla="val 685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tIns="64008" rIns="109728" bIns="64008">
              <a:noAutofit/>
            </a:bodyPr>
            <a:lstStyle/>
            <a:p>
              <a:pPr algn="l"/>
              <a:r>
                <a:rPr sz="2000" b="1" i="0" lang="en-GB">
                  <a:solidFill>
                    <a:srgbClr val="263238"/>
                  </a:solidFill>
                  <a:latin typeface="Fira Sans"/>
                </a:rPr>
                <a:t>laspy</a:t>
              </a:r>
            </a:p>
            <a:p>
              <a:pPr algn="l">
                <a:spcBef>
                  <a:spcPts val="200"/>
                </a:spcBef>
              </a:pPr>
              <a:r>
                <a:rPr sz="2000" b="0" i="0" lang="en-GB">
                  <a:solidFill>
                    <a:srgbClr val="455A64"/>
                  </a:solidFill>
                  <a:latin typeface="Fira Sans"/>
                </a:rPr>
                <a:t>LAS/LAZ in and out</a:t>
              </a:r>
            </a:p>
          </p:txBody>
        </p:sp>
        <p:sp>
          <p:nvSpPr>
            <p:cNvPr id="19" name="eco_lib_Open3D"/>
            <p:cNvSpPr/>
            <p:nvPr/>
          </p:nvSpPr>
          <p:spPr>
            <a:xfrm>
              <a:off x="2409952" y="2587752"/>
              <a:ext cx="5510784" cy="1067816"/>
            </a:xfrm>
            <a:prstGeom prst="roundRect">
              <a:avLst>
                <a:gd name="adj" fmla="val 685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tIns="64008" rIns="109728" bIns="64008">
              <a:noAutofit/>
            </a:bodyPr>
            <a:lstStyle/>
            <a:p>
              <a:pPr algn="l"/>
              <a:r>
                <a:rPr sz="2000" b="1" i="0" lang="en-GB">
                  <a:solidFill>
                    <a:srgbClr val="263238"/>
                  </a:solidFill>
                  <a:latin typeface="Fira Sans"/>
                </a:rPr>
                <a:t>Open3D</a:t>
              </a:r>
            </a:p>
            <a:p>
              <a:pPr algn="l">
                <a:spcBef>
                  <a:spcPts val="200"/>
                </a:spcBef>
              </a:pPr>
              <a:r>
                <a:rPr sz="2000" b="0" i="0" lang="en-GB">
                  <a:solidFill>
                    <a:srgbClr val="455A64"/>
                  </a:solidFill>
                  <a:latin typeface="Fira Sans"/>
                </a:rPr>
                <a:t>downsampling, planes, DBSCAN</a:t>
              </a:r>
            </a:p>
          </p:txBody>
        </p:sp>
        <p:sp>
          <p:nvSpPr>
            <p:cNvPr id="20" name="eco_lib_SciPy KDTree"/>
            <p:cNvSpPr/>
            <p:nvPr/>
          </p:nvSpPr>
          <p:spPr>
            <a:xfrm>
              <a:off x="6132576" y="3838448"/>
              <a:ext cx="5510784" cy="763016"/>
            </a:xfrm>
            <a:prstGeom prst="roundRect">
              <a:avLst>
                <a:gd name="adj" fmla="val 9587"/>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tIns="64008" rIns="109728" bIns="64008">
              <a:noAutofit/>
            </a:bodyPr>
            <a:lstStyle/>
            <a:p>
              <a:pPr algn="l"/>
              <a:r>
                <a:rPr sz="2000" b="1" i="0" lang="en-GB">
                  <a:solidFill>
                    <a:srgbClr val="263238"/>
                  </a:solidFill>
                  <a:latin typeface="Fira Sans"/>
                </a:rPr>
                <a:t>SciPy KDTree</a:t>
              </a:r>
            </a:p>
            <a:p>
              <a:pPr algn="l">
                <a:spcBef>
                  <a:spcPts val="200"/>
                </a:spcBef>
              </a:pPr>
              <a:r>
                <a:rPr sz="2000" b="0" i="0" lang="en-GB">
                  <a:solidFill>
                    <a:srgbClr val="455A64"/>
                  </a:solidFill>
                  <a:latin typeface="Fira Sans"/>
                </a:rPr>
                <a:t>batch neighbour queries</a:t>
              </a:r>
            </a:p>
          </p:txBody>
        </p:sp>
        <p:sp>
          <p:nvSpPr>
            <p:cNvPr id="21" name="eco_lib_PyVista"/>
            <p:cNvSpPr/>
            <p:nvPr/>
          </p:nvSpPr>
          <p:spPr>
            <a:xfrm>
              <a:off x="9855200" y="2587752"/>
              <a:ext cx="1788160" cy="1067816"/>
            </a:xfrm>
            <a:prstGeom prst="roundRect">
              <a:avLst>
                <a:gd name="adj" fmla="val 685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tIns="64008" rIns="109728" bIns="64008">
              <a:noAutofit/>
            </a:bodyPr>
            <a:lstStyle/>
            <a:p>
              <a:pPr algn="l"/>
              <a:r>
                <a:rPr sz="2000" b="1" i="0" lang="en-GB">
                  <a:solidFill>
                    <a:srgbClr val="263238"/>
                  </a:solidFill>
                  <a:latin typeface="Fira Sans"/>
                </a:rPr>
                <a:t>PyVista</a:t>
              </a:r>
            </a:p>
            <a:p>
              <a:pPr algn="l">
                <a:spcBef>
                  <a:spcPts val="200"/>
                </a:spcBef>
              </a:pPr>
              <a:r>
                <a:rPr sz="2000" b="0" i="0" lang="en-GB">
                  <a:solidFill>
                    <a:srgbClr val="455A64"/>
                  </a:solidFill>
                  <a:latin typeface="Fira Sans"/>
                </a:rPr>
                <a:t>off-screen renders</a:t>
              </a:r>
            </a:p>
          </p:txBody>
        </p:sp>
        <p:sp>
          <p:nvSpPr>
            <p:cNvPr id="22" name="eco_lib_NumPy"/>
            <p:cNvSpPr/>
            <p:nvPr/>
          </p:nvSpPr>
          <p:spPr>
            <a:xfrm>
              <a:off x="548640" y="4784344"/>
              <a:ext cx="11094720" cy="763016"/>
            </a:xfrm>
            <a:prstGeom prst="roundRect">
              <a:avLst>
                <a:gd name="adj" fmla="val 9587"/>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tIns="64008" rIns="109728" bIns="64008">
              <a:noAutofit/>
            </a:bodyPr>
            <a:lstStyle/>
            <a:p>
              <a:pPr algn="l"/>
              <a:r>
                <a:rPr sz="2000" b="1" i="0" lang="en-GB">
                  <a:solidFill>
                    <a:srgbClr val="263238"/>
                  </a:solidFill>
                  <a:latin typeface="Fira Sans"/>
                </a:rPr>
                <a:t>NumPy</a:t>
              </a:r>
            </a:p>
            <a:p>
              <a:pPr algn="l">
                <a:spcBef>
                  <a:spcPts val="200"/>
                </a:spcBef>
              </a:pPr>
              <a:r>
                <a:rPr sz="2000" b="0" i="0" lang="en-GB">
                  <a:solidFill>
                    <a:srgbClr val="455A64"/>
                  </a:solidFill>
                  <a:latin typeface="Fira Sans"/>
                </a:rPr>
                <a:t>the arrays every step passes on</a:t>
              </a:r>
            </a:p>
          </p:txBody>
        </p:sp>
      </p:gr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9</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Use views, not copies</a:t>
            </a:r>
          </a:p>
        </p:txBody>
      </p:sp>
      <p:sp>
        <p:nvSpPr>
          <p:cNvPr id="7" name="Takeaway" descr="An extra xyz copy costs 24 B per point → 0.5 GiB per 1 km file."/>
          <p:cNvSpPr/>
          <p:nvPr/>
        </p:nvSpPr>
        <p:spPr>
          <a:xfrm>
            <a:off x="548640" y="1554480"/>
            <a:ext cx="11094720" cy="548640"/>
          </a:xfrm>
          <a:prstGeom prst="roundRect">
            <a:avLst>
              <a:gd name="adj" fmla="val 13333"/>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marL="0" indent="0">
              <a:spcBef>
                <a:spcPts val="0"/>
              </a:spcBef>
              <a:spcAft>
                <a:spcPts val="0"/>
              </a:spcAft>
              <a:buNone/>
            </a:pPr>
            <a:r>
              <a:rPr sz="2400" lang="en-GB">
                <a:solidFill>
                  <a:srgbClr val="FFFFFF"/>
                </a:solidFill>
                <a:latin typeface="Fira Sans SemiBold"/>
              </a:rPr>
              <a:t>An extra xyz copy costs 24 B per point → 0.5 GiB per 1 km file.</a:t>
            </a:r>
            <a:endParaRPr lang="en-GB" sz="2400"/>
          </a:p>
        </p:txBody>
      </p:sp>
      <p:grpSp>
        <p:nvGrpSpPr>
          <p:cNvPr id="3" name="Copy or view" descr="Legend. Copy: two names, each on its own block of memory; new memory → costs time &amp; RAM. View: two names on one block of memory; same memory → free, writes show through."/>
          <p:cNvGrpSpPr/>
          <p:nvPr/>
        </p:nvGrpSpPr>
        <p:grpSpPr>
          <a:xfrm>
            <a:off x="548640" y="2331720"/>
            <a:ext cx="11094720" cy="1444752"/>
            <a:chOff x="548640" y="2331720"/>
            <a:chExt cx="11094720" cy="1444752"/>
          </a:xfrm>
        </p:grpSpPr>
        <p:cxnSp>
          <p:nvCxnSpPr>
            <p:cNvPr id="8" name="panel rule"/>
            <p:cNvCxnSpPr/>
            <p:nvPr/>
          </p:nvCxnSpPr>
          <p:spPr>
            <a:xfrm>
              <a:off x="6096000" y="2331720"/>
              <a:ext cx="0" cy="1444752"/>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sp>
          <p:nvSpPr>
            <p:cNvPr id="9" name="copy title"/>
            <p:cNvSpPr txBox="1"/>
            <p:nvPr/>
          </p:nvSpPr>
          <p:spPr>
            <a:xfrm>
              <a:off x="548640" y="2331720"/>
              <a:ext cx="2619502" cy="438912"/>
            </a:xfrm>
            <a:prstGeom prst="rect">
              <a:avLst/>
            </a:prstGeom>
            <a:noFill/>
          </p:spPr>
          <p:txBody>
            <a:bodyPr wrap="none" anchor="ctr" lIns="0" tIns="0" rIns="0" bIns="0">
              <a:noAutofit/>
            </a:bodyPr>
            <a:lstStyle/>
            <a:p>
              <a:pPr algn="l"/>
              <a:r>
                <a:rPr sz="2000" b="0" i="0" lang="en-GB">
                  <a:solidFill>
                    <a:srgbClr val="1C325B"/>
                  </a:solidFill>
                  <a:latin typeface="Fira Sans SemiBold"/>
                </a:rPr>
                <a:t>The problem: copies</a:t>
              </a:r>
            </a:p>
          </p:txBody>
        </p:sp>
        <p:sp>
          <p:nvSpPr>
            <p:cNvPr id="10" name="copy pill"/>
            <p:cNvSpPr/>
            <p:nvPr/>
          </p:nvSpPr>
          <p:spPr>
            <a:xfrm>
              <a:off x="3168142" y="2331720"/>
              <a:ext cx="1212494" cy="438912"/>
            </a:xfrm>
            <a:prstGeom prst="roundRect">
              <a:avLst>
                <a:gd name="adj" fmla="val 50000"/>
              </a:avLst>
            </a:prstGeom>
            <a:solidFill>
              <a:srgbClr val="FFFFFF"/>
            </a:solidFill>
            <a:ln w="254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400" b="0" i="0" lang="en-GB">
                  <a:solidFill>
                    <a:srgbClr val="1C325B"/>
                  </a:solidFill>
                  <a:latin typeface="Fira Sans SemiBold"/>
                </a:rPr>
                <a:t>copy</a:t>
              </a:r>
            </a:p>
          </p:txBody>
        </p:sp>
        <p:sp>
          <p:nvSpPr>
            <p:cNvPr id="11" name="copy name 1"/>
            <p:cNvSpPr txBox="1"/>
            <p:nvPr/>
          </p:nvSpPr>
          <p:spPr>
            <a:xfrm>
              <a:off x="548640" y="2898648"/>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a</a:t>
              </a:r>
            </a:p>
          </p:txBody>
        </p:sp>
        <p:sp>
          <p:nvSpPr>
            <p:cNvPr id="12" name="copy name 2"/>
            <p:cNvSpPr txBox="1"/>
            <p:nvPr/>
          </p:nvSpPr>
          <p:spPr>
            <a:xfrm>
              <a:off x="548640" y="3429000"/>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b</a:t>
              </a:r>
            </a:p>
          </p:txBody>
        </p:sp>
        <p:sp>
          <p:nvSpPr>
            <p:cNvPr id="13" name="copy cell"/>
            <p:cNvSpPr/>
            <p:nvPr/>
          </p:nvSpPr>
          <p:spPr>
            <a:xfrm>
              <a:off x="118872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py cell"/>
            <p:cNvSpPr/>
            <p:nvPr/>
          </p:nvSpPr>
          <p:spPr>
            <a:xfrm>
              <a:off x="146304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opy cell"/>
            <p:cNvSpPr/>
            <p:nvPr/>
          </p:nvSpPr>
          <p:spPr>
            <a:xfrm>
              <a:off x="173736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py cell"/>
            <p:cNvSpPr/>
            <p:nvPr/>
          </p:nvSpPr>
          <p:spPr>
            <a:xfrm>
              <a:off x="201168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py cell"/>
            <p:cNvSpPr/>
            <p:nvPr/>
          </p:nvSpPr>
          <p:spPr>
            <a:xfrm>
              <a:off x="228600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opy cell"/>
            <p:cNvSpPr/>
            <p:nvPr/>
          </p:nvSpPr>
          <p:spPr>
            <a:xfrm>
              <a:off x="118872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py cell"/>
            <p:cNvSpPr/>
            <p:nvPr/>
          </p:nvSpPr>
          <p:spPr>
            <a:xfrm>
              <a:off x="146304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py cell"/>
            <p:cNvSpPr/>
            <p:nvPr/>
          </p:nvSpPr>
          <p:spPr>
            <a:xfrm>
              <a:off x="173736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py cell"/>
            <p:cNvSpPr/>
            <p:nvPr/>
          </p:nvSpPr>
          <p:spPr>
            <a:xfrm>
              <a:off x="201168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py cell"/>
            <p:cNvSpPr/>
            <p:nvPr/>
          </p:nvSpPr>
          <p:spPr>
            <a:xfrm>
              <a:off x="228600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py ref"/>
            <p:cNvCxnSpPr/>
            <p:nvPr/>
          </p:nvCxnSpPr>
          <p:spPr>
            <a:xfrm>
              <a:off x="841248" y="3072384"/>
              <a:ext cx="301752" cy="0"/>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py ref"/>
            <p:cNvCxnSpPr/>
            <p:nvPr/>
          </p:nvCxnSpPr>
          <p:spPr>
            <a:xfrm>
              <a:off x="841248" y="3602736"/>
              <a:ext cx="301752" cy="0"/>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copy meaning"/>
            <p:cNvSpPr txBox="1"/>
            <p:nvPr/>
          </p:nvSpPr>
          <p:spPr>
            <a:xfrm>
              <a:off x="2926080" y="2898648"/>
              <a:ext cx="2895600" cy="877824"/>
            </a:xfrm>
            <a:prstGeom prst="rect">
              <a:avLst/>
            </a:prstGeom>
            <a:noFill/>
          </p:spPr>
          <p:txBody>
            <a:bodyPr wrap="square" anchor="ctr" lIns="0" tIns="0" rIns="0" bIns="0">
              <a:noAutofit/>
            </a:bodyPr>
            <a:lstStyle/>
            <a:p>
              <a:pPr algn="l"/>
              <a:r>
                <a:rPr sz="2000" b="0" i="0" lang="en-GB">
                  <a:solidFill>
                    <a:srgbClr val="263238"/>
                  </a:solidFill>
                  <a:latin typeface="Fira Sans"/>
                </a:rPr>
                <a:t>new memory → costs time &amp; RAM</a:t>
              </a:r>
            </a:p>
          </p:txBody>
        </p:sp>
        <p:sp>
          <p:nvSpPr>
            <p:cNvPr id="26" name="view title"/>
            <p:cNvSpPr txBox="1"/>
            <p:nvPr/>
          </p:nvSpPr>
          <p:spPr>
            <a:xfrm>
              <a:off x="6370320" y="2331720"/>
              <a:ext cx="2490978" cy="438912"/>
            </a:xfrm>
            <a:prstGeom prst="rect">
              <a:avLst/>
            </a:prstGeom>
            <a:noFill/>
          </p:spPr>
          <p:txBody>
            <a:bodyPr wrap="none" anchor="ctr" lIns="0" tIns="0" rIns="0" bIns="0">
              <a:noAutofit/>
            </a:bodyPr>
            <a:lstStyle/>
            <a:p>
              <a:pPr algn="l"/>
              <a:r>
                <a:rPr sz="2000" b="0" i="0" lang="en-GB">
                  <a:solidFill>
                    <a:srgbClr val="1C325B"/>
                  </a:solidFill>
                  <a:latin typeface="Fira Sans SemiBold"/>
                </a:rPr>
                <a:t>The solution: views</a:t>
              </a:r>
            </a:p>
          </p:txBody>
        </p:sp>
        <p:sp>
          <p:nvSpPr>
            <p:cNvPr id="27" name="view pill"/>
            <p:cNvSpPr/>
            <p:nvPr/>
          </p:nvSpPr>
          <p:spPr>
            <a:xfrm>
              <a:off x="8861298" y="2331720"/>
              <a:ext cx="1187501" cy="438912"/>
            </a:xfrm>
            <a:prstGeom prst="roundRect">
              <a:avLst>
                <a:gd name="adj" fmla="val 5000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400" b="0" i="0" lang="en-GB">
                  <a:solidFill>
                    <a:srgbClr val="FFFFFF"/>
                  </a:solidFill>
                  <a:latin typeface="Fira Sans SemiBold"/>
                </a:rPr>
                <a:t>view</a:t>
              </a:r>
            </a:p>
          </p:txBody>
        </p:sp>
        <p:sp>
          <p:nvSpPr>
            <p:cNvPr id="28" name="view name 1"/>
            <p:cNvSpPr txBox="1"/>
            <p:nvPr/>
          </p:nvSpPr>
          <p:spPr>
            <a:xfrm>
              <a:off x="6370320" y="2898648"/>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a</a:t>
              </a:r>
            </a:p>
          </p:txBody>
        </p:sp>
        <p:sp>
          <p:nvSpPr>
            <p:cNvPr id="29" name="view name 2"/>
            <p:cNvSpPr txBox="1"/>
            <p:nvPr/>
          </p:nvSpPr>
          <p:spPr>
            <a:xfrm>
              <a:off x="6370320" y="3429000"/>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b</a:t>
              </a:r>
            </a:p>
          </p:txBody>
        </p:sp>
        <p:sp>
          <p:nvSpPr>
            <p:cNvPr id="30" name="view cell"/>
            <p:cNvSpPr/>
            <p:nvPr/>
          </p:nvSpPr>
          <p:spPr>
            <a:xfrm>
              <a:off x="701040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ew cell"/>
            <p:cNvSpPr/>
            <p:nvPr/>
          </p:nvSpPr>
          <p:spPr>
            <a:xfrm>
              <a:off x="728472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iew cell"/>
            <p:cNvSpPr/>
            <p:nvPr/>
          </p:nvSpPr>
          <p:spPr>
            <a:xfrm>
              <a:off x="755904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view cell"/>
            <p:cNvSpPr/>
            <p:nvPr/>
          </p:nvSpPr>
          <p:spPr>
            <a:xfrm>
              <a:off x="783336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ew cell"/>
            <p:cNvSpPr/>
            <p:nvPr/>
          </p:nvSpPr>
          <p:spPr>
            <a:xfrm>
              <a:off x="810768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view ref"/>
            <p:cNvCxnSpPr/>
            <p:nvPr/>
          </p:nvCxnSpPr>
          <p:spPr>
            <a:xfrm>
              <a:off x="6662928" y="3072384"/>
              <a:ext cx="301752" cy="265176"/>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view ref"/>
            <p:cNvCxnSpPr/>
            <p:nvPr/>
          </p:nvCxnSpPr>
          <p:spPr>
            <a:xfrm flipV="1">
              <a:off x="6662928" y="3337560"/>
              <a:ext cx="301752" cy="265176"/>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view meaning"/>
            <p:cNvSpPr txBox="1"/>
            <p:nvPr/>
          </p:nvSpPr>
          <p:spPr>
            <a:xfrm>
              <a:off x="8747760" y="2898648"/>
              <a:ext cx="2895600" cy="877824"/>
            </a:xfrm>
            <a:prstGeom prst="rect">
              <a:avLst/>
            </a:prstGeom>
            <a:noFill/>
          </p:spPr>
          <p:txBody>
            <a:bodyPr wrap="square" anchor="ctr" lIns="0" tIns="0" rIns="0" bIns="0">
              <a:noAutofit/>
            </a:bodyPr>
            <a:lstStyle/>
            <a:p>
              <a:pPr algn="l"/>
              <a:r>
                <a:rPr sz="2000" b="0" i="0" lang="en-GB">
                  <a:solidFill>
                    <a:srgbClr val="263238"/>
                  </a:solidFill>
                  <a:latin typeface="Fira Sans"/>
                </a:rPr>
                <a:t>same memory → free, writes show through</a:t>
              </a:r>
            </a:p>
          </p:txBody>
        </p:sp>
      </p:grpSp>
      <p:cxnSp>
        <p:nvCxnSpPr>
          <p:cNvPr id="38" name="Legend rule">
            <a:extLst>
              <a:ext uri="{C183D7F6-B498-43B3-948B-1728B52AA6E4}">
                <adec:decorative xmlns:adec="http://schemas.microsoft.com/office/drawing/2017/decorative" val="1"/>
              </a:ext>
            </a:extLst>
          </p:cNvPr>
          <p:cNvCxnSpPr/>
          <p:nvPr/>
        </p:nvCxnSpPr>
        <p:spPr>
          <a:xfrm>
            <a:off x="548640" y="3886200"/>
            <a:ext cx="1109472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grpSp>
        <p:nvGrpSpPr>
          <p:cNvPr id="39" name="Handoffs" descr="Takeaway: every unnecessary xyz copy costs 24 B per point, 0.5 GiB per 1 km AHN file. The problem, copies: two names, each on its own block of memory; new memory costs time and RAM. The solution, views: two names on one block; same memory, free, writes show through. Below, four rows, one per hand-off between the libraries. las.xyz: copy, a new array on every access. Vector3dVector of xyz: copy, and 39× slower for float32 input. np.asarray of pcd.points: view, writes reach the point cloud. pv.PolyData of pts: view, the same memory as pts."/>
          <p:cNvGrpSpPr/>
          <p:nvPr/>
        </p:nvGrpSpPr>
        <p:grpSpPr>
          <a:xfrm>
            <a:off x="548640" y="3968352"/>
            <a:ext cx="11094720" cy="1828800"/>
            <a:chOff x="548640" y="3968352"/>
            <a:chExt cx="11094720" cy="1828800"/>
          </a:xfrm>
        </p:grpSpPr>
        <p:sp>
          <p:nvSpPr>
            <p:cNvPr id="40" name="Handoffs_code_1"/>
            <p:cNvSpPr/>
            <p:nvPr/>
          </p:nvSpPr>
          <p:spPr>
            <a:xfrm>
              <a:off x="548640" y="3968352"/>
              <a:ext cx="3383280" cy="402336"/>
            </a:xfrm>
            <a:prstGeom prst="roundRect">
              <a:avLst>
                <a:gd name="adj" fmla="val 181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0" bIns="0">
              <a:noAutofit/>
            </a:bodyPr>
            <a:lstStyle/>
            <a:p>
              <a:pPr algn="l"/>
              <a:r>
                <a:rPr sz="1800" b="0" i="0" lang="en-GB">
                  <a:solidFill>
                    <a:srgbClr val="263238"/>
                  </a:solidFill>
                  <a:latin typeface="Fira Mono" pitchFamily="49" charset="0"/>
                </a:rPr>
                <a:t>las.xyz</a:t>
              </a:r>
            </a:p>
          </p:txBody>
        </p:sp>
        <p:sp>
          <p:nvSpPr>
            <p:cNvPr id="41" name="Handoffs_pill_1"/>
            <p:cNvSpPr/>
            <p:nvPr/>
          </p:nvSpPr>
          <p:spPr>
            <a:xfrm>
              <a:off x="4343400" y="3995784"/>
              <a:ext cx="1099820" cy="347472"/>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000" b="0" i="0" lang="en-GB">
                  <a:solidFill>
                    <a:srgbClr val="1C325B"/>
                  </a:solidFill>
                  <a:latin typeface="Fira Sans SemiBold"/>
                </a:rPr>
                <a:t>copy</a:t>
              </a:r>
            </a:p>
          </p:txBody>
        </p:sp>
        <p:sp>
          <p:nvSpPr>
            <p:cNvPr id="42" name="Handoffs_text_1"/>
            <p:cNvSpPr txBox="1"/>
            <p:nvPr/>
          </p:nvSpPr>
          <p:spPr>
            <a:xfrm>
              <a:off x="5854700" y="3968352"/>
              <a:ext cx="5788660" cy="402336"/>
            </a:xfrm>
            <a:prstGeom prst="rect">
              <a:avLst/>
            </a:prstGeom>
            <a:noFill/>
          </p:spPr>
          <p:txBody>
            <a:bodyPr wrap="none" anchor="ctr" lIns="0" tIns="0" rIns="0" bIns="0">
              <a:noAutofit/>
            </a:bodyPr>
            <a:lstStyle/>
            <a:p>
              <a:pPr algn="l"/>
              <a:r>
                <a:rPr sz="2000" b="0" i="0" lang="en-GB">
                  <a:solidFill>
                    <a:srgbClr val="263238"/>
                  </a:solidFill>
                  <a:latin typeface="Fira Sans"/>
                </a:rPr>
                <a:t>new array, every access</a:t>
              </a:r>
            </a:p>
          </p:txBody>
        </p:sp>
        <p:sp>
          <p:nvSpPr>
            <p:cNvPr id="43" name="Handoffs_code_2"/>
            <p:cNvSpPr/>
            <p:nvPr/>
          </p:nvSpPr>
          <p:spPr>
            <a:xfrm>
              <a:off x="548640" y="4443840"/>
              <a:ext cx="3383280" cy="402336"/>
            </a:xfrm>
            <a:prstGeom prst="roundRect">
              <a:avLst>
                <a:gd name="adj" fmla="val 181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0" bIns="0">
              <a:noAutofit/>
            </a:bodyPr>
            <a:lstStyle/>
            <a:p>
              <a:pPr algn="l"/>
              <a:r>
                <a:rPr sz="1800" b="0" i="0" lang="en-GB">
                  <a:solidFill>
                    <a:srgbClr val="263238"/>
                  </a:solidFill>
                  <a:latin typeface="Fira Mono" pitchFamily="49" charset="0"/>
                </a:rPr>
                <a:t>Vector3dVector(xyz)</a:t>
              </a:r>
            </a:p>
          </p:txBody>
        </p:sp>
        <p:sp>
          <p:nvSpPr>
            <p:cNvPr id="44" name="Handoffs_pill_2"/>
            <p:cNvSpPr/>
            <p:nvPr/>
          </p:nvSpPr>
          <p:spPr>
            <a:xfrm>
              <a:off x="4343400" y="4471272"/>
              <a:ext cx="1099820" cy="347472"/>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000" b="0" i="0" lang="en-GB">
                  <a:solidFill>
                    <a:srgbClr val="1C325B"/>
                  </a:solidFill>
                  <a:latin typeface="Fira Sans SemiBold"/>
                </a:rPr>
                <a:t>copy</a:t>
              </a:r>
            </a:p>
          </p:txBody>
        </p:sp>
        <p:sp>
          <p:nvSpPr>
            <p:cNvPr id="45" name="Handoffs_text_2"/>
            <p:cNvSpPr txBox="1"/>
            <p:nvPr/>
          </p:nvSpPr>
          <p:spPr>
            <a:xfrm>
              <a:off x="5854700" y="4443840"/>
              <a:ext cx="5788660" cy="402336"/>
            </a:xfrm>
            <a:prstGeom prst="rect">
              <a:avLst/>
            </a:prstGeom>
            <a:noFill/>
          </p:spPr>
          <p:txBody>
            <a:bodyPr wrap="none" anchor="ctr" lIns="0" tIns="0" rIns="0" bIns="0">
              <a:noAutofit/>
            </a:bodyPr>
            <a:lstStyle/>
            <a:p>
              <a:pPr algn="l"/>
              <a:r>
                <a:rPr sz="2000" b="0" i="0" lang="en-GB">
                  <a:solidFill>
                    <a:srgbClr val="263238"/>
                  </a:solidFill>
                  <a:latin typeface="Fira Sans"/>
                </a:rPr>
                <a:t>float32: 39× slower</a:t>
              </a:r>
            </a:p>
          </p:txBody>
        </p:sp>
        <p:sp>
          <p:nvSpPr>
            <p:cNvPr id="46" name="Handoffs_code_3"/>
            <p:cNvSpPr/>
            <p:nvPr/>
          </p:nvSpPr>
          <p:spPr>
            <a:xfrm>
              <a:off x="548640" y="4919328"/>
              <a:ext cx="3383280" cy="402336"/>
            </a:xfrm>
            <a:prstGeom prst="roundRect">
              <a:avLst>
                <a:gd name="adj" fmla="val 181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0" bIns="0">
              <a:noAutofit/>
            </a:bodyPr>
            <a:lstStyle/>
            <a:p>
              <a:pPr algn="l"/>
              <a:r>
                <a:rPr sz="1800" b="0" i="0" lang="en-GB">
                  <a:solidFill>
                    <a:srgbClr val="263238"/>
                  </a:solidFill>
                  <a:latin typeface="Fira Mono" pitchFamily="49" charset="0"/>
                </a:rPr>
                <a:t>np.asarray(pcd.points)</a:t>
              </a:r>
            </a:p>
          </p:txBody>
        </p:sp>
        <p:sp>
          <p:nvSpPr>
            <p:cNvPr id="47" name="Handoffs_pill_3"/>
            <p:cNvSpPr/>
            <p:nvPr/>
          </p:nvSpPr>
          <p:spPr>
            <a:xfrm>
              <a:off x="4343400" y="4946760"/>
              <a:ext cx="1099820" cy="347472"/>
            </a:xfrm>
            <a:prstGeom prst="roundRect">
              <a:avLst>
                <a:gd name="adj" fmla="val 5000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000" b="0" i="0" lang="en-GB">
                  <a:solidFill>
                    <a:srgbClr val="FFFFFF"/>
                  </a:solidFill>
                  <a:latin typeface="Fira Sans SemiBold"/>
                </a:rPr>
                <a:t>view</a:t>
              </a:r>
            </a:p>
          </p:txBody>
        </p:sp>
        <p:sp>
          <p:nvSpPr>
            <p:cNvPr id="48" name="Handoffs_text_3"/>
            <p:cNvSpPr txBox="1"/>
            <p:nvPr/>
          </p:nvSpPr>
          <p:spPr>
            <a:xfrm>
              <a:off x="5854700" y="4919328"/>
              <a:ext cx="5788660" cy="402336"/>
            </a:xfrm>
            <a:prstGeom prst="rect">
              <a:avLst/>
            </a:prstGeom>
            <a:noFill/>
          </p:spPr>
          <p:txBody>
            <a:bodyPr wrap="none" anchor="ctr" lIns="0" tIns="0" rIns="0" bIns="0">
              <a:noAutofit/>
            </a:bodyPr>
            <a:lstStyle/>
            <a:p>
              <a:pPr algn="l"/>
              <a:r>
                <a:rPr sz="2000" b="0" i="0" lang="en-GB">
                  <a:solidFill>
                    <a:srgbClr val="263238"/>
                  </a:solidFill>
                  <a:latin typeface="Fira Sans"/>
                </a:rPr>
                <a:t>writes reach the point cloud</a:t>
              </a:r>
            </a:p>
          </p:txBody>
        </p:sp>
        <p:sp>
          <p:nvSpPr>
            <p:cNvPr id="49" name="Handoffs_code_4"/>
            <p:cNvSpPr/>
            <p:nvPr/>
          </p:nvSpPr>
          <p:spPr>
            <a:xfrm>
              <a:off x="548640" y="5394816"/>
              <a:ext cx="3383280" cy="402336"/>
            </a:xfrm>
            <a:prstGeom prst="roundRect">
              <a:avLst>
                <a:gd name="adj" fmla="val 181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0" bIns="0">
              <a:noAutofit/>
            </a:bodyPr>
            <a:lstStyle/>
            <a:p>
              <a:pPr algn="l"/>
              <a:r>
                <a:rPr sz="1800" b="0" i="0" lang="en-GB">
                  <a:solidFill>
                    <a:srgbClr val="263238"/>
                  </a:solidFill>
                  <a:latin typeface="Fira Mono" pitchFamily="49" charset="0"/>
                </a:rPr>
                <a:t>pv.PolyData(pts)</a:t>
              </a:r>
            </a:p>
          </p:txBody>
        </p:sp>
        <p:sp>
          <p:nvSpPr>
            <p:cNvPr id="50" name="Handoffs_pill_4"/>
            <p:cNvSpPr/>
            <p:nvPr/>
          </p:nvSpPr>
          <p:spPr>
            <a:xfrm>
              <a:off x="4343400" y="5422248"/>
              <a:ext cx="1099820" cy="347472"/>
            </a:xfrm>
            <a:prstGeom prst="roundRect">
              <a:avLst>
                <a:gd name="adj" fmla="val 5000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000" b="0" i="0" lang="en-GB">
                  <a:solidFill>
                    <a:srgbClr val="FFFFFF"/>
                  </a:solidFill>
                  <a:latin typeface="Fira Sans SemiBold"/>
                </a:rPr>
                <a:t>view</a:t>
              </a:r>
            </a:p>
          </p:txBody>
        </p:sp>
        <p:sp>
          <p:nvSpPr>
            <p:cNvPr id="51" name="Handoffs_text_4"/>
            <p:cNvSpPr txBox="1"/>
            <p:nvPr/>
          </p:nvSpPr>
          <p:spPr>
            <a:xfrm>
              <a:off x="5854700" y="5394816"/>
              <a:ext cx="5788660" cy="402336"/>
            </a:xfrm>
            <a:prstGeom prst="rect">
              <a:avLst/>
            </a:prstGeom>
            <a:noFill/>
          </p:spPr>
          <p:txBody>
            <a:bodyPr wrap="none" anchor="ctr" lIns="0" tIns="0" rIns="0" bIns="0">
              <a:noAutofit/>
            </a:bodyPr>
            <a:lstStyle/>
            <a:p>
              <a:pPr algn="l"/>
              <a:r>
                <a:rPr sz="2000" b="0" i="0" lang="en-GB">
                  <a:solidFill>
                    <a:srgbClr val="263238"/>
                  </a:solidFill>
                  <a:latin typeface="Fira Sans"/>
                </a:rPr>
                <a:t>same memory as pts</a:t>
              </a:r>
            </a:p>
          </p:txBody>
        </p:sp>
      </p:grpSp>
      <p:sp>
        <p:nvSpPr>
          <p:cNvPr id="6" name="Conditions"/>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722 961 points, median of 7 runs; AHN5 crop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results/python_facts.json.</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10</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Six steps turn a point cloud into labels</a:t>
            </a:r>
          </a:p>
        </p:txBody>
      </p:sp>
      <p:pic>
        <p:nvPicPr>
          <p:cNvPr id="6" name="!!render" descr="Six thumbnails of the same area from the same camera, one per pipeline step: load, voxel downsampling, ground removal, clustering, labelling, visualisation."/>
          <p:cNvPicPr>
            <a:picLocks noChangeAspect="1"/>
          </p:cNvPicPr>
          <p:nvPr/>
        </p:nvPicPr>
        <p:blipFill>
          <a:blip r:embed="rId2"/>
          <a:stretch>
            <a:fillRect/>
          </a:stretch>
        </p:blipFill>
        <p:spPr>
          <a:xfrm>
            <a:off x="548640" y="2249331"/>
            <a:ext cx="1620520" cy="1828698"/>
          </a:xfrm>
          <a:prstGeom prst="rect">
            <a:avLst/>
          </a:prstGeom>
        </p:spPr>
      </p:pic>
      <p:sp>
        <p:nvSpPr>
          <p:cNvPr id="7" name="film_sep_1">
            <a:extLst>
              <a:ext uri="{C183D7F6-B498-43B3-948B-1728B52AA6E4}">
                <adec:decorative xmlns:adec="http://schemas.microsoft.com/office/drawing/2017/decorative" val="1"/>
              </a:ext>
            </a:extLst>
          </p:cNvPr>
          <p:cNvSpPr/>
          <p:nvPr/>
        </p:nvSpPr>
        <p:spPr>
          <a:xfrm>
            <a:off x="220573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lm_name_1"/>
          <p:cNvSpPr txBox="1"/>
          <p:nvPr/>
        </p:nvSpPr>
        <p:spPr>
          <a:xfrm>
            <a:off x="42976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Load</a:t>
            </a:r>
          </a:p>
        </p:txBody>
      </p:sp>
      <p:sp>
        <p:nvSpPr>
          <p:cNvPr id="9" name="film_tag_1"/>
          <p:cNvSpPr txBox="1"/>
          <p:nvPr/>
        </p:nvSpPr>
        <p:spPr>
          <a:xfrm>
            <a:off x="42976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laspy</a:t>
            </a:r>
          </a:p>
        </p:txBody>
      </p:sp>
      <p:pic>
        <p:nvPicPr>
          <p:cNvPr id="10" name="film_2" descr="Thumbnail 2: Voxel downsampling"/>
          <p:cNvPicPr>
            <a:picLocks noChangeAspect="1"/>
          </p:cNvPicPr>
          <p:nvPr/>
        </p:nvPicPr>
        <p:blipFill>
          <a:blip r:embed="rId3"/>
          <a:stretch>
            <a:fillRect/>
          </a:stretch>
        </p:blipFill>
        <p:spPr>
          <a:xfrm>
            <a:off x="2443480" y="2249331"/>
            <a:ext cx="1620520" cy="1828698"/>
          </a:xfrm>
          <a:prstGeom prst="rect">
            <a:avLst/>
          </a:prstGeom>
        </p:spPr>
      </p:pic>
      <p:sp>
        <p:nvSpPr>
          <p:cNvPr id="11" name="film_sep_2">
            <a:extLst>
              <a:ext uri="{C183D7F6-B498-43B3-948B-1728B52AA6E4}">
                <adec:decorative xmlns:adec="http://schemas.microsoft.com/office/drawing/2017/decorative" val="1"/>
              </a:ext>
            </a:extLst>
          </p:cNvPr>
          <p:cNvSpPr/>
          <p:nvPr/>
        </p:nvSpPr>
        <p:spPr>
          <a:xfrm>
            <a:off x="410057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ilm_name_2"/>
          <p:cNvSpPr txBox="1"/>
          <p:nvPr/>
        </p:nvSpPr>
        <p:spPr>
          <a:xfrm>
            <a:off x="232460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Voxel</a:t>
            </a:r>
          </a:p>
          <a:p>
            <a:pPr algn="ctr"/>
            <a:r>
              <a:rPr sz="2000" b="1" i="0" lang="en-GB">
                <a:solidFill>
                  <a:srgbClr val="263238"/>
                </a:solidFill>
                <a:latin typeface="Fira Sans"/>
              </a:rPr>
              <a:t>downsampling</a:t>
            </a:r>
          </a:p>
        </p:txBody>
      </p:sp>
      <p:sp>
        <p:nvSpPr>
          <p:cNvPr id="13" name="film_tag_2"/>
          <p:cNvSpPr txBox="1"/>
          <p:nvPr/>
        </p:nvSpPr>
        <p:spPr>
          <a:xfrm>
            <a:off x="232460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Open3D</a:t>
            </a:r>
          </a:p>
        </p:txBody>
      </p:sp>
      <p:pic>
        <p:nvPicPr>
          <p:cNvPr id="14" name="film_3" descr="Thumbnail 3: Ground removal"/>
          <p:cNvPicPr>
            <a:picLocks noChangeAspect="1"/>
          </p:cNvPicPr>
          <p:nvPr/>
        </p:nvPicPr>
        <p:blipFill>
          <a:blip r:embed="rId4"/>
          <a:stretch>
            <a:fillRect/>
          </a:stretch>
        </p:blipFill>
        <p:spPr>
          <a:xfrm>
            <a:off x="4338320" y="2249331"/>
            <a:ext cx="1620520" cy="1828698"/>
          </a:xfrm>
          <a:prstGeom prst="rect">
            <a:avLst/>
          </a:prstGeom>
        </p:spPr>
      </p:pic>
      <p:sp>
        <p:nvSpPr>
          <p:cNvPr id="15" name="film_sep_3">
            <a:extLst>
              <a:ext uri="{C183D7F6-B498-43B3-948B-1728B52AA6E4}">
                <adec:decorative xmlns:adec="http://schemas.microsoft.com/office/drawing/2017/decorative" val="1"/>
              </a:ext>
            </a:extLst>
          </p:cNvPr>
          <p:cNvSpPr/>
          <p:nvPr/>
        </p:nvSpPr>
        <p:spPr>
          <a:xfrm>
            <a:off x="599541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ilm_name_3"/>
          <p:cNvSpPr txBox="1"/>
          <p:nvPr/>
        </p:nvSpPr>
        <p:spPr>
          <a:xfrm>
            <a:off x="421944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Ground</a:t>
            </a:r>
          </a:p>
          <a:p>
            <a:pPr algn="ctr"/>
            <a:r>
              <a:rPr sz="2000" b="1" i="0" lang="en-GB">
                <a:solidFill>
                  <a:srgbClr val="263238"/>
                </a:solidFill>
                <a:latin typeface="Fira Sans"/>
              </a:rPr>
              <a:t>removal</a:t>
            </a:r>
          </a:p>
        </p:txBody>
      </p:sp>
      <p:sp>
        <p:nvSpPr>
          <p:cNvPr id="17" name="film_tag_3"/>
          <p:cNvSpPr txBox="1"/>
          <p:nvPr/>
        </p:nvSpPr>
        <p:spPr>
          <a:xfrm>
            <a:off x="421944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Open3D</a:t>
            </a:r>
          </a:p>
        </p:txBody>
      </p:sp>
      <p:pic>
        <p:nvPicPr>
          <p:cNvPr id="18" name="film_4" descr="Thumbnail 4: Clustering"/>
          <p:cNvPicPr>
            <a:picLocks noChangeAspect="1"/>
          </p:cNvPicPr>
          <p:nvPr/>
        </p:nvPicPr>
        <p:blipFill>
          <a:blip r:embed="rId5"/>
          <a:stretch>
            <a:fillRect/>
          </a:stretch>
        </p:blipFill>
        <p:spPr>
          <a:xfrm>
            <a:off x="6233160" y="2249331"/>
            <a:ext cx="1620520" cy="1828698"/>
          </a:xfrm>
          <a:prstGeom prst="rect">
            <a:avLst/>
          </a:prstGeom>
        </p:spPr>
      </p:pic>
      <p:sp>
        <p:nvSpPr>
          <p:cNvPr id="19" name="film_sep_4">
            <a:extLst>
              <a:ext uri="{C183D7F6-B498-43B3-948B-1728B52AA6E4}">
                <adec:decorative xmlns:adec="http://schemas.microsoft.com/office/drawing/2017/decorative" val="1"/>
              </a:ext>
            </a:extLst>
          </p:cNvPr>
          <p:cNvSpPr/>
          <p:nvPr/>
        </p:nvSpPr>
        <p:spPr>
          <a:xfrm>
            <a:off x="789025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ilm_name_4"/>
          <p:cNvSpPr txBox="1"/>
          <p:nvPr/>
        </p:nvSpPr>
        <p:spPr>
          <a:xfrm>
            <a:off x="611428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Clustering</a:t>
            </a:r>
          </a:p>
        </p:txBody>
      </p:sp>
      <p:sp>
        <p:nvSpPr>
          <p:cNvPr id="21" name="film_tag_4"/>
          <p:cNvSpPr txBox="1"/>
          <p:nvPr/>
        </p:nvSpPr>
        <p:spPr>
          <a:xfrm>
            <a:off x="611428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Open3D, SciPy</a:t>
            </a:r>
          </a:p>
        </p:txBody>
      </p:sp>
      <p:pic>
        <p:nvPicPr>
          <p:cNvPr id="22" name="film_5" descr="Thumbnail 5: Labelling"/>
          <p:cNvPicPr>
            <a:picLocks noChangeAspect="1"/>
          </p:cNvPicPr>
          <p:nvPr/>
        </p:nvPicPr>
        <p:blipFill>
          <a:blip r:embed="rId6"/>
          <a:stretch>
            <a:fillRect/>
          </a:stretch>
        </p:blipFill>
        <p:spPr>
          <a:xfrm>
            <a:off x="8128000" y="2249331"/>
            <a:ext cx="1620520" cy="1828698"/>
          </a:xfrm>
          <a:prstGeom prst="rect">
            <a:avLst/>
          </a:prstGeom>
        </p:spPr>
      </p:pic>
      <p:sp>
        <p:nvSpPr>
          <p:cNvPr id="23" name="film_sep_5">
            <a:extLst>
              <a:ext uri="{C183D7F6-B498-43B3-948B-1728B52AA6E4}">
                <adec:decorative xmlns:adec="http://schemas.microsoft.com/office/drawing/2017/decorative" val="1"/>
              </a:ext>
            </a:extLst>
          </p:cNvPr>
          <p:cNvSpPr/>
          <p:nvPr/>
        </p:nvSpPr>
        <p:spPr>
          <a:xfrm>
            <a:off x="978509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ilm_name_5"/>
          <p:cNvSpPr txBox="1"/>
          <p:nvPr/>
        </p:nvSpPr>
        <p:spPr>
          <a:xfrm>
            <a:off x="800912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Labelling</a:t>
            </a:r>
          </a:p>
        </p:txBody>
      </p:sp>
      <p:sp>
        <p:nvSpPr>
          <p:cNvPr id="25" name="film_tag_5"/>
          <p:cNvSpPr txBox="1"/>
          <p:nvPr/>
        </p:nvSpPr>
        <p:spPr>
          <a:xfrm>
            <a:off x="800912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NumPy, SciPy</a:t>
            </a:r>
          </a:p>
        </p:txBody>
      </p:sp>
      <p:pic>
        <p:nvPicPr>
          <p:cNvPr id="26" name="film_6" descr="Thumbnail 6: Visualisation"/>
          <p:cNvPicPr>
            <a:picLocks noChangeAspect="1"/>
          </p:cNvPicPr>
          <p:nvPr/>
        </p:nvPicPr>
        <p:blipFill>
          <a:blip r:embed="rId7"/>
          <a:stretch>
            <a:fillRect/>
          </a:stretch>
        </p:blipFill>
        <p:spPr>
          <a:xfrm>
            <a:off x="10022840" y="2249331"/>
            <a:ext cx="1620520" cy="1828698"/>
          </a:xfrm>
          <a:prstGeom prst="rect">
            <a:avLst/>
          </a:prstGeom>
        </p:spPr>
      </p:pic>
      <p:sp>
        <p:nvSpPr>
          <p:cNvPr id="27" name="film_name_6"/>
          <p:cNvSpPr txBox="1"/>
          <p:nvPr/>
        </p:nvSpPr>
        <p:spPr>
          <a:xfrm>
            <a:off x="990396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Visualisation</a:t>
            </a:r>
          </a:p>
        </p:txBody>
      </p:sp>
      <p:sp>
        <p:nvSpPr>
          <p:cNvPr id="28" name="film_tag_6"/>
          <p:cNvSpPr txBox="1"/>
          <p:nvPr/>
        </p:nvSpPr>
        <p:spPr>
          <a:xfrm>
            <a:off x="990396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SciPy, PyVista</a:t>
            </a:r>
          </a:p>
        </p:txBody>
      </p:sp>
      <p:sp>
        <p:nvSpPr>
          <p:cNvPr id="29"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8">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11</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1 Load: laspy hands you NumPy</a:t>
            </a:r>
          </a:p>
        </p:txBody>
      </p:sp>
      <p:grpSp>
        <p:nvGrpSpPr>
          <p:cNvPr id="3" name="Code key line">
            <a:extLst>
              <a:ext uri="{C183D7F6-B498-43B3-948B-1728B52AA6E4}">
                <adec:decorative xmlns:adec="http://schemas.microsoft.com/office/drawing/2017/decorative" val="1"/>
              </a:ext>
            </a:extLst>
          </p:cNvPr>
          <p:cNvGrpSpPr/>
          <p:nvPr/>
        </p:nvGrpSpPr>
        <p:grpSpPr>
          <a:xfrm>
            <a:off x="402336" y="2400300"/>
            <a:ext cx="7461504" cy="266700"/>
            <a:chOff x="402336" y="2400300"/>
            <a:chExt cx="7461504" cy="266700"/>
          </a:xfrm>
        </p:grpSpPr>
        <p:sp>
          <p:nvSpPr>
            <p:cNvPr id="6" name="Key line bar"/>
            <p:cNvSpPr/>
            <p:nvPr/>
          </p:nvSpPr>
          <p:spPr>
            <a:xfrm>
              <a:off x="402336" y="2400300"/>
              <a:ext cx="746150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4003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7461504" cy="201168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1" lang="en-GB" noProof="1">
                <a:solidFill>
                  <a:srgbClr val="1C325B"/>
                </a:solidFill>
                <a:latin typeface="Fira Mono" pitchFamily="49"/>
              </a:rPr>
              <a:t>import</a:t>
            </a:r>
            <a:r>
              <a:rPr sz="1800" b="0" lang="en-GB" noProof="1">
                <a:solidFill>
                  <a:srgbClr val="263238"/>
                </a:solidFill>
                <a:latin typeface="Fira Mono" pitchFamily="49"/>
              </a:rPr>
              <a:t> laspy</a:t>
            </a:r>
            <a:endParaRPr lang="en-GB" sz="1800"/>
          </a:p>
          <a:p>
            <a:pPr marL="0" indent="0" algn="l">
              <a:lnSpc>
                <a:spcPts val="2100"/>
              </a:lnSpc>
              <a:spcBef>
                <a:spcPts val="0"/>
              </a:spcBef>
              <a:spcAft>
                <a:spcPts val="0"/>
              </a:spcAft>
              <a:buNone/>
            </a:pPr>
            <a:r>
              <a:rPr sz="1800" b="1" lang="en-GB" noProof="1">
                <a:solidFill>
                  <a:srgbClr val="1C325B"/>
                </a:solidFill>
                <a:latin typeface="Fira Mono" pitchFamily="49"/>
              </a:rPr>
              <a:t>import</a:t>
            </a:r>
            <a:r>
              <a:rPr sz="1800" b="0" lang="en-GB" noProof="1">
                <a:solidFill>
                  <a:srgbClr val="263238"/>
                </a:solidFill>
                <a:latin typeface="Fira Mono" pitchFamily="49"/>
              </a:rPr>
              <a:t> open3d </a:t>
            </a:r>
            <a:r>
              <a:rPr sz="1800" b="1" lang="en-GB" noProof="1">
                <a:solidFill>
                  <a:srgbClr val="1C325B"/>
                </a:solidFill>
                <a:latin typeface="Fira Mono" pitchFamily="49"/>
              </a:rPr>
              <a:t>as</a:t>
            </a:r>
            <a:r>
              <a:rPr sz="1800" b="0" lang="en-GB" noProof="1">
                <a:solidFill>
                  <a:srgbClr val="263238"/>
                </a:solidFill>
                <a:latin typeface="Fira Mono" pitchFamily="49"/>
              </a:rPr>
              <a:t> o3d</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las = laspy.read(</a:t>
            </a:r>
            <a:r>
              <a:rPr sz="1800" b="0" lang="en-GB" noProof="1">
                <a:solidFill>
                  <a:srgbClr val="2B6797"/>
                </a:solidFill>
                <a:latin typeface="Fira Mono" pitchFamily="49"/>
              </a:rPr>
              <a:t>"crop.laz"</a:t>
            </a:r>
            <a:r>
              <a:rPr sz="1800" b="0"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xyz = las.xyz - las.header.mins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v = o3d.utility.Vector3dVector(xyz)</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pcd = o3d.geometry.PointCloud(v)</a:t>
            </a:r>
            <a:endParaRPr lang="en-GB" sz="1800"/>
          </a:p>
        </p:txBody>
      </p:sp>
      <p:pic>
        <p:nvPicPr>
          <p:cNvPr id="9" name="Render" descr="The crop as a point cloud, coloured by height: the hall roof white, the ground blue."/>
          <p:cNvPicPr>
            <a:picLocks noChangeAspect="1"/>
          </p:cNvPicPr>
          <p:nvPr/>
        </p:nvPicPr>
        <p:blipFill>
          <a:blip r:embed="rId2"/>
          <a:stretch>
            <a:fillRect/>
          </a:stretch>
        </p:blipFill>
        <p:spPr>
          <a:xfrm>
            <a:off x="8264642" y="1554480"/>
            <a:ext cx="3378718" cy="3812760"/>
          </a:xfrm>
          <a:prstGeom prst="rect">
            <a:avLst/>
          </a:prstGeom>
        </p:spPr>
      </p:pic>
      <p:pic>
        <p:nvPicPr>
          <p:cNvPr id="10" name="Before and after" descr="The crop's points 135914.6 m from the origin, then after subtracting header.mins: near zero. float32 step 1.6 cm becomes 15 µm."/>
          <p:cNvPicPr>
            <a:picLocks noChangeAspect="1"/>
          </p:cNvPicPr>
          <p:nvPr/>
        </p:nvPicPr>
        <p:blipFill>
          <a:blip r:embed="rId3"/>
          <a:stretch>
            <a:fillRect/>
          </a:stretch>
        </p:blipFill>
        <p:spPr>
          <a:xfrm>
            <a:off x="548640" y="3675888"/>
            <a:ext cx="7487402" cy="1668879"/>
          </a:xfrm>
          <a:prstGeom prst="rect">
            <a:avLst/>
          </a:prstGeom>
        </p:spPr>
      </p:pic>
      <p:sp>
        <p:nvSpPr>
          <p:cNvPr id="11" name="Takeaway bar"/>
          <p:cNvSpPr/>
          <p:nvPr/>
        </p:nvSpPr>
        <p:spPr>
          <a:xfrm>
            <a:off x="548640" y="5458680"/>
            <a:ext cx="64008" cy="50292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731520" y="5458680"/>
            <a:ext cx="10911840" cy="502920"/>
          </a:xfrm>
          <a:prstGeom prst="rect">
            <a:avLst/>
          </a:prstGeom>
          <a:noFill/>
        </p:spPr>
        <p:txBody>
          <a:bodyPr wrap="square" anchor="b" lIns="0" tIns="0" rIns="0" bIns="0">
            <a:noAutofit/>
          </a:bodyPr>
          <a:lstStyle/>
          <a:p>
            <a:pPr marL="0" indent="0" algn="l">
              <a:spcBef>
                <a:spcPts val="0"/>
              </a:spcBef>
              <a:spcAft>
                <a:spcPts val="0"/>
              </a:spcAft>
              <a:buNone/>
            </a:pPr>
            <a:r>
              <a:rPr sz="3000" b="1" lang="en-GB">
                <a:solidFill>
                  <a:srgbClr val="1C325B"/>
                </a:solidFill>
                <a:latin typeface="+mn-lt"/>
              </a:rPr>
              <a:t>Subtract a local origin before anything else.</a:t>
            </a:r>
            <a:endParaRPr lang="en-GB" sz="3000"/>
          </a:p>
        </p:txBody>
      </p:sp>
      <p:sp>
        <p:nvSpPr>
          <p:cNvPr id="13"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2 Voxel downsampling: one average per voxel</a:t>
            </a:r>
          </a:p>
        </p:txBody>
      </p:sp>
      <p:pic>
        <p:nvPicPr>
          <p:cNvPr id="6" name="!!render" descr="Same view as slide 12 after voxel downsampling: fewer points, same size, same area."/>
          <p:cNvPicPr>
            <a:picLocks noChangeAspect="1"/>
          </p:cNvPicPr>
          <p:nvPr/>
        </p:nvPicPr>
        <p:blipFill>
          <a:blip r:embed="rId2"/>
          <a:stretch>
            <a:fillRect/>
          </a:stretch>
        </p:blipFill>
        <p:spPr>
          <a:xfrm>
            <a:off x="8405095" y="1554480"/>
            <a:ext cx="3238265" cy="3654264"/>
          </a:xfrm>
          <a:prstGeom prst="rect">
            <a:avLst/>
          </a:prstGeom>
        </p:spPr>
      </p:pic>
      <p:grpSp>
        <p:nvGrpSpPr>
          <p:cNvPr id="3" name="!!hl">
            <a:extLst>
              <a:ext uri="{C183D7F6-B498-43B3-948B-1728B52AA6E4}">
                <adec:decorative xmlns:adec="http://schemas.microsoft.com/office/drawing/2017/decorative" val="1"/>
              </a:ext>
            </a:extLst>
          </p:cNvPr>
          <p:cNvGrpSpPr/>
          <p:nvPr/>
        </p:nvGrpSpPr>
        <p:grpSpPr>
          <a:xfrm>
            <a:off x="402336" y="1600200"/>
            <a:ext cx="7728439" cy="266700"/>
            <a:chOff x="402336" y="1600200"/>
            <a:chExt cx="7728439" cy="266700"/>
          </a:xfrm>
        </p:grpSpPr>
        <p:sp>
          <p:nvSpPr>
            <p:cNvPr id="7" name="Key line bar"/>
            <p:cNvSpPr/>
            <p:nvPr/>
          </p:nvSpPr>
          <p:spPr>
            <a:xfrm>
              <a:off x="402336" y="1600200"/>
              <a:ext cx="7728439"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line edge"/>
            <p:cNvSpPr/>
            <p:nvPr/>
          </p:nvSpPr>
          <p:spPr>
            <a:xfrm>
              <a:off x="402336" y="16002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9" name="!!code"/>
          <p:cNvSpPr txBox="1"/>
          <p:nvPr/>
        </p:nvSpPr>
        <p:spPr>
          <a:xfrm>
            <a:off x="402336" y="1554480"/>
            <a:ext cx="7728439" cy="105156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1" lang="en-GB" noProof="1">
                <a:solidFill>
                  <a:srgbClr val="263238"/>
                </a:solidFill>
                <a:latin typeface="Fira Mono" pitchFamily="49"/>
              </a:rPr>
              <a:t>down = pcd.voxel_down_sample(0.5)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 = np.asarray(down.points)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print(len(xyz), </a:t>
            </a:r>
            <a:r>
              <a:rPr sz="1800" b="0" lang="en-GB" noProof="1">
                <a:solidFill>
                  <a:srgbClr val="2B6797"/>
                </a:solidFill>
                <a:latin typeface="Fira Mono" pitchFamily="49"/>
              </a:rPr>
              <a:t>"-&gt;"</a:t>
            </a:r>
            <a:r>
              <a:rPr sz="1800" b="0" lang="en-GB" noProof="1">
                <a:solidFill>
                  <a:srgbClr val="263238"/>
                </a:solidFill>
                <a:latin typeface="Fira Mono" pitchFamily="49"/>
              </a:rPr>
              <a:t>, len(P))</a:t>
            </a:r>
            <a:endParaRPr lang="en-GB" sz="1800"/>
          </a:p>
        </p:txBody>
      </p:sp>
      <p:pic>
        <p:nvPicPr>
          <p:cNvPr id="10" name="Voxel before and after" descr="Left, a 3 by 1.5 metre patch of the crop from above, one layer of voxels, with the 0.5 metre cells drawn: 95 points. Right of it, the same patch: the 95 points faded, and one larger average point in each of the 18 cells."/>
          <p:cNvPicPr>
            <a:picLocks noChangeAspect="1"/>
          </p:cNvPicPr>
          <p:nvPr/>
        </p:nvPicPr>
        <p:blipFill>
          <a:blip r:embed="rId3"/>
          <a:stretch>
            <a:fillRect/>
          </a:stretch>
        </p:blipFill>
        <p:spPr>
          <a:xfrm>
            <a:off x="548640" y="2743200"/>
            <a:ext cx="6716482" cy="2465544"/>
          </a:xfrm>
          <a:prstGeom prst="rect">
            <a:avLst/>
          </a:prstGeom>
        </p:spPr>
      </p:pic>
      <p:sp>
        <p:nvSpPr>
          <p:cNvPr id="11" name="Takeaway bar"/>
          <p:cNvSpPr/>
          <p:nvPr/>
        </p:nvSpPr>
        <p:spPr>
          <a:xfrm>
            <a:off x="548640" y="5345904"/>
            <a:ext cx="64008" cy="57912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upport"/>
          <p:cNvSpPr txBox="1"/>
          <p:nvPr/>
        </p:nvSpPr>
        <p:spPr>
          <a:xfrm>
            <a:off x="731520" y="5345904"/>
            <a:ext cx="10911840" cy="579120"/>
          </a:xfrm>
          <a:prstGeom prst="rect">
            <a:avLst/>
          </a:prstGeom>
          <a:noFill/>
        </p:spPr>
        <p:txBody>
          <a:bodyPr wrap="square" anchor="ctr" lIns="0" tIns="0" rIns="0" bIns="0">
            <a:noAutofit/>
          </a:bodyPr>
          <a:lstStyle/>
          <a:p>
            <a:pPr marL="0" indent="0" algn="l">
              <a:spcBef>
                <a:spcPts val="0"/>
              </a:spcBef>
              <a:spcAft>
                <a:spcPts val="0"/>
              </a:spcAft>
              <a:buNone/>
            </a:pPr>
            <a:r>
              <a:rPr sz="3200" b="1" lang="en-GB">
                <a:solidFill>
                  <a:srgbClr val="1C325B"/>
                </a:solidFill>
                <a:latin typeface="+mn-lt"/>
              </a:rPr>
              <a:t>722 961 points in → 232 180 out at 0.5 m voxels.</a:t>
            </a:r>
            <a:endParaRPr lang="en-GB" sz="3200"/>
          </a:p>
        </p:txBody>
      </p:sp>
      <p:sp>
        <p:nvSpPr>
          <p:cNvPr id="13" name="!!src"/>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3 Ground removal: one plane per tile</a:t>
            </a:r>
          </a:p>
        </p:txBody>
      </p:sp>
      <p:grpSp>
        <p:nvGrpSpPr>
          <p:cNvPr id="3" name="Code key line">
            <a:extLst>
              <a:ext uri="{C183D7F6-B498-43B3-948B-1728B52AA6E4}">
                <adec:decorative xmlns:adec="http://schemas.microsoft.com/office/drawing/2017/decorative" val="1"/>
              </a:ext>
            </a:extLst>
          </p:cNvPr>
          <p:cNvGrpSpPr/>
          <p:nvPr/>
        </p:nvGrpSpPr>
        <p:grpSpPr>
          <a:xfrm>
            <a:off x="402336" y="3467100"/>
            <a:ext cx="6181344" cy="266700"/>
            <a:chOff x="402336" y="3467100"/>
            <a:chExt cx="6181344" cy="266700"/>
          </a:xfrm>
        </p:grpSpPr>
        <p:sp>
          <p:nvSpPr>
            <p:cNvPr id="6" name="Key line bar"/>
            <p:cNvSpPr/>
            <p:nvPr/>
          </p:nvSpPr>
          <p:spPr>
            <a:xfrm>
              <a:off x="402336" y="34671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34671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3291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params = steps.GroundParams(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tile=25, low_percentile=2,</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low_window=1.5, threshold=0.4,</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iterations=300,</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max_tilt_deg=15,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max_above_median=2.5)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ground, planes = remove_ground(</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    down, params=params)</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Low points → RANSAC → roof check.</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Rejected tiles borrow a plane.</a:t>
            </a:r>
            <a:endParaRPr lang="en-GB" sz="1800"/>
          </a:p>
        </p:txBody>
      </p:sp>
      <p:pic>
        <p:nvPicPr>
          <p:cNvPr id="9" name="Render" descr="Same view: ground points in slate grey, labelled Ground, everything else still coloured by height."/>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Side view: ground points along a gently sloping street, a building and a tree above them; a dashed line splits two tiles and each tile has its own straight plane through its ground points."/>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Check tilt and relative height;</a:t>
            </a:r>
            <a:endParaRPr lang="en-GB" sz="2800"/>
          </a:p>
          <a:p>
            <a:pPr marL="0" indent="0" algn="l">
              <a:spcBef>
                <a:spcPts val="0"/>
              </a:spcBef>
              <a:spcAft>
                <a:spcPts val="0"/>
              </a:spcAft>
              <a:buNone/>
            </a:pPr>
            <a:r>
              <a:rPr sz="2800" b="1" lang="en-GB">
                <a:solidFill>
                  <a:srgbClr val="1C325B"/>
                </a:solidFill>
                <a:latin typeface="+mn-lt"/>
              </a:rPr>
              <a:t>borrow a plausible nearby plane.</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Scored against AHN's ground:</a:t>
            </a:r>
            <a:endParaRPr lang="en-GB" sz="2000"/>
          </a:p>
          <a:p>
            <a:pPr marL="0" indent="0" algn="l">
              <a:spcBef>
                <a:spcPts val="0"/>
              </a:spcBef>
              <a:spcAft>
                <a:spcPts val="0"/>
              </a:spcAft>
              <a:buNone/>
            </a:pPr>
            <a:r>
              <a:rPr sz="2000" b="0" lang="en-GB">
                <a:solidFill>
                  <a:srgbClr val="263238"/>
                </a:solidFill>
                <a:latin typeface="+mn-lt"/>
              </a:rPr>
              <a:t>98.4 % precision, 94.4 % recall.</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4 Clustering: DBSCAN groups what touches</a:t>
            </a:r>
          </a:p>
        </p:txBody>
      </p:sp>
      <p:grpSp>
        <p:nvGrpSpPr>
          <p:cNvPr id="3" name="Code key line">
            <a:extLst>
              <a:ext uri="{C183D7F6-B498-43B3-948B-1728B52AA6E4}">
                <adec:decorative xmlns:adec="http://schemas.microsoft.com/office/drawing/2017/decorative" val="1"/>
              </a:ext>
            </a:extLst>
          </p:cNvPr>
          <p:cNvGrpSpPr/>
          <p:nvPr/>
        </p:nvGrpSpPr>
        <p:grpSpPr>
          <a:xfrm>
            <a:off x="402336" y="2933700"/>
            <a:ext cx="6181344" cy="266700"/>
            <a:chOff x="402336" y="2933700"/>
            <a:chExt cx="6181344" cy="266700"/>
          </a:xfrm>
        </p:grpSpPr>
        <p:sp>
          <p:nvSpPr>
            <p:cNvPr id="6" name="Key line bar"/>
            <p:cNvSpPr/>
            <p:nvPr/>
          </p:nvSpPr>
          <p:spPr>
            <a:xfrm>
              <a:off x="402336" y="29337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9337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265176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hag = height_above(P, ground)</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up = ~ground &amp; (hag &gt; 0.3)</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rest = down.select_by_index(</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np.flatnonzero(up))</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lab = rest.cluster_dbscan(</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    eps=0.75, min_points=6)</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ids = np.asarray(lab)</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print(ids.max() + 1, </a:t>
            </a:r>
            <a:r>
              <a:rPr sz="1800" b="0" lang="en-GB" noProof="1">
                <a:solidFill>
                  <a:srgbClr val="2B6797"/>
                </a:solidFill>
                <a:latin typeface="Fira Mono" pitchFamily="49"/>
              </a:rPr>
              <a:t>"clusters"</a:t>
            </a:r>
            <a:r>
              <a:rPr sz="1800" b="0" lang="en-GB" noProof="1">
                <a:solidFill>
                  <a:srgbClr val="263238"/>
                </a:solidFill>
                <a:latin typeface="Fira Mono" pitchFamily="49"/>
              </a:rPr>
              <a:t>)</a:t>
            </a:r>
            <a:endParaRPr lang="en-GB" sz="1800"/>
          </a:p>
        </p:txBody>
      </p:sp>
      <p:pic>
        <p:nvPicPr>
          <p:cNvPr id="9" name="Render" descr="Same view: ground stays slate grey, labelled Ground; the other points are grouped into clusters, each drawn in one of four cycling colours (blue, sage, grey, light grey), with noise dimmed."/>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Two groups of points, each a cluster because every point has neighbours within eps, drawn as a dashed circle; one lone point far away is noise."/>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Neighbours within eps</a:t>
            </a:r>
            <a:endParaRPr lang="en-GB" sz="2800"/>
          </a:p>
          <a:p>
            <a:pPr marL="0" indent="0" algn="l">
              <a:spcBef>
                <a:spcPts val="0"/>
              </a:spcBef>
              <a:spcAft>
                <a:spcPts val="0"/>
              </a:spcAft>
              <a:buNone/>
            </a:pPr>
            <a:r>
              <a:rPr sz="2800" b="1" lang="en-GB">
                <a:solidFill>
                  <a:srgbClr val="1C325B"/>
                </a:solidFill>
                <a:latin typeface="+mn-lt"/>
              </a:rPr>
              <a:t>make a cluster.</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1 026 clusters. Clusters are not labels yet.</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5 Labelling: rules name the clusters</a:t>
            </a:r>
          </a:p>
        </p:txBody>
      </p:sp>
      <p:grpSp>
        <p:nvGrpSpPr>
          <p:cNvPr id="3" name="Code key line">
            <a:extLst>
              <a:ext uri="{C183D7F6-B498-43B3-948B-1728B52AA6E4}">
                <adec:decorative xmlns:adec="http://schemas.microsoft.com/office/drawing/2017/decorative" val="1"/>
              </a:ext>
            </a:extLst>
          </p:cNvPr>
          <p:cNvGrpSpPr/>
          <p:nvPr/>
        </p:nvGrpSpPr>
        <p:grpSpPr>
          <a:xfrm>
            <a:off x="402336" y="1866900"/>
            <a:ext cx="6181344" cy="266700"/>
            <a:chOff x="402336" y="1866900"/>
            <a:chExt cx="6181344" cy="266700"/>
          </a:xfrm>
        </p:grpSpPr>
        <p:sp>
          <p:nvSpPr>
            <p:cNvPr id="6" name="Key line bar"/>
            <p:cNvSpPr/>
            <p:nvPr/>
          </p:nvSpPr>
          <p:spPr>
            <a:xfrm>
              <a:off x="402336" y="18669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18669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3291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1" lang="en-GB" noProof="1">
                <a:solidFill>
                  <a:srgbClr val="1C325B"/>
                </a:solidFill>
                <a:latin typeface="Fira Mono" pitchFamily="49"/>
              </a:rPr>
              <a:t>def</a:t>
            </a:r>
            <a:r>
              <a:rPr sz="1800" b="0" lang="en-GB" noProof="1">
                <a:solidFill>
                  <a:srgbClr val="263238"/>
                </a:solidFill>
                <a:latin typeface="Fira Mono" pitchFamily="49"/>
              </a:rPr>
              <a:t> name(c):</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    </a:t>
            </a:r>
            <a:r>
              <a:rPr sz="1800" b="1" lang="en-GB" noProof="1">
                <a:solidFill>
                  <a:srgbClr val="1C325B"/>
                </a:solidFill>
                <a:latin typeface="Fira Mono" pitchFamily="49"/>
              </a:rPr>
              <a:t>if</a:t>
            </a:r>
            <a:r>
              <a:rPr sz="1800" b="1" lang="en-GB" noProof="1">
                <a:solidFill>
                  <a:srgbClr val="263238"/>
                </a:solidFill>
                <a:latin typeface="Fira Mono" pitchFamily="49"/>
              </a:rPr>
              <a:t> c.multi &gt; 0.4 </a:t>
            </a:r>
            <a:r>
              <a:rPr sz="1800" b="1" lang="en-GB" noProof="1">
                <a:solidFill>
                  <a:srgbClr val="1C325B"/>
                </a:solidFill>
                <a:latin typeface="Fira Mono" pitchFamily="49"/>
              </a:rPr>
              <a:t>and</a:t>
            </a:r>
            <a:r>
              <a:rPr sz="1800" b="1" lang="en-GB" noProof="1">
                <a:solidFill>
                  <a:srgbClr val="263238"/>
                </a:solidFill>
                <a:latin typeface="Fira Mono" pitchFamily="49"/>
              </a:rPr>
              <a:t> c.top &gt; 1:</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VEGETATION</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if</a:t>
            </a:r>
            <a:r>
              <a:rPr sz="1800" b="0" lang="en-GB" noProof="1">
                <a:solidFill>
                  <a:srgbClr val="263238"/>
                </a:solidFill>
                <a:latin typeface="Fira Mono" pitchFamily="49"/>
              </a:rPr>
              <a:t> c.foot &gt; 25 </a:t>
            </a:r>
            <a:r>
              <a:rPr sz="1800" b="1" lang="en-GB" noProof="1">
                <a:solidFill>
                  <a:srgbClr val="1C325B"/>
                </a:solidFill>
                <a:latin typeface="Fira Mono" pitchFamily="49"/>
              </a:rPr>
              <a:t>and</a:t>
            </a:r>
            <a:r>
              <a:rPr sz="1800" b="0" lang="en-GB" noProof="1">
                <a:solidFill>
                  <a:srgbClr val="263238"/>
                </a:solidFill>
                <a:latin typeface="Fira Mono" pitchFamily="49"/>
              </a:rPr>
              <a:t> c.top &gt; 2.5: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BUILDINGS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if</a:t>
            </a:r>
            <a:r>
              <a:rPr sz="1800" b="0" lang="en-GB" noProof="1">
                <a:solidFill>
                  <a:srgbClr val="263238"/>
                </a:solidFill>
                <a:latin typeface="Fira Mono" pitchFamily="49"/>
              </a:rPr>
              <a:t> c.to_building &lt; 2:  </a:t>
            </a:r>
            <a:r>
              <a:rPr sz="1800" b="0" lang="en-GB" noProof="1">
                <a:solidFill>
                  <a:srgbClr val="455A64"/>
                </a:solidFill>
                <a:latin typeface="Fira Mono" pitchFamily="49"/>
              </a:rPr>
              <a:t># facade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BUILDINGS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if</a:t>
            </a:r>
            <a:r>
              <a:rPr sz="1800" b="0" lang="en-GB" noProof="1">
                <a:solidFill>
                  <a:srgbClr val="263238"/>
                </a:solidFill>
                <a:latin typeface="Fira Mono" pitchFamily="49"/>
              </a:rPr>
              <a:t> c.slender </a:t>
            </a:r>
            <a:r>
              <a:rPr sz="1800" b="1" lang="en-GB" noProof="1">
                <a:solidFill>
                  <a:srgbClr val="1C325B"/>
                </a:solidFill>
                <a:latin typeface="Fira Mono" pitchFamily="49"/>
              </a:rPr>
              <a:t>and</a:t>
            </a:r>
            <a:r>
              <a:rPr sz="1800" b="0" lang="en-GB" noProof="1">
                <a:solidFill>
                  <a:srgbClr val="263238"/>
                </a:solidFill>
                <a:latin typeface="Fira Mono" pitchFamily="49"/>
              </a:rPr>
              <a:t> c.free: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STREET_FURNITURE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UNLABELLED</a:t>
            </a:r>
            <a:endParaRPr lang="en-GB" sz="1800"/>
          </a:p>
        </p:txBody>
      </p:sp>
      <p:pic>
        <p:nvPicPr>
          <p:cNvPr id="9" name="Render" descr="Same view with four classes, each labelled directly: ground slate grey, buildings light blue, vegetation sage green, street furniture white."/>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Three cluster shapes, a tree crown with many echoes, a wide flat building and a thin pole, each with an arrow to its class colour: vegetation, buildings, street furniture."/>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The first rule that fires</a:t>
            </a:r>
            <a:endParaRPr lang="en-GB" sz="2800"/>
          </a:p>
          <a:p>
            <a:pPr marL="0" indent="0" algn="l">
              <a:spcBef>
                <a:spcPts val="0"/>
              </a:spcBef>
              <a:spcAft>
                <a:spcPts val="0"/>
              </a:spcAft>
              <a:buNone/>
            </a:pPr>
            <a:r>
              <a:rPr sz="2800" b="1" lang="en-GB">
                <a:solidFill>
                  <a:srgbClr val="1C325B"/>
                </a:solidFill>
                <a:latin typeface="+mn-lt"/>
              </a:rPr>
              <a:t>names the cluster.</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Leaf-off scan: bare trees echo several times.</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6 Visualisation: PyVista paints every point</a:t>
            </a:r>
          </a:p>
        </p:txBody>
      </p:sp>
      <p:grpSp>
        <p:nvGrpSpPr>
          <p:cNvPr id="3" name="Code key line">
            <a:extLst>
              <a:ext uri="{C183D7F6-B498-43B3-948B-1728B52AA6E4}">
                <adec:decorative xmlns:adec="http://schemas.microsoft.com/office/drawing/2017/decorative" val="1"/>
              </a:ext>
            </a:extLst>
          </p:cNvPr>
          <p:cNvGrpSpPr/>
          <p:nvPr/>
        </p:nvGrpSpPr>
        <p:grpSpPr>
          <a:xfrm>
            <a:off x="402336" y="2400300"/>
            <a:ext cx="6181344" cy="266700"/>
            <a:chOff x="402336" y="2400300"/>
            <a:chExt cx="6181344" cy="266700"/>
          </a:xfrm>
        </p:grpSpPr>
        <p:sp>
          <p:nvSpPr>
            <p:cNvPr id="6" name="Key line bar"/>
            <p:cNvSpPr/>
            <p:nvPr/>
          </p:nvSpPr>
          <p:spPr>
            <a:xfrm>
              <a:off x="402336" y="24003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4003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265176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P = np.asarray(down.points)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_, j = KDTree(P).query(</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xyz, workers=-1)</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pl = pv.Plotter(off_screen=</a:t>
            </a:r>
            <a:r>
              <a:rPr sz="1800" b="1" lang="en-GB" noProof="1">
                <a:solidFill>
                  <a:srgbClr val="1C325B"/>
                </a:solidFill>
                <a:latin typeface="Fira Mono" pitchFamily="49"/>
              </a:rPr>
              <a:t>True</a:t>
            </a:r>
            <a:r>
              <a:rPr sz="1800" b="1"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pl.add_points(xyz, point_size=3,</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scalars=RGB[cls[j]], rgb=</a:t>
            </a:r>
            <a:r>
              <a:rPr sz="1800" b="1" lang="en-GB" noProof="1">
                <a:solidFill>
                  <a:srgbClr val="1C325B"/>
                </a:solidFill>
                <a:latin typeface="Fira Mono" pitchFamily="49"/>
              </a:rPr>
              <a:t>True</a:t>
            </a:r>
            <a:r>
              <a:rPr sz="1800" b="0"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pl.camera_position = CAM</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pl.screenshot(</a:t>
            </a:r>
            <a:r>
              <a:rPr sz="1800" b="0" lang="en-GB" noProof="1">
                <a:solidFill>
                  <a:srgbClr val="2B6797"/>
                </a:solidFill>
                <a:latin typeface="Fira Mono" pitchFamily="49"/>
              </a:rPr>
              <a:t>"f6_final.png"</a:t>
            </a:r>
            <a:r>
              <a:rPr sz="1800" b="0" lang="en-GB" noProof="1">
                <a:solidFill>
                  <a:srgbClr val="263238"/>
                </a:solidFill>
                <a:latin typeface="Fira Mono" pitchFamily="49"/>
              </a:rPr>
              <a:t>)</a:t>
            </a:r>
            <a:endParaRPr lang="en-GB" sz="1800"/>
          </a:p>
        </p:txBody>
      </p:sp>
      <p:pic>
        <p:nvPicPr>
          <p:cNvPr id="9" name="Render" descr="Same view: the four class labels painted back from the 232 180 voxel points onto all 722 961 original points; ground slate grey, buildings light blue, vegetation sage green, street furniture white."/>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Three large voxel points in their class colours with many small original points around them; each small point takes the colour of its nearest voxel point."/>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Paint the labels back</a:t>
            </a:r>
            <a:endParaRPr lang="en-GB" sz="2800"/>
          </a:p>
          <a:p>
            <a:pPr marL="0" indent="0" algn="l">
              <a:spcBef>
                <a:spcPts val="0"/>
              </a:spcBef>
              <a:spcAft>
                <a:spcPts val="0"/>
              </a:spcAft>
              <a:buNone/>
            </a:pPr>
            <a:r>
              <a:rPr sz="2800" b="1" lang="en-GB">
                <a:solidFill>
                  <a:srgbClr val="1C325B"/>
                </a:solidFill>
                <a:latin typeface="+mn-lt"/>
              </a:rPr>
              <a:t>onto every point.</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Fixed camera, off-screen, one PNG per step.</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What the six steps did</a:t>
            </a:r>
          </a:p>
        </p:txBody>
      </p:sp>
      <p:sp>
        <p:nvSpPr>
          <p:cNvPr id="6" name="Caption 1"/>
          <p:cNvSpPr txBox="1"/>
          <p:nvPr/>
        </p:nvSpPr>
        <p:spPr>
          <a:xfrm>
            <a:off x="2993310" y="1554480"/>
            <a:ext cx="3445590" cy="359664"/>
          </a:xfrm>
          <a:prstGeom prst="rect">
            <a:avLst/>
          </a:prstGeom>
          <a:noFill/>
        </p:spPr>
        <p:txBody>
          <a:bodyPr wrap="none" anchor="b" lIns="0" tIns="0" rIns="0" bIns="0">
            <a:noAutofit/>
          </a:bodyPr>
          <a:lstStyle/>
          <a:p>
            <a:pPr marL="0" indent="0" algn="l">
              <a:spcBef>
                <a:spcPts val="0"/>
              </a:spcBef>
              <a:spcAft>
                <a:spcPts val="0"/>
              </a:spcAft>
              <a:buNone/>
            </a:pPr>
            <a:r>
              <a:rPr sz="2000" b="1" lang="en-GB">
                <a:solidFill>
                  <a:srgbClr val="1C325B"/>
                </a:solidFill>
                <a:latin typeface="+mn-lt"/>
              </a:rPr>
              <a:t>Original scan</a:t>
            </a:r>
            <a:endParaRPr lang="en-GB" sz="2000"/>
          </a:p>
        </p:txBody>
      </p:sp>
      <p:pic>
        <p:nvPicPr>
          <p:cNvPr id="7" name="Render raw" descr="Same camera and scale: original scan on the left, measured pipeline labels on the right, including unlabelled points. Runtime is indicative; ground agreement is scored after paint-back."/>
          <p:cNvPicPr>
            <a:picLocks noChangeAspect="1"/>
          </p:cNvPicPr>
          <p:nvPr/>
        </p:nvPicPr>
        <p:blipFill>
          <a:blip r:embed="rId2"/>
          <a:stretch>
            <a:fillRect/>
          </a:stretch>
        </p:blipFill>
        <p:spPr>
          <a:xfrm>
            <a:off x="2993310" y="1969008"/>
            <a:ext cx="2668350" cy="3011136"/>
          </a:xfrm>
          <a:prstGeom prst="rect">
            <a:avLst/>
          </a:prstGeom>
        </p:spPr>
      </p:pic>
      <p:sp>
        <p:nvSpPr>
          <p:cNvPr id="8" name="Caption 2"/>
          <p:cNvSpPr txBox="1"/>
          <p:nvPr/>
        </p:nvSpPr>
        <p:spPr>
          <a:xfrm>
            <a:off x="6530340" y="1554480"/>
            <a:ext cx="2668350" cy="359664"/>
          </a:xfrm>
          <a:prstGeom prst="rect">
            <a:avLst/>
          </a:prstGeom>
          <a:noFill/>
        </p:spPr>
        <p:txBody>
          <a:bodyPr wrap="none" anchor="b" lIns="0" tIns="0" rIns="0" bIns="0">
            <a:noAutofit/>
          </a:bodyPr>
          <a:lstStyle/>
          <a:p>
            <a:pPr marL="0" indent="0" algn="l">
              <a:spcBef>
                <a:spcPts val="0"/>
              </a:spcBef>
              <a:spcAft>
                <a:spcPts val="0"/>
              </a:spcAft>
              <a:buNone/>
            </a:pPr>
            <a:r>
              <a:rPr sz="2000" b="1" lang="en-GB">
                <a:solidFill>
                  <a:srgbClr val="1C325B"/>
                </a:solidFill>
                <a:latin typeface="+mn-lt"/>
              </a:rPr>
              <a:t>Pipeline labels</a:t>
            </a:r>
            <a:endParaRPr lang="en-GB" sz="2000"/>
          </a:p>
        </p:txBody>
      </p:sp>
      <p:pic>
        <p:nvPicPr>
          <p:cNvPr id="9" name="Render labels" descr="Same camera and scale: original scan on the left, measured pipeline labels on the right, including unlabelled points. Runtime is indicative; ground agreement is scored after paint-back."/>
          <p:cNvPicPr>
            <a:picLocks noChangeAspect="1"/>
          </p:cNvPicPr>
          <p:nvPr/>
        </p:nvPicPr>
        <p:blipFill>
          <a:blip r:embed="rId3"/>
          <a:stretch>
            <a:fillRect/>
          </a:stretch>
        </p:blipFill>
        <p:spPr>
          <a:xfrm>
            <a:off x="6530340" y="1969008"/>
            <a:ext cx="2668350" cy="3011136"/>
          </a:xfrm>
          <a:prstGeom prst="rect">
            <a:avLst/>
          </a:prstGeom>
        </p:spPr>
      </p:pic>
      <p:sp>
        <p:nvSpPr>
          <p:cNvPr id="10" name="Arrow raw to labels">
            <a:extLst>
              <a:ext uri="{C183D7F6-B498-43B3-948B-1728B52AA6E4}">
                <adec:decorative xmlns:adec="http://schemas.microsoft.com/office/drawing/2017/decorative" val="1"/>
              </a:ext>
            </a:extLst>
          </p:cNvPr>
          <p:cNvSpPr/>
          <p:nvPr/>
        </p:nvSpPr>
        <p:spPr>
          <a:xfrm>
            <a:off x="5839968" y="3273408"/>
            <a:ext cx="512064" cy="402336"/>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watch"/>
          <p:cNvSpPr/>
          <p:nvPr/>
        </p:nvSpPr>
        <p:spPr>
          <a:xfrm>
            <a:off x="548640" y="5135592"/>
            <a:ext cx="201168" cy="201168"/>
          </a:xfrm>
          <a:prstGeom prst="rect">
            <a:avLst/>
          </a:prstGeom>
          <a:solidFill>
            <a:srgbClr val="4A5F69"/>
          </a:solidFill>
          <a:ln>
            <a:solidFill>
              <a:srgbClr val="1C3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gend Ground"/>
          <p:cNvSpPr txBox="1"/>
          <p:nvPr/>
        </p:nvSpPr>
        <p:spPr>
          <a:xfrm>
            <a:off x="822960" y="5099016"/>
            <a:ext cx="1920240" cy="3200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Ground</a:t>
            </a:r>
            <a:endParaRPr lang="en-GB" sz="1800"/>
          </a:p>
        </p:txBody>
      </p:sp>
      <p:sp>
        <p:nvSpPr>
          <p:cNvPr id="14" name="Swatch"/>
          <p:cNvSpPr/>
          <p:nvPr/>
        </p:nvSpPr>
        <p:spPr>
          <a:xfrm>
            <a:off x="2743200" y="5135592"/>
            <a:ext cx="201168" cy="201168"/>
          </a:xfrm>
          <a:prstGeom prst="rect">
            <a:avLst/>
          </a:prstGeom>
          <a:solidFill>
            <a:srgbClr val="6FA0CC"/>
          </a:solidFill>
          <a:ln>
            <a:solidFill>
              <a:srgbClr val="1C3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gend Buildings"/>
          <p:cNvSpPr txBox="1"/>
          <p:nvPr/>
        </p:nvSpPr>
        <p:spPr>
          <a:xfrm>
            <a:off x="3017520" y="5099016"/>
            <a:ext cx="1920240" cy="3200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Buildings</a:t>
            </a:r>
            <a:endParaRPr lang="en-GB" sz="1800"/>
          </a:p>
        </p:txBody>
      </p:sp>
      <p:sp>
        <p:nvSpPr>
          <p:cNvPr id="16" name="Swatch"/>
          <p:cNvSpPr/>
          <p:nvPr/>
        </p:nvSpPr>
        <p:spPr>
          <a:xfrm>
            <a:off x="4937760" y="5135592"/>
            <a:ext cx="201168" cy="201168"/>
          </a:xfrm>
          <a:prstGeom prst="rect">
            <a:avLst/>
          </a:prstGeom>
          <a:solidFill>
            <a:srgbClr val="B1CAC5"/>
          </a:solidFill>
          <a:ln>
            <a:solidFill>
              <a:srgbClr val="1C3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gend Vegetation"/>
          <p:cNvSpPr txBox="1"/>
          <p:nvPr/>
        </p:nvSpPr>
        <p:spPr>
          <a:xfrm>
            <a:off x="5212080" y="5099016"/>
            <a:ext cx="1920240" cy="3200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Vegetation</a:t>
            </a:r>
            <a:endParaRPr lang="en-GB" sz="1800"/>
          </a:p>
        </p:txBody>
      </p:sp>
      <p:sp>
        <p:nvSpPr>
          <p:cNvPr id="18" name="Swatch"/>
          <p:cNvSpPr/>
          <p:nvPr/>
        </p:nvSpPr>
        <p:spPr>
          <a:xfrm>
            <a:off x="7132320" y="5135592"/>
            <a:ext cx="201168" cy="201168"/>
          </a:xfrm>
          <a:prstGeom prst="rect">
            <a:avLst/>
          </a:prstGeom>
          <a:solidFill>
            <a:srgbClr val="FFFFFF"/>
          </a:solidFill>
          <a:ln>
            <a:solidFill>
              <a:srgbClr val="1C3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gend Street furniture"/>
          <p:cNvSpPr txBox="1"/>
          <p:nvPr/>
        </p:nvSpPr>
        <p:spPr>
          <a:xfrm>
            <a:off x="7406640" y="5099016"/>
            <a:ext cx="1920240" cy="3200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Street furniture</a:t>
            </a:r>
            <a:endParaRPr lang="en-GB" sz="1800"/>
          </a:p>
        </p:txBody>
      </p:sp>
      <p:sp>
        <p:nvSpPr>
          <p:cNvPr id="20" name="Swatch"/>
          <p:cNvSpPr/>
          <p:nvPr/>
        </p:nvSpPr>
        <p:spPr>
          <a:xfrm>
            <a:off x="9326880" y="5135592"/>
            <a:ext cx="201168" cy="201168"/>
          </a:xfrm>
          <a:prstGeom prst="rect">
            <a:avLst/>
          </a:prstGeom>
          <a:solidFill>
            <a:srgbClr val="34486B"/>
          </a:solidFill>
          <a:ln>
            <a:solidFill>
              <a:srgbClr val="1C3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gend Unlabelled"/>
          <p:cNvSpPr txBox="1"/>
          <p:nvPr/>
        </p:nvSpPr>
        <p:spPr>
          <a:xfrm>
            <a:off x="9601200" y="5099016"/>
            <a:ext cx="1920240" cy="3200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Unlabelled</a:t>
            </a:r>
            <a:endParaRPr lang="en-GB" sz="1800"/>
          </a:p>
        </p:txBody>
      </p:sp>
      <p:sp>
        <p:nvSpPr>
          <p:cNvPr id="11" name="Support"/>
          <p:cNvSpPr txBox="1"/>
          <p:nvPr/>
        </p:nvSpPr>
        <p:spPr>
          <a:xfrm>
            <a:off x="548640" y="5574504"/>
            <a:ext cx="11094720"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1.0 s, single run. Ground vs AHN class 2: 98 % precision / 94 % recall.</a:t>
            </a:r>
            <a:endParaRPr lang="en-GB" sz="2000"/>
          </a:p>
        </p:txBody>
      </p:sp>
      <p:sp>
        <p:nvSpPr>
          <p:cNvPr id="22"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Expectation vs reality:</a:t>
            </a:r>
            <a:br/>
            <a:r>
              <a:rPr lang="en-GB"/>
              <a:t>street furniture</a:t>
            </a:r>
          </a:p>
        </p:txBody>
      </p:sp>
      <p:pic>
        <p:nvPicPr>
          <p:cNvPr id="4" name="Render map" descr="The final render with two kinds of rings. Small sage rings mark the 61 poles the BGT register lists in this box, 51 lamp posts and 10 bollards, along the streets and the plaza. Three large white rings mark the street furniture objects the pipeline found; two of them sit on a registered lamp post."/>
          <p:cNvPicPr>
            <a:picLocks noGrp="1" noChangeAspect="1"/>
          </p:cNvPicPr>
          <p:nvPr>
            <p:ph type="pic" idx="18"/>
          </p:nvPr>
        </p:nvPicPr>
        <p:blipFill>
          <a:blip r:embed="rId2"/>
          <a:srcRect/>
          <a:stretch>
            <a:fillRect/>
          </a:stretch>
        </p:blipFill>
        <p:spPr>
          <a:xfrm>
            <a:off x="548640" y="548640"/>
            <a:ext cx="5023638" cy="5668992"/>
          </a:xfrm>
        </p:spPr>
      </p:pic>
      <p:sp>
        <p:nvSpPr>
          <p:cNvPr id="7" name="BGT pole 1 halo">
            <a:extLst>
              <a:ext uri="{C183D7F6-B498-43B3-948B-1728B52AA6E4}">
                <adec:decorative xmlns:adec="http://schemas.microsoft.com/office/drawing/2017/decorative" val="1"/>
              </a:ext>
            </a:extLst>
          </p:cNvPr>
          <p:cNvSpPr/>
          <p:nvPr/>
        </p:nvSpPr>
        <p:spPr>
          <a:xfrm>
            <a:off x="4574002" y="202335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T pole 1">
            <a:extLst>
              <a:ext uri="{C183D7F6-B498-43B3-948B-1728B52AA6E4}">
                <adec:decorative xmlns:adec="http://schemas.microsoft.com/office/drawing/2017/decorative" val="1"/>
              </a:ext>
            </a:extLst>
          </p:cNvPr>
          <p:cNvSpPr/>
          <p:nvPr/>
        </p:nvSpPr>
        <p:spPr>
          <a:xfrm>
            <a:off x="4574002" y="202335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T pole 2 halo">
            <a:extLst>
              <a:ext uri="{C183D7F6-B498-43B3-948B-1728B52AA6E4}">
                <adec:decorative xmlns:adec="http://schemas.microsoft.com/office/drawing/2017/decorative" val="1"/>
              </a:ext>
            </a:extLst>
          </p:cNvPr>
          <p:cNvSpPr/>
          <p:nvPr/>
        </p:nvSpPr>
        <p:spPr>
          <a:xfrm>
            <a:off x="4645912" y="195455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T pole 2">
            <a:extLst>
              <a:ext uri="{C183D7F6-B498-43B3-948B-1728B52AA6E4}">
                <adec:decorative xmlns:adec="http://schemas.microsoft.com/office/drawing/2017/decorative" val="1"/>
              </a:ext>
            </a:extLst>
          </p:cNvPr>
          <p:cNvSpPr/>
          <p:nvPr/>
        </p:nvSpPr>
        <p:spPr>
          <a:xfrm>
            <a:off x="4645912" y="195455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T pole 3 halo">
            <a:extLst>
              <a:ext uri="{C183D7F6-B498-43B3-948B-1728B52AA6E4}">
                <adec:decorative xmlns:adec="http://schemas.microsoft.com/office/drawing/2017/decorative" val="1"/>
              </a:ext>
            </a:extLst>
          </p:cNvPr>
          <p:cNvSpPr/>
          <p:nvPr/>
        </p:nvSpPr>
        <p:spPr>
          <a:xfrm>
            <a:off x="2207759" y="545601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T pole 3">
            <a:extLst>
              <a:ext uri="{C183D7F6-B498-43B3-948B-1728B52AA6E4}">
                <adec:decorative xmlns:adec="http://schemas.microsoft.com/office/drawing/2017/decorative" val="1"/>
              </a:ext>
            </a:extLst>
          </p:cNvPr>
          <p:cNvSpPr/>
          <p:nvPr/>
        </p:nvSpPr>
        <p:spPr>
          <a:xfrm>
            <a:off x="2207759" y="545601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T pole 4 halo">
            <a:extLst>
              <a:ext uri="{C183D7F6-B498-43B3-948B-1728B52AA6E4}">
                <adec:decorative xmlns:adec="http://schemas.microsoft.com/office/drawing/2017/decorative" val="1"/>
              </a:ext>
            </a:extLst>
          </p:cNvPr>
          <p:cNvSpPr/>
          <p:nvPr/>
        </p:nvSpPr>
        <p:spPr>
          <a:xfrm>
            <a:off x="3777008" y="173796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GT pole 4">
            <a:extLst>
              <a:ext uri="{C183D7F6-B498-43B3-948B-1728B52AA6E4}">
                <adec:decorative xmlns:adec="http://schemas.microsoft.com/office/drawing/2017/decorative" val="1"/>
              </a:ext>
            </a:extLst>
          </p:cNvPr>
          <p:cNvSpPr/>
          <p:nvPr/>
        </p:nvSpPr>
        <p:spPr>
          <a:xfrm>
            <a:off x="3777008" y="173796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GT pole 5 halo">
            <a:extLst>
              <a:ext uri="{C183D7F6-B498-43B3-948B-1728B52AA6E4}">
                <adec:decorative xmlns:adec="http://schemas.microsoft.com/office/drawing/2017/decorative" val="1"/>
              </a:ext>
            </a:extLst>
          </p:cNvPr>
          <p:cNvSpPr/>
          <p:nvPr/>
        </p:nvSpPr>
        <p:spPr>
          <a:xfrm>
            <a:off x="3613609" y="154077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GT pole 5">
            <a:extLst>
              <a:ext uri="{C183D7F6-B498-43B3-948B-1728B52AA6E4}">
                <adec:decorative xmlns:adec="http://schemas.microsoft.com/office/drawing/2017/decorative" val="1"/>
              </a:ext>
            </a:extLst>
          </p:cNvPr>
          <p:cNvSpPr/>
          <p:nvPr/>
        </p:nvSpPr>
        <p:spPr>
          <a:xfrm>
            <a:off x="3613609" y="154077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GT pole 6 halo">
            <a:extLst>
              <a:ext uri="{C183D7F6-B498-43B3-948B-1728B52AA6E4}">
                <adec:decorative xmlns:adec="http://schemas.microsoft.com/office/drawing/2017/decorative" val="1"/>
              </a:ext>
            </a:extLst>
          </p:cNvPr>
          <p:cNvSpPr/>
          <p:nvPr/>
        </p:nvSpPr>
        <p:spPr>
          <a:xfrm>
            <a:off x="4225597" y="210623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GT pole 6">
            <a:extLst>
              <a:ext uri="{C183D7F6-B498-43B3-948B-1728B52AA6E4}">
                <adec:decorative xmlns:adec="http://schemas.microsoft.com/office/drawing/2017/decorative" val="1"/>
              </a:ext>
            </a:extLst>
          </p:cNvPr>
          <p:cNvSpPr/>
          <p:nvPr/>
        </p:nvSpPr>
        <p:spPr>
          <a:xfrm>
            <a:off x="4225597" y="210623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GT pole 7 halo">
            <a:extLst>
              <a:ext uri="{C183D7F6-B498-43B3-948B-1728B52AA6E4}">
                <adec:decorative xmlns:adec="http://schemas.microsoft.com/office/drawing/2017/decorative" val="1"/>
              </a:ext>
            </a:extLst>
          </p:cNvPr>
          <p:cNvSpPr/>
          <p:nvPr/>
        </p:nvSpPr>
        <p:spPr>
          <a:xfrm>
            <a:off x="4467388" y="2310201"/>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GT pole 7">
            <a:extLst>
              <a:ext uri="{C183D7F6-B498-43B3-948B-1728B52AA6E4}">
                <adec:decorative xmlns:adec="http://schemas.microsoft.com/office/drawing/2017/decorative" val="1"/>
              </a:ext>
            </a:extLst>
          </p:cNvPr>
          <p:cNvSpPr/>
          <p:nvPr/>
        </p:nvSpPr>
        <p:spPr>
          <a:xfrm>
            <a:off x="4467388" y="2310201"/>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GT pole 8 halo">
            <a:extLst>
              <a:ext uri="{C183D7F6-B498-43B3-948B-1728B52AA6E4}">
                <adec:decorative xmlns:adec="http://schemas.microsoft.com/office/drawing/2017/decorative" val="1"/>
              </a:ext>
            </a:extLst>
          </p:cNvPr>
          <p:cNvSpPr/>
          <p:nvPr/>
        </p:nvSpPr>
        <p:spPr>
          <a:xfrm>
            <a:off x="4021870" y="189536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GT pole 8">
            <a:extLst>
              <a:ext uri="{C183D7F6-B498-43B3-948B-1728B52AA6E4}">
                <adec:decorative xmlns:adec="http://schemas.microsoft.com/office/drawing/2017/decorative" val="1"/>
              </a:ext>
            </a:extLst>
          </p:cNvPr>
          <p:cNvSpPr/>
          <p:nvPr/>
        </p:nvSpPr>
        <p:spPr>
          <a:xfrm>
            <a:off x="4021870" y="189536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GT pole 9 halo">
            <a:extLst>
              <a:ext uri="{C183D7F6-B498-43B3-948B-1728B52AA6E4}">
                <adec:decorative xmlns:adec="http://schemas.microsoft.com/office/drawing/2017/decorative" val="1"/>
              </a:ext>
            </a:extLst>
          </p:cNvPr>
          <p:cNvSpPr/>
          <p:nvPr/>
        </p:nvSpPr>
        <p:spPr>
          <a:xfrm>
            <a:off x="5311611" y="505670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GT pole 9">
            <a:extLst>
              <a:ext uri="{C183D7F6-B498-43B3-948B-1728B52AA6E4}">
                <adec:decorative xmlns:adec="http://schemas.microsoft.com/office/drawing/2017/decorative" val="1"/>
              </a:ext>
            </a:extLst>
          </p:cNvPr>
          <p:cNvSpPr/>
          <p:nvPr/>
        </p:nvSpPr>
        <p:spPr>
          <a:xfrm>
            <a:off x="5311611" y="505670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GT pole 10 halo">
            <a:extLst>
              <a:ext uri="{C183D7F6-B498-43B3-948B-1728B52AA6E4}">
                <adec:decorative xmlns:adec="http://schemas.microsoft.com/office/drawing/2017/decorative" val="1"/>
              </a:ext>
            </a:extLst>
          </p:cNvPr>
          <p:cNvSpPr/>
          <p:nvPr/>
        </p:nvSpPr>
        <p:spPr>
          <a:xfrm>
            <a:off x="4695040" y="252614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GT pole 10">
            <a:extLst>
              <a:ext uri="{C183D7F6-B498-43B3-948B-1728B52AA6E4}">
                <adec:decorative xmlns:adec="http://schemas.microsoft.com/office/drawing/2017/decorative" val="1"/>
              </a:ext>
            </a:extLst>
          </p:cNvPr>
          <p:cNvSpPr/>
          <p:nvPr/>
        </p:nvSpPr>
        <p:spPr>
          <a:xfrm>
            <a:off x="4695040" y="252614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GT pole 11 halo">
            <a:extLst>
              <a:ext uri="{C183D7F6-B498-43B3-948B-1728B52AA6E4}">
                <adec:decorative xmlns:adec="http://schemas.microsoft.com/office/drawing/2017/decorative" val="1"/>
              </a:ext>
            </a:extLst>
          </p:cNvPr>
          <p:cNvSpPr/>
          <p:nvPr/>
        </p:nvSpPr>
        <p:spPr>
          <a:xfrm>
            <a:off x="5310114" y="487990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GT pole 11">
            <a:extLst>
              <a:ext uri="{C183D7F6-B498-43B3-948B-1728B52AA6E4}">
                <adec:decorative xmlns:adec="http://schemas.microsoft.com/office/drawing/2017/decorative" val="1"/>
              </a:ext>
            </a:extLst>
          </p:cNvPr>
          <p:cNvSpPr/>
          <p:nvPr/>
        </p:nvSpPr>
        <p:spPr>
          <a:xfrm>
            <a:off x="5310114" y="487990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GT pole 12 halo">
            <a:extLst>
              <a:ext uri="{C183D7F6-B498-43B3-948B-1728B52AA6E4}">
                <adec:decorative xmlns:adec="http://schemas.microsoft.com/office/drawing/2017/decorative" val="1"/>
              </a:ext>
            </a:extLst>
          </p:cNvPr>
          <p:cNvSpPr/>
          <p:nvPr/>
        </p:nvSpPr>
        <p:spPr>
          <a:xfrm>
            <a:off x="4882324" y="275981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GT pole 12">
            <a:extLst>
              <a:ext uri="{C183D7F6-B498-43B3-948B-1728B52AA6E4}">
                <adec:decorative xmlns:adec="http://schemas.microsoft.com/office/drawing/2017/decorative" val="1"/>
              </a:ext>
            </a:extLst>
          </p:cNvPr>
          <p:cNvSpPr/>
          <p:nvPr/>
        </p:nvSpPr>
        <p:spPr>
          <a:xfrm>
            <a:off x="4882324" y="275981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GT pole 13 halo">
            <a:extLst>
              <a:ext uri="{C183D7F6-B498-43B3-948B-1728B52AA6E4}">
                <adec:decorative xmlns:adec="http://schemas.microsoft.com/office/drawing/2017/decorative" val="1"/>
              </a:ext>
            </a:extLst>
          </p:cNvPr>
          <p:cNvSpPr/>
          <p:nvPr/>
        </p:nvSpPr>
        <p:spPr>
          <a:xfrm>
            <a:off x="1156324" y="445814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GT pole 13">
            <a:extLst>
              <a:ext uri="{C183D7F6-B498-43B3-948B-1728B52AA6E4}">
                <adec:decorative xmlns:adec="http://schemas.microsoft.com/office/drawing/2017/decorative" val="1"/>
              </a:ext>
            </a:extLst>
          </p:cNvPr>
          <p:cNvSpPr/>
          <p:nvPr/>
        </p:nvSpPr>
        <p:spPr>
          <a:xfrm>
            <a:off x="1156324" y="445814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GT pole 14 halo">
            <a:extLst>
              <a:ext uri="{C183D7F6-B498-43B3-948B-1728B52AA6E4}">
                <adec:decorative xmlns:adec="http://schemas.microsoft.com/office/drawing/2017/decorative" val="1"/>
              </a:ext>
            </a:extLst>
          </p:cNvPr>
          <p:cNvSpPr/>
          <p:nvPr/>
        </p:nvSpPr>
        <p:spPr>
          <a:xfrm>
            <a:off x="1545047" y="1995858"/>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GT pole 14">
            <a:extLst>
              <a:ext uri="{C183D7F6-B498-43B3-948B-1728B52AA6E4}">
                <adec:decorative xmlns:adec="http://schemas.microsoft.com/office/drawing/2017/decorative" val="1"/>
              </a:ext>
            </a:extLst>
          </p:cNvPr>
          <p:cNvSpPr/>
          <p:nvPr/>
        </p:nvSpPr>
        <p:spPr>
          <a:xfrm>
            <a:off x="1545047" y="1995858"/>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GT pole 15 halo">
            <a:extLst>
              <a:ext uri="{C183D7F6-B498-43B3-948B-1728B52AA6E4}">
                <adec:decorative xmlns:adec="http://schemas.microsoft.com/office/drawing/2017/decorative" val="1"/>
              </a:ext>
            </a:extLst>
          </p:cNvPr>
          <p:cNvSpPr/>
          <p:nvPr/>
        </p:nvSpPr>
        <p:spPr>
          <a:xfrm>
            <a:off x="1402689" y="197826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GT pole 15">
            <a:extLst>
              <a:ext uri="{C183D7F6-B498-43B3-948B-1728B52AA6E4}">
                <adec:decorative xmlns:adec="http://schemas.microsoft.com/office/drawing/2017/decorative" val="1"/>
              </a:ext>
            </a:extLst>
          </p:cNvPr>
          <p:cNvSpPr/>
          <p:nvPr/>
        </p:nvSpPr>
        <p:spPr>
          <a:xfrm>
            <a:off x="1402689" y="197826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GT pole 16 halo">
            <a:extLst>
              <a:ext uri="{C183D7F6-B498-43B3-948B-1728B52AA6E4}">
                <adec:decorative xmlns:adec="http://schemas.microsoft.com/office/drawing/2017/decorative" val="1"/>
              </a:ext>
            </a:extLst>
          </p:cNvPr>
          <p:cNvSpPr/>
          <p:nvPr/>
        </p:nvSpPr>
        <p:spPr>
          <a:xfrm>
            <a:off x="2323703" y="490034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GT pole 16">
            <a:extLst>
              <a:ext uri="{C183D7F6-B498-43B3-948B-1728B52AA6E4}">
                <adec:decorative xmlns:adec="http://schemas.microsoft.com/office/drawing/2017/decorative" val="1"/>
              </a:ext>
            </a:extLst>
          </p:cNvPr>
          <p:cNvSpPr/>
          <p:nvPr/>
        </p:nvSpPr>
        <p:spPr>
          <a:xfrm>
            <a:off x="2323703" y="490034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GT pole 17 halo">
            <a:extLst>
              <a:ext uri="{C183D7F6-B498-43B3-948B-1728B52AA6E4}">
                <adec:decorative xmlns:adec="http://schemas.microsoft.com/office/drawing/2017/decorative" val="1"/>
              </a:ext>
            </a:extLst>
          </p:cNvPr>
          <p:cNvSpPr/>
          <p:nvPr/>
        </p:nvSpPr>
        <p:spPr>
          <a:xfrm>
            <a:off x="1404589" y="1931058"/>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GT pole 17">
            <a:extLst>
              <a:ext uri="{C183D7F6-B498-43B3-948B-1728B52AA6E4}">
                <adec:decorative xmlns:adec="http://schemas.microsoft.com/office/drawing/2017/decorative" val="1"/>
              </a:ext>
            </a:extLst>
          </p:cNvPr>
          <p:cNvSpPr/>
          <p:nvPr/>
        </p:nvSpPr>
        <p:spPr>
          <a:xfrm>
            <a:off x="1404589" y="1931058"/>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GT pole 18 halo">
            <a:extLst>
              <a:ext uri="{C183D7F6-B498-43B3-948B-1728B52AA6E4}">
                <adec:decorative xmlns:adec="http://schemas.microsoft.com/office/drawing/2017/decorative" val="1"/>
              </a:ext>
            </a:extLst>
          </p:cNvPr>
          <p:cNvSpPr/>
          <p:nvPr/>
        </p:nvSpPr>
        <p:spPr>
          <a:xfrm>
            <a:off x="981404" y="349700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GT pole 18">
            <a:extLst>
              <a:ext uri="{C183D7F6-B498-43B3-948B-1728B52AA6E4}">
                <adec:decorative xmlns:adec="http://schemas.microsoft.com/office/drawing/2017/decorative" val="1"/>
              </a:ext>
            </a:extLst>
          </p:cNvPr>
          <p:cNvSpPr/>
          <p:nvPr/>
        </p:nvSpPr>
        <p:spPr>
          <a:xfrm>
            <a:off x="981404" y="349700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GT pole 19 halo">
            <a:extLst>
              <a:ext uri="{C183D7F6-B498-43B3-948B-1728B52AA6E4}">
                <adec:decorative xmlns:adec="http://schemas.microsoft.com/office/drawing/2017/decorative" val="1"/>
              </a:ext>
            </a:extLst>
          </p:cNvPr>
          <p:cNvSpPr/>
          <p:nvPr/>
        </p:nvSpPr>
        <p:spPr>
          <a:xfrm>
            <a:off x="708158" y="385739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GT pole 19">
            <a:extLst>
              <a:ext uri="{C183D7F6-B498-43B3-948B-1728B52AA6E4}">
                <adec:decorative xmlns:adec="http://schemas.microsoft.com/office/drawing/2017/decorative" val="1"/>
              </a:ext>
            </a:extLst>
          </p:cNvPr>
          <p:cNvSpPr/>
          <p:nvPr/>
        </p:nvSpPr>
        <p:spPr>
          <a:xfrm>
            <a:off x="708158" y="385739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GT pole 20 halo">
            <a:extLst>
              <a:ext uri="{C183D7F6-B498-43B3-948B-1728B52AA6E4}">
                <adec:decorative xmlns:adec="http://schemas.microsoft.com/office/drawing/2017/decorative" val="1"/>
              </a:ext>
            </a:extLst>
          </p:cNvPr>
          <p:cNvSpPr/>
          <p:nvPr/>
        </p:nvSpPr>
        <p:spPr>
          <a:xfrm>
            <a:off x="1479044" y="202962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GT pole 20">
            <a:extLst>
              <a:ext uri="{C183D7F6-B498-43B3-948B-1728B52AA6E4}">
                <adec:decorative xmlns:adec="http://schemas.microsoft.com/office/drawing/2017/decorative" val="1"/>
              </a:ext>
            </a:extLst>
          </p:cNvPr>
          <p:cNvSpPr/>
          <p:nvPr/>
        </p:nvSpPr>
        <p:spPr>
          <a:xfrm>
            <a:off x="1479044" y="202962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GT pole 21 halo">
            <a:extLst>
              <a:ext uri="{C183D7F6-B498-43B3-948B-1728B52AA6E4}">
                <adec:decorative xmlns:adec="http://schemas.microsoft.com/office/drawing/2017/decorative" val="1"/>
              </a:ext>
            </a:extLst>
          </p:cNvPr>
          <p:cNvSpPr/>
          <p:nvPr/>
        </p:nvSpPr>
        <p:spPr>
          <a:xfrm>
            <a:off x="1597123" y="268986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GT pole 21">
            <a:extLst>
              <a:ext uri="{C183D7F6-B498-43B3-948B-1728B52AA6E4}">
                <adec:decorative xmlns:adec="http://schemas.microsoft.com/office/drawing/2017/decorative" val="1"/>
              </a:ext>
            </a:extLst>
          </p:cNvPr>
          <p:cNvSpPr/>
          <p:nvPr/>
        </p:nvSpPr>
        <p:spPr>
          <a:xfrm>
            <a:off x="1597123" y="268986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GT pole 22 halo">
            <a:extLst>
              <a:ext uri="{C183D7F6-B498-43B3-948B-1728B52AA6E4}">
                <adec:decorative xmlns:adec="http://schemas.microsoft.com/office/drawing/2017/decorative" val="1"/>
              </a:ext>
            </a:extLst>
          </p:cNvPr>
          <p:cNvSpPr/>
          <p:nvPr/>
        </p:nvSpPr>
        <p:spPr>
          <a:xfrm>
            <a:off x="547356" y="215655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GT pole 22">
            <a:extLst>
              <a:ext uri="{C183D7F6-B498-43B3-948B-1728B52AA6E4}">
                <adec:decorative xmlns:adec="http://schemas.microsoft.com/office/drawing/2017/decorative" val="1"/>
              </a:ext>
            </a:extLst>
          </p:cNvPr>
          <p:cNvSpPr/>
          <p:nvPr/>
        </p:nvSpPr>
        <p:spPr>
          <a:xfrm>
            <a:off x="547356" y="215655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GT pole 24 halo">
            <a:extLst>
              <a:ext uri="{C183D7F6-B498-43B3-948B-1728B52AA6E4}">
                <adec:decorative xmlns:adec="http://schemas.microsoft.com/office/drawing/2017/decorative" val="1"/>
              </a:ext>
            </a:extLst>
          </p:cNvPr>
          <p:cNvSpPr/>
          <p:nvPr/>
        </p:nvSpPr>
        <p:spPr>
          <a:xfrm>
            <a:off x="2112747" y="530323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GT pole 24">
            <a:extLst>
              <a:ext uri="{C183D7F6-B498-43B3-948B-1728B52AA6E4}">
                <adec:decorative xmlns:adec="http://schemas.microsoft.com/office/drawing/2017/decorative" val="1"/>
              </a:ext>
            </a:extLst>
          </p:cNvPr>
          <p:cNvSpPr/>
          <p:nvPr/>
        </p:nvSpPr>
        <p:spPr>
          <a:xfrm>
            <a:off x="2112747" y="530323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GT pole 25 halo">
            <a:extLst>
              <a:ext uri="{C183D7F6-B498-43B3-948B-1728B52AA6E4}">
                <adec:decorative xmlns:adec="http://schemas.microsoft.com/office/drawing/2017/decorative" val="1"/>
              </a:ext>
            </a:extLst>
          </p:cNvPr>
          <p:cNvSpPr/>
          <p:nvPr/>
        </p:nvSpPr>
        <p:spPr>
          <a:xfrm>
            <a:off x="1655255" y="482317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GT pole 25">
            <a:extLst>
              <a:ext uri="{C183D7F6-B498-43B3-948B-1728B52AA6E4}">
                <adec:decorative xmlns:adec="http://schemas.microsoft.com/office/drawing/2017/decorative" val="1"/>
              </a:ext>
            </a:extLst>
          </p:cNvPr>
          <p:cNvSpPr/>
          <p:nvPr/>
        </p:nvSpPr>
        <p:spPr>
          <a:xfrm>
            <a:off x="1655255" y="482317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GT pole 26 halo">
            <a:extLst>
              <a:ext uri="{C183D7F6-B498-43B3-948B-1728B52AA6E4}">
                <adec:decorative xmlns:adec="http://schemas.microsoft.com/office/drawing/2017/decorative" val="1"/>
              </a:ext>
            </a:extLst>
          </p:cNvPr>
          <p:cNvSpPr/>
          <p:nvPr/>
        </p:nvSpPr>
        <p:spPr>
          <a:xfrm>
            <a:off x="1881275" y="444937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GT pole 26">
            <a:extLst>
              <a:ext uri="{C183D7F6-B498-43B3-948B-1728B52AA6E4}">
                <adec:decorative xmlns:adec="http://schemas.microsoft.com/office/drawing/2017/decorative" val="1"/>
              </a:ext>
            </a:extLst>
          </p:cNvPr>
          <p:cNvSpPr/>
          <p:nvPr/>
        </p:nvSpPr>
        <p:spPr>
          <a:xfrm>
            <a:off x="1881275" y="444937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GT pole 27 halo">
            <a:extLst>
              <a:ext uri="{C183D7F6-B498-43B3-948B-1728B52AA6E4}">
                <adec:decorative xmlns:adec="http://schemas.microsoft.com/office/drawing/2017/decorative" val="1"/>
              </a:ext>
            </a:extLst>
          </p:cNvPr>
          <p:cNvSpPr/>
          <p:nvPr/>
        </p:nvSpPr>
        <p:spPr>
          <a:xfrm>
            <a:off x="1402305" y="380654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GT pole 27">
            <a:extLst>
              <a:ext uri="{C183D7F6-B498-43B3-948B-1728B52AA6E4}">
                <adec:decorative xmlns:adec="http://schemas.microsoft.com/office/drawing/2017/decorative" val="1"/>
              </a:ext>
            </a:extLst>
          </p:cNvPr>
          <p:cNvSpPr/>
          <p:nvPr/>
        </p:nvSpPr>
        <p:spPr>
          <a:xfrm>
            <a:off x="1402305" y="380654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GT pole 28 halo">
            <a:extLst>
              <a:ext uri="{C183D7F6-B498-43B3-948B-1728B52AA6E4}">
                <adec:decorative xmlns:adec="http://schemas.microsoft.com/office/drawing/2017/decorative" val="1"/>
              </a:ext>
            </a:extLst>
          </p:cNvPr>
          <p:cNvSpPr/>
          <p:nvPr/>
        </p:nvSpPr>
        <p:spPr>
          <a:xfrm>
            <a:off x="1527115" y="201328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GT pole 28">
            <a:extLst>
              <a:ext uri="{C183D7F6-B498-43B3-948B-1728B52AA6E4}">
                <adec:decorative xmlns:adec="http://schemas.microsoft.com/office/drawing/2017/decorative" val="1"/>
              </a:ext>
            </a:extLst>
          </p:cNvPr>
          <p:cNvSpPr/>
          <p:nvPr/>
        </p:nvSpPr>
        <p:spPr>
          <a:xfrm>
            <a:off x="1527115" y="201328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GT pole 29 halo">
            <a:extLst>
              <a:ext uri="{C183D7F6-B498-43B3-948B-1728B52AA6E4}">
                <adec:decorative xmlns:adec="http://schemas.microsoft.com/office/drawing/2017/decorative" val="1"/>
              </a:ext>
            </a:extLst>
          </p:cNvPr>
          <p:cNvSpPr/>
          <p:nvPr/>
        </p:nvSpPr>
        <p:spPr>
          <a:xfrm>
            <a:off x="1431241" y="201642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GT pole 29">
            <a:extLst>
              <a:ext uri="{C183D7F6-B498-43B3-948B-1728B52AA6E4}">
                <adec:decorative xmlns:adec="http://schemas.microsoft.com/office/drawing/2017/decorative" val="1"/>
              </a:ext>
            </a:extLst>
          </p:cNvPr>
          <p:cNvSpPr/>
          <p:nvPr/>
        </p:nvSpPr>
        <p:spPr>
          <a:xfrm>
            <a:off x="1431241" y="201642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GT pole 30 halo">
            <a:extLst>
              <a:ext uri="{C183D7F6-B498-43B3-948B-1728B52AA6E4}">
                <adec:decorative xmlns:adec="http://schemas.microsoft.com/office/drawing/2017/decorative" val="1"/>
              </a:ext>
            </a:extLst>
          </p:cNvPr>
          <p:cNvSpPr/>
          <p:nvPr/>
        </p:nvSpPr>
        <p:spPr>
          <a:xfrm>
            <a:off x="1937735" y="224713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GT pole 30">
            <a:extLst>
              <a:ext uri="{C183D7F6-B498-43B3-948B-1728B52AA6E4}">
                <adec:decorative xmlns:adec="http://schemas.microsoft.com/office/drawing/2017/decorative" val="1"/>
              </a:ext>
            </a:extLst>
          </p:cNvPr>
          <p:cNvSpPr/>
          <p:nvPr/>
        </p:nvSpPr>
        <p:spPr>
          <a:xfrm>
            <a:off x="1937735" y="224713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GT pole 31 halo">
            <a:extLst>
              <a:ext uri="{C183D7F6-B498-43B3-948B-1728B52AA6E4}">
                <adec:decorative xmlns:adec="http://schemas.microsoft.com/office/drawing/2017/decorative" val="1"/>
              </a:ext>
            </a:extLst>
          </p:cNvPr>
          <p:cNvSpPr/>
          <p:nvPr/>
        </p:nvSpPr>
        <p:spPr>
          <a:xfrm>
            <a:off x="1504458" y="202517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GT pole 31">
            <a:extLst>
              <a:ext uri="{C183D7F6-B498-43B3-948B-1728B52AA6E4}">
                <adec:decorative xmlns:adec="http://schemas.microsoft.com/office/drawing/2017/decorative" val="1"/>
              </a:ext>
            </a:extLst>
          </p:cNvPr>
          <p:cNvSpPr/>
          <p:nvPr/>
        </p:nvSpPr>
        <p:spPr>
          <a:xfrm>
            <a:off x="1504458" y="202517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GT pole 32 halo">
            <a:extLst>
              <a:ext uri="{C183D7F6-B498-43B3-948B-1728B52AA6E4}">
                <adec:decorative xmlns:adec="http://schemas.microsoft.com/office/drawing/2017/decorative" val="1"/>
              </a:ext>
            </a:extLst>
          </p:cNvPr>
          <p:cNvSpPr/>
          <p:nvPr/>
        </p:nvSpPr>
        <p:spPr>
          <a:xfrm>
            <a:off x="590555" y="188779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GT pole 32">
            <a:extLst>
              <a:ext uri="{C183D7F6-B498-43B3-948B-1728B52AA6E4}">
                <adec:decorative xmlns:adec="http://schemas.microsoft.com/office/drawing/2017/decorative" val="1"/>
              </a:ext>
            </a:extLst>
          </p:cNvPr>
          <p:cNvSpPr/>
          <p:nvPr/>
        </p:nvSpPr>
        <p:spPr>
          <a:xfrm>
            <a:off x="590555" y="188779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GT pole 33 halo">
            <a:extLst>
              <a:ext uri="{C183D7F6-B498-43B3-948B-1728B52AA6E4}">
                <adec:decorative xmlns:adec="http://schemas.microsoft.com/office/drawing/2017/decorative" val="1"/>
              </a:ext>
            </a:extLst>
          </p:cNvPr>
          <p:cNvSpPr/>
          <p:nvPr/>
        </p:nvSpPr>
        <p:spPr>
          <a:xfrm>
            <a:off x="1399657" y="195509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GT pole 33">
            <a:extLst>
              <a:ext uri="{C183D7F6-B498-43B3-948B-1728B52AA6E4}">
                <adec:decorative xmlns:adec="http://schemas.microsoft.com/office/drawing/2017/decorative" val="1"/>
              </a:ext>
            </a:extLst>
          </p:cNvPr>
          <p:cNvSpPr/>
          <p:nvPr/>
        </p:nvSpPr>
        <p:spPr>
          <a:xfrm>
            <a:off x="1399657" y="195509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GT pole 34 halo">
            <a:extLst>
              <a:ext uri="{C183D7F6-B498-43B3-948B-1728B52AA6E4}">
                <adec:decorative xmlns:adec="http://schemas.microsoft.com/office/drawing/2017/decorative" val="1"/>
              </a:ext>
            </a:extLst>
          </p:cNvPr>
          <p:cNvSpPr/>
          <p:nvPr/>
        </p:nvSpPr>
        <p:spPr>
          <a:xfrm>
            <a:off x="2267743" y="181500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GT pole 34">
            <a:extLst>
              <a:ext uri="{C183D7F6-B498-43B3-948B-1728B52AA6E4}">
                <adec:decorative xmlns:adec="http://schemas.microsoft.com/office/drawing/2017/decorative" val="1"/>
              </a:ext>
            </a:extLst>
          </p:cNvPr>
          <p:cNvSpPr/>
          <p:nvPr/>
        </p:nvSpPr>
        <p:spPr>
          <a:xfrm>
            <a:off x="2267743" y="181500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GT pole 35 halo">
            <a:extLst>
              <a:ext uri="{C183D7F6-B498-43B3-948B-1728B52AA6E4}">
                <adec:decorative xmlns:adec="http://schemas.microsoft.com/office/drawing/2017/decorative" val="1"/>
              </a:ext>
            </a:extLst>
          </p:cNvPr>
          <p:cNvSpPr/>
          <p:nvPr/>
        </p:nvSpPr>
        <p:spPr>
          <a:xfrm>
            <a:off x="1452734" y="202861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GT pole 35">
            <a:extLst>
              <a:ext uri="{C183D7F6-B498-43B3-948B-1728B52AA6E4}">
                <adec:decorative xmlns:adec="http://schemas.microsoft.com/office/drawing/2017/decorative" val="1"/>
              </a:ext>
            </a:extLst>
          </p:cNvPr>
          <p:cNvSpPr/>
          <p:nvPr/>
        </p:nvSpPr>
        <p:spPr>
          <a:xfrm>
            <a:off x="1452734" y="202861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GT pole 36 halo">
            <a:extLst>
              <a:ext uri="{C183D7F6-B498-43B3-948B-1728B52AA6E4}">
                <adec:decorative xmlns:adec="http://schemas.microsoft.com/office/drawing/2017/decorative" val="1"/>
              </a:ext>
            </a:extLst>
          </p:cNvPr>
          <p:cNvSpPr/>
          <p:nvPr/>
        </p:nvSpPr>
        <p:spPr>
          <a:xfrm>
            <a:off x="1125116" y="1749121"/>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GT pole 36">
            <a:extLst>
              <a:ext uri="{C183D7F6-B498-43B3-948B-1728B52AA6E4}">
                <adec:decorative xmlns:adec="http://schemas.microsoft.com/office/drawing/2017/decorative" val="1"/>
              </a:ext>
            </a:extLst>
          </p:cNvPr>
          <p:cNvSpPr/>
          <p:nvPr/>
        </p:nvSpPr>
        <p:spPr>
          <a:xfrm>
            <a:off x="1125116" y="1749121"/>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GT pole 37 halo">
            <a:extLst>
              <a:ext uri="{C183D7F6-B498-43B3-948B-1728B52AA6E4}">
                <adec:decorative xmlns:adec="http://schemas.microsoft.com/office/drawing/2017/decorative" val="1"/>
              </a:ext>
            </a:extLst>
          </p:cNvPr>
          <p:cNvSpPr/>
          <p:nvPr/>
        </p:nvSpPr>
        <p:spPr>
          <a:xfrm>
            <a:off x="887958" y="193356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GT pole 37">
            <a:extLst>
              <a:ext uri="{C183D7F6-B498-43B3-948B-1728B52AA6E4}">
                <adec:decorative xmlns:adec="http://schemas.microsoft.com/office/drawing/2017/decorative" val="1"/>
              </a:ext>
            </a:extLst>
          </p:cNvPr>
          <p:cNvSpPr/>
          <p:nvPr/>
        </p:nvSpPr>
        <p:spPr>
          <a:xfrm>
            <a:off x="887958" y="193356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GT pole 38 halo">
            <a:extLst>
              <a:ext uri="{C183D7F6-B498-43B3-948B-1728B52AA6E4}">
                <adec:decorative xmlns:adec="http://schemas.microsoft.com/office/drawing/2017/decorative" val="1"/>
              </a:ext>
            </a:extLst>
          </p:cNvPr>
          <p:cNvSpPr/>
          <p:nvPr/>
        </p:nvSpPr>
        <p:spPr>
          <a:xfrm>
            <a:off x="1413910" y="199942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GT pole 38">
            <a:extLst>
              <a:ext uri="{C183D7F6-B498-43B3-948B-1728B52AA6E4}">
                <adec:decorative xmlns:adec="http://schemas.microsoft.com/office/drawing/2017/decorative" val="1"/>
              </a:ext>
            </a:extLst>
          </p:cNvPr>
          <p:cNvSpPr/>
          <p:nvPr/>
        </p:nvSpPr>
        <p:spPr>
          <a:xfrm>
            <a:off x="1413910" y="199942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GT pole 39 halo">
            <a:extLst>
              <a:ext uri="{C183D7F6-B498-43B3-948B-1728B52AA6E4}">
                <adec:decorative xmlns:adec="http://schemas.microsoft.com/office/drawing/2017/decorative" val="1"/>
              </a:ext>
            </a:extLst>
          </p:cNvPr>
          <p:cNvSpPr/>
          <p:nvPr/>
        </p:nvSpPr>
        <p:spPr>
          <a:xfrm>
            <a:off x="1677452" y="163292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GT pole 39">
            <a:extLst>
              <a:ext uri="{C183D7F6-B498-43B3-948B-1728B52AA6E4}">
                <adec:decorative xmlns:adec="http://schemas.microsoft.com/office/drawing/2017/decorative" val="1"/>
              </a:ext>
            </a:extLst>
          </p:cNvPr>
          <p:cNvSpPr/>
          <p:nvPr/>
        </p:nvSpPr>
        <p:spPr>
          <a:xfrm>
            <a:off x="1677452" y="163292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GT pole 40 halo">
            <a:extLst>
              <a:ext uri="{C183D7F6-B498-43B3-948B-1728B52AA6E4}">
                <adec:decorative xmlns:adec="http://schemas.microsoft.com/office/drawing/2017/decorative" val="1"/>
              </a:ext>
            </a:extLst>
          </p:cNvPr>
          <p:cNvSpPr/>
          <p:nvPr/>
        </p:nvSpPr>
        <p:spPr>
          <a:xfrm>
            <a:off x="1312171" y="3062951"/>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GT pole 40">
            <a:extLst>
              <a:ext uri="{C183D7F6-B498-43B3-948B-1728B52AA6E4}">
                <adec:decorative xmlns:adec="http://schemas.microsoft.com/office/drawing/2017/decorative" val="1"/>
              </a:ext>
            </a:extLst>
          </p:cNvPr>
          <p:cNvSpPr/>
          <p:nvPr/>
        </p:nvSpPr>
        <p:spPr>
          <a:xfrm>
            <a:off x="1312171" y="3062951"/>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GT pole 41 halo">
            <a:extLst>
              <a:ext uri="{C183D7F6-B498-43B3-948B-1728B52AA6E4}">
                <adec:decorative xmlns:adec="http://schemas.microsoft.com/office/drawing/2017/decorative" val="1"/>
              </a:ext>
            </a:extLst>
          </p:cNvPr>
          <p:cNvSpPr/>
          <p:nvPr/>
        </p:nvSpPr>
        <p:spPr>
          <a:xfrm>
            <a:off x="1336507" y="164107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GT pole 41">
            <a:extLst>
              <a:ext uri="{C183D7F6-B498-43B3-948B-1728B52AA6E4}">
                <adec:decorative xmlns:adec="http://schemas.microsoft.com/office/drawing/2017/decorative" val="1"/>
              </a:ext>
            </a:extLst>
          </p:cNvPr>
          <p:cNvSpPr/>
          <p:nvPr/>
        </p:nvSpPr>
        <p:spPr>
          <a:xfrm>
            <a:off x="1336507" y="164107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GT pole 42 halo">
            <a:extLst>
              <a:ext uri="{C183D7F6-B498-43B3-948B-1728B52AA6E4}">
                <adec:decorative xmlns:adec="http://schemas.microsoft.com/office/drawing/2017/decorative" val="1"/>
              </a:ext>
            </a:extLst>
          </p:cNvPr>
          <p:cNvSpPr/>
          <p:nvPr/>
        </p:nvSpPr>
        <p:spPr>
          <a:xfrm>
            <a:off x="2928850" y="551086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GT pole 42">
            <a:extLst>
              <a:ext uri="{C183D7F6-B498-43B3-948B-1728B52AA6E4}">
                <adec:decorative xmlns:adec="http://schemas.microsoft.com/office/drawing/2017/decorative" val="1"/>
              </a:ext>
            </a:extLst>
          </p:cNvPr>
          <p:cNvSpPr/>
          <p:nvPr/>
        </p:nvSpPr>
        <p:spPr>
          <a:xfrm>
            <a:off x="2928850" y="551086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GT pole 43 halo">
            <a:extLst>
              <a:ext uri="{C183D7F6-B498-43B3-948B-1728B52AA6E4}">
                <adec:decorative xmlns:adec="http://schemas.microsoft.com/office/drawing/2017/decorative" val="1"/>
              </a:ext>
            </a:extLst>
          </p:cNvPr>
          <p:cNvSpPr/>
          <p:nvPr/>
        </p:nvSpPr>
        <p:spPr>
          <a:xfrm>
            <a:off x="3276621" y="559725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GT pole 43">
            <a:extLst>
              <a:ext uri="{C183D7F6-B498-43B3-948B-1728B52AA6E4}">
                <adec:decorative xmlns:adec="http://schemas.microsoft.com/office/drawing/2017/decorative" val="1"/>
              </a:ext>
            </a:extLst>
          </p:cNvPr>
          <p:cNvSpPr/>
          <p:nvPr/>
        </p:nvSpPr>
        <p:spPr>
          <a:xfrm>
            <a:off x="3276621" y="559725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GT pole 44 halo">
            <a:extLst>
              <a:ext uri="{C183D7F6-B498-43B3-948B-1728B52AA6E4}">
                <adec:decorative xmlns:adec="http://schemas.microsoft.com/office/drawing/2017/decorative" val="1"/>
              </a:ext>
            </a:extLst>
          </p:cNvPr>
          <p:cNvSpPr/>
          <p:nvPr/>
        </p:nvSpPr>
        <p:spPr>
          <a:xfrm>
            <a:off x="2564289" y="569430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GT pole 44">
            <a:extLst>
              <a:ext uri="{C183D7F6-B498-43B3-948B-1728B52AA6E4}">
                <adec:decorative xmlns:adec="http://schemas.microsoft.com/office/drawing/2017/decorative" val="1"/>
              </a:ext>
            </a:extLst>
          </p:cNvPr>
          <p:cNvSpPr/>
          <p:nvPr/>
        </p:nvSpPr>
        <p:spPr>
          <a:xfrm>
            <a:off x="2564289" y="569430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GT pole 45 halo">
            <a:extLst>
              <a:ext uri="{C183D7F6-B498-43B3-948B-1728B52AA6E4}">
                <adec:decorative xmlns:adec="http://schemas.microsoft.com/office/drawing/2017/decorative" val="1"/>
              </a:ext>
            </a:extLst>
          </p:cNvPr>
          <p:cNvSpPr/>
          <p:nvPr/>
        </p:nvSpPr>
        <p:spPr>
          <a:xfrm>
            <a:off x="674166" y="203999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GT pole 45">
            <a:extLst>
              <a:ext uri="{C183D7F6-B498-43B3-948B-1728B52AA6E4}">
                <adec:decorative xmlns:adec="http://schemas.microsoft.com/office/drawing/2017/decorative" val="1"/>
              </a:ext>
            </a:extLst>
          </p:cNvPr>
          <p:cNvSpPr/>
          <p:nvPr/>
        </p:nvSpPr>
        <p:spPr>
          <a:xfrm>
            <a:off x="674166" y="203999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GT pole 46 halo">
            <a:extLst>
              <a:ext uri="{C183D7F6-B498-43B3-948B-1728B52AA6E4}">
                <adec:decorative xmlns:adec="http://schemas.microsoft.com/office/drawing/2017/decorative" val="1"/>
              </a:ext>
            </a:extLst>
          </p:cNvPr>
          <p:cNvSpPr/>
          <p:nvPr/>
        </p:nvSpPr>
        <p:spPr>
          <a:xfrm>
            <a:off x="5069161" y="320075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GT pole 46">
            <a:extLst>
              <a:ext uri="{C183D7F6-B498-43B3-948B-1728B52AA6E4}">
                <adec:decorative xmlns:adec="http://schemas.microsoft.com/office/drawing/2017/decorative" val="1"/>
              </a:ext>
            </a:extLst>
          </p:cNvPr>
          <p:cNvSpPr/>
          <p:nvPr/>
        </p:nvSpPr>
        <p:spPr>
          <a:xfrm>
            <a:off x="5069161" y="320075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GT pole 47 halo">
            <a:extLst>
              <a:ext uri="{C183D7F6-B498-43B3-948B-1728B52AA6E4}">
                <adec:decorative xmlns:adec="http://schemas.microsoft.com/office/drawing/2017/decorative" val="1"/>
              </a:ext>
            </a:extLst>
          </p:cNvPr>
          <p:cNvSpPr/>
          <p:nvPr/>
        </p:nvSpPr>
        <p:spPr>
          <a:xfrm>
            <a:off x="5223674" y="388221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GT pole 47">
            <a:extLst>
              <a:ext uri="{C183D7F6-B498-43B3-948B-1728B52AA6E4}">
                <adec:decorative xmlns:adec="http://schemas.microsoft.com/office/drawing/2017/decorative" val="1"/>
              </a:ext>
            </a:extLst>
          </p:cNvPr>
          <p:cNvSpPr/>
          <p:nvPr/>
        </p:nvSpPr>
        <p:spPr>
          <a:xfrm>
            <a:off x="5223674" y="388221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GT pole 48 halo">
            <a:extLst>
              <a:ext uri="{C183D7F6-B498-43B3-948B-1728B52AA6E4}">
                <adec:decorative xmlns:adec="http://schemas.microsoft.com/office/drawing/2017/decorative" val="1"/>
              </a:ext>
            </a:extLst>
          </p:cNvPr>
          <p:cNvSpPr/>
          <p:nvPr/>
        </p:nvSpPr>
        <p:spPr>
          <a:xfrm>
            <a:off x="5174271" y="437381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GT pole 48">
            <a:extLst>
              <a:ext uri="{C183D7F6-B498-43B3-948B-1728B52AA6E4}">
                <adec:decorative xmlns:adec="http://schemas.microsoft.com/office/drawing/2017/decorative" val="1"/>
              </a:ext>
            </a:extLst>
          </p:cNvPr>
          <p:cNvSpPr/>
          <p:nvPr/>
        </p:nvSpPr>
        <p:spPr>
          <a:xfrm>
            <a:off x="5174271" y="437381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GT pole 49 halo">
            <a:extLst>
              <a:ext uri="{C183D7F6-B498-43B3-948B-1728B52AA6E4}">
                <adec:decorative xmlns:adec="http://schemas.microsoft.com/office/drawing/2017/decorative" val="1"/>
              </a:ext>
            </a:extLst>
          </p:cNvPr>
          <p:cNvSpPr/>
          <p:nvPr/>
        </p:nvSpPr>
        <p:spPr>
          <a:xfrm>
            <a:off x="5009707" y="368151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GT pole 49">
            <a:extLst>
              <a:ext uri="{C183D7F6-B498-43B3-948B-1728B52AA6E4}">
                <adec:decorative xmlns:adec="http://schemas.microsoft.com/office/drawing/2017/decorative" val="1"/>
              </a:ext>
            </a:extLst>
          </p:cNvPr>
          <p:cNvSpPr/>
          <p:nvPr/>
        </p:nvSpPr>
        <p:spPr>
          <a:xfrm>
            <a:off x="5009707" y="368151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GT pole 50 halo">
            <a:extLst>
              <a:ext uri="{C183D7F6-B498-43B3-948B-1728B52AA6E4}">
                <adec:decorative xmlns:adec="http://schemas.microsoft.com/office/drawing/2017/decorative" val="1"/>
              </a:ext>
            </a:extLst>
          </p:cNvPr>
          <p:cNvSpPr/>
          <p:nvPr/>
        </p:nvSpPr>
        <p:spPr>
          <a:xfrm>
            <a:off x="4738065" y="396230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GT pole 50">
            <a:extLst>
              <a:ext uri="{C183D7F6-B498-43B3-948B-1728B52AA6E4}">
                <adec:decorative xmlns:adec="http://schemas.microsoft.com/office/drawing/2017/decorative" val="1"/>
              </a:ext>
            </a:extLst>
          </p:cNvPr>
          <p:cNvSpPr/>
          <p:nvPr/>
        </p:nvSpPr>
        <p:spPr>
          <a:xfrm>
            <a:off x="4738065" y="396230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GT pole 51 halo">
            <a:extLst>
              <a:ext uri="{C183D7F6-B498-43B3-948B-1728B52AA6E4}">
                <adec:decorative xmlns:adec="http://schemas.microsoft.com/office/drawing/2017/decorative" val="1"/>
              </a:ext>
            </a:extLst>
          </p:cNvPr>
          <p:cNvSpPr/>
          <p:nvPr/>
        </p:nvSpPr>
        <p:spPr>
          <a:xfrm>
            <a:off x="5397734" y="458999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GT pole 51">
            <a:extLst>
              <a:ext uri="{C183D7F6-B498-43B3-948B-1728B52AA6E4}">
                <adec:decorative xmlns:adec="http://schemas.microsoft.com/office/drawing/2017/decorative" val="1"/>
              </a:ext>
            </a:extLst>
          </p:cNvPr>
          <p:cNvSpPr/>
          <p:nvPr/>
        </p:nvSpPr>
        <p:spPr>
          <a:xfrm>
            <a:off x="5397734" y="458999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GT pole 52 halo">
            <a:extLst>
              <a:ext uri="{C183D7F6-B498-43B3-948B-1728B52AA6E4}">
                <adec:decorative xmlns:adec="http://schemas.microsoft.com/office/drawing/2017/decorative" val="1"/>
              </a:ext>
            </a:extLst>
          </p:cNvPr>
          <p:cNvSpPr/>
          <p:nvPr/>
        </p:nvSpPr>
        <p:spPr>
          <a:xfrm>
            <a:off x="4952232" y="416456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GT pole 52">
            <a:extLst>
              <a:ext uri="{C183D7F6-B498-43B3-948B-1728B52AA6E4}">
                <adec:decorative xmlns:adec="http://schemas.microsoft.com/office/drawing/2017/decorative" val="1"/>
              </a:ext>
            </a:extLst>
          </p:cNvPr>
          <p:cNvSpPr/>
          <p:nvPr/>
        </p:nvSpPr>
        <p:spPr>
          <a:xfrm>
            <a:off x="4952232" y="416456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GT pole 53 halo">
            <a:extLst>
              <a:ext uri="{C183D7F6-B498-43B3-948B-1728B52AA6E4}">
                <adec:decorative xmlns:adec="http://schemas.microsoft.com/office/drawing/2017/decorative" val="1"/>
              </a:ext>
            </a:extLst>
          </p:cNvPr>
          <p:cNvSpPr/>
          <p:nvPr/>
        </p:nvSpPr>
        <p:spPr>
          <a:xfrm>
            <a:off x="4518855" y="375297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GT pole 53">
            <a:extLst>
              <a:ext uri="{C183D7F6-B498-43B3-948B-1728B52AA6E4}">
                <adec:decorative xmlns:adec="http://schemas.microsoft.com/office/drawing/2017/decorative" val="1"/>
              </a:ext>
            </a:extLst>
          </p:cNvPr>
          <p:cNvSpPr/>
          <p:nvPr/>
        </p:nvSpPr>
        <p:spPr>
          <a:xfrm>
            <a:off x="4518855" y="375297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GT pole 54 halo">
            <a:extLst>
              <a:ext uri="{C183D7F6-B498-43B3-948B-1728B52AA6E4}">
                <adec:decorative xmlns:adec="http://schemas.microsoft.com/office/drawing/2017/decorative" val="1"/>
              </a:ext>
            </a:extLst>
          </p:cNvPr>
          <p:cNvSpPr/>
          <p:nvPr/>
        </p:nvSpPr>
        <p:spPr>
          <a:xfrm>
            <a:off x="2980370" y="183683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GT pole 54">
            <a:extLst>
              <a:ext uri="{C183D7F6-B498-43B3-948B-1728B52AA6E4}">
                <adec:decorative xmlns:adec="http://schemas.microsoft.com/office/drawing/2017/decorative" val="1"/>
              </a:ext>
            </a:extLst>
          </p:cNvPr>
          <p:cNvSpPr/>
          <p:nvPr/>
        </p:nvSpPr>
        <p:spPr>
          <a:xfrm>
            <a:off x="2980370" y="183683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BGT pole 55 halo">
            <a:extLst>
              <a:ext uri="{C183D7F6-B498-43B3-948B-1728B52AA6E4}">
                <adec:decorative xmlns:adec="http://schemas.microsoft.com/office/drawing/2017/decorative" val="1"/>
              </a:ext>
            </a:extLst>
          </p:cNvPr>
          <p:cNvSpPr/>
          <p:nvPr/>
        </p:nvSpPr>
        <p:spPr>
          <a:xfrm>
            <a:off x="2932559" y="145666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BGT pole 55">
            <a:extLst>
              <a:ext uri="{C183D7F6-B498-43B3-948B-1728B52AA6E4}">
                <adec:decorative xmlns:adec="http://schemas.microsoft.com/office/drawing/2017/decorative" val="1"/>
              </a:ext>
            </a:extLst>
          </p:cNvPr>
          <p:cNvSpPr/>
          <p:nvPr/>
        </p:nvSpPr>
        <p:spPr>
          <a:xfrm>
            <a:off x="2932559" y="145666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BGT pole 56 halo">
            <a:extLst>
              <a:ext uri="{C183D7F6-B498-43B3-948B-1728B52AA6E4}">
                <adec:decorative xmlns:adec="http://schemas.microsoft.com/office/drawing/2017/decorative" val="1"/>
              </a:ext>
            </a:extLst>
          </p:cNvPr>
          <p:cNvSpPr/>
          <p:nvPr/>
        </p:nvSpPr>
        <p:spPr>
          <a:xfrm>
            <a:off x="3298401" y="119727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BGT pole 56">
            <a:extLst>
              <a:ext uri="{C183D7F6-B498-43B3-948B-1728B52AA6E4}">
                <adec:decorative xmlns:adec="http://schemas.microsoft.com/office/drawing/2017/decorative" val="1"/>
              </a:ext>
            </a:extLst>
          </p:cNvPr>
          <p:cNvSpPr/>
          <p:nvPr/>
        </p:nvSpPr>
        <p:spPr>
          <a:xfrm>
            <a:off x="3298401" y="119727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BGT pole 57 halo">
            <a:extLst>
              <a:ext uri="{C183D7F6-B498-43B3-948B-1728B52AA6E4}">
                <adec:decorative xmlns:adec="http://schemas.microsoft.com/office/drawing/2017/decorative" val="1"/>
              </a:ext>
            </a:extLst>
          </p:cNvPr>
          <p:cNvSpPr/>
          <p:nvPr/>
        </p:nvSpPr>
        <p:spPr>
          <a:xfrm>
            <a:off x="3164381" y="166543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BGT pole 57">
            <a:extLst>
              <a:ext uri="{C183D7F6-B498-43B3-948B-1728B52AA6E4}">
                <adec:decorative xmlns:adec="http://schemas.microsoft.com/office/drawing/2017/decorative" val="1"/>
              </a:ext>
            </a:extLst>
          </p:cNvPr>
          <p:cNvSpPr/>
          <p:nvPr/>
        </p:nvSpPr>
        <p:spPr>
          <a:xfrm>
            <a:off x="3164381" y="166543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BGT pole 58 halo">
            <a:extLst>
              <a:ext uri="{C183D7F6-B498-43B3-948B-1728B52AA6E4}">
                <adec:decorative xmlns:adec="http://schemas.microsoft.com/office/drawing/2017/decorative" val="1"/>
              </a:ext>
            </a:extLst>
          </p:cNvPr>
          <p:cNvSpPr/>
          <p:nvPr/>
        </p:nvSpPr>
        <p:spPr>
          <a:xfrm>
            <a:off x="3286727" y="150046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BGT pole 58">
            <a:extLst>
              <a:ext uri="{C183D7F6-B498-43B3-948B-1728B52AA6E4}">
                <adec:decorative xmlns:adec="http://schemas.microsoft.com/office/drawing/2017/decorative" val="1"/>
              </a:ext>
            </a:extLst>
          </p:cNvPr>
          <p:cNvSpPr/>
          <p:nvPr/>
        </p:nvSpPr>
        <p:spPr>
          <a:xfrm>
            <a:off x="3286727" y="150046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BGT pole 59 halo">
            <a:extLst>
              <a:ext uri="{C183D7F6-B498-43B3-948B-1728B52AA6E4}">
                <adec:decorative xmlns:adec="http://schemas.microsoft.com/office/drawing/2017/decorative" val="1"/>
              </a:ext>
            </a:extLst>
          </p:cNvPr>
          <p:cNvSpPr/>
          <p:nvPr/>
        </p:nvSpPr>
        <p:spPr>
          <a:xfrm>
            <a:off x="1379253" y="486530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BGT pole 59">
            <a:extLst>
              <a:ext uri="{C183D7F6-B498-43B3-948B-1728B52AA6E4}">
                <adec:decorative xmlns:adec="http://schemas.microsoft.com/office/drawing/2017/decorative" val="1"/>
              </a:ext>
            </a:extLst>
          </p:cNvPr>
          <p:cNvSpPr/>
          <p:nvPr/>
        </p:nvSpPr>
        <p:spPr>
          <a:xfrm>
            <a:off x="1379253" y="486530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BGT pole 60 halo">
            <a:extLst>
              <a:ext uri="{C183D7F6-B498-43B3-948B-1728B52AA6E4}">
                <adec:decorative xmlns:adec="http://schemas.microsoft.com/office/drawing/2017/decorative" val="1"/>
              </a:ext>
            </a:extLst>
          </p:cNvPr>
          <p:cNvSpPr/>
          <p:nvPr/>
        </p:nvSpPr>
        <p:spPr>
          <a:xfrm>
            <a:off x="1847385" y="535881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BGT pole 60">
            <a:extLst>
              <a:ext uri="{C183D7F6-B498-43B3-948B-1728B52AA6E4}">
                <adec:decorative xmlns:adec="http://schemas.microsoft.com/office/drawing/2017/decorative" val="1"/>
              </a:ext>
            </a:extLst>
          </p:cNvPr>
          <p:cNvSpPr/>
          <p:nvPr/>
        </p:nvSpPr>
        <p:spPr>
          <a:xfrm>
            <a:off x="1847385" y="535881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BGT pole 61 halo">
            <a:extLst>
              <a:ext uri="{C183D7F6-B498-43B3-948B-1728B52AA6E4}">
                <adec:decorative xmlns:adec="http://schemas.microsoft.com/office/drawing/2017/decorative" val="1"/>
              </a:ext>
            </a:extLst>
          </p:cNvPr>
          <p:cNvSpPr/>
          <p:nvPr/>
        </p:nvSpPr>
        <p:spPr>
          <a:xfrm>
            <a:off x="2306110" y="584187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BGT pole 61">
            <a:extLst>
              <a:ext uri="{C183D7F6-B498-43B3-948B-1728B52AA6E4}">
                <adec:decorative xmlns:adec="http://schemas.microsoft.com/office/drawing/2017/decorative" val="1"/>
              </a:ext>
            </a:extLst>
          </p:cNvPr>
          <p:cNvSpPr/>
          <p:nvPr/>
        </p:nvSpPr>
        <p:spPr>
          <a:xfrm>
            <a:off x="2306110" y="584187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ur object 1 halo">
            <a:extLst>
              <a:ext uri="{C183D7F6-B498-43B3-948B-1728B52AA6E4}">
                <adec:decorative xmlns:adec="http://schemas.microsoft.com/office/drawing/2017/decorative" val="1"/>
              </a:ext>
            </a:extLst>
          </p:cNvPr>
          <p:cNvSpPr/>
          <p:nvPr/>
        </p:nvSpPr>
        <p:spPr>
          <a:xfrm>
            <a:off x="2113398" y="1611983"/>
            <a:ext cx="438912" cy="43891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ur object 1">
            <a:extLst>
              <a:ext uri="{C183D7F6-B498-43B3-948B-1728B52AA6E4}">
                <adec:decorative xmlns:adec="http://schemas.microsoft.com/office/drawing/2017/decorative" val="1"/>
              </a:ext>
            </a:extLst>
          </p:cNvPr>
          <p:cNvSpPr/>
          <p:nvPr/>
        </p:nvSpPr>
        <p:spPr>
          <a:xfrm>
            <a:off x="2113398" y="1611983"/>
            <a:ext cx="438912" cy="43891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ur object 2 halo">
            <a:extLst>
              <a:ext uri="{C183D7F6-B498-43B3-948B-1728B52AA6E4}">
                <adec:decorative xmlns:adec="http://schemas.microsoft.com/office/drawing/2017/decorative" val="1"/>
              </a:ext>
            </a:extLst>
          </p:cNvPr>
          <p:cNvSpPr/>
          <p:nvPr/>
        </p:nvSpPr>
        <p:spPr>
          <a:xfrm>
            <a:off x="1437991" y="2507254"/>
            <a:ext cx="438912" cy="43891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ur object 2">
            <a:extLst>
              <a:ext uri="{C183D7F6-B498-43B3-948B-1728B52AA6E4}">
                <adec:decorative xmlns:adec="http://schemas.microsoft.com/office/drawing/2017/decorative" val="1"/>
              </a:ext>
            </a:extLst>
          </p:cNvPr>
          <p:cNvSpPr/>
          <p:nvPr/>
        </p:nvSpPr>
        <p:spPr>
          <a:xfrm>
            <a:off x="1437991" y="2507254"/>
            <a:ext cx="438912" cy="43891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ur object 3 halo">
            <a:extLst>
              <a:ext uri="{C183D7F6-B498-43B3-948B-1728B52AA6E4}">
                <adec:decorative xmlns:adec="http://schemas.microsoft.com/office/drawing/2017/decorative" val="1"/>
              </a:ext>
            </a:extLst>
          </p:cNvPr>
          <p:cNvSpPr/>
          <p:nvPr/>
        </p:nvSpPr>
        <p:spPr>
          <a:xfrm>
            <a:off x="1245017" y="2834676"/>
            <a:ext cx="438912" cy="43891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ur object 3">
            <a:extLst>
              <a:ext uri="{C183D7F6-B498-43B3-948B-1728B52AA6E4}">
                <adec:decorative xmlns:adec="http://schemas.microsoft.com/office/drawing/2017/decorative" val="1"/>
              </a:ext>
            </a:extLst>
          </p:cNvPr>
          <p:cNvSpPr/>
          <p:nvPr/>
        </p:nvSpPr>
        <p:spPr>
          <a:xfrm>
            <a:off x="1245017" y="2834676"/>
            <a:ext cx="438912" cy="43891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Legend expectation">
            <a:extLst>
              <a:ext uri="{C183D7F6-B498-43B3-948B-1728B52AA6E4}">
                <adec:decorative xmlns:adec="http://schemas.microsoft.com/office/drawing/2017/decorative" val="1"/>
              </a:ext>
            </a:extLst>
          </p:cNvPr>
          <p:cNvSpPr/>
          <p:nvPr/>
        </p:nvSpPr>
        <p:spPr>
          <a:xfrm>
            <a:off x="6029478" y="1984248"/>
            <a:ext cx="256032" cy="256032"/>
          </a:xfrm>
          <a:prstGeom prst="roundRect">
            <a:avLst>
              <a:gd name="adj" fmla="val 28571"/>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Legend ring expectation halo">
            <a:extLst>
              <a:ext uri="{C183D7F6-B498-43B3-948B-1728B52AA6E4}">
                <adec:decorative xmlns:adec="http://schemas.microsoft.com/office/drawing/2017/decorative" val="1"/>
              </a:ext>
            </a:extLst>
          </p:cNvPr>
          <p:cNvSpPr/>
          <p:nvPr/>
        </p:nvSpPr>
        <p:spPr>
          <a:xfrm>
            <a:off x="6088914" y="204368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Legend ring expectation">
            <a:extLst>
              <a:ext uri="{C183D7F6-B498-43B3-948B-1728B52AA6E4}">
                <adec:decorative xmlns:adec="http://schemas.microsoft.com/office/drawing/2017/decorative" val="1"/>
              </a:ext>
            </a:extLst>
          </p:cNvPr>
          <p:cNvSpPr/>
          <p:nvPr/>
        </p:nvSpPr>
        <p:spPr>
          <a:xfrm>
            <a:off x="6088914" y="204368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Heading expectation"/>
          <p:cNvSpPr txBox="1"/>
          <p:nvPr/>
        </p:nvSpPr>
        <p:spPr>
          <a:xfrm>
            <a:off x="6450102" y="1965960"/>
            <a:ext cx="5193258" cy="341376"/>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1C325B"/>
                </a:solidFill>
                <a:latin typeface="Fira Sans SemiBold"/>
              </a:rPr>
              <a:t>Expectation: the BGT register</a:t>
            </a:r>
            <a:endParaRPr lang="en-GB" sz="2000"/>
          </a:p>
        </p:txBody>
      </p:sp>
      <p:sp>
        <p:nvSpPr>
          <p:cNvPr id="138" name="Legend reality">
            <a:extLst>
              <a:ext uri="{C183D7F6-B498-43B3-948B-1728B52AA6E4}">
                <adec:decorative xmlns:adec="http://schemas.microsoft.com/office/drawing/2017/decorative" val="1"/>
              </a:ext>
            </a:extLst>
          </p:cNvPr>
          <p:cNvSpPr/>
          <p:nvPr/>
        </p:nvSpPr>
        <p:spPr>
          <a:xfrm>
            <a:off x="6029478" y="2868168"/>
            <a:ext cx="256032" cy="256032"/>
          </a:xfrm>
          <a:prstGeom prst="roundRect">
            <a:avLst>
              <a:gd name="adj" fmla="val 28571"/>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Legend ring reality halo">
            <a:extLst>
              <a:ext uri="{C183D7F6-B498-43B3-948B-1728B52AA6E4}">
                <adec:decorative xmlns:adec="http://schemas.microsoft.com/office/drawing/2017/decorative" val="1"/>
              </a:ext>
            </a:extLst>
          </p:cNvPr>
          <p:cNvSpPr/>
          <p:nvPr/>
        </p:nvSpPr>
        <p:spPr>
          <a:xfrm>
            <a:off x="6036793" y="2875483"/>
            <a:ext cx="241402" cy="24140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Legend ring reality">
            <a:extLst>
              <a:ext uri="{C183D7F6-B498-43B3-948B-1728B52AA6E4}">
                <adec:decorative xmlns:adec="http://schemas.microsoft.com/office/drawing/2017/decorative" val="1"/>
              </a:ext>
            </a:extLst>
          </p:cNvPr>
          <p:cNvSpPr/>
          <p:nvPr/>
        </p:nvSpPr>
        <p:spPr>
          <a:xfrm>
            <a:off x="6036793" y="2875483"/>
            <a:ext cx="241402" cy="24140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Heading reality"/>
          <p:cNvSpPr txBox="1"/>
          <p:nvPr/>
        </p:nvSpPr>
        <p:spPr>
          <a:xfrm>
            <a:off x="6450102" y="2849880"/>
            <a:ext cx="5193258" cy="341376"/>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1C325B"/>
                </a:solidFill>
                <a:latin typeface="Fira Sans SemiBold"/>
              </a:rPr>
              <a:t>Reality: our pipeline</a:t>
            </a:r>
            <a:endParaRPr lang="en-GB" sz="2000"/>
          </a:p>
        </p:txBody>
      </p:sp>
      <p:pic>
        <p:nvPicPr>
          <p:cNvPr id="145" name="Photo 1" descr="Photo of Jaarbeursplein by day: slim dark lamp posts and bollards along the cycle path and across the paved plaza."/>
          <p:cNvPicPr>
            <a:picLocks noChangeAspect="1"/>
          </p:cNvPicPr>
          <p:nvPr/>
        </p:nvPicPr>
        <p:blipFill>
          <a:blip r:embed="rId3"/>
          <a:srcRect l="38000" t="48321" b="16321"/>
          <a:stretch>
            <a:fillRect/>
          </a:stretch>
        </p:blipFill>
        <p:spPr>
          <a:xfrm>
            <a:off x="6029478" y="3770376"/>
            <a:ext cx="2742933" cy="1173192"/>
          </a:xfrm>
          <a:prstGeom prst="rect">
            <a:avLst/>
          </a:prstGeom>
        </p:spPr>
      </p:pic>
      <p:pic>
        <p:nvPicPr>
          <p:cNvPr id="146" name="Photo 2" descr="Photo of Jaarbeursplein at night: tall leaning lamp posts on both sides of the red paved square, lit street lamps behind."/>
          <p:cNvPicPr>
            <a:picLocks noChangeAspect="1"/>
          </p:cNvPicPr>
          <p:nvPr/>
        </p:nvPicPr>
        <p:blipFill>
          <a:blip r:embed="rId4"/>
          <a:srcRect l="38000" t="30080" b="30080"/>
          <a:stretch>
            <a:fillRect/>
          </a:stretch>
        </p:blipFill>
        <p:spPr>
          <a:xfrm>
            <a:off x="8900427" y="3770376"/>
            <a:ext cx="2742933" cy="1173192"/>
          </a:xfrm>
          <a:prstGeom prst="rect">
            <a:avLst/>
          </a:prstGeom>
        </p:spPr>
      </p:pic>
      <p:sp>
        <p:nvSpPr>
          <p:cNvPr id="137" name="Hero expectation"/>
          <p:cNvSpPr txBox="1"/>
          <p:nvPr/>
        </p:nvSpPr>
        <p:spPr>
          <a:xfrm>
            <a:off x="6029478" y="2270760"/>
            <a:ext cx="5613882" cy="487680"/>
          </a:xfrm>
          <a:prstGeom prst="rect">
            <a:avLst/>
          </a:prstGeom>
          <a:noFill/>
        </p:spPr>
        <p:txBody>
          <a:bodyPr wrap="none" anchor="t" lIns="0" tIns="0" rIns="0" bIns="0">
            <a:noAutofit/>
          </a:bodyPr>
          <a:lstStyle/>
          <a:p>
            <a:pPr marL="0" indent="0" algn="l">
              <a:spcBef>
                <a:spcPts val="0"/>
              </a:spcBef>
              <a:spcAft>
                <a:spcPts val="0"/>
              </a:spcAft>
              <a:buNone/>
            </a:pPr>
            <a:r>
              <a:rPr sz="3200" lang="en-GB">
                <a:solidFill>
                  <a:srgbClr val="2B6797"/>
                </a:solidFill>
                <a:latin typeface="Fira Sans SemiBold"/>
              </a:rPr>
              <a:t>61 poles</a:t>
            </a:r>
            <a:r>
              <a:rPr sz="2000" lang="en-GB">
                <a:solidFill>
                  <a:srgbClr val="263238"/>
                </a:solidFill>
                <a:latin typeface="+mn-lt"/>
              </a:rPr>
              <a:t> 51 lamp posts, 10 bollards</a:t>
            </a:r>
            <a:endParaRPr lang="en-GB" sz="3200"/>
          </a:p>
        </p:txBody>
      </p:sp>
      <p:sp>
        <p:nvSpPr>
          <p:cNvPr id="142" name="Hero reality"/>
          <p:cNvSpPr txBox="1"/>
          <p:nvPr/>
        </p:nvSpPr>
        <p:spPr>
          <a:xfrm>
            <a:off x="6029478" y="3154680"/>
            <a:ext cx="5613882" cy="487680"/>
          </a:xfrm>
          <a:prstGeom prst="rect">
            <a:avLst/>
          </a:prstGeom>
          <a:noFill/>
        </p:spPr>
        <p:txBody>
          <a:bodyPr wrap="none" anchor="t" lIns="0" tIns="0" rIns="0" bIns="0">
            <a:noAutofit/>
          </a:bodyPr>
          <a:lstStyle/>
          <a:p>
            <a:pPr marL="0" indent="0" algn="l">
              <a:spcBef>
                <a:spcPts val="0"/>
              </a:spcBef>
              <a:spcAft>
                <a:spcPts val="0"/>
              </a:spcAft>
              <a:buNone/>
            </a:pPr>
            <a:r>
              <a:rPr sz="3200" lang="en-GB">
                <a:solidFill>
                  <a:srgbClr val="2B6797"/>
                </a:solidFill>
                <a:latin typeface="Fira Sans SemiBold"/>
              </a:rPr>
              <a:t>3 objects</a:t>
            </a:r>
            <a:r>
              <a:rPr sz="2000" lang="en-GB">
                <a:solidFill>
                  <a:srgbClr val="263238"/>
                </a:solidFill>
                <a:latin typeface="+mn-lt"/>
              </a:rPr>
              <a:t> 2 of them on a lamp post</a:t>
            </a:r>
            <a:endParaRPr lang="en-GB" sz="3200"/>
          </a:p>
        </p:txBody>
      </p:sp>
      <p:sp>
        <p:nvSpPr>
          <p:cNvPr id="144" name="Support"/>
          <p:cNvSpPr txBox="1"/>
          <p:nvPr/>
        </p:nvSpPr>
        <p:spPr>
          <a:xfrm>
            <a:off x="6029478" y="5089872"/>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42 of 61 poles get no LiDAR point above 1.5 m.</a:t>
            </a:r>
            <a:endParaRPr lang="en-GB" sz="2000"/>
          </a:p>
        </p:txBody>
      </p:sp>
      <p:sp>
        <p:nvSpPr>
          <p:cNvPr id="143" name="Small print"/>
          <p:cNvSpPr txBox="1"/>
          <p:nvPr/>
        </p:nvSpPr>
        <p:spPr>
          <a:xfrm>
            <a:off x="6029478" y="5577552"/>
            <a:ext cx="5613882" cy="36576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Poles: BGT, Kadaster, </a:t>
            </a:r>
            <a:r>
              <a:rPr sz="1200" b="0" lang="en-GB">
                <a:solidFill>
                  <a:srgbClr val="455A64"/>
                </a:solidFill>
                <a:latin typeface="+mn-lt"/>
                <a:hlinkClick r:id="rId5">
                  <a:extLst>
                    <a:ext uri="{A12FA001-AC4F-418D-AE19-62706E023703}">
                      <ahyp:hlinkClr xmlns:ahyp="http://schemas.microsoft.com/office/drawing/2018/hyperlinkcolor" val="tx"/>
                    </a:ext>
                  </a:extLst>
                </a:hlinkClick>
              </a:rPr>
              <a:t>CC BY 4.0</a:t>
            </a:r>
            <a:r>
              <a:rPr sz="1200" b="0" lang="en-GB">
                <a:solidFill>
                  <a:srgbClr val="455A64"/>
                </a:solidFill>
                <a:latin typeface="+mn-lt"/>
              </a:rPr>
              <a:t>. Photos: Wikimedia Commons, CC BY-SA 4.0 and CC BY 3.0.</a:t>
            </a:r>
            <a:endParaRPr lang="en-GB" sz="1200"/>
          </a:p>
        </p:txBody>
      </p:sp>
      <p:sp>
        <p:nvSpPr>
          <p:cNvPr id="147" name="Source"/>
          <p:cNvSpPr txBox="1"/>
          <p:nvPr/>
        </p:nvSpPr>
        <p:spPr>
          <a:xfrm>
            <a:off x="6029478" y="6034752"/>
            <a:ext cx="5613882"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5">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19</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 point cloud samples the surface unevenly</a:t>
            </a:r>
          </a:p>
        </p:txBody>
      </p:sp>
      <p:pic>
        <p:nvPicPr>
          <p:cNvPr id="6" name="Concept figure" descr="Left, a map of point density over the 200 m crop: the hall and streets in mid blue, the hall's walls and other facades as bright lines, tree crowns as bright spots, and some darker bands with fewer points. Right, a histogram of the cells with a median of 18 points per square metre."/>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Here the middle 80 % of cells hold 9 to 22 points per m²; median 18.</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Occlusion, flight-strip overlap, angle and material decide where points land.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Every point carries error: AHN4 specifies at most 5 cm in height; AHN5 publishes no figure yet.</a:t>
            </a:r>
            <a:endParaRPr lang="en-GB" sz="20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Density, noise and gaps vary within one file. Measure them before tuning anything.</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20</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Quiz: which is faster, and by how much?</a:t>
            </a:r>
          </a:p>
        </p:txBody>
      </p:sp>
      <p:sp>
        <p:nvSpPr>
          <p:cNvPr id="7" name="Task"/>
          <p:cNvSpPr txBox="1"/>
          <p:nvPr/>
        </p:nvSpPr>
        <p:spPr>
          <a:xfrm>
            <a:off x="548640" y="1554480"/>
            <a:ext cx="11094720"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Distance of every point to the ground plane, 722 961 points.</a:t>
            </a:r>
            <a:endParaRPr lang="en-GB" sz="2000"/>
          </a:p>
        </p:txBody>
      </p:sp>
      <p:sp>
        <p:nvSpPr>
          <p:cNvPr id="8" name="Option A" descr="Option A: a Python for loop over the rows of P, one distance per point."/>
          <p:cNvSpPr/>
          <p:nvPr/>
        </p:nvSpPr>
        <p:spPr>
          <a:xfrm>
            <a:off x="548640" y="2087880"/>
            <a:ext cx="1572895" cy="1572895"/>
          </a:xfrm>
          <a:prstGeom prst="roundRect">
            <a:avLst>
              <a:gd name="adj" fmla="val 465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5400" b="1" lang="en-GB">
                <a:solidFill>
                  <a:srgbClr val="FFFFFF"/>
                </a:solidFill>
                <a:latin typeface="Fira Sans SemiBold"/>
              </a:rPr>
              <a:t>A</a:t>
            </a:r>
            <a:endParaRPr lang="en-GB" sz="5400"/>
          </a:p>
        </p:txBody>
      </p:sp>
      <p:grpSp>
        <p:nvGrpSpPr>
          <p:cNvPr id="3" name="Key line A">
            <a:extLst>
              <a:ext uri="{C183D7F6-B498-43B3-948B-1728B52AA6E4}">
                <adec:decorative xmlns:adec="http://schemas.microsoft.com/office/drawing/2017/decorative" val="1"/>
              </a:ext>
            </a:extLst>
          </p:cNvPr>
          <p:cNvGrpSpPr/>
          <p:nvPr/>
        </p:nvGrpSpPr>
        <p:grpSpPr>
          <a:xfrm>
            <a:off x="2386711" y="2726182"/>
            <a:ext cx="5535168" cy="296291"/>
            <a:chOff x="2386711" y="2726182"/>
            <a:chExt cx="5535168" cy="296291"/>
          </a:xfrm>
        </p:grpSpPr>
        <p:sp>
          <p:nvSpPr>
            <p:cNvPr id="9" name="Key line bar"/>
            <p:cNvSpPr/>
            <p:nvPr/>
          </p:nvSpPr>
          <p:spPr>
            <a:xfrm>
              <a:off x="2386711" y="2726182"/>
              <a:ext cx="5535168" cy="296291"/>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line edge"/>
            <p:cNvSpPr/>
            <p:nvPr/>
          </p:nvSpPr>
          <p:spPr>
            <a:xfrm>
              <a:off x="2386711" y="2726182"/>
              <a:ext cx="64008" cy="296291"/>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Code A"/>
          <p:cNvSpPr txBox="1"/>
          <p:nvPr/>
        </p:nvSpPr>
        <p:spPr>
          <a:xfrm>
            <a:off x="2386711" y="2087880"/>
            <a:ext cx="5535168" cy="1572895"/>
          </a:xfrm>
          <a:prstGeom prst="rect">
            <a:avLst/>
          </a:prstGeom>
          <a:noFill/>
        </p:spPr>
        <p:txBody>
          <a:bodyPr wrap="none" anchor="t" lIns="146304" tIns="45720" rIns="54864" bIns="45720">
            <a:noAutofit/>
          </a:bodyPr>
          <a:lstStyle/>
          <a:p>
            <a:pPr marL="0" indent="0" algn="l">
              <a:lnSpc>
                <a:spcPts val="2333"/>
              </a:lnSpc>
              <a:spcBef>
                <a:spcPts val="0"/>
              </a:spcBef>
              <a:spcAft>
                <a:spcPts val="0"/>
              </a:spcAft>
              <a:buNone/>
            </a:pPr>
            <a:r>
              <a:rPr sz="2000" b="0" lang="en-GB" noProof="1">
                <a:solidFill>
                  <a:srgbClr val="263238"/>
                </a:solidFill>
                <a:latin typeface="Fira Mono" pitchFamily="49"/>
              </a:rPr>
              <a:t>a, b, c, d = plane</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h = np.empty(len(P))  </a:t>
            </a:r>
            <a:r>
              <a:rPr sz="2000" b="0" lang="en-GB" noProof="1">
                <a:solidFill>
                  <a:srgbClr val="455A64"/>
                </a:solidFill>
                <a:latin typeface="Fira Mono" pitchFamily="49"/>
              </a:rPr>
              <a:t># distances</a:t>
            </a:r>
            <a:endParaRPr lang="en-GB" sz="2000"/>
          </a:p>
          <a:p>
            <a:pPr marL="0" indent="0" algn="l">
              <a:lnSpc>
                <a:spcPts val="2333"/>
              </a:lnSpc>
              <a:spcBef>
                <a:spcPts val="0"/>
              </a:spcBef>
              <a:spcAft>
                <a:spcPts val="0"/>
              </a:spcAft>
              <a:buNone/>
            </a:pPr>
            <a:r>
              <a:rPr sz="2000" b="1" lang="en-GB" noProof="1">
                <a:solidFill>
                  <a:srgbClr val="1C325B"/>
                </a:solidFill>
                <a:latin typeface="Fira Mono" pitchFamily="49"/>
              </a:rPr>
              <a:t>for</a:t>
            </a:r>
            <a:r>
              <a:rPr sz="2000" b="1" lang="en-GB" noProof="1">
                <a:solidFill>
                  <a:srgbClr val="263238"/>
                </a:solidFill>
                <a:latin typeface="Fira Mono" pitchFamily="49"/>
              </a:rPr>
              <a:t> i, p </a:t>
            </a:r>
            <a:r>
              <a:rPr sz="2000" b="1" lang="en-GB" noProof="1">
                <a:solidFill>
                  <a:srgbClr val="1C325B"/>
                </a:solidFill>
                <a:latin typeface="Fira Mono" pitchFamily="49"/>
              </a:rPr>
              <a:t>in</a:t>
            </a:r>
            <a:r>
              <a:rPr sz="2000" b="1" lang="en-GB" noProof="1">
                <a:solidFill>
                  <a:srgbClr val="263238"/>
                </a:solidFill>
                <a:latin typeface="Fira Mono" pitchFamily="49"/>
              </a:rPr>
              <a:t> enumerate(P):</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    x, y, z = p[0], p[1], p[2]</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    h[i] = abs(a*x + b*y + c*z + d)</a:t>
            </a:r>
            <a:endParaRPr lang="en-GB" sz="2000"/>
          </a:p>
        </p:txBody>
      </p:sp>
      <p:sp>
        <p:nvSpPr>
          <p:cNvPr id="12" name="Option B" descr="Option B: one element-wise NumPy expression over the columns of P."/>
          <p:cNvSpPr/>
          <p:nvPr/>
        </p:nvSpPr>
        <p:spPr>
          <a:xfrm>
            <a:off x="548640" y="3861943"/>
            <a:ext cx="1572895" cy="980313"/>
          </a:xfrm>
          <a:prstGeom prst="roundRect">
            <a:avLst>
              <a:gd name="adj" fmla="val 7462"/>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5400" b="1" lang="en-GB">
                <a:solidFill>
                  <a:srgbClr val="FFFFFF"/>
                </a:solidFill>
                <a:latin typeface="Fira Sans SemiBold"/>
              </a:rPr>
              <a:t>B</a:t>
            </a:r>
            <a:endParaRPr lang="en-GB" sz="5400"/>
          </a:p>
        </p:txBody>
      </p:sp>
      <p:grpSp>
        <p:nvGrpSpPr>
          <p:cNvPr id="4" name="Key line B">
            <a:extLst>
              <a:ext uri="{C183D7F6-B498-43B3-948B-1728B52AA6E4}">
                <adec:decorative xmlns:adec="http://schemas.microsoft.com/office/drawing/2017/decorative" val="1"/>
              </a:ext>
            </a:extLst>
          </p:cNvPr>
          <p:cNvGrpSpPr/>
          <p:nvPr/>
        </p:nvGrpSpPr>
        <p:grpSpPr>
          <a:xfrm>
            <a:off x="2386711" y="4500245"/>
            <a:ext cx="5230368" cy="296291"/>
            <a:chOff x="2386711" y="4500245"/>
            <a:chExt cx="5230368" cy="296291"/>
          </a:xfrm>
        </p:grpSpPr>
        <p:sp>
          <p:nvSpPr>
            <p:cNvPr id="13" name="Key line bar"/>
            <p:cNvSpPr/>
            <p:nvPr/>
          </p:nvSpPr>
          <p:spPr>
            <a:xfrm>
              <a:off x="2386711" y="4500245"/>
              <a:ext cx="5230368" cy="296291"/>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line edge"/>
            <p:cNvSpPr/>
            <p:nvPr/>
          </p:nvSpPr>
          <p:spPr>
            <a:xfrm>
              <a:off x="2386711" y="4500245"/>
              <a:ext cx="64008" cy="296291"/>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Code B"/>
          <p:cNvSpPr txBox="1"/>
          <p:nvPr/>
        </p:nvSpPr>
        <p:spPr>
          <a:xfrm>
            <a:off x="2386711" y="3861943"/>
            <a:ext cx="5230368" cy="980313"/>
          </a:xfrm>
          <a:prstGeom prst="rect">
            <a:avLst/>
          </a:prstGeom>
          <a:noFill/>
        </p:spPr>
        <p:txBody>
          <a:bodyPr wrap="none" anchor="t" lIns="146304" tIns="45720" rIns="54864" bIns="45720">
            <a:noAutofit/>
          </a:bodyPr>
          <a:lstStyle/>
          <a:p>
            <a:pPr marL="0" indent="0" algn="l">
              <a:lnSpc>
                <a:spcPts val="2333"/>
              </a:lnSpc>
              <a:spcBef>
                <a:spcPts val="0"/>
              </a:spcBef>
              <a:spcAft>
                <a:spcPts val="0"/>
              </a:spcAft>
              <a:buNone/>
            </a:pPr>
            <a:r>
              <a:rPr sz="2000" b="0" lang="en-GB" noProof="1">
                <a:solidFill>
                  <a:srgbClr val="263238"/>
                </a:solidFill>
                <a:latin typeface="Fira Mono" pitchFamily="49"/>
              </a:rPr>
              <a:t>a, b, c, d = plane</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x, y, z = P.T  </a:t>
            </a:r>
            <a:r>
              <a:rPr sz="2000" b="0" lang="en-GB" noProof="1">
                <a:solidFill>
                  <a:srgbClr val="455A64"/>
                </a:solidFill>
                <a:latin typeface="Fira Mono" pitchFamily="49"/>
              </a:rPr>
              <a:t># columns, no copy</a:t>
            </a:r>
            <a:endParaRPr lang="en-GB" sz="2000"/>
          </a:p>
          <a:p>
            <a:pPr marL="0" indent="0" algn="l">
              <a:lnSpc>
                <a:spcPts val="2333"/>
              </a:lnSpc>
              <a:spcBef>
                <a:spcPts val="0"/>
              </a:spcBef>
              <a:spcAft>
                <a:spcPts val="0"/>
              </a:spcAft>
              <a:buNone/>
            </a:pPr>
            <a:r>
              <a:rPr sz="2000" b="1" lang="en-GB" noProof="1">
                <a:solidFill>
                  <a:srgbClr val="263238"/>
                </a:solidFill>
                <a:latin typeface="Fira Mono" pitchFamily="49"/>
              </a:rPr>
              <a:t>h = np.abs(a*x + b*y + c*z + d)</a:t>
            </a:r>
            <a:endParaRPr lang="en-GB" sz="2000"/>
          </a:p>
        </p:txBody>
      </p:sp>
      <p:sp>
        <p:nvSpPr>
          <p:cNvPr id="16" name="Answers label"/>
          <p:cNvSpPr txBox="1"/>
          <p:nvPr/>
        </p:nvSpPr>
        <p:spPr>
          <a:xfrm>
            <a:off x="548640" y="5089144"/>
            <a:ext cx="4499762" cy="475488"/>
          </a:xfrm>
          <a:prstGeom prst="rect">
            <a:avLst/>
          </a:prstGeom>
          <a:noFill/>
        </p:spPr>
        <p:txBody>
          <a:bodyPr wrap="none" anchor="ctr" lIns="0" tIns="0" rIns="0" bIns="0">
            <a:noAutofit/>
          </a:bodyPr>
          <a:lstStyle/>
          <a:p>
            <a:pPr marL="0" indent="0" algn="l">
              <a:spcBef>
                <a:spcPts val="0"/>
              </a:spcBef>
              <a:spcAft>
                <a:spcPts val="0"/>
              </a:spcAft>
              <a:buNone/>
            </a:pPr>
            <a:r>
              <a:rPr sz="2400" b="0" lang="en-GB">
                <a:solidFill>
                  <a:srgbClr val="1C325B"/>
                </a:solidFill>
                <a:latin typeface="Fira Sans SemiBold"/>
              </a:rPr>
              <a:t>The faster one wins by about:</a:t>
            </a:r>
            <a:endParaRPr lang="en-GB" sz="2400"/>
          </a:p>
        </p:txBody>
      </p:sp>
      <p:sp>
        <p:nvSpPr>
          <p:cNvPr id="17" name="Answer 1"/>
          <p:cNvSpPr/>
          <p:nvPr/>
        </p:nvSpPr>
        <p:spPr>
          <a:xfrm>
            <a:off x="504840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2×</a:t>
            </a:r>
            <a:endParaRPr lang="en-GB" sz="2400"/>
          </a:p>
        </p:txBody>
      </p:sp>
      <p:sp>
        <p:nvSpPr>
          <p:cNvPr id="18" name="Answer 2"/>
          <p:cNvSpPr/>
          <p:nvPr/>
        </p:nvSpPr>
        <p:spPr>
          <a:xfrm>
            <a:off x="660288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10×</a:t>
            </a:r>
            <a:endParaRPr lang="en-GB" sz="2400"/>
          </a:p>
        </p:txBody>
      </p:sp>
      <p:sp>
        <p:nvSpPr>
          <p:cNvPr id="19" name="Answer 3"/>
          <p:cNvSpPr/>
          <p:nvPr/>
        </p:nvSpPr>
        <p:spPr>
          <a:xfrm>
            <a:off x="815736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100×</a:t>
            </a:r>
            <a:endParaRPr lang="en-GB" sz="2400"/>
          </a:p>
        </p:txBody>
      </p:sp>
      <p:sp>
        <p:nvSpPr>
          <p:cNvPr id="20" name="Answer 4"/>
          <p:cNvSpPr/>
          <p:nvPr/>
        </p:nvSpPr>
        <p:spPr>
          <a:xfrm>
            <a:off x="971184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1000×</a:t>
            </a:r>
            <a:endParaRPr lang="en-GB" sz="2400"/>
          </a:p>
        </p:txBody>
      </p:sp>
      <p:sp>
        <p:nvSpPr>
          <p:cNvPr id="21" name="Small print"/>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Both give identical results (np.array_equal). P: the crop's xyz from slide 12, column-ordered. plane: one seeded segment_plane on the whole crop.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21</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How much slower is the loop over rows?</a:t>
            </a:r>
          </a:p>
        </p:txBody>
      </p:sp>
      <p:graphicFrame>
        <p:nvGraphicFramePr>
          <p:cNvPr id="7" name="chart_time" descr="Column chart on a logarithmic time axis. The Python loop over NumPy rows takes 317 ms; one NumPy expression takes 2.4 ms."/>
          <p:cNvGraphicFramePr>
            <a:graphicFrameLocks noGrp="1"/>
          </p:cNvGraphicFramePr>
          <p:nvPr/>
        </p:nvGraphicFramePr>
        <p:xfrm>
          <a:off x="6619722" y="548640"/>
          <a:ext cx="5023638" cy="5668992"/>
        </p:xfrm>
        <a:graphic>
          <a:graphicData uri="http://schemas.openxmlformats.org/drawingml/2006/chart">
            <c:chart xmlns:c="http://schemas.openxmlformats.org/drawingml/2006/chart" r:id="rId2"/>
          </a:graphicData>
        </a:graphic>
      </p:graphicFrame>
      <p:sp>
        <p:nvSpPr>
          <p:cNvPr id="8" name="Hero"/>
          <p:cNvSpPr txBox="1"/>
          <p:nvPr/>
        </p:nvSpPr>
        <p:spPr>
          <a:xfrm>
            <a:off x="548640" y="1965960"/>
            <a:ext cx="5613882" cy="1219200"/>
          </a:xfrm>
          <a:prstGeom prst="rect">
            <a:avLst/>
          </a:prstGeom>
          <a:noFill/>
        </p:spPr>
        <p:txBody>
          <a:bodyPr wrap="none" anchor="t" lIns="0" tIns="0" rIns="0" bIns="0">
            <a:noAutofit/>
          </a:bodyPr>
          <a:lstStyle/>
          <a:p>
            <a:pPr marL="0" indent="0" algn="l">
              <a:spcBef>
                <a:spcPts val="0"/>
              </a:spcBef>
              <a:spcAft>
                <a:spcPts val="0"/>
              </a:spcAft>
              <a:buNone/>
            </a:pPr>
            <a:r>
              <a:rPr sz="8000" lang="en-GB">
                <a:solidFill>
                  <a:srgbClr val="2B6797"/>
                </a:solidFill>
                <a:latin typeface="Fira Sans SemiBold"/>
              </a:rPr>
              <a:t>130×</a:t>
            </a:r>
            <a:r>
              <a:rPr sz="2000" lang="en-GB">
                <a:solidFill>
                  <a:srgbClr val="263238"/>
                </a:solidFill>
                <a:latin typeface="+mn-lt"/>
              </a:rPr>
              <a:t> slower</a:t>
            </a:r>
            <a:endParaRPr lang="en-GB" sz="8000"/>
          </a:p>
        </p:txBody>
      </p:sp>
      <p:sp>
        <p:nvSpPr>
          <p:cNvPr id="10" name="Support"/>
          <p:cNvSpPr txBox="1"/>
          <p:nvPr/>
        </p:nvSpPr>
        <p:spPr>
          <a:xfrm>
            <a:off x="548640" y="5059392"/>
            <a:ext cx="5613882" cy="6096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Same data, same answer, far fewer calls into compiled code.</a:t>
            </a:r>
            <a:endParaRPr lang="en-GB" sz="2000"/>
          </a:p>
        </p:txBody>
      </p:sp>
      <p:sp>
        <p:nvSpPr>
          <p:cNvPr id="9" name="Conditions"/>
          <p:cNvSpPr txBox="1"/>
          <p:nvPr/>
        </p:nvSpPr>
        <p:spPr>
          <a:xfrm>
            <a:off x="548640" y="5668992"/>
            <a:ext cx="5613882" cy="54864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722 961 points, median of 7 runs; AHN5 crop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results/bench_cliff.json.</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Batch calls into compiled code</a:t>
            </a:r>
          </a:p>
        </p:txBody>
      </p:sp>
      <p:sp>
        <p:nvSpPr>
          <p:cNvPr id="6" name="Takeaway"/>
          <p:cNvSpPr txBox="1"/>
          <p:nvPr/>
        </p:nvSpPr>
        <p:spPr>
          <a:xfrm>
            <a:off x="548640" y="5379432"/>
            <a:ext cx="11094720" cy="426720"/>
          </a:xfrm>
          <a:prstGeom prst="rect">
            <a:avLst/>
          </a:prstGeom>
          <a:noFill/>
        </p:spPr>
        <p:txBody>
          <a:bodyPr wrap="square" anchor="t" lIns="0" tIns="0" rIns="0" bIns="0">
            <a:noAutofit/>
          </a:bodyPr>
          <a:lstStyle/>
          <a:p>
            <a:pPr marL="0" indent="0" algn="l">
              <a:spcBef>
                <a:spcPts val="0"/>
              </a:spcBef>
              <a:spcAft>
                <a:spcPts val="0"/>
              </a:spcAft>
              <a:buNone/>
            </a:pPr>
            <a:r>
              <a:rPr sz="2800" b="1" lang="en-GB">
                <a:solidFill>
                  <a:srgbClr val="263238"/>
                </a:solidFill>
                <a:latin typeface="+mn-lt"/>
              </a:rPr>
              <a:t>Prefer one call on the whole array over N calls on single points.</a:t>
            </a:r>
            <a:endParaRPr lang="en-GB" sz="2800"/>
          </a:p>
        </p:txBody>
      </p:sp>
      <p:grpSp>
        <p:nvGrpSpPr>
          <p:cNvPr id="3" name="toll_diagram" descr="Diagram: a Python lane above a dashed boundary and a compiled-code lane below. On the left a loop crosses the boundary many times, paying a toll each time, marked by blue ticks on the boundary. On the right one call crosses once and does all the work below the line."/>
          <p:cNvGrpSpPr/>
          <p:nvPr/>
        </p:nvGrpSpPr>
        <p:grpSpPr>
          <a:xfrm>
            <a:off x="548640" y="1600200"/>
            <a:ext cx="11158728" cy="2599656"/>
            <a:chOff x="548640" y="1600200"/>
            <a:chExt cx="11158728" cy="2599656"/>
          </a:xfrm>
        </p:grpSpPr>
        <p:sp>
          <p:nvSpPr>
            <p:cNvPr id="7" name="toll_lane_top"/>
            <p:cNvSpPr txBox="1"/>
            <p:nvPr/>
          </p:nvSpPr>
          <p:spPr>
            <a:xfrm>
              <a:off x="548640" y="2368900"/>
              <a:ext cx="1828800" cy="411480"/>
            </a:xfrm>
            <a:prstGeom prst="rect">
              <a:avLst/>
            </a:prstGeom>
            <a:noFill/>
          </p:spPr>
          <p:txBody>
            <a:bodyPr wrap="square" anchor="b" lIns="0" tIns="0" rIns="0" bIns="0">
              <a:noAutofit/>
            </a:bodyPr>
            <a:lstStyle/>
            <a:p>
              <a:pPr algn="l"/>
              <a:r>
                <a:rPr sz="2000" b="1" i="0" lang="en-GB">
                  <a:solidFill>
                    <a:srgbClr val="1C325B"/>
                  </a:solidFill>
                  <a:latin typeface="Fira Sans"/>
                </a:rPr>
                <a:t>Python</a:t>
              </a:r>
            </a:p>
          </p:txBody>
        </p:sp>
        <p:sp>
          <p:nvSpPr>
            <p:cNvPr id="8" name="toll_lane_bottom"/>
            <p:cNvSpPr txBox="1"/>
            <p:nvPr/>
          </p:nvSpPr>
          <p:spPr>
            <a:xfrm>
              <a:off x="548640" y="2963260"/>
              <a:ext cx="1828800" cy="411480"/>
            </a:xfrm>
            <a:prstGeom prst="rect">
              <a:avLst/>
            </a:prstGeom>
            <a:noFill/>
          </p:spPr>
          <p:txBody>
            <a:bodyPr wrap="square" anchor="t" lIns="0" tIns="0" rIns="0" bIns="0">
              <a:noAutofit/>
            </a:bodyPr>
            <a:lstStyle/>
            <a:p>
              <a:pPr algn="l"/>
              <a:r>
                <a:rPr sz="2000" b="1" i="0" lang="en-GB">
                  <a:solidFill>
                    <a:srgbClr val="1C325B"/>
                  </a:solidFill>
                  <a:latin typeface="Fira Sans"/>
                </a:rPr>
                <a:t>compiled code</a:t>
              </a:r>
            </a:p>
          </p:txBody>
        </p:sp>
        <p:cxnSp>
          <p:nvCxnSpPr>
            <p:cNvPr id="9" name="toll_boundary"/>
            <p:cNvCxnSpPr/>
            <p:nvPr/>
          </p:nvCxnSpPr>
          <p:spPr>
            <a:xfrm>
              <a:off x="548640" y="2871820"/>
              <a:ext cx="11094720" cy="0"/>
            </a:xfrm>
            <a:prstGeom prst="line">
              <a:avLst/>
            </a:prstGeom>
            <a:ln w="28575">
              <a:solidFill>
                <a:srgbClr val="2B6797"/>
              </a:solidFill>
              <a:prstDash val="dash"/>
            </a:ln>
          </p:spPr>
          <p:style>
            <a:lnRef idx="2">
              <a:schemeClr val="accent1"/>
            </a:lnRef>
            <a:fillRef idx="0">
              <a:schemeClr val="accent1"/>
            </a:fillRef>
            <a:effectRef idx="1">
              <a:schemeClr val="accent1"/>
            </a:effectRef>
            <a:fontRef idx="minor">
              <a:schemeClr val="tx1"/>
            </a:fontRef>
          </p:style>
        </p:cxnSp>
        <p:sp>
          <p:nvSpPr>
            <p:cNvPr id="10" name="toll_loop_code"/>
            <p:cNvSpPr/>
            <p:nvPr/>
          </p:nvSpPr>
          <p:spPr>
            <a:xfrm>
              <a:off x="2468880" y="1600200"/>
              <a:ext cx="3291840" cy="475488"/>
            </a:xfrm>
            <a:prstGeom prst="roundRect">
              <a:avLst>
                <a:gd name="adj" fmla="val 15384"/>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37160" tIns="36576" bIns="36576">
              <a:noAutofit/>
            </a:bodyPr>
            <a:lstStyle/>
            <a:p>
              <a:pPr algn="l"/>
              <a:r>
                <a:rPr sz="1800" b="0" i="0" lang="en-GB">
                  <a:solidFill>
                    <a:srgbClr val="263238"/>
                  </a:solidFill>
                  <a:latin typeface="Fira Mono" pitchFamily="49" charset="0"/>
                </a:rPr>
                <a:t>for p in pts: f(p)</a:t>
              </a:r>
            </a:p>
          </p:txBody>
        </p:sp>
        <p:cxnSp>
          <p:nvCxnSpPr>
            <p:cNvPr id="11" name="loop_down_1"/>
            <p:cNvCxnSpPr/>
            <p:nvPr/>
          </p:nvCxnSpPr>
          <p:spPr>
            <a:xfrm>
              <a:off x="265176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loop_work_1"/>
            <p:cNvSpPr/>
            <p:nvPr/>
          </p:nvSpPr>
          <p:spPr>
            <a:xfrm>
              <a:off x="2615184"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loop_up_1"/>
            <p:cNvCxnSpPr/>
            <p:nvPr/>
          </p:nvCxnSpPr>
          <p:spPr>
            <a:xfrm flipV="1">
              <a:off x="279806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loop_toll_1"/>
            <p:cNvSpPr/>
            <p:nvPr/>
          </p:nvSpPr>
          <p:spPr>
            <a:xfrm>
              <a:off x="2505456"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loop_down_2"/>
            <p:cNvCxnSpPr/>
            <p:nvPr/>
          </p:nvCxnSpPr>
          <p:spPr>
            <a:xfrm>
              <a:off x="2999232"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oop_work_2"/>
            <p:cNvSpPr/>
            <p:nvPr/>
          </p:nvSpPr>
          <p:spPr>
            <a:xfrm>
              <a:off x="2962656"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loop_up_2"/>
            <p:cNvCxnSpPr/>
            <p:nvPr/>
          </p:nvCxnSpPr>
          <p:spPr>
            <a:xfrm flipV="1">
              <a:off x="314553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oop_toll_2"/>
            <p:cNvSpPr/>
            <p:nvPr/>
          </p:nvSpPr>
          <p:spPr>
            <a:xfrm>
              <a:off x="2852928"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loop_down_3"/>
            <p:cNvCxnSpPr/>
            <p:nvPr/>
          </p:nvCxnSpPr>
          <p:spPr>
            <a:xfrm>
              <a:off x="334670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loop_work_3"/>
            <p:cNvSpPr/>
            <p:nvPr/>
          </p:nvSpPr>
          <p:spPr>
            <a:xfrm>
              <a:off x="3310128"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loop_up_3"/>
            <p:cNvCxnSpPr/>
            <p:nvPr/>
          </p:nvCxnSpPr>
          <p:spPr>
            <a:xfrm flipV="1">
              <a:off x="3493008"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loop_toll_3"/>
            <p:cNvSpPr/>
            <p:nvPr/>
          </p:nvSpPr>
          <p:spPr>
            <a:xfrm>
              <a:off x="3200400"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oop_down_4"/>
            <p:cNvCxnSpPr/>
            <p:nvPr/>
          </p:nvCxnSpPr>
          <p:spPr>
            <a:xfrm>
              <a:off x="369417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loop_work_4"/>
            <p:cNvSpPr/>
            <p:nvPr/>
          </p:nvSpPr>
          <p:spPr>
            <a:xfrm>
              <a:off x="3657600"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loop_up_4"/>
            <p:cNvCxnSpPr/>
            <p:nvPr/>
          </p:nvCxnSpPr>
          <p:spPr>
            <a:xfrm flipV="1">
              <a:off x="384048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loop_toll_4"/>
            <p:cNvSpPr/>
            <p:nvPr/>
          </p:nvSpPr>
          <p:spPr>
            <a:xfrm>
              <a:off x="3547872"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loop_down_5"/>
            <p:cNvCxnSpPr/>
            <p:nvPr/>
          </p:nvCxnSpPr>
          <p:spPr>
            <a:xfrm>
              <a:off x="4041648"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loop_work_5"/>
            <p:cNvSpPr/>
            <p:nvPr/>
          </p:nvSpPr>
          <p:spPr>
            <a:xfrm>
              <a:off x="4005072"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loop_up_5"/>
            <p:cNvCxnSpPr/>
            <p:nvPr/>
          </p:nvCxnSpPr>
          <p:spPr>
            <a:xfrm flipV="1">
              <a:off x="4187952"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loop_toll_5"/>
            <p:cNvSpPr/>
            <p:nvPr/>
          </p:nvSpPr>
          <p:spPr>
            <a:xfrm>
              <a:off x="3895344"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loop_down_6"/>
            <p:cNvCxnSpPr/>
            <p:nvPr/>
          </p:nvCxnSpPr>
          <p:spPr>
            <a:xfrm>
              <a:off x="438912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loop_work_6"/>
            <p:cNvSpPr/>
            <p:nvPr/>
          </p:nvSpPr>
          <p:spPr>
            <a:xfrm>
              <a:off x="4352544"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loop_up_6"/>
            <p:cNvCxnSpPr/>
            <p:nvPr/>
          </p:nvCxnSpPr>
          <p:spPr>
            <a:xfrm flipV="1">
              <a:off x="453542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loop_toll_6"/>
            <p:cNvSpPr/>
            <p:nvPr/>
          </p:nvSpPr>
          <p:spPr>
            <a:xfrm>
              <a:off x="4242816"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loop_down_7"/>
            <p:cNvCxnSpPr/>
            <p:nvPr/>
          </p:nvCxnSpPr>
          <p:spPr>
            <a:xfrm>
              <a:off x="4736592"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loop_work_7"/>
            <p:cNvSpPr/>
            <p:nvPr/>
          </p:nvSpPr>
          <p:spPr>
            <a:xfrm>
              <a:off x="4700016"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loop_up_7"/>
            <p:cNvCxnSpPr/>
            <p:nvPr/>
          </p:nvCxnSpPr>
          <p:spPr>
            <a:xfrm flipV="1">
              <a:off x="488289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loop_toll_7"/>
            <p:cNvSpPr/>
            <p:nvPr/>
          </p:nvSpPr>
          <p:spPr>
            <a:xfrm>
              <a:off x="4590288"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loop_down_8"/>
            <p:cNvCxnSpPr/>
            <p:nvPr/>
          </p:nvCxnSpPr>
          <p:spPr>
            <a:xfrm>
              <a:off x="508406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loop_work_8"/>
            <p:cNvSpPr/>
            <p:nvPr/>
          </p:nvSpPr>
          <p:spPr>
            <a:xfrm>
              <a:off x="5047488"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loop_up_8"/>
            <p:cNvCxnSpPr/>
            <p:nvPr/>
          </p:nvCxnSpPr>
          <p:spPr>
            <a:xfrm flipV="1">
              <a:off x="5230368"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loop_toll_8"/>
            <p:cNvSpPr/>
            <p:nvPr/>
          </p:nvSpPr>
          <p:spPr>
            <a:xfrm>
              <a:off x="4937760"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loop_down_9"/>
            <p:cNvCxnSpPr/>
            <p:nvPr/>
          </p:nvCxnSpPr>
          <p:spPr>
            <a:xfrm>
              <a:off x="543153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loop_work_9"/>
            <p:cNvSpPr/>
            <p:nvPr/>
          </p:nvSpPr>
          <p:spPr>
            <a:xfrm>
              <a:off x="5394960"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loop_up_9"/>
            <p:cNvCxnSpPr/>
            <p:nvPr/>
          </p:nvCxnSpPr>
          <p:spPr>
            <a:xfrm flipV="1">
              <a:off x="557784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loop_toll_9"/>
            <p:cNvSpPr/>
            <p:nvPr/>
          </p:nvSpPr>
          <p:spPr>
            <a:xfrm>
              <a:off x="5285232"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oll_times"/>
            <p:cNvSpPr txBox="1"/>
            <p:nvPr/>
          </p:nvSpPr>
          <p:spPr>
            <a:xfrm>
              <a:off x="5742432" y="3477480"/>
              <a:ext cx="1097280" cy="384048"/>
            </a:xfrm>
            <a:prstGeom prst="rect">
              <a:avLst/>
            </a:prstGeom>
            <a:noFill/>
          </p:spPr>
          <p:txBody>
            <a:bodyPr wrap="square" anchor="ctr" lIns="0" tIns="0" rIns="0" bIns="0">
              <a:noAutofit/>
            </a:bodyPr>
            <a:lstStyle/>
            <a:p>
              <a:pPr algn="l"/>
              <a:r>
                <a:rPr sz="2400" b="1" i="0" lang="en-GB">
                  <a:solidFill>
                    <a:srgbClr val="1C325B"/>
                  </a:solidFill>
                  <a:latin typeface="Fira Sans"/>
                </a:rPr>
                <a:t>× N</a:t>
              </a:r>
            </a:p>
          </p:txBody>
        </p:sp>
        <p:sp>
          <p:nvSpPr>
            <p:cNvPr id="48" name="toll_call_code"/>
            <p:cNvSpPr/>
            <p:nvPr/>
          </p:nvSpPr>
          <p:spPr>
            <a:xfrm>
              <a:off x="7205472" y="1600200"/>
              <a:ext cx="1152144" cy="475488"/>
            </a:xfrm>
            <a:prstGeom prst="roundRect">
              <a:avLst>
                <a:gd name="adj" fmla="val 15384"/>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37160" tIns="36576" bIns="36576">
              <a:noAutofit/>
            </a:bodyPr>
            <a:lstStyle/>
            <a:p>
              <a:pPr algn="l"/>
              <a:r>
                <a:rPr sz="1800" b="0" i="0" lang="en-GB">
                  <a:solidFill>
                    <a:srgbClr val="263238"/>
                  </a:solidFill>
                  <a:latin typeface="Fira Mono" pitchFamily="49" charset="0"/>
                </a:rPr>
                <a:t>f(pts)</a:t>
              </a:r>
            </a:p>
          </p:txBody>
        </p:sp>
        <p:cxnSp>
          <p:nvCxnSpPr>
            <p:cNvPr id="49" name="call_down_1"/>
            <p:cNvCxnSpPr/>
            <p:nvPr/>
          </p:nvCxnSpPr>
          <p:spPr>
            <a:xfrm>
              <a:off x="7388352" y="2130552"/>
              <a:ext cx="0" cy="1365216"/>
            </a:xfrm>
            <a:prstGeom prst="line">
              <a:avLst/>
            </a:prstGeom>
            <a:ln w="63500">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call_work_1"/>
            <p:cNvSpPr/>
            <p:nvPr/>
          </p:nvSpPr>
          <p:spPr>
            <a:xfrm>
              <a:off x="7333488" y="3523200"/>
              <a:ext cx="4264152" cy="292608"/>
            </a:xfrm>
            <a:prstGeom prst="roundRect">
              <a:avLst>
                <a:gd name="adj" fmla="val 25000"/>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all_up_1"/>
            <p:cNvCxnSpPr/>
            <p:nvPr/>
          </p:nvCxnSpPr>
          <p:spPr>
            <a:xfrm flipV="1">
              <a:off x="7845552" y="2130552"/>
              <a:ext cx="0" cy="1365216"/>
            </a:xfrm>
            <a:prstGeom prst="line">
              <a:avLst/>
            </a:prstGeom>
            <a:ln w="63500">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call_toll_1"/>
            <p:cNvSpPr/>
            <p:nvPr/>
          </p:nvSpPr>
          <p:spPr>
            <a:xfrm>
              <a:off x="7242048"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oll_caption_loop"/>
            <p:cNvSpPr txBox="1"/>
            <p:nvPr/>
          </p:nvSpPr>
          <p:spPr>
            <a:xfrm>
              <a:off x="2468880" y="3870672"/>
              <a:ext cx="4462272" cy="329184"/>
            </a:xfrm>
            <a:prstGeom prst="rect">
              <a:avLst/>
            </a:prstGeom>
            <a:noFill/>
          </p:spPr>
          <p:txBody>
            <a:bodyPr wrap="square" anchor="t" lIns="0" tIns="0" rIns="0" bIns="0">
              <a:noAutofit/>
            </a:bodyPr>
            <a:lstStyle/>
            <a:p>
              <a:pPr algn="l"/>
              <a:r>
                <a:rPr sz="1800" b="0" i="0" lang="en-GB">
                  <a:solidFill>
                    <a:srgbClr val="263238"/>
                  </a:solidFill>
                  <a:latin typeface="Fira Sans"/>
                </a:rPr>
                <a:t>N trips: 317 ms</a:t>
              </a:r>
            </a:p>
          </p:txBody>
        </p:sp>
        <p:sp>
          <p:nvSpPr>
            <p:cNvPr id="54" name="toll_caption_call"/>
            <p:cNvSpPr txBox="1"/>
            <p:nvPr/>
          </p:nvSpPr>
          <p:spPr>
            <a:xfrm>
              <a:off x="7205472" y="3870672"/>
              <a:ext cx="4437888" cy="329184"/>
            </a:xfrm>
            <a:prstGeom prst="rect">
              <a:avLst/>
            </a:prstGeom>
            <a:noFill/>
          </p:spPr>
          <p:txBody>
            <a:bodyPr wrap="square" anchor="t" lIns="0" tIns="0" rIns="0" bIns="0">
              <a:noAutofit/>
            </a:bodyPr>
            <a:lstStyle/>
            <a:p>
              <a:pPr algn="l"/>
              <a:r>
                <a:rPr sz="1800" b="0" i="0" lang="en-GB">
                  <a:solidFill>
                    <a:srgbClr val="263238"/>
                  </a:solidFill>
                  <a:latin typeface="Fira Sans"/>
                </a:rPr>
                <a:t>Array operations: 2.4 ms</a:t>
              </a:r>
            </a:p>
          </p:txBody>
        </p:sp>
        <p:sp>
          <p:nvSpPr>
            <p:cNvPr id="55" name="legend_toll_swatch"/>
            <p:cNvSpPr/>
            <p:nvPr/>
          </p:nvSpPr>
          <p:spPr>
            <a:xfrm>
              <a:off x="8877757" y="167335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egend_toll"/>
            <p:cNvSpPr txBox="1"/>
            <p:nvPr/>
          </p:nvSpPr>
          <p:spPr>
            <a:xfrm>
              <a:off x="9261805" y="1600200"/>
              <a:ext cx="1773022" cy="274320"/>
            </a:xfrm>
            <a:prstGeom prst="rect">
              <a:avLst/>
            </a:prstGeom>
            <a:noFill/>
          </p:spPr>
          <p:txBody>
            <a:bodyPr wrap="none" anchor="ctr" lIns="0" tIns="0" rIns="0" bIns="0">
              <a:noAutofit/>
            </a:bodyPr>
            <a:lstStyle/>
            <a:p>
              <a:pPr algn="l"/>
              <a:r>
                <a:rPr sz="1800" b="0" i="0" lang="en-GB">
                  <a:solidFill>
                    <a:srgbClr val="263238"/>
                  </a:solidFill>
                  <a:latin typeface="Fira Sans"/>
                </a:rPr>
                <a:t>toll per crossing</a:t>
              </a:r>
            </a:p>
          </p:txBody>
        </p:sp>
        <p:sp>
          <p:nvSpPr>
            <p:cNvPr id="57" name="legend_work_swatch"/>
            <p:cNvSpPr/>
            <p:nvPr/>
          </p:nvSpPr>
          <p:spPr>
            <a:xfrm>
              <a:off x="8877757" y="1929384"/>
              <a:ext cx="292608" cy="164592"/>
            </a:xfrm>
            <a:prstGeom prst="roundRect">
              <a:avLst>
                <a:gd name="adj" fmla="val 44444"/>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egend_work"/>
            <p:cNvSpPr txBox="1"/>
            <p:nvPr/>
          </p:nvSpPr>
          <p:spPr>
            <a:xfrm>
              <a:off x="9261805" y="1874520"/>
              <a:ext cx="2445563" cy="274320"/>
            </a:xfrm>
            <a:prstGeom prst="rect">
              <a:avLst/>
            </a:prstGeom>
            <a:noFill/>
          </p:spPr>
          <p:txBody>
            <a:bodyPr wrap="none" anchor="ctr" lIns="0" tIns="0" rIns="0" bIns="0">
              <a:noAutofit/>
            </a:bodyPr>
            <a:lstStyle/>
            <a:p>
              <a:pPr algn="l"/>
              <a:r>
                <a:rPr sz="1800" b="0" i="0" lang="en-GB">
                  <a:solidFill>
                    <a:srgbClr val="263238"/>
                  </a:solidFill>
                  <a:latin typeface="Fira Sans"/>
                </a:rPr>
                <a:t>work in compiled code</a:t>
              </a:r>
            </a:p>
          </p:txBody>
        </p:sp>
        <p:cxnSp>
          <p:nvCxnSpPr>
            <p:cNvPr id="59" name="legend_arrow_swatch"/>
            <p:cNvCxnSpPr/>
            <p:nvPr/>
          </p:nvCxnSpPr>
          <p:spPr>
            <a:xfrm>
              <a:off x="8877757" y="2286000"/>
              <a:ext cx="292608" cy="0"/>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legend_arrow"/>
            <p:cNvSpPr txBox="1"/>
            <p:nvPr/>
          </p:nvSpPr>
          <p:spPr>
            <a:xfrm>
              <a:off x="9261805" y="2148840"/>
              <a:ext cx="1625803" cy="274320"/>
            </a:xfrm>
            <a:prstGeom prst="rect">
              <a:avLst/>
            </a:prstGeom>
            <a:noFill/>
          </p:spPr>
          <p:txBody>
            <a:bodyPr wrap="none" anchor="ctr" lIns="0" tIns="0" rIns="0" bIns="0">
              <a:noAutofit/>
            </a:bodyPr>
            <a:lstStyle/>
            <a:p>
              <a:pPr algn="l"/>
              <a:r>
                <a:rPr sz="1800" b="0" i="0" lang="en-GB">
                  <a:solidFill>
                    <a:srgbClr val="263238"/>
                  </a:solidFill>
                  <a:latin typeface="Fira Sans"/>
                </a:rPr>
                <a:t>call and return</a:t>
              </a:r>
            </a:p>
          </p:txBody>
        </p:sp>
      </p:grpSp>
      <p:sp>
        <p:nvSpPr>
          <p:cNvPr id="61" name="Hero"/>
          <p:cNvSpPr txBox="1"/>
          <p:nvPr/>
        </p:nvSpPr>
        <p:spPr>
          <a:xfrm>
            <a:off x="548640" y="4419312"/>
            <a:ext cx="2366772" cy="914400"/>
          </a:xfrm>
          <a:prstGeom prst="rect">
            <a:avLst/>
          </a:prstGeom>
          <a:noFill/>
        </p:spPr>
        <p:txBody>
          <a:bodyPr wrap="none" anchor="b" lIns="0" tIns="0" rIns="0" bIns="0">
            <a:noAutofit/>
          </a:bodyPr>
          <a:lstStyle/>
          <a:p>
            <a:pPr marL="0" indent="0" algn="l">
              <a:spcBef>
                <a:spcPts val="0"/>
              </a:spcBef>
              <a:spcAft>
                <a:spcPts val="0"/>
              </a:spcAft>
              <a:buNone/>
            </a:pPr>
            <a:r>
              <a:rPr sz="6000" lang="en-GB">
                <a:solidFill>
                  <a:srgbClr val="2B6797"/>
                </a:solidFill>
                <a:latin typeface="Fira Sans SemiBold"/>
              </a:rPr>
              <a:t>439 ns</a:t>
            </a:r>
            <a:endParaRPr lang="en-GB" sz="6000"/>
          </a:p>
        </p:txBody>
      </p:sp>
      <p:sp>
        <p:nvSpPr>
          <p:cNvPr id="62" name="Hero label"/>
          <p:cNvSpPr txBox="1"/>
          <p:nvPr/>
        </p:nvSpPr>
        <p:spPr>
          <a:xfrm>
            <a:off x="3098292" y="4894292"/>
            <a:ext cx="8545068" cy="304800"/>
          </a:xfrm>
          <a:prstGeom prst="rect">
            <a:avLst/>
          </a:prstGeom>
          <a:noFill/>
        </p:spPr>
        <p:txBody>
          <a:bodyPr wrap="none" anchor="b" lIns="0" tIns="0" rIns="0" bIns="0">
            <a:noAutofit/>
          </a:bodyPr>
          <a:lstStyle/>
          <a:p>
            <a:pPr marL="0" indent="0" algn="l">
              <a:spcBef>
                <a:spcPts val="0"/>
              </a:spcBef>
              <a:spcAft>
                <a:spcPts val="0"/>
              </a:spcAft>
              <a:buNone/>
            </a:pPr>
            <a:r>
              <a:rPr sz="2000" b="0" lang="en-GB">
                <a:solidFill>
                  <a:srgbClr val="263238"/>
                </a:solidFill>
                <a:latin typeface="+mn-lt"/>
              </a:rPr>
              <a:t>per full loop step</a:t>
            </a:r>
            <a:endParaRPr lang="en-GB" sz="2000"/>
          </a:p>
        </p:txBody>
      </p:sp>
      <p:sp>
        <p:nvSpPr>
          <p:cNvPr id="63" name="Conditions"/>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722 961 points, median of 7 runs; AHN5 crop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results/bench_cliff.json.</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Profile before you vectorise</a:t>
            </a:r>
          </a:p>
        </p:txBody>
      </p:sp>
      <p:sp>
        <p:nvSpPr>
          <p:cNvPr id="6" name="Terminal background">
            <a:extLst>
              <a:ext uri="{C183D7F6-B498-43B3-948B-1728B52AA6E4}">
                <adec:decorative xmlns:adec="http://schemas.microsoft.com/office/drawing/2017/decorative" val="1"/>
              </a:ext>
            </a:extLst>
          </p:cNvPr>
          <p:cNvSpPr/>
          <p:nvPr/>
        </p:nvSpPr>
        <p:spPr>
          <a:xfrm>
            <a:off x="402336" y="1554480"/>
            <a:ext cx="11241024" cy="35814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 profile command"/>
          <p:cNvSpPr txBox="1"/>
          <p:nvPr/>
        </p:nvSpPr>
        <p:spPr>
          <a:xfrm>
            <a:off x="539496" y="1554480"/>
            <a:ext cx="11103864" cy="3581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 </a:t>
            </a:r>
            <a:r>
              <a:rPr sz="1800" b="0" lang="en-GB" noProof="1">
                <a:solidFill>
                  <a:srgbClr val="263238"/>
                </a:solidFill>
                <a:latin typeface="Fira Mono" pitchFamily="49"/>
              </a:rPr>
              <a:t>scalene run --cpu-only loop.py</a:t>
            </a:r>
            <a:endParaRPr lang="en-GB" sz="1800"/>
          </a:p>
        </p:txBody>
      </p:sp>
      <p:sp>
        <p:nvSpPr>
          <p:cNvPr id="9" name="Profile measurement scope"/>
          <p:cNvSpPr txBox="1"/>
          <p:nvPr/>
        </p:nvSpPr>
        <p:spPr>
          <a:xfrm>
            <a:off x="548640" y="5028912"/>
            <a:ext cx="11094720" cy="5486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Profile: 30 calls per version, plus imports and LAZ reading. Sample shares × run time; not single-call timings. Use slide 22 for speedup. Instrumentation also affects timings.</a:t>
            </a:r>
            <a:endParaRPr lang="en-GB" sz="1800"/>
          </a:p>
        </p:txBody>
      </p:sp>
      <p:grpSp>
        <p:nvGrpSpPr>
          <p:cNvPr id="3" name="Line profile" descr="Per-line CPU profile from Scalene. For the loop version, the for line and the line that unpacks a row show 0 %, and the line that computes the distance takes 88 % of the whole run, almost all of it native NumPy time and about 4 % in the Python interpreter. The one-expression NumPy version takes 0.7 %."/>
          <p:cNvGrpSpPr/>
          <p:nvPr/>
        </p:nvGrpSpPr>
        <p:grpSpPr>
          <a:xfrm>
            <a:off x="548640" y="2186940"/>
            <a:ext cx="11094720" cy="2613372"/>
            <a:chOff x="548640" y="2186940"/>
            <a:chExt cx="11094720" cy="2613372"/>
          </a:xfrm>
        </p:grpSpPr>
        <p:sp>
          <p:nvSpPr>
            <p:cNvPr id="10" name="legend python swatch"/>
            <p:cNvSpPr/>
            <p:nvPr/>
          </p:nvSpPr>
          <p:spPr>
            <a:xfrm>
              <a:off x="5664429" y="2250948"/>
              <a:ext cx="237744" cy="237744"/>
            </a:xfrm>
            <a:prstGeom prst="rect">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gend python"/>
            <p:cNvSpPr txBox="1"/>
            <p:nvPr/>
          </p:nvSpPr>
          <p:spPr>
            <a:xfrm>
              <a:off x="5975325" y="2186940"/>
              <a:ext cx="982726" cy="365760"/>
            </a:xfrm>
            <a:prstGeom prst="rect">
              <a:avLst/>
            </a:prstGeom>
            <a:noFill/>
          </p:spPr>
          <p:txBody>
            <a:bodyPr wrap="none" anchor="ctr" lIns="0" tIns="0" rIns="0" bIns="0">
              <a:noAutofit/>
            </a:bodyPr>
            <a:lstStyle/>
            <a:p>
              <a:pPr algn="l"/>
              <a:r>
                <a:rPr sz="2200" b="0" i="0" lang="en-GB">
                  <a:solidFill>
                    <a:srgbClr val="263238"/>
                  </a:solidFill>
                  <a:latin typeface="Fira Sans"/>
                </a:rPr>
                <a:t>Python</a:t>
              </a:r>
            </a:p>
          </p:txBody>
        </p:sp>
        <p:sp>
          <p:nvSpPr>
            <p:cNvPr id="12" name="legend native swatch"/>
            <p:cNvSpPr/>
            <p:nvPr/>
          </p:nvSpPr>
          <p:spPr>
            <a:xfrm>
              <a:off x="7323811" y="2250948"/>
              <a:ext cx="237744" cy="237744"/>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gend native"/>
            <p:cNvSpPr txBox="1"/>
            <p:nvPr/>
          </p:nvSpPr>
          <p:spPr>
            <a:xfrm>
              <a:off x="7634707" y="2186940"/>
              <a:ext cx="2349551" cy="365760"/>
            </a:xfrm>
            <a:prstGeom prst="rect">
              <a:avLst/>
            </a:prstGeom>
            <a:noFill/>
          </p:spPr>
          <p:txBody>
            <a:bodyPr wrap="none" anchor="ctr" lIns="0" tIns="0" rIns="0" bIns="0">
              <a:noAutofit/>
            </a:bodyPr>
            <a:lstStyle/>
            <a:p>
              <a:pPr algn="l"/>
              <a:r>
                <a:rPr sz="2200" b="0" i="0" lang="en-GB">
                  <a:solidFill>
                    <a:srgbClr val="263238"/>
                  </a:solidFill>
                  <a:latin typeface="Fira Sans"/>
                </a:rPr>
                <a:t>native, i.e. NumPy</a:t>
              </a:r>
            </a:p>
          </p:txBody>
        </p:sp>
        <p:sp>
          <p:nvSpPr>
            <p:cNvPr id="14" name="legend system swatch"/>
            <p:cNvSpPr/>
            <p:nvPr/>
          </p:nvSpPr>
          <p:spPr>
            <a:xfrm>
              <a:off x="10350017" y="2250948"/>
              <a:ext cx="237744" cy="237744"/>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gend system"/>
            <p:cNvSpPr txBox="1"/>
            <p:nvPr/>
          </p:nvSpPr>
          <p:spPr>
            <a:xfrm>
              <a:off x="10660913" y="2186940"/>
              <a:ext cx="982447" cy="365760"/>
            </a:xfrm>
            <a:prstGeom prst="rect">
              <a:avLst/>
            </a:prstGeom>
            <a:noFill/>
          </p:spPr>
          <p:txBody>
            <a:bodyPr wrap="none" anchor="ctr" lIns="0" tIns="0" rIns="0" bIns="0">
              <a:noAutofit/>
            </a:bodyPr>
            <a:lstStyle/>
            <a:p>
              <a:pPr algn="l"/>
              <a:r>
                <a:rPr sz="2200" b="0" i="0" lang="en-GB">
                  <a:solidFill>
                    <a:srgbClr val="263238"/>
                  </a:solidFill>
                  <a:latin typeface="Fira Sans"/>
                </a:rPr>
                <a:t>system</a:t>
              </a:r>
            </a:p>
          </p:txBody>
        </p:sp>
        <p:sp>
          <p:nvSpPr>
            <p:cNvPr id="16" name="tag"/>
            <p:cNvSpPr txBox="1"/>
            <p:nvPr/>
          </p:nvSpPr>
          <p:spPr>
            <a:xfrm>
              <a:off x="548640" y="2662428"/>
              <a:ext cx="1040130" cy="502467"/>
            </a:xfrm>
            <a:prstGeom prst="rect">
              <a:avLst/>
            </a:prstGeom>
            <a:noFill/>
          </p:spPr>
          <p:txBody>
            <a:bodyPr wrap="none" anchor="ctr" lIns="0" tIns="0" rIns="0" bIns="0">
              <a:noAutofit/>
            </a:bodyPr>
            <a:lstStyle/>
            <a:p>
              <a:pPr algn="l"/>
              <a:r>
                <a:rPr sz="2000" b="0" i="0" lang="en-GB">
                  <a:solidFill>
                    <a:srgbClr val="455A64"/>
                  </a:solidFill>
                  <a:latin typeface="Fira Sans"/>
                </a:rPr>
                <a:t>loop</a:t>
              </a:r>
            </a:p>
          </p:txBody>
        </p:sp>
        <p:sp>
          <p:nvSpPr>
            <p:cNvPr id="17" name="code"/>
            <p:cNvSpPr txBox="1"/>
            <p:nvPr/>
          </p:nvSpPr>
          <p:spPr>
            <a:xfrm>
              <a:off x="1588770" y="2662428"/>
              <a:ext cx="5562600" cy="5024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for i, p in enumerate(P):</a:t>
              </a:r>
            </a:p>
          </p:txBody>
        </p:sp>
        <p:sp>
          <p:nvSpPr>
            <p:cNvPr id="18" name="share"/>
            <p:cNvSpPr txBox="1"/>
            <p:nvPr/>
          </p:nvSpPr>
          <p:spPr>
            <a:xfrm>
              <a:off x="7261098" y="2662428"/>
              <a:ext cx="986688" cy="502467"/>
            </a:xfrm>
            <a:prstGeom prst="rect">
              <a:avLst/>
            </a:prstGeom>
            <a:noFill/>
          </p:spPr>
          <p:txBody>
            <a:bodyPr wrap="none" anchor="ctr" lIns="0" tIns="0" rIns="0" bIns="0">
              <a:noAutofit/>
            </a:bodyPr>
            <a:lstStyle/>
            <a:p>
              <a:pPr algn="l"/>
              <a:r>
                <a:rPr sz="2000" b="0" i="0" lang="en-GB">
                  <a:solidFill>
                    <a:srgbClr val="263238"/>
                  </a:solidFill>
                  <a:latin typeface="Fira Sans"/>
                </a:rPr>
                <a:t>0 %</a:t>
              </a:r>
            </a:p>
          </p:txBody>
        </p:sp>
        <p:sp>
          <p:nvSpPr>
            <p:cNvPr id="19" name="code"/>
            <p:cNvSpPr txBox="1"/>
            <p:nvPr/>
          </p:nvSpPr>
          <p:spPr>
            <a:xfrm>
              <a:off x="1588770" y="3164895"/>
              <a:ext cx="5562600" cy="5024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    x, y, z = p[0], p[1], p[2]</a:t>
              </a:r>
            </a:p>
          </p:txBody>
        </p:sp>
        <p:sp>
          <p:nvSpPr>
            <p:cNvPr id="20" name="share"/>
            <p:cNvSpPr txBox="1"/>
            <p:nvPr/>
          </p:nvSpPr>
          <p:spPr>
            <a:xfrm>
              <a:off x="7261098" y="3164895"/>
              <a:ext cx="986688" cy="502467"/>
            </a:xfrm>
            <a:prstGeom prst="rect">
              <a:avLst/>
            </a:prstGeom>
            <a:noFill/>
          </p:spPr>
          <p:txBody>
            <a:bodyPr wrap="none" anchor="ctr" lIns="0" tIns="0" rIns="0" bIns="0">
              <a:noAutofit/>
            </a:bodyPr>
            <a:lstStyle/>
            <a:p>
              <a:pPr algn="l"/>
              <a:r>
                <a:rPr sz="2000" b="0" i="0" lang="en-GB">
                  <a:solidFill>
                    <a:srgbClr val="263238"/>
                  </a:solidFill>
                  <a:latin typeface="Fira Sans"/>
                </a:rPr>
                <a:t>0 %</a:t>
              </a:r>
            </a:p>
          </p:txBody>
        </p:sp>
        <p:sp>
          <p:nvSpPr>
            <p:cNvPr id="21" name="code"/>
            <p:cNvSpPr txBox="1"/>
            <p:nvPr/>
          </p:nvSpPr>
          <p:spPr>
            <a:xfrm>
              <a:off x="1588770" y="3667362"/>
              <a:ext cx="5562600" cy="5024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    h[i] = abs(a*x + b*y + c*z + d)</a:t>
              </a:r>
            </a:p>
          </p:txBody>
        </p:sp>
        <p:sp>
          <p:nvSpPr>
            <p:cNvPr id="22" name="bar python"/>
            <p:cNvSpPr/>
            <p:nvPr/>
          </p:nvSpPr>
          <p:spPr>
            <a:xfrm>
              <a:off x="7151370" y="3749658"/>
              <a:ext cx="97667" cy="337875"/>
            </a:xfrm>
            <a:prstGeom prst="rect">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 native"/>
            <p:cNvSpPr/>
            <p:nvPr/>
          </p:nvSpPr>
          <p:spPr>
            <a:xfrm>
              <a:off x="7249037" y="3749658"/>
              <a:ext cx="1978833" cy="337875"/>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 system"/>
            <p:cNvSpPr/>
            <p:nvPr/>
          </p:nvSpPr>
          <p:spPr>
            <a:xfrm>
              <a:off x="9227869" y="3749658"/>
              <a:ext cx="41135" cy="337875"/>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hare"/>
            <p:cNvSpPr txBox="1"/>
            <p:nvPr/>
          </p:nvSpPr>
          <p:spPr>
            <a:xfrm>
              <a:off x="9378733" y="3667362"/>
              <a:ext cx="986688" cy="502467"/>
            </a:xfrm>
            <a:prstGeom prst="rect">
              <a:avLst/>
            </a:prstGeom>
            <a:noFill/>
          </p:spPr>
          <p:txBody>
            <a:bodyPr wrap="none" anchor="ctr" lIns="0" tIns="0" rIns="0" bIns="0">
              <a:noAutofit/>
            </a:bodyPr>
            <a:lstStyle/>
            <a:p>
              <a:pPr algn="l"/>
              <a:r>
                <a:rPr sz="2800" b="1" i="0" lang="en-GB">
                  <a:solidFill>
                    <a:srgbClr val="2B6797"/>
                  </a:solidFill>
                  <a:latin typeface="Fira Sans"/>
                </a:rPr>
                <a:t>88 %</a:t>
              </a:r>
            </a:p>
          </p:txBody>
        </p:sp>
        <p:sp>
          <p:nvSpPr>
            <p:cNvPr id="26" name="time"/>
            <p:cNvSpPr txBox="1"/>
            <p:nvPr/>
          </p:nvSpPr>
          <p:spPr>
            <a:xfrm>
              <a:off x="10364558" y="3667362"/>
              <a:ext cx="962558" cy="502467"/>
            </a:xfrm>
            <a:prstGeom prst="rect">
              <a:avLst/>
            </a:prstGeom>
            <a:noFill/>
          </p:spPr>
          <p:txBody>
            <a:bodyPr wrap="none" anchor="ctr" lIns="0" tIns="0" rIns="0" bIns="0">
              <a:noAutofit/>
            </a:bodyPr>
            <a:lstStyle/>
            <a:p>
              <a:pPr algn="l"/>
              <a:r>
                <a:rPr sz="2400" b="0" i="0" lang="en-GB">
                  <a:solidFill>
                    <a:srgbClr val="455A64"/>
                  </a:solidFill>
                  <a:latin typeface="Fira Sans"/>
                </a:rPr>
                <a:t>10.5 s</a:t>
              </a:r>
            </a:p>
          </p:txBody>
        </p:sp>
        <p:cxnSp>
          <p:nvCxnSpPr>
            <p:cNvPr id="27" name="rule"/>
            <p:cNvCxnSpPr/>
            <p:nvPr/>
          </p:nvCxnSpPr>
          <p:spPr>
            <a:xfrm>
              <a:off x="548640" y="4233837"/>
              <a:ext cx="11094720" cy="0"/>
            </a:xfrm>
            <a:prstGeom prst="line">
              <a:avLst/>
            </a:prstGeom>
            <a:ln w="9525">
              <a:solidFill>
                <a:srgbClr val="9CA3AF"/>
              </a:solidFill>
            </a:ln>
          </p:spPr>
          <p:style>
            <a:lnRef idx="2">
              <a:schemeClr val="accent1"/>
            </a:lnRef>
            <a:fillRef idx="0">
              <a:schemeClr val="accent1"/>
            </a:fillRef>
            <a:effectRef idx="1">
              <a:schemeClr val="accent1"/>
            </a:effectRef>
            <a:fontRef idx="minor">
              <a:schemeClr val="tx1"/>
            </a:fontRef>
          </p:style>
        </p:cxnSp>
        <p:sp>
          <p:nvSpPr>
            <p:cNvPr id="28" name="tag"/>
            <p:cNvSpPr txBox="1"/>
            <p:nvPr/>
          </p:nvSpPr>
          <p:spPr>
            <a:xfrm>
              <a:off x="548640" y="4297845"/>
              <a:ext cx="1040130" cy="502467"/>
            </a:xfrm>
            <a:prstGeom prst="rect">
              <a:avLst/>
            </a:prstGeom>
            <a:noFill/>
          </p:spPr>
          <p:txBody>
            <a:bodyPr wrap="none" anchor="ctr" lIns="0" tIns="0" rIns="0" bIns="0">
              <a:noAutofit/>
            </a:bodyPr>
            <a:lstStyle/>
            <a:p>
              <a:pPr algn="l"/>
              <a:r>
                <a:rPr sz="2000" b="0" i="0" lang="en-GB">
                  <a:solidFill>
                    <a:srgbClr val="455A64"/>
                  </a:solidFill>
                  <a:latin typeface="Fira Sans"/>
                </a:rPr>
                <a:t>NumPy</a:t>
              </a:r>
            </a:p>
          </p:txBody>
        </p:sp>
        <p:sp>
          <p:nvSpPr>
            <p:cNvPr id="29" name="code"/>
            <p:cNvSpPr txBox="1"/>
            <p:nvPr/>
          </p:nvSpPr>
          <p:spPr>
            <a:xfrm>
              <a:off x="1588770" y="4297845"/>
              <a:ext cx="5562600" cy="5024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h = np.abs(a*x + b*y + c*z + d)</a:t>
              </a:r>
            </a:p>
          </p:txBody>
        </p:sp>
        <p:sp>
          <p:nvSpPr>
            <p:cNvPr id="30" name="bar native"/>
            <p:cNvSpPr/>
            <p:nvPr/>
          </p:nvSpPr>
          <p:spPr>
            <a:xfrm>
              <a:off x="7151370" y="4380141"/>
              <a:ext cx="14674" cy="337875"/>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hare"/>
            <p:cNvSpPr txBox="1"/>
            <p:nvPr/>
          </p:nvSpPr>
          <p:spPr>
            <a:xfrm>
              <a:off x="7276975" y="4297845"/>
              <a:ext cx="986688" cy="502467"/>
            </a:xfrm>
            <a:prstGeom prst="rect">
              <a:avLst/>
            </a:prstGeom>
            <a:noFill/>
          </p:spPr>
          <p:txBody>
            <a:bodyPr wrap="none" anchor="ctr" lIns="0" tIns="0" rIns="0" bIns="0">
              <a:noAutofit/>
            </a:bodyPr>
            <a:lstStyle/>
            <a:p>
              <a:pPr algn="l"/>
              <a:r>
                <a:rPr sz="2800" b="1" i="0" lang="en-GB">
                  <a:solidFill>
                    <a:srgbClr val="2B6797"/>
                  </a:solidFill>
                  <a:latin typeface="Fira Sans"/>
                </a:rPr>
                <a:t>0.7 %</a:t>
              </a:r>
            </a:p>
          </p:txBody>
        </p:sp>
        <p:sp>
          <p:nvSpPr>
            <p:cNvPr id="32" name="time"/>
            <p:cNvSpPr txBox="1"/>
            <p:nvPr/>
          </p:nvSpPr>
          <p:spPr>
            <a:xfrm>
              <a:off x="8309383" y="4297845"/>
              <a:ext cx="962558" cy="502467"/>
            </a:xfrm>
            <a:prstGeom prst="rect">
              <a:avLst/>
            </a:prstGeom>
            <a:noFill/>
          </p:spPr>
          <p:txBody>
            <a:bodyPr wrap="none" anchor="ctr" lIns="0" tIns="0" rIns="0" bIns="0">
              <a:noAutofit/>
            </a:bodyPr>
            <a:lstStyle/>
            <a:p>
              <a:pPr algn="l"/>
              <a:r>
                <a:rPr sz="2400" b="0" i="0" lang="en-GB">
                  <a:solidFill>
                    <a:srgbClr val="455A64"/>
                  </a:solidFill>
                  <a:latin typeface="Fira Sans"/>
                </a:rPr>
                <a:t>79 ms</a:t>
              </a:r>
            </a:p>
          </p:txBody>
        </p:sp>
      </p:grpSp>
      <p:sp>
        <p:nvSpPr>
          <p:cNvPr id="8" name="Conditions"/>
          <p:cNvSpPr txBox="1"/>
          <p:nvPr/>
        </p:nvSpPr>
        <p:spPr>
          <a:xfrm>
            <a:off x="548640" y="5668992"/>
            <a:ext cx="11094720" cy="54864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Scalene 2.3.0 (--cpu-only, a sample every 1 ms); 722 961 points, both versions 30 times per run, median of 3 runs; AHN5 crop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Shares are of the whole run, imports and reading the file included; times are share × the 11.9 s run. Full: results/profile_scalene.json.</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Will free-threaded Python save my loop?</a:t>
            </a:r>
          </a:p>
        </p:txBody>
      </p:sp>
      <p:graphicFrame>
        <p:nvGraphicFramePr>
          <p:cNvPr id="7" name="chart_time" descr="Column chart on a logarithmic time axis, on the free-threaded build: the loop on one thread takes 336 ms; the same loop split over 8 threads takes 61 ms; one NumPy expression on one thread takes 2.3 ms. With the GIL, the 8 threads take 347 ms."/>
          <p:cNvGraphicFramePr>
            <a:graphicFrameLocks noGrp="1"/>
          </p:cNvGraphicFramePr>
          <p:nvPr/>
        </p:nvGraphicFramePr>
        <p:xfrm>
          <a:off x="6619722" y="548640"/>
          <a:ext cx="5023638" cy="5668992"/>
        </p:xfrm>
        <a:graphic>
          <a:graphicData uri="http://schemas.openxmlformats.org/drawingml/2006/chart">
            <c:chart xmlns:c="http://schemas.openxmlformats.org/drawingml/2006/chart" r:id="rId2"/>
          </a:graphicData>
        </a:graphic>
      </p:graphicFrame>
      <p:sp>
        <p:nvSpPr>
          <p:cNvPr id="8" name="Hero"/>
          <p:cNvSpPr txBox="1"/>
          <p:nvPr/>
        </p:nvSpPr>
        <p:spPr>
          <a:xfrm>
            <a:off x="548640" y="1965960"/>
            <a:ext cx="5613882" cy="1219200"/>
          </a:xfrm>
          <a:prstGeom prst="rect">
            <a:avLst/>
          </a:prstGeom>
          <a:noFill/>
        </p:spPr>
        <p:txBody>
          <a:bodyPr wrap="none" anchor="t" lIns="0" tIns="0" rIns="0" bIns="0">
            <a:noAutofit/>
          </a:bodyPr>
          <a:lstStyle/>
          <a:p>
            <a:pPr marL="0" indent="0" algn="l">
              <a:spcBef>
                <a:spcPts val="0"/>
              </a:spcBef>
              <a:spcAft>
                <a:spcPts val="0"/>
              </a:spcAft>
              <a:buNone/>
            </a:pPr>
            <a:r>
              <a:rPr sz="8000" lang="en-GB">
                <a:solidFill>
                  <a:srgbClr val="2B6797"/>
                </a:solidFill>
                <a:latin typeface="Fira Sans SemiBold"/>
              </a:rPr>
              <a:t>5.5×</a:t>
            </a:r>
            <a:r>
              <a:rPr sz="2000" lang="en-GB">
                <a:solidFill>
                  <a:srgbClr val="263238"/>
                </a:solidFill>
                <a:latin typeface="+mn-lt"/>
              </a:rPr>
              <a:t> faster on 8 free threads</a:t>
            </a:r>
            <a:endParaRPr lang="en-GB" sz="8000"/>
          </a:p>
        </p:txBody>
      </p:sp>
      <p:sp>
        <p:nvSpPr>
          <p:cNvPr id="10" name="Support"/>
          <p:cNvSpPr txBox="1"/>
          <p:nvPr/>
        </p:nvSpPr>
        <p:spPr>
          <a:xfrm>
            <a:off x="548640" y="4876512"/>
            <a:ext cx="5613882" cy="6096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For this loop, GIL threads are slower; one NumPy call is 27× faster.</a:t>
            </a:r>
            <a:endParaRPr lang="en-GB" sz="2000"/>
          </a:p>
        </p:txBody>
      </p:sp>
      <p:sp>
        <p:nvSpPr>
          <p:cNvPr id="9" name="Conditions"/>
          <p:cNvSpPr txBox="1"/>
          <p:nvPr/>
        </p:nvSpPr>
        <p:spPr>
          <a:xfrm>
            <a:off x="548640" y="5486112"/>
            <a:ext cx="5613882" cy="73152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CPython 3.14.7 free-threaded and 3.14.7, NumPy 2.5.4; 722 961 points, median of 7 runs; AHN5 crop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results/bench_freethreaded.json.</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Loading this area's AHN file outgrows 32 GiB</a:t>
            </a:r>
          </a:p>
        </p:txBody>
      </p:sp>
      <p:graphicFrame>
        <p:nvGraphicFramePr>
          <p:cNvPr id="8" name="chart_memory" descr="Horizontal bar chart in gibibytes for one 5 by 6.25 km AHN5 file with 926 203 338 points: a reference bar for 32 GiB of RAM, then LAS records at 25.9 GiB, plus a float64 copy of the coordinates at 46.6 GiB, and our load and voxel downsampling steps (slides 12 and 13), all arrays kept, at 74.2 GiB; a dashed line continues the end of the 32 GiB bar down across the data bars; the three data bars are computed, not run; a last, short bar shows the peak of the chunked approach, 0.8 GiB, measured on the 1 km file."/>
          <p:cNvGraphicFramePr>
            <a:graphicFrameLocks noGrp="1"/>
          </p:cNvGraphicFramePr>
          <p:nvPr/>
        </p:nvGraphicFramePr>
        <p:xfrm>
          <a:off x="548640" y="548640"/>
          <a:ext cx="5023638" cy="5166072"/>
        </p:xfrm>
        <a:graphic>
          <a:graphicData uri="http://schemas.openxmlformats.org/drawingml/2006/chart">
            <c:chart xmlns:c="http://schemas.openxmlformats.org/drawingml/2006/chart" r:id="rId2"/>
          </a:graphicData>
        </a:graphic>
      </p:graphicFrame>
      <p:sp>
        <p:nvSpPr>
          <p:cNvPr id="9" name="Over the limit 2">
            <a:extLst>
              <a:ext uri="{C183D7F6-B498-43B3-948B-1728B52AA6E4}">
                <adec:decorative xmlns:adec="http://schemas.microsoft.com/office/drawing/2017/decorative" val="1"/>
              </a:ext>
            </a:extLst>
          </p:cNvPr>
          <p:cNvSpPr/>
          <p:nvPr/>
        </p:nvSpPr>
        <p:spPr>
          <a:xfrm>
            <a:off x="3589789" y="2789646"/>
            <a:ext cx="325434" cy="68405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er the limit 3">
            <a:extLst>
              <a:ext uri="{C183D7F6-B498-43B3-948B-1728B52AA6E4}">
                <adec:decorative xmlns:adec="http://schemas.microsoft.com/office/drawing/2017/decorative" val="1"/>
              </a:ext>
            </a:extLst>
          </p:cNvPr>
          <p:cNvSpPr/>
          <p:nvPr/>
        </p:nvSpPr>
        <p:spPr>
          <a:xfrm>
            <a:off x="3589789" y="3781532"/>
            <a:ext cx="942926" cy="68405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Threshold line 1">
            <a:extLst>
              <a:ext uri="{C183D7F6-B498-43B3-948B-1728B52AA6E4}">
                <adec:decorative xmlns:adec="http://schemas.microsoft.com/office/drawing/2017/decorative" val="1"/>
              </a:ext>
            </a:extLst>
          </p:cNvPr>
          <p:cNvCxnSpPr/>
          <p:nvPr/>
        </p:nvCxnSpPr>
        <p:spPr>
          <a:xfrm>
            <a:off x="3589789" y="651961"/>
            <a:ext cx="0" cy="99050"/>
          </a:xfrm>
          <a:prstGeom prst="line">
            <a:avLst/>
          </a:prstGeom>
          <a:ln w="38100">
            <a:solidFill>
              <a:srgbClr val="1C325B"/>
            </a:solidFill>
            <a:prstDash val="dash"/>
          </a:ln>
        </p:spPr>
        <p:style>
          <a:lnRef idx="2">
            <a:schemeClr val="accent1"/>
          </a:lnRef>
          <a:fillRef idx="0">
            <a:schemeClr val="accent1"/>
          </a:fillRef>
          <a:effectRef idx="1">
            <a:schemeClr val="accent1"/>
          </a:effectRef>
          <a:fontRef idx="minor">
            <a:schemeClr val="tx1"/>
          </a:fontRef>
        </p:style>
      </p:cxnSp>
      <p:cxnSp>
        <p:nvCxnSpPr>
          <p:cNvPr id="12" name="Threshold line 2">
            <a:extLst>
              <a:ext uri="{C183D7F6-B498-43B3-948B-1728B52AA6E4}">
                <adec:decorative xmlns:adec="http://schemas.microsoft.com/office/drawing/2017/decorative" val="1"/>
              </a:ext>
            </a:extLst>
          </p:cNvPr>
          <p:cNvCxnSpPr/>
          <p:nvPr/>
        </p:nvCxnSpPr>
        <p:spPr>
          <a:xfrm>
            <a:off x="3589789" y="1489934"/>
            <a:ext cx="0" cy="252963"/>
          </a:xfrm>
          <a:prstGeom prst="line">
            <a:avLst/>
          </a:prstGeom>
          <a:ln w="38100">
            <a:solidFill>
              <a:srgbClr val="1C325B"/>
            </a:solidFill>
            <a:prstDash val="dash"/>
          </a:ln>
        </p:spPr>
        <p:style>
          <a:lnRef idx="2">
            <a:schemeClr val="accent1"/>
          </a:lnRef>
          <a:fillRef idx="0">
            <a:schemeClr val="accent1"/>
          </a:fillRef>
          <a:effectRef idx="1">
            <a:schemeClr val="accent1"/>
          </a:effectRef>
          <a:fontRef idx="minor">
            <a:schemeClr val="tx1"/>
          </a:fontRef>
        </p:style>
      </p:cxnSp>
      <p:cxnSp>
        <p:nvCxnSpPr>
          <p:cNvPr id="13" name="Threshold line 3">
            <a:extLst>
              <a:ext uri="{C183D7F6-B498-43B3-948B-1728B52AA6E4}">
                <adec:decorative xmlns:adec="http://schemas.microsoft.com/office/drawing/2017/decorative" val="1"/>
              </a:ext>
            </a:extLst>
          </p:cNvPr>
          <p:cNvCxnSpPr/>
          <p:nvPr/>
        </p:nvCxnSpPr>
        <p:spPr>
          <a:xfrm>
            <a:off x="3589789" y="2536684"/>
            <a:ext cx="0" cy="2181870"/>
          </a:xfrm>
          <a:prstGeom prst="line">
            <a:avLst/>
          </a:prstGeom>
          <a:ln w="38100">
            <a:solidFill>
              <a:srgbClr val="1C325B"/>
            </a:solidFill>
            <a:prstDash val="dash"/>
          </a:ln>
        </p:spPr>
        <p:style>
          <a:lnRef idx="2">
            <a:schemeClr val="accent1"/>
          </a:lnRef>
          <a:fillRef idx="0">
            <a:schemeClr val="accent1"/>
          </a:fillRef>
          <a:effectRef idx="1">
            <a:schemeClr val="accent1"/>
          </a:effectRef>
          <a:fontRef idx="minor">
            <a:schemeClr val="tx1"/>
          </a:fontRef>
        </p:style>
      </p:cxnSp>
      <p:cxnSp>
        <p:nvCxnSpPr>
          <p:cNvPr id="14" name="Threshold line 4">
            <a:extLst>
              <a:ext uri="{C183D7F6-B498-43B3-948B-1728B52AA6E4}">
                <adec:decorative xmlns:adec="http://schemas.microsoft.com/office/drawing/2017/decorative" val="1"/>
              </a:ext>
            </a:extLst>
          </p:cNvPr>
          <p:cNvCxnSpPr/>
          <p:nvPr/>
        </p:nvCxnSpPr>
        <p:spPr>
          <a:xfrm>
            <a:off x="3589789" y="5512341"/>
            <a:ext cx="0" cy="99050"/>
          </a:xfrm>
          <a:prstGeom prst="line">
            <a:avLst/>
          </a:prstGeom>
          <a:ln w="38100">
            <a:solidFill>
              <a:srgbClr val="1C325B"/>
            </a:solidFill>
            <a:prstDash val="dash"/>
          </a:ln>
        </p:spPr>
        <p:style>
          <a:lnRef idx="2">
            <a:schemeClr val="accent1"/>
          </a:lnRef>
          <a:fillRef idx="0">
            <a:schemeClr val="accent1"/>
          </a:fillRef>
          <a:effectRef idx="1">
            <a:schemeClr val="accent1"/>
          </a:effectRef>
          <a:fontRef idx="minor">
            <a:schemeClr val="tx1"/>
          </a:fontRef>
        </p:style>
      </p:cxnSp>
      <p:sp>
        <p:nvSpPr>
          <p:cNvPr id="17" name="Note box">
            <a:extLst>
              <a:ext uri="{C183D7F6-B498-43B3-948B-1728B52AA6E4}">
                <adec:decorative xmlns:adec="http://schemas.microsoft.com/office/drawing/2017/decorative" val="1"/>
              </a:ext>
            </a:extLst>
          </p:cNvPr>
          <p:cNvSpPr/>
          <p:nvPr/>
        </p:nvSpPr>
        <p:spPr>
          <a:xfrm>
            <a:off x="6029478" y="3855720"/>
            <a:ext cx="5613882" cy="1243584"/>
          </a:xfrm>
          <a:prstGeom prst="rect">
            <a:avLst/>
          </a:prstGeom>
          <a:solidFill>
            <a:srgbClr val="DF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ote"/>
          <p:cNvSpPr txBox="1"/>
          <p:nvPr/>
        </p:nvSpPr>
        <p:spPr>
          <a:xfrm>
            <a:off x="6166638" y="3928872"/>
            <a:ext cx="5339562" cy="109728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263238"/>
                </a:solidFill>
                <a:latin typeface="+mn-lt"/>
              </a:rPr>
              <a:t>Load + voxels only. Retained estimate excludes temporary allocations; peak extrapolation: 133.1 GiB. Chunked peak measured on a different, smaller file.</a:t>
            </a:r>
            <a:endParaRPr lang="en-GB" sz="1800"/>
          </a:p>
        </p:txBody>
      </p:sp>
      <p:sp>
        <p:nvSpPr>
          <p:cNvPr id="19" name="Machine line"/>
          <p:cNvSpPr txBox="1"/>
          <p:nvPr/>
        </p:nvSpPr>
        <p:spPr>
          <a:xfrm>
            <a:off x="6029478" y="5373624"/>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455A64"/>
                </a:solidFill>
                <a:latin typeface="+mn-lt"/>
              </a:rPr>
              <a:t>Stream chunks to fit within RAM.</a:t>
            </a:r>
            <a:endParaRPr lang="en-GB" sz="2000"/>
          </a:p>
        </p:txBody>
      </p:sp>
      <p:sp>
        <p:nvSpPr>
          <p:cNvPr id="15" name="Hero"/>
          <p:cNvSpPr txBox="1"/>
          <p:nvPr/>
        </p:nvSpPr>
        <p:spPr>
          <a:xfrm>
            <a:off x="6029478" y="1965960"/>
            <a:ext cx="5613882" cy="1219200"/>
          </a:xfrm>
          <a:prstGeom prst="rect">
            <a:avLst/>
          </a:prstGeom>
          <a:noFill/>
        </p:spPr>
        <p:txBody>
          <a:bodyPr wrap="none" anchor="t" lIns="0" tIns="0" rIns="0" bIns="0">
            <a:noAutofit/>
          </a:bodyPr>
          <a:lstStyle/>
          <a:p>
            <a:pPr marL="0" indent="0" algn="l">
              <a:spcBef>
                <a:spcPts val="0"/>
              </a:spcBef>
              <a:spcAft>
                <a:spcPts val="0"/>
              </a:spcAft>
              <a:buNone/>
            </a:pPr>
            <a:r>
              <a:rPr sz="8000" lang="en-GB">
                <a:solidFill>
                  <a:srgbClr val="2B6797"/>
                </a:solidFill>
                <a:latin typeface="Fira Sans SemiBold"/>
              </a:rPr>
              <a:t>86 B</a:t>
            </a:r>
            <a:r>
              <a:rPr sz="2000" lang="en-GB">
                <a:solidFill>
                  <a:srgbClr val="263238"/>
                </a:solidFill>
                <a:latin typeface="+mn-lt"/>
              </a:rPr>
              <a:t> retained per input point</a:t>
            </a:r>
            <a:endParaRPr lang="en-GB" sz="8000"/>
          </a:p>
        </p:txBody>
      </p:sp>
      <p:sp>
        <p:nvSpPr>
          <p:cNvPr id="16" name="Support"/>
          <p:cNvSpPr txBox="1"/>
          <p:nvPr/>
        </p:nvSpPr>
        <p:spPr>
          <a:xfrm>
            <a:off x="6029478" y="341376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926 203 338 points × ≈86 B each.</a:t>
            </a:r>
            <a:endParaRPr lang="en-GB" sz="2000"/>
          </a:p>
        </p:txBody>
      </p:sp>
      <p:sp>
        <p:nvSpPr>
          <p:cNvPr id="7" name="Conditions"/>
          <p:cNvSpPr txBox="1"/>
          <p:nvPr/>
        </p:nvSpPr>
        <p:spPr>
          <a:xfrm>
            <a:off x="548640" y="5668992"/>
            <a:ext cx="11094720" cy="54864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21 013 926 points, median of 3 runs, each in a fresh process; AHN5 1 km file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 1 GiB = 2³⁰ B. Full: results/memory.json.</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Take the four rules home</a:t>
            </a:r>
          </a:p>
        </p:txBody>
      </p:sp>
      <p:grpSp>
        <p:nvGrpSpPr>
          <p:cNvPr id="3" name="Rules of thumb" descr="The four rules of thumb again, each with its evidence from the talk. Think in arrays, not points: 722 961 by 3, passed on as views. Look before you compute: 61 poles on the map, 3 found. Make it small first: 3.0 GiB to 0.8 GiB peak memory. Let compiled code loop: 130× faster than a loop over rows."/>
          <p:cNvGrpSpPr/>
          <p:nvPr/>
        </p:nvGrpSpPr>
        <p:grpSpPr>
          <a:xfrm>
            <a:off x="548640" y="1600200"/>
            <a:ext cx="11094720" cy="4480272"/>
            <a:chOff x="548640" y="1600200"/>
            <a:chExt cx="11094720" cy="4480272"/>
          </a:xfrm>
        </p:grpSpPr>
        <p:sp>
          <p:nvSpPr>
            <p:cNvPr id="6" name="rule tile 1"/>
            <p:cNvSpPr/>
            <p:nvPr/>
          </p:nvSpPr>
          <p:spPr>
            <a:xfrm>
              <a:off x="54864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number 1"/>
            <p:cNvSpPr/>
            <p:nvPr/>
          </p:nvSpPr>
          <p:spPr>
            <a:xfrm>
              <a:off x="77724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1</a:t>
              </a:r>
            </a:p>
          </p:txBody>
        </p:sp>
        <p:sp>
          <p:nvSpPr>
            <p:cNvPr id="8" name="rule head 1"/>
            <p:cNvSpPr txBox="1"/>
            <p:nvPr/>
          </p:nvSpPr>
          <p:spPr>
            <a:xfrm>
              <a:off x="1517904" y="1801368"/>
              <a:ext cx="4120896" cy="853440"/>
            </a:xfrm>
            <a:prstGeom prst="rect">
              <a:avLst/>
            </a:prstGeom>
            <a:noFill/>
          </p:spPr>
          <p:txBody>
            <a:bodyPr wrap="none" anchor="t" lIns="0" tIns="0" rIns="0" bIns="0">
              <a:noAutofit/>
            </a:bodyPr>
            <a:lstStyle/>
            <a:p>
              <a:pPr algn="l"/>
              <a:r>
                <a:rPr sz="2800" b="0" i="0" lang="en-GB">
                  <a:solidFill>
                    <a:srgbClr val="1C325B"/>
                  </a:solidFill>
                  <a:latin typeface="Fira Sans SemiBold"/>
                </a:rPr>
                <a:t>Think in arrays, not</a:t>
              </a:r>
            </a:p>
            <a:p>
              <a:pPr algn="l"/>
              <a:r>
                <a:rPr sz="2800" b="0" i="0" lang="en-GB">
                  <a:solidFill>
                    <a:srgbClr val="1C325B"/>
                  </a:solidFill>
                  <a:latin typeface="Fira Sans SemiBold"/>
                </a:rPr>
                <a:t>points</a:t>
              </a:r>
            </a:p>
          </p:txBody>
        </p:sp>
        <p:sp>
          <p:nvSpPr>
            <p:cNvPr id="9" name="rule text 1"/>
            <p:cNvSpPr txBox="1"/>
            <p:nvPr/>
          </p:nvSpPr>
          <p:spPr>
            <a:xfrm>
              <a:off x="1517904" y="2791968"/>
              <a:ext cx="4120896" cy="728328"/>
            </a:xfrm>
            <a:prstGeom prst="rect">
              <a:avLst/>
            </a:prstGeom>
            <a:noFill/>
          </p:spPr>
          <p:txBody>
            <a:bodyPr wrap="square" anchor="t" lIns="0" tIns="0" rIns="0" bIns="0">
              <a:noAutofit/>
            </a:bodyPr>
            <a:lstStyle/>
            <a:p>
              <a:pPr algn="l"/>
              <a:r>
                <a:rPr sz="2400" b="0" i="0" lang="en-GB">
                  <a:solidFill>
                    <a:srgbClr val="2B6797"/>
                  </a:solidFill>
                  <a:latin typeface="Fira Sans SemiBold"/>
                </a:rPr>
                <a:t>722 961 × 3, as views</a:t>
              </a:r>
            </a:p>
            <a:p>
              <a:pPr algn="l">
                <a:spcBef>
                  <a:spcPts val="600"/>
                </a:spcBef>
              </a:pPr>
              <a:r>
                <a:rPr sz="2000" b="0" i="0" lang="en-GB">
                  <a:solidFill>
                    <a:srgbClr val="455A64"/>
                  </a:solidFill>
                  <a:latin typeface="Fira Sans"/>
                </a:rPr>
                <a:t>slides 6, 11</a:t>
              </a:r>
            </a:p>
          </p:txBody>
        </p:sp>
        <p:sp>
          <p:nvSpPr>
            <p:cNvPr id="10" name="rule tile 2"/>
            <p:cNvSpPr/>
            <p:nvPr/>
          </p:nvSpPr>
          <p:spPr>
            <a:xfrm>
              <a:off x="632460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le number 2"/>
            <p:cNvSpPr/>
            <p:nvPr/>
          </p:nvSpPr>
          <p:spPr>
            <a:xfrm>
              <a:off x="655320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2</a:t>
              </a:r>
            </a:p>
          </p:txBody>
        </p:sp>
        <p:sp>
          <p:nvSpPr>
            <p:cNvPr id="12" name="rule head 2"/>
            <p:cNvSpPr txBox="1"/>
            <p:nvPr/>
          </p:nvSpPr>
          <p:spPr>
            <a:xfrm>
              <a:off x="7293864" y="1801368"/>
              <a:ext cx="4120896" cy="853440"/>
            </a:xfrm>
            <a:prstGeom prst="rect">
              <a:avLst/>
            </a:prstGeom>
            <a:noFill/>
          </p:spPr>
          <p:txBody>
            <a:bodyPr wrap="none" anchor="t" lIns="0" tIns="0" rIns="0" bIns="0">
              <a:noAutofit/>
            </a:bodyPr>
            <a:lstStyle/>
            <a:p>
              <a:pPr algn="l"/>
              <a:r>
                <a:rPr sz="2800" b="0" i="0" lang="en-GB">
                  <a:solidFill>
                    <a:srgbClr val="1C325B"/>
                  </a:solidFill>
                  <a:latin typeface="Fira Sans SemiBold"/>
                </a:rPr>
                <a:t>Look before you</a:t>
              </a:r>
            </a:p>
            <a:p>
              <a:pPr algn="l"/>
              <a:r>
                <a:rPr sz="2800" b="0" i="0" lang="en-GB">
                  <a:solidFill>
                    <a:srgbClr val="1C325B"/>
                  </a:solidFill>
                  <a:latin typeface="Fira Sans SemiBold"/>
                </a:rPr>
                <a:t>compute</a:t>
              </a:r>
            </a:p>
          </p:txBody>
        </p:sp>
        <p:sp>
          <p:nvSpPr>
            <p:cNvPr id="13" name="rule text 2"/>
            <p:cNvSpPr txBox="1"/>
            <p:nvPr/>
          </p:nvSpPr>
          <p:spPr>
            <a:xfrm>
              <a:off x="7293864" y="2791968"/>
              <a:ext cx="4120896" cy="728328"/>
            </a:xfrm>
            <a:prstGeom prst="rect">
              <a:avLst/>
            </a:prstGeom>
            <a:noFill/>
          </p:spPr>
          <p:txBody>
            <a:bodyPr wrap="square" anchor="t" lIns="0" tIns="0" rIns="0" bIns="0">
              <a:noAutofit/>
            </a:bodyPr>
            <a:lstStyle/>
            <a:p>
              <a:pPr algn="l"/>
              <a:r>
                <a:rPr sz="2400" b="0" i="0" lang="en-GB">
                  <a:solidFill>
                    <a:srgbClr val="2B6797"/>
                  </a:solidFill>
                  <a:latin typeface="Fira Sans SemiBold"/>
                </a:rPr>
                <a:t>61 poles on the map, 3 found</a:t>
              </a:r>
            </a:p>
            <a:p>
              <a:pPr algn="l">
                <a:spcBef>
                  <a:spcPts val="600"/>
                </a:spcBef>
              </a:pPr>
              <a:r>
                <a:rPr sz="2000" b="0" i="0" lang="en-GB">
                  <a:solidFill>
                    <a:srgbClr val="455A64"/>
                  </a:solidFill>
                  <a:latin typeface="Fira Sans"/>
                </a:rPr>
                <a:t>slides 19, 26</a:t>
              </a:r>
            </a:p>
          </p:txBody>
        </p:sp>
        <p:sp>
          <p:nvSpPr>
            <p:cNvPr id="14" name="rule tile 3"/>
            <p:cNvSpPr/>
            <p:nvPr/>
          </p:nvSpPr>
          <p:spPr>
            <a:xfrm>
              <a:off x="54864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ule number 3"/>
            <p:cNvSpPr/>
            <p:nvPr/>
          </p:nvSpPr>
          <p:spPr>
            <a:xfrm>
              <a:off x="77724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3</a:t>
              </a:r>
            </a:p>
          </p:txBody>
        </p:sp>
        <p:sp>
          <p:nvSpPr>
            <p:cNvPr id="16" name="rule head 3"/>
            <p:cNvSpPr txBox="1"/>
            <p:nvPr/>
          </p:nvSpPr>
          <p:spPr>
            <a:xfrm>
              <a:off x="1517904" y="4248768"/>
              <a:ext cx="4120896" cy="426720"/>
            </a:xfrm>
            <a:prstGeom prst="rect">
              <a:avLst/>
            </a:prstGeom>
            <a:noFill/>
          </p:spPr>
          <p:txBody>
            <a:bodyPr wrap="none" anchor="t" lIns="0" tIns="0" rIns="0" bIns="0">
              <a:noAutofit/>
            </a:bodyPr>
            <a:lstStyle/>
            <a:p>
              <a:pPr algn="l"/>
              <a:r>
                <a:rPr sz="2800" b="0" i="0" lang="en-GB">
                  <a:solidFill>
                    <a:srgbClr val="1C325B"/>
                  </a:solidFill>
                  <a:latin typeface="Fira Sans SemiBold"/>
                </a:rPr>
                <a:t>Make it small first</a:t>
              </a:r>
            </a:p>
          </p:txBody>
        </p:sp>
        <p:sp>
          <p:nvSpPr>
            <p:cNvPr id="17" name="rule text 3"/>
            <p:cNvSpPr txBox="1"/>
            <p:nvPr/>
          </p:nvSpPr>
          <p:spPr>
            <a:xfrm>
              <a:off x="1517904" y="4855320"/>
              <a:ext cx="4120896" cy="1042272"/>
            </a:xfrm>
            <a:prstGeom prst="rect">
              <a:avLst/>
            </a:prstGeom>
            <a:noFill/>
          </p:spPr>
          <p:txBody>
            <a:bodyPr wrap="square" anchor="t" lIns="0" tIns="0" rIns="0" bIns="0">
              <a:noAutofit/>
            </a:bodyPr>
            <a:lstStyle/>
            <a:p>
              <a:pPr algn="l"/>
              <a:r>
                <a:rPr sz="2400" b="0" i="0" lang="en-GB">
                  <a:solidFill>
                    <a:srgbClr val="2B6797"/>
                  </a:solidFill>
                  <a:latin typeface="Fira Sans SemiBold"/>
                </a:rPr>
                <a:t>3.0 GiB → 0.8 GiB peak</a:t>
              </a:r>
            </a:p>
            <a:p>
              <a:pPr algn="l">
                <a:spcBef>
                  <a:spcPts val="600"/>
                </a:spcBef>
              </a:pPr>
              <a:r>
                <a:rPr sz="2000" b="0" i="0" lang="en-GB">
                  <a:solidFill>
                    <a:srgbClr val="455A64"/>
                  </a:solidFill>
                  <a:latin typeface="Fira Sans"/>
                </a:rPr>
                <a:t>slides 13, 26</a:t>
              </a:r>
            </a:p>
          </p:txBody>
        </p:sp>
        <p:sp>
          <p:nvSpPr>
            <p:cNvPr id="18" name="rule tile 4"/>
            <p:cNvSpPr/>
            <p:nvPr/>
          </p:nvSpPr>
          <p:spPr>
            <a:xfrm>
              <a:off x="632460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ule number 4"/>
            <p:cNvSpPr/>
            <p:nvPr/>
          </p:nvSpPr>
          <p:spPr>
            <a:xfrm>
              <a:off x="655320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4</a:t>
              </a:r>
            </a:p>
          </p:txBody>
        </p:sp>
        <p:sp>
          <p:nvSpPr>
            <p:cNvPr id="20" name="rule head 4"/>
            <p:cNvSpPr txBox="1"/>
            <p:nvPr/>
          </p:nvSpPr>
          <p:spPr>
            <a:xfrm>
              <a:off x="7293864" y="4248768"/>
              <a:ext cx="4120896" cy="426720"/>
            </a:xfrm>
            <a:prstGeom prst="rect">
              <a:avLst/>
            </a:prstGeom>
            <a:noFill/>
          </p:spPr>
          <p:txBody>
            <a:bodyPr wrap="none" anchor="t" lIns="0" tIns="0" rIns="0" bIns="0">
              <a:noAutofit/>
            </a:bodyPr>
            <a:lstStyle/>
            <a:p>
              <a:pPr algn="l"/>
              <a:r>
                <a:rPr sz="2800" b="0" i="0" lang="en-GB">
                  <a:solidFill>
                    <a:srgbClr val="1C325B"/>
                  </a:solidFill>
                  <a:latin typeface="Fira Sans SemiBold"/>
                </a:rPr>
                <a:t>Let compiled code loop</a:t>
              </a:r>
            </a:p>
          </p:txBody>
        </p:sp>
        <p:sp>
          <p:nvSpPr>
            <p:cNvPr id="21" name="rule text 4"/>
            <p:cNvSpPr txBox="1"/>
            <p:nvPr/>
          </p:nvSpPr>
          <p:spPr>
            <a:xfrm>
              <a:off x="7293864" y="4855320"/>
              <a:ext cx="4120896" cy="1042272"/>
            </a:xfrm>
            <a:prstGeom prst="rect">
              <a:avLst/>
            </a:prstGeom>
            <a:noFill/>
          </p:spPr>
          <p:txBody>
            <a:bodyPr wrap="square" anchor="t" lIns="0" tIns="0" rIns="0" bIns="0">
              <a:noAutofit/>
            </a:bodyPr>
            <a:lstStyle/>
            <a:p>
              <a:pPr algn="l"/>
              <a:r>
                <a:rPr sz="2400" b="0" i="0" lang="en-GB">
                  <a:solidFill>
                    <a:srgbClr val="2B6797"/>
                  </a:solidFill>
                  <a:latin typeface="Fira Sans SemiBold"/>
                </a:rPr>
                <a:t>130× faster than a loop</a:t>
              </a:r>
            </a:p>
            <a:p>
              <a:pPr algn="l">
                <a:spcBef>
                  <a:spcPts val="600"/>
                </a:spcBef>
              </a:pPr>
              <a:r>
                <a:rPr sz="2000" b="0" i="0" lang="en-GB">
                  <a:solidFill>
                    <a:srgbClr val="455A64"/>
                  </a:solidFill>
                  <a:latin typeface="Fira Sans"/>
                </a:rPr>
                <a:t>slides 21 to 25</a:t>
              </a:r>
            </a:p>
          </p:txBody>
        </p:sp>
      </p:gr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Thank you</a:t>
            </a:r>
          </a:p>
        </p:txBody>
      </p:sp>
      <p:sp>
        <p:nvSpPr>
          <p:cNvPr id="3" name="Contact"/>
          <p:cNvSpPr>
            <a:spLocks noGrp="1"/>
          </p:cNvSpPr>
          <p:nvPr>
            <p:ph type="body" idx="15"/>
          </p:nvPr>
        </p:nvSpPr>
        <p:spPr/>
        <p:txBody>
          <a:bodyPr/>
          <a:lstStyle/>
          <a:p>
            <a:pPr marL="0" indent="0" algn="l">
              <a:spcBef>
                <a:spcPts val="0"/>
              </a:spcBef>
              <a:spcAft>
                <a:spcPts val="400"/>
              </a:spcAft>
              <a:buNone/>
            </a:pPr>
            <a:r>
              <a:rPr sz="2400" b="1" lang="en-GB">
                <a:solidFill>
                  <a:srgbClr val="FFFFFF"/>
                </a:solidFill>
                <a:latin typeface="+mn-lt"/>
              </a:rPr>
              <a:t>Sergio Peral</a:t>
            </a:r>
            <a:endParaRPr lang="en-GB" sz="2400"/>
          </a:p>
          <a:p>
            <a:pPr marL="0" indent="0" algn="l">
              <a:spcBef>
                <a:spcPts val="0"/>
              </a:spcBef>
              <a:spcAft>
                <a:spcPts val="400"/>
              </a:spcAft>
              <a:buNone/>
            </a:pPr>
            <a:r>
              <a:rPr sz="2400" b="0" lang="en-GB">
                <a:solidFill>
                  <a:srgbClr val="FFFFFF"/>
                </a:solidFill>
                <a:latin typeface="+mn-lt"/>
              </a:rPr>
              <a:t>sergioperalgarijo99@gmail.com</a:t>
            </a:r>
            <a:endParaRPr lang="en-GB" sz="2400"/>
          </a:p>
          <a:p>
            <a:pPr marL="0" indent="0" algn="l">
              <a:spcBef>
                <a:spcPts val="0"/>
              </a:spcBef>
              <a:spcAft>
                <a:spcPts val="400"/>
              </a:spcAft>
              <a:buNone/>
            </a:pPr>
            <a:r>
              <a:rPr sz="2400" b="0" lang="en-GB">
                <a:solidFill>
                  <a:srgbClr val="FFFFFF"/>
                </a:solidFill>
                <a:latin typeface="+mn-lt"/>
              </a:rPr>
              <a:t>github.com/Sloppy1999</a:t>
            </a:r>
            <a:endParaRPr lang="en-GB" sz="2400"/>
          </a:p>
        </p:txBody>
      </p:sp>
      <p:pic>
        <p:nvPicPr>
          <p:cNvPr id="6" name="QR code" descr="QR code linking to https://github.com/Sloppy1999/pycon-nl-2026-3d-data-science"/>
          <p:cNvPicPr>
            <a:picLocks noGrp="1" noChangeAspect="1"/>
          </p:cNvPicPr>
          <p:nvPr>
            <p:ph type="pic" idx="17"/>
          </p:nvPr>
        </p:nvPicPr>
        <p:blipFill>
          <a:blip r:embed="rId2"/>
          <a:srcRect/>
          <a:stretch>
            <a:fillRect/>
          </a:stretch>
        </p:blipFill>
        <p:spPr/>
      </p:pic>
      <p:sp>
        <p:nvSpPr>
          <p:cNvPr id="7" name="Logo tile"/>
          <p:cNvSpPr/>
          <p:nvPr/>
        </p:nvSpPr>
        <p:spPr>
          <a:xfrm>
            <a:off x="10454640" y="548640"/>
            <a:ext cx="11887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Logo" descr="PyCon NL 2026 logo: the Python snakes filled with a Dutch canal house, tulips and a windmill"/>
          <p:cNvPicPr>
            <a:picLocks noChangeAspect="1"/>
          </p:cNvPicPr>
          <p:nvPr/>
        </p:nvPicPr>
        <p:blipFill>
          <a:blip r:embed="rId3"/>
          <a:stretch>
            <a:fillRect/>
          </a:stretch>
        </p:blipFill>
        <p:spPr>
          <a:xfrm>
            <a:off x="10509504" y="603504"/>
            <a:ext cx="1078992" cy="1078992"/>
          </a:xfrm>
          <a:prstGeom prst="rect">
            <a:avLst/>
          </a:prstGeom>
        </p:spPr>
      </p:pic>
      <p:sp>
        <p:nvSpPr>
          <p:cNvPr id="9" name="Callback"/>
          <p:cNvSpPr txBox="1"/>
          <p:nvPr/>
        </p:nvSpPr>
        <p:spPr>
          <a:xfrm>
            <a:off x="548640" y="1828800"/>
            <a:ext cx="8168640" cy="365760"/>
          </a:xfrm>
          <a:prstGeom prst="rect">
            <a:avLst/>
          </a:prstGeom>
          <a:noFill/>
        </p:spPr>
        <p:txBody>
          <a:bodyPr wrap="square" anchor="t" lIns="0" tIns="0" rIns="0" bIns="0">
            <a:noAutofit/>
          </a:bodyPr>
          <a:lstStyle/>
          <a:p>
            <a:pPr marL="0" indent="0" algn="l">
              <a:spcBef>
                <a:spcPts val="0"/>
              </a:spcBef>
              <a:spcAft>
                <a:spcPts val="0"/>
              </a:spcAft>
              <a:buNone/>
            </a:pPr>
            <a:r>
              <a:rPr sz="2400" b="0" lang="en-GB">
                <a:solidFill>
                  <a:srgbClr val="B1CAC5"/>
                </a:solidFill>
                <a:latin typeface="+mn-lt"/>
              </a:rPr>
              <a:t>To the Python community and to everyone here today.</a:t>
            </a:r>
            <a:endParaRPr lang="en-GB" sz="2400"/>
          </a:p>
        </p:txBody>
      </p:sp>
      <p:sp>
        <p:nvSpPr>
          <p:cNvPr id="4" name="Small print"/>
          <p:cNvSpPr>
            <a:spLocks noGrp="1"/>
          </p:cNvSpPr>
          <p:nvPr>
            <p:ph type="body" idx="19"/>
          </p:nvPr>
        </p:nvSpPr>
        <p:spPr/>
        <p:txBody>
          <a:bodyPr/>
          <a:lstStyle/>
          <a:p>
            <a:pPr marL="0" indent="0" algn="l">
              <a:spcBef>
                <a:spcPts val="0"/>
              </a:spcBef>
              <a:spcAft>
                <a:spcPts val="0"/>
              </a:spcAft>
              <a:buNone/>
            </a:pPr>
            <a:r>
              <a:rPr sz="1200" lang="en-GB">
                <a:solidFill>
                  <a:srgbClr val="B1CAC5"/>
                </a:solidFill>
                <a:latin typeface="+mn-lt"/>
              </a:rPr>
              <a:t>Data: AHN5, Het Waterschapshuis, </a:t>
            </a:r>
            <a:r>
              <a:rPr sz="1200" lang="en-GB">
                <a:solidFill>
                  <a:srgbClr val="B1CAC5"/>
                </a:solidFill>
                <a:latin typeface="+mn-lt"/>
                <a:hlinkClick r:id="rId4">
                  <a:extLst>
                    <a:ext uri="{A12FA001-AC4F-418D-AE19-62706E023703}">
                      <ahyp:hlinkClr xmlns:ahyp="http://schemas.microsoft.com/office/drawing/2018/hyperlinkcolor" val="tx"/>
                    </a:ext>
                  </a:extLst>
                </a:hlinkClick>
              </a:rPr>
              <a:t>CC BY 4.0</a:t>
            </a:r>
            <a:r>
              <a:rPr sz="1200" lang="en-GB">
                <a:solidFill>
                  <a:srgbClr val="B1CAC5"/>
                </a:solidFill>
                <a:latin typeface="+mn-lt"/>
              </a:rPr>
              <a:t>.</a:t>
            </a:r>
            <a:endParaRPr lang="en-GB" sz="1200"/>
          </a:p>
          <a:p>
            <a:pPr marL="0" indent="0" algn="l">
              <a:spcBef>
                <a:spcPts val="0"/>
              </a:spcBef>
              <a:spcAft>
                <a:spcPts val="0"/>
              </a:spcAft>
              <a:buNone/>
            </a:pPr>
            <a:r>
              <a:rPr sz="1200" lang="en-GB">
                <a:solidFill>
                  <a:srgbClr val="B1CAC5"/>
                </a:solidFill>
                <a:latin typeface="+mn-lt"/>
              </a:rPr>
              <a:t>Licence: </a:t>
            </a:r>
            <a:r>
              <a:rPr sz="1200" lang="en-GB">
                <a:solidFill>
                  <a:srgbClr val="B1CAC5"/>
                </a:solidFill>
                <a:latin typeface="+mn-lt"/>
                <a:hlinkClick r:id="rId4">
                  <a:extLst>
                    <a:ext uri="{A12FA001-AC4F-418D-AE19-62706E023703}">
                      <ahyp:hlinkClr xmlns:ahyp="http://schemas.microsoft.com/office/drawing/2018/hyperlinkcolor" val="tx"/>
                    </a:ext>
                  </a:extLst>
                </a:hlinkClick>
              </a:rPr>
              <a:t>creativecommons.org/licenses/by/4.0</a:t>
            </a:r>
            <a:endParaRPr lang="en-GB" sz="1200"/>
          </a:p>
        </p:txBody>
      </p:sp>
    </p:spTree>
  </p:cSld>
  <p:clrMapOvr>
    <a:overrideClrMapping bg1="lt1" tx1="dk1" bg2="lt2" tx2="dk2" accent1="accent1" accent2="accent2" accent3="accent3" accent4="accent4" accent5="accent5" accent6="accent6" hlink="accent2" folHlink="accent2"/>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PyCon NL 2026">
  <a:themeElements>
    <a:clrScheme name="PyCon NL 2026">
      <a:dk1>
        <a:srgbClr val="263238"/>
      </a:dk1>
      <a:lt1>
        <a:srgbClr val="FFFFFF"/>
      </a:lt1>
      <a:dk2>
        <a:srgbClr val="1C325B"/>
      </a:dk2>
      <a:lt2>
        <a:srgbClr val="E0E0E0"/>
      </a:lt2>
      <a:accent1>
        <a:srgbClr val="2B6797"/>
      </a:accent1>
      <a:accent2>
        <a:srgbClr val="B1CAC5"/>
      </a:accent2>
      <a:accent3>
        <a:srgbClr val="1C325B"/>
      </a:accent3>
      <a:accent4>
        <a:srgbClr val="455A64"/>
      </a:accent4>
      <a:accent5>
        <a:srgbClr val="9CA3AF"/>
      </a:accent5>
      <a:accent6>
        <a:srgbClr val="E0E0E0"/>
      </a:accent6>
      <a:hlink>
        <a:srgbClr val="2B6797"/>
      </a:hlink>
      <a:folHlink>
        <a:srgbClr val="2B6797"/>
      </a:folHlink>
    </a:clrScheme>
    <a:fontScheme name="PyCon NL 2026">
      <a:majorFont>
        <a:latin typeface="Fira Sans" panose="020B0503050000020004"/>
        <a:ea typeface=""/>
        <a:cs typeface=""/>
      </a:majorFont>
      <a:minorFont>
        <a:latin typeface="Fira Sans" panose="020B0503050000020004"/>
        <a:ea typeface=""/>
        <a:cs typeface=""/>
      </a:minorFont>
    </a:fontScheme>
    <a:fmtScheme name="PyCon NL 2026">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accent1"/>
        </a:solidFill>
        <a:ln>
          <a:noFill/>
        </a:ln>
      </a:spPr>
      <a:bodyPr rtlCol="0" anchor="ctr"/>
      <a:lstStyle>
        <a:defPPr algn="ctr">
          <a:defRPr lang="en-GB" sz="2000">
            <a:solidFill>
              <a:schemeClr val="lt1"/>
            </a:solidFill>
          </a:defRPr>
        </a:defPPr>
      </a:lstStyle>
      <a:style>
        <a:lnRef idx="0">
          <a:schemeClr val="accent1"/>
        </a:lnRef>
        <a:fillRef idx="1">
          <a:schemeClr val="accent1"/>
        </a:fillRef>
        <a:effectRef idx="0">
          <a:schemeClr val="accent1"/>
        </a:effectRef>
        <a:fontRef idx="minor">
          <a:schemeClr val="lt1"/>
        </a:fontRef>
      </a:style>
    </a:spDef>
    <a:lnDef>
      <a:spPr>
        <a:ln w="19050">
          <a:solidFill>
            <a:schemeClr val="accent4"/>
          </a:solidFill>
        </a:ln>
      </a:spPr>
      <a:bodyPr/>
      <a:lstStyle/>
      <a:style>
        <a:lnRef idx="1">
          <a:schemeClr val="accent4"/>
        </a:lnRef>
        <a:fillRef idx="0">
          <a:schemeClr val="accent4"/>
        </a:fillRef>
        <a:effectRef idx="0">
          <a:schemeClr val="accent4"/>
        </a:effectRef>
        <a:fontRef idx="minor">
          <a:schemeClr val="tx1"/>
        </a:fontRef>
      </a:style>
    </a:lnDef>
    <a:txDef>
      <a:spPr>
        <a:noFill/>
      </a:spPr>
      <a:bodyPr wrap="square" lIns="0" tIns="0" rIns="0" bIns="0" rtlCol="0">
        <a:spAutoFit/>
      </a:bodyPr>
      <a:lstStyle>
        <a:defPPr>
          <a:defRPr lang="en-GB" sz="2000" dirty="0">
            <a:solidFill>
              <a:schemeClr val="tx1"/>
            </a:solidFill>
          </a:defRPr>
        </a:defPPr>
      </a:lstStyle>
    </a:txDef>
  </a:objectDefaults>
  <a:extraClrSchemeLst/>
</a:theme>
</file>

<file path=ppt/theme/theme2.xml><?xml version="1.0" encoding="utf-8"?>
<a:theme xmlns:a="http://schemas.openxmlformats.org/drawingml/2006/main" name="PyCon NL 2026">
  <a:themeElements>
    <a:clrScheme name="PyCon NL 2026">
      <a:dk1>
        <a:srgbClr val="263238"/>
      </a:dk1>
      <a:lt1>
        <a:srgbClr val="FFFFFF"/>
      </a:lt1>
      <a:dk2>
        <a:srgbClr val="1C325B"/>
      </a:dk2>
      <a:lt2>
        <a:srgbClr val="E0E0E0"/>
      </a:lt2>
      <a:accent1>
        <a:srgbClr val="2B6797"/>
      </a:accent1>
      <a:accent2>
        <a:srgbClr val="B1CAC5"/>
      </a:accent2>
      <a:accent3>
        <a:srgbClr val="1C325B"/>
      </a:accent3>
      <a:accent4>
        <a:srgbClr val="455A64"/>
      </a:accent4>
      <a:accent5>
        <a:srgbClr val="9CA3AF"/>
      </a:accent5>
      <a:accent6>
        <a:srgbClr val="E0E0E0"/>
      </a:accent6>
      <a:hlink>
        <a:srgbClr val="2B6797"/>
      </a:hlink>
      <a:folHlink>
        <a:srgbClr val="2B6797"/>
      </a:folHlink>
    </a:clrScheme>
    <a:fontScheme name="PyCon NL 2026">
      <a:majorFont>
        <a:latin typeface="Fira Sans" panose="020B0503050000020004"/>
        <a:ea typeface=""/>
        <a:cs typeface=""/>
      </a:majorFont>
      <a:minorFont>
        <a:latin typeface="Fira Sans" panose="020B0503050000020004"/>
        <a:ea typeface=""/>
        <a:cs typeface=""/>
      </a:minorFont>
    </a:fontScheme>
    <a:fmtScheme name="PyCon NL 2026">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accent1"/>
        </a:solidFill>
        <a:ln>
          <a:noFill/>
        </a:ln>
      </a:spPr>
      <a:bodyPr rtlCol="0" anchor="ctr"/>
      <a:lstStyle>
        <a:defPPr algn="ctr">
          <a:defRPr lang="en-GB" sz="2000">
            <a:solidFill>
              <a:schemeClr val="lt1"/>
            </a:solidFill>
          </a:defRPr>
        </a:defPPr>
      </a:lstStyle>
      <a:style>
        <a:lnRef idx="0">
          <a:schemeClr val="accent1"/>
        </a:lnRef>
        <a:fillRef idx="1">
          <a:schemeClr val="accent1"/>
        </a:fillRef>
        <a:effectRef idx="0">
          <a:schemeClr val="accent1"/>
        </a:effectRef>
        <a:fontRef idx="minor">
          <a:schemeClr val="lt1"/>
        </a:fontRef>
      </a:style>
    </a:spDef>
    <a:lnDef>
      <a:spPr>
        <a:ln w="19050">
          <a:solidFill>
            <a:schemeClr val="accent4"/>
          </a:solidFill>
        </a:ln>
      </a:spPr>
      <a:bodyPr/>
      <a:lstStyle/>
      <a:style>
        <a:lnRef idx="1">
          <a:schemeClr val="accent4"/>
        </a:lnRef>
        <a:fillRef idx="0">
          <a:schemeClr val="accent4"/>
        </a:fillRef>
        <a:effectRef idx="0">
          <a:schemeClr val="accent4"/>
        </a:effectRef>
        <a:fontRef idx="minor">
          <a:schemeClr val="tx1"/>
        </a:fontRef>
      </a:style>
    </a:lnDef>
    <a:txDef>
      <a:spPr>
        <a:noFill/>
      </a:spPr>
      <a:bodyPr wrap="square" lIns="0" tIns="0" rIns="0" bIns="0" rtlCol="0">
        <a:spAutoFit/>
      </a:bodyPr>
      <a:lstStyle>
        <a:defPPr>
          <a:defRPr lang="en-GB" sz="2000" dirty="0">
            <a:solidFill>
              <a:schemeClr val="tx1"/>
            </a:solidFill>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42</Slides>
  <Notes>42</Notes>
  <HiddenSlides>14</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Data Science with Python</dc:title>
  <dc:creator>Sergio Peral</dc:creator>
  <cp:lastModifiedBy>Sergio Peral</cp:lastModifiedBy>
  <dc:language>en-GB</dc:language>
  <cp:revision>1</cp:revision>
  <dcterms:created xsi:type="dcterms:W3CDTF">2026-10-14T05:23:08Z</dcterms:created>
  <dcterms:modified xsi:type="dcterms:W3CDTF">2026-10-14T05:23:08Z</dcterms:modified>
</cp:coreProperties>
</file>