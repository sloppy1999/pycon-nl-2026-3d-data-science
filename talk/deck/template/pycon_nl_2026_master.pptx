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embedTrueTypeFonts="1">
  <p:sldMasterIdLst>
    <p:sldMasterId id="2147483648" r:id="rId1"/>
  </p:sldMasterIdLst>
  <p:notesMasterIdLst>
    <p:notesMasterId r:id="rId2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</p:sldIdLst>
  <p:sldSz cx="12192000" cy="6858000"/>
  <p:notesSz cx="6858000" cy="9144000"/>
  <p:defaultTextStyle>
    <a:defPPr>
      <a:defRPr lang="en-GB"/>
    </a:defPPr>
    <a:lvl1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lang="en-GB" sz="20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lang="en-GB" sz="2000" kern="1200">
        <a:solidFill>
          <a:schemeClr val="tx1"/>
        </a:solidFill>
        <a:latin typeface="+mn-lt"/>
        <a:ea typeface="+mn-ea"/>
        <a:cs typeface="+mn-cs"/>
      </a:defRPr>
    </a:lvl2pPr>
    <a:lvl3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lang="en-GB" sz="2000" kern="1200">
        <a:solidFill>
          <a:schemeClr val="tx1"/>
        </a:solidFill>
        <a:latin typeface="+mn-lt"/>
        <a:ea typeface="+mn-ea"/>
        <a:cs typeface="+mn-cs"/>
      </a:defRPr>
    </a:lvl3pPr>
    <a:lvl4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lang="en-GB" sz="200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lang="en-GB" sz="20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lang="en-GB" sz="2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lang="en-GB" sz="2000" kern="1200">
        <a:solidFill>
          <a:schemeClr val="tx1"/>
        </a:solidFill>
        <a:latin typeface="+mn-lt"/>
        <a:ea typeface="+mn-ea"/>
        <a:cs typeface="+mn-cs"/>
      </a:defRPr>
    </a:lvl7pPr>
    <a:lvl8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lang="en-GB" sz="2000" kern="1200">
        <a:solidFill>
          <a:schemeClr val="tx1"/>
        </a:solidFill>
        <a:latin typeface="+mn-lt"/>
        <a:ea typeface="+mn-ea"/>
        <a:cs typeface="+mn-cs"/>
      </a:defRPr>
    </a:lvl8pPr>
    <a:lvl9pPr marL="0" indent="0" algn="l" defTabSz="4572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lang="en-GB"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yout examples" id="{5E0C2B57-7A4C-4C55-9E5B-2026100300A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</p:sp>
      <p:sp>
        <p:nvSpPr>
          <p:cNvPr id="3" name="Note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GB" dirty="0"/>
              <a:t>Speaker notes: talk track, time, traceability</a:t>
            </a:r>
            <a:endParaRPr lang="en-GB" dirty="0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r"/>
            <a:fld id="{B6F15528-21DE-4FAA-801E-634DDDAF4B2B}" type="slidenum">
              <a:rPr lang="en-GB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 ftr="0"/>
  <p:notesStyle>
    <a:lvl1pPr marL="0" indent="0" algn="l" defTabSz="457200" rtl="0" eaLnBrk="1" latinLnBrk="0" hangingPunct="1">
      <a:lnSpc>
        <a:spcPct val="110000"/>
      </a:lnSpc>
      <a:spcBef>
        <a:spcPts val="0"/>
      </a:spcBef>
      <a:spcAft>
        <a:spcPts val="400"/>
      </a:spcAft>
      <a:buNone/>
      <a:defRPr lang="en-GB" sz="12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457200" rtl="0" eaLnBrk="1" latinLnBrk="0" hangingPunct="1">
      <a:lnSpc>
        <a:spcPct val="110000"/>
      </a:lnSpc>
      <a:spcBef>
        <a:spcPts val="0"/>
      </a:spcBef>
      <a:spcAft>
        <a:spcPts val="400"/>
      </a:spcAft>
      <a:buNone/>
      <a:defRPr lang="en-GB" sz="1200" kern="1200">
        <a:solidFill>
          <a:schemeClr val="tx1"/>
        </a:solidFill>
        <a:latin typeface="+mn-lt"/>
        <a:ea typeface="+mn-ea"/>
        <a:cs typeface="+mn-cs"/>
      </a:defRPr>
    </a:lvl2pPr>
    <a:lvl3pPr marL="0" indent="0" algn="l" defTabSz="457200" rtl="0" eaLnBrk="1" latinLnBrk="0" hangingPunct="1">
      <a:lnSpc>
        <a:spcPct val="110000"/>
      </a:lnSpc>
      <a:spcBef>
        <a:spcPts val="0"/>
      </a:spcBef>
      <a:spcAft>
        <a:spcPts val="400"/>
      </a:spcAft>
      <a:buNone/>
      <a:defRPr lang="en-GB" sz="1200" kern="1200">
        <a:solidFill>
          <a:schemeClr val="tx1"/>
        </a:solidFill>
        <a:latin typeface="+mn-lt"/>
        <a:ea typeface="+mn-ea"/>
        <a:cs typeface="+mn-cs"/>
      </a:defRPr>
    </a:lvl3pPr>
    <a:lvl4pPr marL="0" indent="0" algn="l" defTabSz="457200" rtl="0" eaLnBrk="1" latinLnBrk="0" hangingPunct="1">
      <a:lnSpc>
        <a:spcPct val="110000"/>
      </a:lnSpc>
      <a:spcBef>
        <a:spcPts val="0"/>
      </a:spcBef>
      <a:spcAft>
        <a:spcPts val="400"/>
      </a:spcAft>
      <a:buNone/>
      <a:defRPr lang="en-GB" sz="120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457200" rtl="0" eaLnBrk="1" latinLnBrk="0" hangingPunct="1">
      <a:lnSpc>
        <a:spcPct val="110000"/>
      </a:lnSpc>
      <a:spcBef>
        <a:spcPts val="0"/>
      </a:spcBef>
      <a:spcAft>
        <a:spcPts val="400"/>
      </a:spcAft>
      <a:buNone/>
      <a:defRPr lang="en-GB" sz="12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457200" rtl="0" eaLnBrk="1" latinLnBrk="0" hangingPunct="1">
      <a:lnSpc>
        <a:spcPct val="110000"/>
      </a:lnSpc>
      <a:spcBef>
        <a:spcPts val="0"/>
      </a:spcBef>
      <a:spcAft>
        <a:spcPts val="400"/>
      </a:spcAft>
      <a:buNone/>
      <a:defRPr lang="en-GB" sz="12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457200" rtl="0" eaLnBrk="1" latinLnBrk="0" hangingPunct="1">
      <a:lnSpc>
        <a:spcPct val="110000"/>
      </a:lnSpc>
      <a:spcBef>
        <a:spcPts val="0"/>
      </a:spcBef>
      <a:spcAft>
        <a:spcPts val="400"/>
      </a:spcAft>
      <a:buNone/>
      <a:defRPr lang="en-GB" sz="1200" kern="1200">
        <a:solidFill>
          <a:schemeClr val="tx1"/>
        </a:solidFill>
        <a:latin typeface="+mn-lt"/>
        <a:ea typeface="+mn-ea"/>
        <a:cs typeface="+mn-cs"/>
      </a:defRPr>
    </a:lvl7pPr>
    <a:lvl8pPr marL="0" indent="0" algn="l" defTabSz="457200" rtl="0" eaLnBrk="1" latinLnBrk="0" hangingPunct="1">
      <a:lnSpc>
        <a:spcPct val="110000"/>
      </a:lnSpc>
      <a:spcBef>
        <a:spcPts val="0"/>
      </a:spcBef>
      <a:spcAft>
        <a:spcPts val="400"/>
      </a:spcAft>
      <a:buNone/>
      <a:defRPr lang="en-GB" sz="1200" kern="1200">
        <a:solidFill>
          <a:schemeClr val="tx1"/>
        </a:solidFill>
        <a:latin typeface="+mn-lt"/>
        <a:ea typeface="+mn-ea"/>
        <a:cs typeface="+mn-cs"/>
      </a:defRPr>
    </a:lvl8pPr>
    <a:lvl9pPr marL="0" indent="0" algn="l" defTabSz="457200" rtl="0" eaLnBrk="1" latinLnBrk="0" hangingPunct="1">
      <a:lnSpc>
        <a:spcPct val="110000"/>
      </a:lnSpc>
      <a:spcBef>
        <a:spcPts val="0"/>
      </a:spcBef>
      <a:spcAft>
        <a:spcPts val="400"/>
      </a:spcAft>
      <a:buNone/>
      <a:defRPr lang="en-GB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title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8640" y="1600200"/>
            <a:ext cx="502920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ctrTitle"/>
          </p:nvPr>
        </p:nvSpPr>
        <p:spPr>
          <a:xfrm>
            <a:off x="548640" y="1783080"/>
            <a:ext cx="11094720" cy="9144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5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Talk title</a:t>
            </a:r>
            <a:endParaRPr lang="en-GB" dirty="0"/>
          </a:p>
        </p:txBody>
      </p:sp>
      <p:sp>
        <p:nvSpPr>
          <p:cNvPr id="4" name="Subtitle"/>
          <p:cNvSpPr>
            <a:spLocks noGrp="1"/>
          </p:cNvSpPr>
          <p:nvPr>
            <p:ph type="subTitle" idx="1"/>
          </p:nvPr>
        </p:nvSpPr>
        <p:spPr>
          <a:xfrm>
            <a:off x="548640" y="2926080"/>
            <a:ext cx="9601200" cy="8686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2400">
                <a:solidFill>
                  <a:schemeClr val="accent2"/>
                </a:solidFill>
                <a:latin typeface="Fira Mono" panose="020B0509050000020004" pitchFamily="49" charset="0"/>
              </a:defRPr>
            </a:lvl1pPr>
          </a:lstStyle>
          <a:p>
            <a:r>
              <a:rPr lang="en-GB" dirty="0"/>
              <a:t>Subtitle or code line, two lines of Fira Mono 24 pt</a:t>
            </a:r>
            <a:endParaRPr lang="en-GB" dirty="0"/>
          </a:p>
        </p:txBody>
      </p:sp>
      <p:sp>
        <p:nvSpPr>
          <p:cNvPr id="5" name="Presenter"/>
          <p:cNvSpPr>
            <a:spLocks noGrp="1"/>
          </p:cNvSpPr>
          <p:nvPr>
            <p:ph type="body" idx="13"/>
          </p:nvPr>
        </p:nvSpPr>
        <p:spPr>
          <a:xfrm>
            <a:off x="548640" y="5212080"/>
            <a:ext cx="8168640" cy="109728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2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Speaker name · role · repo URL</a:t>
            </a:r>
            <a:endParaRPr lang="en-GB" dirty="0"/>
          </a:p>
        </p:txBody>
      </p:sp>
      <p:sp>
        <p:nvSpPr>
          <p:cNvPr id="6" name="Logo zone"/>
          <p:cNvSpPr>
            <a:spLocks noGrp="1"/>
          </p:cNvSpPr>
          <p:nvPr>
            <p:ph type="pic" idx="16"/>
          </p:nvPr>
        </p:nvSpPr>
        <p:spPr>
          <a:xfrm>
            <a:off x="8991600" y="5120640"/>
            <a:ext cx="2651760" cy="11887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400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PyCon NL logo (file and permission pending)</a:t>
            </a:r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accent2" folHlink="accent2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8640" y="548640"/>
            <a:ext cx="50292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720" cy="54864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Title in sentence case, max 8 words</a:t>
            </a:r>
            <a:endParaRPr lang="en-GB" dirty="0"/>
          </a:p>
        </p:txBody>
      </p:sp>
      <p:sp>
        <p:nvSpPr>
          <p:cNvPr id="4" name="Agenda list"/>
          <p:cNvSpPr>
            <a:spLocks noGrp="1"/>
          </p:cNvSpPr>
          <p:nvPr>
            <p:ph idx="1"/>
          </p:nvPr>
        </p:nvSpPr>
        <p:spPr>
          <a:xfrm>
            <a:off x="548640" y="1554480"/>
            <a:ext cx="11094720" cy="4663152"/>
          </a:xfrm>
        </p:spPr>
        <p:txBody>
          <a:bodyPr vert="horz" wrap="square" lIns="0" tIns="0" rIns="0" bIns="0" rtlCol="0" anchor="t">
            <a:noAutofit/>
          </a:bodyPr>
          <a:lstStyle>
            <a:lvl1pPr marL="457200" indent="-45720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+mj-lt"/>
              <a:buAutoNum type="arabicPeriod"/>
              <a:defRPr lang="en-GB" sz="2400"/>
            </a:lvl1pPr>
          </a:lstStyle>
          <a:p>
            <a:r>
              <a:rPr lang="en-GB" dirty="0"/>
              <a:t>Agenda item</a:t>
            </a:r>
            <a:endParaRPr lang="en-GB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73152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10728960" y="6355080"/>
            <a:ext cx="9144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secHead">
  <p:cSld name="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8640" y="2377440"/>
            <a:ext cx="502920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48640" y="2560320"/>
            <a:ext cx="11094720" cy="9144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4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Section title</a:t>
            </a:r>
            <a:endParaRPr lang="en-GB" dirty="0"/>
          </a:p>
        </p:txBody>
      </p:sp>
      <p:sp>
        <p:nvSpPr>
          <p:cNvPr id="4" name="Section line"/>
          <p:cNvSpPr>
            <a:spLocks noGrp="1"/>
          </p:cNvSpPr>
          <p:nvPr>
            <p:ph type="body" idx="1"/>
          </p:nvPr>
        </p:nvSpPr>
        <p:spPr>
          <a:xfrm>
            <a:off x="548640" y="3611880"/>
            <a:ext cx="11094720" cy="82296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2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What this section answers</a:t>
            </a:r>
            <a:endParaRPr lang="en-GB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73152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10728960" y="6355080"/>
            <a:ext cx="9144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2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accent2" folHlink="accent2"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8640" y="548640"/>
            <a:ext cx="50292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720" cy="54864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Title in sentence case, max 8 words</a:t>
            </a:r>
            <a:endParaRPr lang="en-GB" dirty="0"/>
          </a:p>
        </p:txBody>
      </p:sp>
      <p:sp>
        <p:nvSpPr>
          <p:cNvPr id="4" name="Content"/>
          <p:cNvSpPr>
            <a:spLocks noGrp="1"/>
          </p:cNvSpPr>
          <p:nvPr>
            <p:ph idx="1"/>
          </p:nvPr>
        </p:nvSpPr>
        <p:spPr>
          <a:xfrm>
            <a:off x="548640" y="1554480"/>
            <a:ext cx="11094720" cy="4663152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Content: one visual, or body text at 24 pt</a:t>
            </a:r>
            <a:endParaRPr lang="en-GB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73152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10728960" y="6355080"/>
            <a:ext cx="9144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twoObj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8640" y="548640"/>
            <a:ext cx="50292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720" cy="54864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Title in sentence case, max 8 words</a:t>
            </a:r>
            <a:endParaRPr lang="en-GB" dirty="0"/>
          </a:p>
        </p:txBody>
      </p:sp>
      <p:sp>
        <p:nvSpPr>
          <p:cNvPr id="4" name="Left column"/>
          <p:cNvSpPr>
            <a:spLocks noGrp="1"/>
          </p:cNvSpPr>
          <p:nvPr>
            <p:ph idx="1"/>
          </p:nvPr>
        </p:nvSpPr>
        <p:spPr>
          <a:xfrm>
            <a:off x="548640" y="1554480"/>
            <a:ext cx="5318760" cy="4663152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Left column</a:t>
            </a:r>
            <a:endParaRPr lang="en-GB" dirty="0"/>
          </a:p>
        </p:txBody>
      </p:sp>
      <p:sp>
        <p:nvSpPr>
          <p:cNvPr id="5" name="Right column"/>
          <p:cNvSpPr>
            <a:spLocks noGrp="1"/>
          </p:cNvSpPr>
          <p:nvPr>
            <p:ph idx="2"/>
          </p:nvPr>
        </p:nvSpPr>
        <p:spPr>
          <a:xfrm>
            <a:off x="6324600" y="1554480"/>
            <a:ext cx="5318760" cy="4663152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Right column</a:t>
            </a:r>
            <a:endParaRPr lang="en-GB" dirty="0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73152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10728960" y="6355080"/>
            <a:ext cx="9144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8640" y="1874520"/>
            <a:ext cx="502920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Statement"/>
          <p:cNvSpPr>
            <a:spLocks noGrp="1"/>
          </p:cNvSpPr>
          <p:nvPr>
            <p:ph type="title"/>
          </p:nvPr>
        </p:nvSpPr>
        <p:spPr>
          <a:xfrm>
            <a:off x="548640" y="2057400"/>
            <a:ext cx="10058400" cy="155448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48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One statement, max 8 words</a:t>
            </a:r>
            <a:endParaRPr lang="en-GB" dirty="0"/>
          </a:p>
        </p:txBody>
      </p:sp>
      <p:sp>
        <p:nvSpPr>
          <p:cNvPr id="4" name="Support"/>
          <p:cNvSpPr>
            <a:spLocks noGrp="1"/>
          </p:cNvSpPr>
          <p:nvPr>
            <p:ph type="body" idx="1"/>
          </p:nvPr>
        </p:nvSpPr>
        <p:spPr>
          <a:xfrm>
            <a:off x="548640" y="3794760"/>
            <a:ext cx="10058400" cy="128016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28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Optional support line or code</a:t>
            </a:r>
            <a:endParaRPr lang="en-GB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73152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10728960" y="6355080"/>
            <a:ext cx="9144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2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accent2" folHlink="accent2"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media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8640" y="548640"/>
            <a:ext cx="50292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48640" y="731520"/>
            <a:ext cx="5613882" cy="100584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Title in sentence case, max 8 words</a:t>
            </a:r>
            <a:endParaRPr lang="en-GB" dirty="0"/>
          </a:p>
        </p:txBody>
      </p:sp>
      <p:sp>
        <p:nvSpPr>
          <p:cNvPr id="4" name="Text column"/>
          <p:cNvSpPr>
            <a:spLocks noGrp="1"/>
          </p:cNvSpPr>
          <p:nvPr>
            <p:ph idx="14"/>
          </p:nvPr>
        </p:nvSpPr>
        <p:spPr>
          <a:xfrm>
            <a:off x="548640" y="1965960"/>
            <a:ext cx="5613882" cy="4251672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2000"/>
            </a:lvl1pPr>
          </a:lstStyle>
          <a:p>
            <a:r>
              <a:rPr lang="en-GB" dirty="0"/>
              <a:t>Code (18 pt) or text (20 pt), support line, source line</a:t>
            </a:r>
            <a:endParaRPr lang="en-GB" dirty="0"/>
          </a:p>
        </p:txBody>
      </p:sp>
      <p:sp>
        <p:nvSpPr>
          <p:cNvPr id="5" name="Media"/>
          <p:cNvSpPr>
            <a:spLocks noGrp="1"/>
          </p:cNvSpPr>
          <p:nvPr>
            <p:ph type="pic" idx="18"/>
          </p:nvPr>
        </p:nvSpPr>
        <p:spPr>
          <a:xfrm>
            <a:off x="6619722" y="548640"/>
            <a:ext cx="5023638" cy="566899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400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Render, 1588 × 1792 px</a:t>
            </a:r>
            <a:endParaRPr lang="en-GB" dirty="0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73152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10728960" y="6355080"/>
            <a:ext cx="9144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eft,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29478" y="548640"/>
            <a:ext cx="50292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029478" y="731520"/>
            <a:ext cx="5613882" cy="100584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Title in sentence case, max 8 words</a:t>
            </a:r>
            <a:endParaRPr lang="en-GB" dirty="0"/>
          </a:p>
        </p:txBody>
      </p:sp>
      <p:sp>
        <p:nvSpPr>
          <p:cNvPr id="4" name="Text column"/>
          <p:cNvSpPr>
            <a:spLocks noGrp="1"/>
          </p:cNvSpPr>
          <p:nvPr>
            <p:ph idx="14"/>
          </p:nvPr>
        </p:nvSpPr>
        <p:spPr>
          <a:xfrm>
            <a:off x="6029478" y="1965960"/>
            <a:ext cx="5613882" cy="4251672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2000"/>
            </a:lvl1pPr>
          </a:lstStyle>
          <a:p>
            <a:r>
              <a:rPr lang="en-GB" dirty="0"/>
              <a:t>Code (18 pt) or text (20 pt), support line, source line</a:t>
            </a:r>
            <a:endParaRPr lang="en-GB" dirty="0"/>
          </a:p>
        </p:txBody>
      </p:sp>
      <p:sp>
        <p:nvSpPr>
          <p:cNvPr id="5" name="Media"/>
          <p:cNvSpPr>
            <a:spLocks noGrp="1"/>
          </p:cNvSpPr>
          <p:nvPr>
            <p:ph type="pic" idx="18"/>
          </p:nvPr>
        </p:nvSpPr>
        <p:spPr>
          <a:xfrm>
            <a:off x="548640" y="548640"/>
            <a:ext cx="5023638" cy="566899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400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Render, 1588 × 1792 px</a:t>
            </a:r>
            <a:endParaRPr lang="en-GB" dirty="0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73152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10728960" y="6355080"/>
            <a:ext cx="9144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8640" y="548640"/>
            <a:ext cx="50292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720" cy="54864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Title in sentence case, max 8 words</a:t>
            </a:r>
            <a:endParaRPr lang="en-GB" dirty="0"/>
          </a:p>
        </p:txBody>
      </p:sp>
      <p:sp>
        <p:nvSpPr>
          <p:cNvPr id="4" name="Media"/>
          <p:cNvSpPr>
            <a:spLocks noGrp="1"/>
          </p:cNvSpPr>
          <p:nvPr>
            <p:ph type="pic" idx="18"/>
          </p:nvPr>
        </p:nvSpPr>
        <p:spPr>
          <a:xfrm>
            <a:off x="548640" y="1554480"/>
            <a:ext cx="11094720" cy="466315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400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Picture, chart or diagram</a:t>
            </a:r>
            <a:endParaRPr lang="en-GB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73152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10728960" y="6355080"/>
            <a:ext cx="9144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8640" y="548640"/>
            <a:ext cx="502920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48640" y="731520"/>
            <a:ext cx="3566160" cy="237744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Title in sentence case, max 8 words</a:t>
            </a:r>
            <a:endParaRPr lang="en-GB" dirty="0"/>
          </a:p>
        </p:txBody>
      </p:sp>
      <p:sp>
        <p:nvSpPr>
          <p:cNvPr id="4" name="Content"/>
          <p:cNvSpPr>
            <a:spLocks noGrp="1"/>
          </p:cNvSpPr>
          <p:nvPr>
            <p:ph idx="1"/>
          </p:nvPr>
        </p:nvSpPr>
        <p:spPr>
          <a:xfrm>
            <a:off x="4572000" y="731520"/>
            <a:ext cx="7071360" cy="5486112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2000"/>
            </a:lvl1pPr>
          </a:lstStyle>
          <a:p>
            <a:r>
              <a:rPr lang="en-GB" dirty="0"/>
              <a:t>Content: table, list or visual, body 20 pt</a:t>
            </a:r>
            <a:endParaRPr lang="en-GB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73152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10728960" y="6355080"/>
            <a:ext cx="9144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8640" y="548640"/>
            <a:ext cx="502920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QR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00" y="2834640"/>
            <a:ext cx="2651760" cy="26517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548640" y="731520"/>
            <a:ext cx="8168640" cy="100584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Closing title</a:t>
            </a:r>
            <a:endParaRPr lang="en-GB" dirty="0"/>
          </a:p>
        </p:txBody>
      </p:sp>
      <p:sp>
        <p:nvSpPr>
          <p:cNvPr id="5" name="Contact"/>
          <p:cNvSpPr>
            <a:spLocks noGrp="1"/>
          </p:cNvSpPr>
          <p:nvPr>
            <p:ph type="body" idx="15"/>
          </p:nvPr>
        </p:nvSpPr>
        <p:spPr>
          <a:xfrm>
            <a:off x="548640" y="2103120"/>
            <a:ext cx="8168640" cy="338328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lang="en-GB" sz="2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Repo URL, name, contact</a:t>
            </a:r>
            <a:endParaRPr lang="en-GB" dirty="0"/>
          </a:p>
        </p:txBody>
      </p:sp>
      <p:sp>
        <p:nvSpPr>
          <p:cNvPr id="6" name="Small print"/>
          <p:cNvSpPr>
            <a:spLocks noGrp="1"/>
          </p:cNvSpPr>
          <p:nvPr>
            <p:ph type="body" idx="19"/>
          </p:nvPr>
        </p:nvSpPr>
        <p:spPr>
          <a:xfrm>
            <a:off x="548640" y="5669280"/>
            <a:ext cx="11094720" cy="64008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Source and licence lines, 12 pt</a:t>
            </a:r>
            <a:endParaRPr lang="en-GB" dirty="0"/>
          </a:p>
        </p:txBody>
      </p:sp>
      <p:sp>
        <p:nvSpPr>
          <p:cNvPr id="7" name="Logo zone"/>
          <p:cNvSpPr>
            <a:spLocks noGrp="1"/>
          </p:cNvSpPr>
          <p:nvPr>
            <p:ph type="pic" idx="16"/>
          </p:nvPr>
        </p:nvSpPr>
        <p:spPr>
          <a:xfrm>
            <a:off x="8991600" y="548640"/>
            <a:ext cx="2651760" cy="11887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400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PyCon NL logo (file and permission pending)</a:t>
            </a:r>
            <a:endParaRPr lang="en-GB" dirty="0"/>
          </a:p>
        </p:txBody>
      </p:sp>
      <p:sp>
        <p:nvSpPr>
          <p:cNvPr id="8" name="QR code"/>
          <p:cNvSpPr>
            <a:spLocks noGrp="1"/>
          </p:cNvSpPr>
          <p:nvPr>
            <p:ph type="pic" idx="17"/>
          </p:nvPr>
        </p:nvSpPr>
        <p:spPr>
          <a:xfrm>
            <a:off x="9174480" y="3017520"/>
            <a:ext cx="2286000" cy="228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400">
                <a:solidFill>
                  <a:schemeClr val="accent5"/>
                </a:solidFill>
              </a:defRPr>
            </a:lvl1pPr>
          </a:lstStyle>
          <a:p>
            <a:r>
              <a:rPr lang="en-GB" dirty="0"/>
              <a:t>QR code</a:t>
            </a:r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accent2" folHlink="accent2"/>
  </p:clrMapOvr>
  <p:hf sldNum="0" hdr="0" ftr="0" dt="0"/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4720" cy="54864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Title in sentence case, max 8 words</a:t>
            </a:r>
            <a:endParaRPr lang="en-GB" dirty="0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720" cy="4663152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dirty="0"/>
              <a:t>Body text at 24 pt</a:t>
            </a:r>
            <a:endParaRPr lang="en-GB" dirty="0"/>
          </a:p>
          <a:p>
            <a:pPr lvl="1"/>
            <a:r>
              <a:rPr lang="en-GB" dirty="0"/>
              <a:t>Second level at 20 pt</a:t>
            </a:r>
            <a:endParaRPr lang="en-GB" dirty="0"/>
          </a:p>
          <a:p>
            <a:pPr lvl="2"/>
            <a:r>
              <a:rPr lang="en-GB" dirty="0"/>
              <a:t>Third level at 20 pt</a:t>
            </a:r>
            <a:endParaRPr lang="en-GB" dirty="0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73152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>
          <a:xfrm>
            <a:off x="10728960" y="6355080"/>
            <a:ext cx="914400" cy="2286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2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lang="en-GB" sz="3200" b="0" kern="1200">
          <a:solidFill>
            <a:schemeClr val="tx2"/>
          </a:solidFill>
          <a:latin typeface="Fira Sans SemiBold" panose="020B0603050000020004" pitchFamily="34" charset="0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None/>
        <a:defRPr lang="en-GB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Fira Sans"/>
        <a:buChar char="•"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/>
        </a:buClr>
        <a:buFont typeface="Fira Sans"/>
        <a:buChar char="•"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/>
        </a:buClr>
        <a:buFont typeface="Fira Sans"/>
        <a:buChar char="•"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/>
        </a:buClr>
        <a:buFont typeface="Fira Sans"/>
        <a:buChar char="•"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/>
        </a:buClr>
        <a:buFont typeface="Fira Sans"/>
        <a:buChar char="•"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/>
        </a:buClr>
        <a:buFont typeface="Fira Sans"/>
        <a:buChar char="•"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/>
        </a:buClr>
        <a:buFont typeface="Fira Sans"/>
        <a:buChar char="•"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5"/>
        </a:buClr>
        <a:buFont typeface="Fira Sans"/>
        <a:buChar char="•"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lang="en-GB"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3D Data Science with Python</a:t>
            </a:r>
            <a:endParaRPr lang="en-GB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for point in point_cloud:</a:t>
            </a:r>
            <a:endParaRPr lang="en-GB" dirty="0"/>
          </a:p>
          <a:p>
            <a:r>
              <a:rPr lang="en-GB" dirty="0"/>
              <a:t xml:space="preserve">    # 12 million times. see you tomorrow</a:t>
            </a:r>
            <a:endParaRPr lang="en-GB" dirty="0"/>
          </a:p>
        </p:txBody>
      </p:sp>
      <p:sp>
        <p:nvSpPr>
          <p:cNvPr id="4" name="Presenter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GB" dirty="0"/>
              <a:t>Speaker name · role · [repo URL]</a:t>
            </a:r>
            <a:endParaRPr lang="en-GB" dirty="0"/>
          </a:p>
        </p:txBody>
      </p:sp>
      <p:sp>
        <p:nvSpPr>
          <p:cNvPr id="5" name="Logo zone"/>
          <p:cNvSpPr>
            <a:spLocks noGrp="1"/>
          </p:cNvSpPr>
          <p:nvPr>
            <p:ph type="pic" idx="16"/>
          </p:nvPr>
        </p:nvSpPr>
        <p:spPr/>
      </p:sp>
    </p:spTree>
  </p:cSld>
  <p:clrMapOvr>
    <a:overrideClrMapping bg1="lt1" tx1="dk1" bg2="lt2" tx2="dk2" accent1="accent1" accent2="accent2" accent3="accent3" accent4="accent4" accent5="accent5" accent6="accent6" hlink="accent2" folHlink="accent2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this talk covers</a:t>
            </a:r>
            <a:endParaRPr lang="en-GB" dirty="0"/>
          </a:p>
        </p:txBody>
      </p:sp>
      <p:sp>
        <p:nvSpPr>
          <p:cNvPr id="3" name="Agenda lis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Hook and running example</a:t>
            </a:r>
            <a:endParaRPr lang="en-GB" dirty="0"/>
          </a:p>
          <a:p>
            <a:r>
              <a:rPr lang="en-GB" dirty="0"/>
              <a:t>Landscape</a:t>
            </a:r>
            <a:endParaRPr lang="en-GB" dirty="0"/>
          </a:p>
          <a:p>
            <a:r>
              <a:rPr lang="en-GB" dirty="0"/>
              <a:t>Pipeline</a:t>
            </a:r>
            <a:endParaRPr lang="en-GB" dirty="0"/>
          </a:p>
          <a:p>
            <a:r>
              <a:rPr lang="en-GB" dirty="0"/>
              <a:t>Performance cliff</a:t>
            </a:r>
            <a:endParaRPr lang="en-GB" dirty="0"/>
          </a:p>
          <a:p>
            <a:r>
              <a:rPr lang="en-GB" dirty="0"/>
              <a:t>Fitting points in RAM</a:t>
            </a:r>
            <a:endParaRPr lang="en-GB" dirty="0"/>
          </a:p>
          <a:p>
            <a:r>
              <a:rPr lang="en-GB" dirty="0"/>
              <a:t>Gotchas and takeaways</a:t>
            </a:r>
            <a:endParaRPr lang="en-GB" dirty="0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2</a:t>
            </a:fld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cliff</a:t>
            </a:r>
            <a:endParaRPr lang="en-GB" dirty="0"/>
          </a:p>
        </p:txBody>
      </p:sp>
      <p:sp>
        <p:nvSpPr>
          <p:cNvPr id="3" name="Section line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Where a Python loop meets compiled code</a:t>
            </a:r>
            <a:endParaRPr lang="en-GB" dirty="0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3</a:t>
            </a:fld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accent2" folHlink="accent2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 single library does the whole job</a:t>
            </a:r>
            <a:endParaRPr lang="en-GB" dirty="0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Body text at 24 pt in ink on white. One idea per slide.</a:t>
            </a:r>
            <a:endParaRPr lang="en-GB" dirty="0"/>
          </a:p>
          <a:p>
            <a:pPr lvl="1"/>
            <a:r>
              <a:rPr lang="en-GB" dirty="0"/>
              <a:t>Second level at 20 pt with a blue bullet</a:t>
            </a:r>
            <a:endParaRPr lang="en-GB" dirty="0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4</a:t>
            </a:fld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laspy loads, Open3D computes, PyVista draws</a:t>
            </a:r>
            <a:endParaRPr lang="en-GB" dirty="0"/>
          </a:p>
        </p:txBody>
      </p:sp>
      <p:sp>
        <p:nvSpPr>
          <p:cNvPr id="3" name="Left column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Left column, 24 pt</a:t>
            </a:r>
            <a:endParaRPr lang="en-GB" dirty="0"/>
          </a:p>
        </p:txBody>
      </p:sp>
      <p:sp>
        <p:nvSpPr>
          <p:cNvPr id="4" name="Right column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GB" dirty="0"/>
              <a:t>Right column, 24 pt</a:t>
            </a:r>
            <a:endParaRPr lang="en-GB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5</a:t>
            </a:fld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 over tiles, never over points</a:t>
            </a:r>
            <a:endParaRPr lang="en-GB" dirty="0"/>
          </a:p>
        </p:txBody>
      </p:sp>
      <p:sp>
        <p:nvSpPr>
          <p:cNvPr id="3" name="Suppor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 support line, 28 pt sage</a:t>
            </a:r>
            <a:endParaRPr lang="en-GB" dirty="0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6</a:t>
            </a:fld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accent2" folHlink="accent2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 Load:</a:t>
            </a:r>
            <a:br>
              <a:rPr lang="en-GB"/>
            </a:br>
            <a:r>
              <a:rPr lang="en-GB"/>
              <a:t>laspy hands you NumPy</a:t>
            </a:r>
            <a:endParaRPr lang="en-GB" dirty="0"/>
          </a:p>
        </p:txBody>
      </p:sp>
      <p:sp>
        <p:nvSpPr>
          <p:cNvPr id="3" name="Text column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GB" dirty="0"/>
              <a:t>Code, support line and source line go here.</a:t>
            </a:r>
            <a:endParaRPr lang="en-GB" dirty="0"/>
          </a:p>
        </p:txBody>
      </p:sp>
      <p:sp>
        <p:nvSpPr>
          <p:cNvPr id="4" name="Media"/>
          <p:cNvSpPr>
            <a:spLocks noGrp="1"/>
          </p:cNvSpPr>
          <p:nvPr>
            <p:ph type="pic" idx="18"/>
          </p:nvPr>
        </p:nvSpPr>
        <p:spPr/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7</a:t>
            </a:fld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 point cloud is just</a:t>
            </a:r>
            <a:br>
              <a:rPr lang="en-GB"/>
            </a:br>
            <a:r>
              <a:rPr lang="en-GB"/>
              <a:t>an N×3 array</a:t>
            </a:r>
            <a:endParaRPr lang="en-GB" dirty="0"/>
          </a:p>
        </p:txBody>
      </p:sp>
      <p:sp>
        <p:nvSpPr>
          <p:cNvPr id="3" name="Text column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GB" dirty="0"/>
              <a:t>Code, support line and source line go here.</a:t>
            </a:r>
            <a:endParaRPr lang="en-GB" dirty="0"/>
          </a:p>
        </p:txBody>
      </p:sp>
      <p:sp>
        <p:nvSpPr>
          <p:cNvPr id="4" name="Media"/>
          <p:cNvSpPr>
            <a:spLocks noGrp="1"/>
          </p:cNvSpPr>
          <p:nvPr>
            <p:ph type="pic" idx="18"/>
          </p:nvPr>
        </p:nvSpPr>
        <p:spPr/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8</a:t>
            </a:fld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Six steps turn a point cloud into labels</a:t>
            </a:r>
            <a:endParaRPr lang="en-GB" dirty="0"/>
          </a:p>
        </p:txBody>
      </p:sp>
      <p:sp>
        <p:nvSpPr>
          <p:cNvPr id="3" name="Media"/>
          <p:cNvSpPr>
            <a:spLocks noGrp="1"/>
          </p:cNvSpPr>
          <p:nvPr>
            <p:ph type="pic" idx="18"/>
          </p:nvPr>
        </p:nvSpPr>
        <p:spPr/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9</a:t>
            </a:fld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These five gotchas cost me weeks</a:t>
            </a:r>
            <a:endParaRPr lang="en-GB" dirty="0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Content at 20 pt: a table, a list or one visual.</a:t>
            </a:r>
            <a:endParaRPr lang="en-GB" dirty="0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3D Data Science with Python | PyCon NL 2026</a:t>
            </a:r>
            <a:endParaRPr lang="en-GB" dirty="0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10</a:t>
            </a:fld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Copy the pipeline</a:t>
            </a:r>
            <a:endParaRPr lang="en-GB" dirty="0"/>
          </a:p>
        </p:txBody>
      </p:sp>
      <p:sp>
        <p:nvSpPr>
          <p:cNvPr id="3" name="Contact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/>
              <a:t>[repo URL]</a:t>
            </a:r>
            <a:endParaRPr lang="en-GB" dirty="0"/>
          </a:p>
          <a:p>
            <a:r>
              <a:rPr lang="en-GB" dirty="0"/>
              <a:t>Speaker name</a:t>
            </a:r>
            <a:endParaRPr lang="en-GB" dirty="0"/>
          </a:p>
          <a:p>
            <a:r>
              <a:rPr lang="en-GB" dirty="0"/>
              <a:t>[email]</a:t>
            </a:r>
            <a:endParaRPr lang="en-GB" dirty="0"/>
          </a:p>
        </p:txBody>
      </p:sp>
      <p:sp>
        <p:nvSpPr>
          <p:cNvPr id="4" name="Small print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GB" dirty="0"/>
              <a:t>Source and licence lines, 12 pt sage on navy.</a:t>
            </a:r>
            <a:endParaRPr lang="en-GB" dirty="0"/>
          </a:p>
        </p:txBody>
      </p:sp>
      <p:sp>
        <p:nvSpPr>
          <p:cNvPr id="5" name="Logo zone"/>
          <p:cNvSpPr>
            <a:spLocks noGrp="1"/>
          </p:cNvSpPr>
          <p:nvPr>
            <p:ph type="pic" idx="16"/>
          </p:nvPr>
        </p:nvSpPr>
        <p:spPr/>
      </p:sp>
      <p:sp>
        <p:nvSpPr>
          <p:cNvPr id="6" name="QR code"/>
          <p:cNvSpPr>
            <a:spLocks noGrp="1"/>
          </p:cNvSpPr>
          <p:nvPr>
            <p:ph type="pic" idx="17"/>
          </p:nvPr>
        </p:nvSpPr>
        <p:spPr/>
      </p:sp>
    </p:spTree>
  </p:cSld>
  <p:clrMapOvr>
    <a:overrideClrMapping bg1="lt1" tx1="dk1" bg2="lt2" tx2="dk2" accent1="accent1" accent2="accent2" accent3="accent3" accent4="accent4" accent5="accent5" accent6="accent6" hlink="accent2" folHlink="accent2"/>
  </p:clrMapOvr>
</p:sld>
</file>

<file path=ppt/theme/theme1.xml><?xml version="1.0" encoding="utf-8"?>
<a:theme xmlns:a="http://schemas.openxmlformats.org/drawingml/2006/main" name="PyCon NL 2026">
  <a:themeElements>
    <a:clrScheme name="PyCon NL 2026">
      <a:dk1>
        <a:srgbClr val="263238"/>
      </a:dk1>
      <a:lt1>
        <a:srgbClr val="FFFFFF"/>
      </a:lt1>
      <a:dk2>
        <a:srgbClr val="1C325B"/>
      </a:dk2>
      <a:lt2>
        <a:srgbClr val="E0E0E0"/>
      </a:lt2>
      <a:accent1>
        <a:srgbClr val="2B6797"/>
      </a:accent1>
      <a:accent2>
        <a:srgbClr val="B1CAC5"/>
      </a:accent2>
      <a:accent3>
        <a:srgbClr val="1C325B"/>
      </a:accent3>
      <a:accent4>
        <a:srgbClr val="455A64"/>
      </a:accent4>
      <a:accent5>
        <a:srgbClr val="9CA3AF"/>
      </a:accent5>
      <a:accent6>
        <a:srgbClr val="E0E0E0"/>
      </a:accent6>
      <a:hlink>
        <a:srgbClr val="2B6797"/>
      </a:hlink>
      <a:folHlink>
        <a:srgbClr val="2B6797"/>
      </a:folHlink>
    </a:clrScheme>
    <a:fontScheme name="PyCon NL 2026">
      <a:majorFont>
        <a:latin typeface="Fira Sans" panose="020B0503050000020004"/>
        <a:ea typeface=""/>
        <a:cs typeface=""/>
      </a:majorFont>
      <a:minorFont>
        <a:latin typeface="Fira Sans" panose="020B0503050000020004"/>
        <a:ea typeface=""/>
        <a:cs typeface=""/>
      </a:minorFont>
    </a:fontScheme>
    <a:fmtScheme name="PyCon NL 2026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lang="en-GB" sz="2000">
            <a:solidFill>
              <a:schemeClr val="lt1"/>
            </a:solidFill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4"/>
          </a:solidFill>
        </a:ln>
      </a:spPr>
      <a:bodyPr/>
      <a:lstStyle/>
      <a:style>
        <a:lnRef idx="1">
          <a:schemeClr val="accent4"/>
        </a:lnRef>
        <a:fillRef idx="0">
          <a:schemeClr val="accent4"/>
        </a:fillRef>
        <a:effectRef idx="0">
          <a:schemeClr val="accent4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lang="en-GB" sz="2000" dirty="0">
            <a:solidFill>
              <a:schemeClr val="tx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PyCon NL 2026">
  <a:themeElements>
    <a:clrScheme name="PyCon NL 2026">
      <a:dk1>
        <a:srgbClr val="263238"/>
      </a:dk1>
      <a:lt1>
        <a:srgbClr val="FFFFFF"/>
      </a:lt1>
      <a:dk2>
        <a:srgbClr val="1C325B"/>
      </a:dk2>
      <a:lt2>
        <a:srgbClr val="E0E0E0"/>
      </a:lt2>
      <a:accent1>
        <a:srgbClr val="2B6797"/>
      </a:accent1>
      <a:accent2>
        <a:srgbClr val="B1CAC5"/>
      </a:accent2>
      <a:accent3>
        <a:srgbClr val="1C325B"/>
      </a:accent3>
      <a:accent4>
        <a:srgbClr val="455A64"/>
      </a:accent4>
      <a:accent5>
        <a:srgbClr val="9CA3AF"/>
      </a:accent5>
      <a:accent6>
        <a:srgbClr val="E0E0E0"/>
      </a:accent6>
      <a:hlink>
        <a:srgbClr val="2B6797"/>
      </a:hlink>
      <a:folHlink>
        <a:srgbClr val="2B6797"/>
      </a:folHlink>
    </a:clrScheme>
    <a:fontScheme name="PyCon NL 2026">
      <a:majorFont>
        <a:latin typeface="Fira Sans" panose="020B0503050000020004"/>
        <a:ea typeface=""/>
        <a:cs typeface=""/>
      </a:majorFont>
      <a:minorFont>
        <a:latin typeface="Fira Sans" panose="020B0503050000020004"/>
        <a:ea typeface=""/>
        <a:cs typeface=""/>
      </a:minorFont>
    </a:fontScheme>
    <a:fmtScheme name="PyCon NL 2026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lang="en-GB" sz="2000">
            <a:solidFill>
              <a:schemeClr val="lt1"/>
            </a:solidFill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4"/>
          </a:solidFill>
        </a:ln>
      </a:spPr>
      <a:bodyPr/>
      <a:lstStyle/>
      <a:style>
        <a:lnRef idx="1">
          <a:schemeClr val="accent4"/>
        </a:lnRef>
        <a:fillRef idx="0">
          <a:schemeClr val="accent4"/>
        </a:fillRef>
        <a:effectRef idx="0">
          <a:schemeClr val="accent4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lang="en-GB" sz="2000" dirty="0">
            <a:solidFill>
              <a:schemeClr val="tx1"/>
            </a:solidFill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Fira Sans</vt:lpstr>
      <vt:lpstr>Fira Sans SemiBold</vt:lpstr>
      <vt:lpstr>Fira Mono</vt:lpstr>
      <vt:lpstr>PyCon NL 2026</vt:lpstr>
      <vt:lpstr>Title</vt:lpstr>
      <vt:lpstr>Agenda</vt:lpstr>
      <vt:lpstr>Section</vt:lpstr>
      <vt:lpstr>Title and content</vt:lpstr>
      <vt:lpstr>Two columns</vt:lpstr>
      <vt:lpstr>Statement</vt:lpstr>
      <vt:lpstr>Text left, media right</vt:lpstr>
      <vt:lpstr>Media left, text right</vt:lpstr>
      <vt:lpstr>Large media</vt:lpstr>
      <vt:lpstr>Title left, content right</vt:lpstr>
      <vt:lpstr>Closing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PyCon NL 2026 style master</dc:title>
  <dc:subject>3D Data Science with Python, PyCon NL 2026</dc:subject>
  <dc:creator>Sergio Peral</dc:creator>
  <cp:lastModifiedBy>Sergio Peral</cp:lastModifiedBy>
  <dc:description>Slide master in the PyCon NL 2026 palette (pycon-nl.org) with Fira Sans and Fira Mono. Built by deck/template/make_master.py.</dc:description>
  <dc:language>en-GB</dc:language>
  <cp:revision>1</cp:revision>
  <dcterms:created xsi:type="dcterms:W3CDTF">2026-10-03T00:00:00Z</dcterms:created>
  <dcterms:modified xsi:type="dcterms:W3CDTF">2026-10-03T00:00:00Z</dcterms:modified>
</cp:coreProperties>
</file>